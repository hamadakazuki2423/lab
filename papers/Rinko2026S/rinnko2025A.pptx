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3" r:id="rId5"/>
    <p:sldMasterId id="2147483685" r:id="rId6"/>
  </p:sldMasterIdLst>
  <p:notesMasterIdLst>
    <p:notesMasterId r:id="rId55"/>
  </p:notesMasterIdLst>
  <p:handoutMasterIdLst>
    <p:handoutMasterId r:id="rId56"/>
  </p:handoutMasterIdLst>
  <p:sldIdLst>
    <p:sldId id="258" r:id="rId7"/>
    <p:sldId id="391" r:id="rId8"/>
    <p:sldId id="439" r:id="rId9"/>
    <p:sldId id="392" r:id="rId10"/>
    <p:sldId id="395" r:id="rId11"/>
    <p:sldId id="446" r:id="rId12"/>
    <p:sldId id="447" r:id="rId13"/>
    <p:sldId id="399" r:id="rId14"/>
    <p:sldId id="400" r:id="rId15"/>
    <p:sldId id="401" r:id="rId16"/>
    <p:sldId id="402" r:id="rId17"/>
    <p:sldId id="448" r:id="rId18"/>
    <p:sldId id="398" r:id="rId19"/>
    <p:sldId id="441" r:id="rId20"/>
    <p:sldId id="403" r:id="rId21"/>
    <p:sldId id="449" r:id="rId22"/>
    <p:sldId id="404" r:id="rId23"/>
    <p:sldId id="419" r:id="rId24"/>
    <p:sldId id="405" r:id="rId25"/>
    <p:sldId id="420" r:id="rId26"/>
    <p:sldId id="406" r:id="rId27"/>
    <p:sldId id="407" r:id="rId28"/>
    <p:sldId id="421" r:id="rId29"/>
    <p:sldId id="422" r:id="rId30"/>
    <p:sldId id="442" r:id="rId31"/>
    <p:sldId id="423" r:id="rId32"/>
    <p:sldId id="409" r:id="rId33"/>
    <p:sldId id="425" r:id="rId34"/>
    <p:sldId id="426" r:id="rId35"/>
    <p:sldId id="427" r:id="rId36"/>
    <p:sldId id="428" r:id="rId37"/>
    <p:sldId id="429" r:id="rId38"/>
    <p:sldId id="430" r:id="rId39"/>
    <p:sldId id="443" r:id="rId40"/>
    <p:sldId id="431" r:id="rId41"/>
    <p:sldId id="412" r:id="rId42"/>
    <p:sldId id="432" r:id="rId43"/>
    <p:sldId id="433" r:id="rId44"/>
    <p:sldId id="434" r:id="rId45"/>
    <p:sldId id="435" r:id="rId46"/>
    <p:sldId id="414" r:id="rId47"/>
    <p:sldId id="436" r:id="rId48"/>
    <p:sldId id="444" r:id="rId49"/>
    <p:sldId id="415" r:id="rId50"/>
    <p:sldId id="437" r:id="rId51"/>
    <p:sldId id="438" r:id="rId52"/>
    <p:sldId id="445" r:id="rId53"/>
    <p:sldId id="416" r:id="rId5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EAECEE"/>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94B131-849A-472A-90D6-F121DBB5B5C1}" v="15" dt="2025-12-01T05:13:17.354"/>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中間スタイル 1 - アクセント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80" autoAdjust="0"/>
    <p:restoredTop sz="72541" autoAdjust="0"/>
  </p:normalViewPr>
  <p:slideViewPr>
    <p:cSldViewPr snapToGrid="0">
      <p:cViewPr varScale="1">
        <p:scale>
          <a:sx n="57" d="100"/>
          <a:sy n="57" d="100"/>
        </p:scale>
        <p:origin x="1814" y="34"/>
      </p:cViewPr>
      <p:guideLst/>
    </p:cSldViewPr>
  </p:slideViewPr>
  <p:notesTextViewPr>
    <p:cViewPr>
      <p:scale>
        <a:sx n="1" d="1"/>
        <a:sy n="1" d="1"/>
      </p:scale>
      <p:origin x="0" y="0"/>
    </p:cViewPr>
  </p:notesTextViewPr>
  <p:notesViewPr>
    <p:cSldViewPr snapToGrid="0">
      <p:cViewPr varScale="1">
        <p:scale>
          <a:sx n="60" d="100"/>
          <a:sy n="60" d="100"/>
        </p:scale>
        <p:origin x="3264" y="3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notesMaster" Target="notesMasters/notesMaster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viewProps" Target="viewProps.xml"/><Relationship Id="rId5" Type="http://schemas.openxmlformats.org/officeDocument/2006/relationships/slideMaster" Target="slideMasters/slideMaster2.xml"/><Relationship Id="rId61" Type="http://schemas.microsoft.com/office/2015/10/relationships/revisionInfo" Target="revisionInfo.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handoutMaster" Target="handoutMasters/handoutMaster1.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theme" Target="theme/theme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presProps" Target="presProps.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0B38138C-C715-8ECF-60EE-59A6DB4C39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D7B743F7-9DE7-1817-7061-A787076544A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34C9AA-E845-4BD7-AB0D-58EA8C90D5D8}" type="datetimeFigureOut">
              <a:rPr kumimoji="1" lang="ja-JP" altLang="en-US" smtClean="0"/>
              <a:t>2026/5/8</a:t>
            </a:fld>
            <a:endParaRPr kumimoji="1" lang="ja-JP" altLang="en-US"/>
          </a:p>
        </p:txBody>
      </p:sp>
      <p:sp>
        <p:nvSpPr>
          <p:cNvPr id="4" name="フッター プレースホルダー 3">
            <a:extLst>
              <a:ext uri="{FF2B5EF4-FFF2-40B4-BE49-F238E27FC236}">
                <a16:creationId xmlns:a16="http://schemas.microsoft.com/office/drawing/2014/main" id="{E995F55C-6120-BE98-00C0-9010D7ECBEC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F692D842-84EE-5AEE-4CDE-9C4FBC96716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EBA6D74-728A-4B91-876D-332D5EAFDD1F}" type="slidenum">
              <a:rPr kumimoji="1" lang="ja-JP" altLang="en-US" smtClean="0"/>
              <a:t>‹#›</a:t>
            </a:fld>
            <a:endParaRPr kumimoji="1" lang="ja-JP" altLang="en-US"/>
          </a:p>
        </p:txBody>
      </p:sp>
    </p:spTree>
    <p:extLst>
      <p:ext uri="{BB962C8B-B14F-4D97-AF65-F5344CB8AC3E}">
        <p14:creationId xmlns:p14="http://schemas.microsoft.com/office/powerpoint/2010/main" val="2766162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931369-F852-4140-8B8D-95933636DB5C}" type="datetimeFigureOut">
              <a:rPr lang="en-US" smtClean="0"/>
              <a:t>5/8/2026</a:t>
            </a:fld>
            <a:endParaRPr 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794E6B-F3E5-40ED-A88E-3C9469E6AF68}" type="slidenum">
              <a:rPr lang="en-US" smtClean="0"/>
              <a:t>‹#›</a:t>
            </a:fld>
            <a:endParaRPr lang="en-US"/>
          </a:p>
        </p:txBody>
      </p:sp>
    </p:spTree>
    <p:extLst>
      <p:ext uri="{BB962C8B-B14F-4D97-AF65-F5344CB8AC3E}">
        <p14:creationId xmlns:p14="http://schemas.microsoft.com/office/powerpoint/2010/main" val="4103085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それでは，</a:t>
            </a:r>
            <a:r>
              <a:rPr kumimoji="1" lang="en-US" altLang="ja-JP" dirty="0"/>
              <a:t>『</a:t>
            </a:r>
            <a:r>
              <a:rPr kumimoji="0" lang="ja-JP" altLang="en-US" sz="1200" b="0" kern="1200" dirty="0">
                <a:solidFill>
                  <a:srgbClr val="222222"/>
                </a:solidFill>
                <a:latin typeface="+mj-ea"/>
                <a:ea typeface="+mn-ea"/>
                <a:cs typeface="Arial" panose="020B0604020202020204" pitchFamily="34" charset="0"/>
              </a:rPr>
              <a:t>光学シースルー拡張現実における重畳コンテンツの知覚的視認性に関する調査</a:t>
            </a:r>
            <a:r>
              <a:rPr kumimoji="0" lang="en-US" altLang="ja-JP" sz="1200" b="0" kern="1200" dirty="0">
                <a:solidFill>
                  <a:srgbClr val="222222"/>
                </a:solidFill>
                <a:latin typeface="+mj-ea"/>
                <a:ea typeface="+mn-ea"/>
                <a:cs typeface="Arial" panose="020B0604020202020204" pitchFamily="34" charset="0"/>
              </a:rPr>
              <a:t>』</a:t>
            </a:r>
            <a:r>
              <a:rPr kumimoji="0" lang="ja-JP" altLang="en-US" sz="1200" b="0" kern="1200" dirty="0">
                <a:solidFill>
                  <a:srgbClr val="222222"/>
                </a:solidFill>
                <a:latin typeface="+mj-ea"/>
                <a:ea typeface="+mn-ea"/>
                <a:cs typeface="Arial" panose="020B0604020202020204" pitchFamily="34" charset="0"/>
              </a:rPr>
              <a:t>という題目で，電気系工学専攻修士一年，大石研究室所属の濵田和希が発表させていただきます．</a:t>
            </a:r>
            <a:endParaRPr kumimoji="0" lang="en-US" altLang="ja-JP" sz="1200" b="0" kern="1200" dirty="0">
              <a:solidFill>
                <a:srgbClr val="222222"/>
              </a:solidFill>
              <a:latin typeface="+mj-ea"/>
              <a:ea typeface="+mn-ea"/>
              <a:cs typeface="Arial" panose="020B0604020202020204" pitchFamily="34" charset="0"/>
            </a:endParaRPr>
          </a:p>
          <a:p>
            <a:endParaRPr kumimoji="0" lang="en-US" altLang="ja-JP" sz="1200" b="0" kern="1200" dirty="0">
              <a:solidFill>
                <a:srgbClr val="222222"/>
              </a:solidFill>
              <a:latin typeface="+mj-ea"/>
              <a:ea typeface="+mn-ea"/>
              <a:cs typeface="Arial" panose="020B0604020202020204" pitchFamily="34" charset="0"/>
            </a:endParaRPr>
          </a:p>
          <a:p>
            <a:r>
              <a:rPr lang="ja-JP" altLang="en-US" sz="1200" b="0" i="0" kern="1200" dirty="0">
                <a:solidFill>
                  <a:schemeClr val="tx1"/>
                </a:solidFill>
                <a:effectLst/>
                <a:latin typeface="+mn-lt"/>
                <a:ea typeface="+mn-ea"/>
                <a:cs typeface="+mn-cs"/>
              </a:rPr>
              <a:t>イントロダクションとバックグラウンドはまとめてください。</a:t>
            </a:r>
            <a:br>
              <a:rPr lang="ja-JP" altLang="en-US" dirty="0"/>
            </a:br>
            <a:r>
              <a:rPr lang="ja-JP" altLang="en-US" sz="1200" b="0" i="0" kern="1200" dirty="0">
                <a:solidFill>
                  <a:schemeClr val="tx1"/>
                </a:solidFill>
                <a:effectLst/>
                <a:latin typeface="+mn-lt"/>
                <a:ea typeface="+mn-ea"/>
                <a:cs typeface="+mn-cs"/>
              </a:rPr>
              <a:t>（イントロダクションは背景、課題、目的を含みます）</a:t>
            </a:r>
            <a:br>
              <a:rPr lang="ja-JP" altLang="en-US" dirty="0"/>
            </a:br>
            <a:r>
              <a:rPr lang="en-US" altLang="ja-JP" sz="1200" b="0" i="0" kern="1200" dirty="0">
                <a:solidFill>
                  <a:schemeClr val="tx1"/>
                </a:solidFill>
                <a:effectLst/>
                <a:latin typeface="+mn-lt"/>
                <a:ea typeface="+mn-ea"/>
                <a:cs typeface="+mn-cs"/>
              </a:rPr>
              <a:t>What is AR</a:t>
            </a:r>
            <a:r>
              <a:rPr lang="ja-JP" altLang="en-US" sz="1200" b="0" i="0" kern="1200" dirty="0">
                <a:solidFill>
                  <a:schemeClr val="tx1"/>
                </a:solidFill>
                <a:effectLst/>
                <a:latin typeface="+mn-lt"/>
                <a:ea typeface="+mn-ea"/>
                <a:cs typeface="+mn-cs"/>
              </a:rPr>
              <a:t>は良く知られているので不要です。</a:t>
            </a:r>
            <a:br>
              <a:rPr lang="ja-JP" altLang="en-US" dirty="0"/>
            </a:br>
            <a:r>
              <a:rPr lang="en-US" altLang="ja-JP" sz="1200" b="0" i="0" kern="1200" dirty="0">
                <a:solidFill>
                  <a:schemeClr val="tx1"/>
                </a:solidFill>
                <a:effectLst/>
                <a:latin typeface="+mn-lt"/>
                <a:ea typeface="+mn-ea"/>
                <a:cs typeface="+mn-cs"/>
              </a:rPr>
              <a:t>OST-AR</a:t>
            </a:r>
            <a:r>
              <a:rPr lang="ja-JP" altLang="en-US" sz="1200" b="0" i="0" kern="1200" dirty="0">
                <a:solidFill>
                  <a:schemeClr val="tx1"/>
                </a:solidFill>
                <a:effectLst/>
                <a:latin typeface="+mn-lt"/>
                <a:ea typeface="+mn-ea"/>
                <a:cs typeface="+mn-cs"/>
              </a:rPr>
              <a:t>の次のページに</a:t>
            </a:r>
            <a:r>
              <a:rPr lang="en-US" altLang="ja-JP" sz="1200" b="0" i="0" kern="1200" dirty="0">
                <a:solidFill>
                  <a:schemeClr val="tx1"/>
                </a:solidFill>
                <a:effectLst/>
                <a:latin typeface="+mn-lt"/>
                <a:ea typeface="+mn-ea"/>
                <a:cs typeface="+mn-cs"/>
              </a:rPr>
              <a:t>Issue</a:t>
            </a:r>
            <a:r>
              <a:rPr lang="ja-JP" altLang="en-US" sz="1200" b="0" i="0" kern="1200" dirty="0">
                <a:solidFill>
                  <a:schemeClr val="tx1"/>
                </a:solidFill>
                <a:effectLst/>
                <a:latin typeface="+mn-lt"/>
                <a:ea typeface="+mn-ea"/>
                <a:cs typeface="+mn-cs"/>
              </a:rPr>
              <a:t>のスライドを追加して、背景と前景の関係で、視認性が変わるという例を実画像で見せてください。</a:t>
            </a:r>
            <a:br>
              <a:rPr lang="ja-JP" altLang="en-US" dirty="0"/>
            </a:br>
            <a:r>
              <a:rPr lang="ja-JP" altLang="en-US" sz="1200" b="0" i="0" kern="1200" dirty="0">
                <a:solidFill>
                  <a:schemeClr val="tx1"/>
                </a:solidFill>
                <a:effectLst/>
                <a:latin typeface="+mn-lt"/>
                <a:ea typeface="+mn-ea"/>
                <a:cs typeface="+mn-cs"/>
              </a:rPr>
              <a:t>その次のページからバックグラウンドの部分を挿入して、</a:t>
            </a:r>
            <a:r>
              <a:rPr lang="en-US" altLang="ja-JP" sz="1200" b="0" i="0" kern="1200" dirty="0">
                <a:solidFill>
                  <a:schemeClr val="tx1"/>
                </a:solidFill>
                <a:effectLst/>
                <a:latin typeface="+mn-lt"/>
                <a:ea typeface="+mn-ea"/>
                <a:cs typeface="+mn-cs"/>
              </a:rPr>
              <a:t>Scope</a:t>
            </a:r>
            <a:r>
              <a:rPr lang="ja-JP" altLang="en-US" sz="1200" b="0" i="0" kern="1200" dirty="0">
                <a:solidFill>
                  <a:schemeClr val="tx1"/>
                </a:solidFill>
                <a:effectLst/>
                <a:latin typeface="+mn-lt"/>
                <a:ea typeface="+mn-ea"/>
                <a:cs typeface="+mn-cs"/>
              </a:rPr>
              <a:t>が最後でよいです。</a:t>
            </a:r>
            <a:br>
              <a:rPr lang="ja-JP" altLang="en-US" dirty="0"/>
            </a:br>
            <a:br>
              <a:rPr lang="ja-JP" altLang="en-US" dirty="0"/>
            </a:br>
            <a:r>
              <a:rPr lang="ja-JP" altLang="en-US" sz="1200" b="0" i="0" kern="1200" dirty="0">
                <a:solidFill>
                  <a:schemeClr val="tx1"/>
                </a:solidFill>
                <a:effectLst/>
                <a:latin typeface="+mn-lt"/>
                <a:ea typeface="+mn-ea"/>
                <a:cs typeface="+mn-cs"/>
              </a:rPr>
              <a:t>１枚のスライドには一つのトピックのみを含めてください。</a:t>
            </a:r>
            <a:br>
              <a:rPr lang="ja-JP" altLang="en-US" dirty="0"/>
            </a:br>
            <a:r>
              <a:rPr lang="en-US" altLang="ja-JP" sz="1200" b="0" i="0" kern="1200" dirty="0">
                <a:solidFill>
                  <a:schemeClr val="tx1"/>
                </a:solidFill>
                <a:effectLst/>
                <a:latin typeface="+mn-lt"/>
                <a:ea typeface="+mn-ea"/>
                <a:cs typeface="+mn-cs"/>
              </a:rPr>
              <a:t>Objective and Method</a:t>
            </a:r>
            <a:r>
              <a:rPr lang="ja-JP" altLang="en-US" sz="1200" b="0" i="0" kern="1200" dirty="0">
                <a:solidFill>
                  <a:schemeClr val="tx1"/>
                </a:solidFill>
                <a:effectLst/>
                <a:latin typeface="+mn-lt"/>
                <a:ea typeface="+mn-ea"/>
                <a:cs typeface="+mn-cs"/>
              </a:rPr>
              <a:t>、</a:t>
            </a:r>
            <a:r>
              <a:rPr lang="en-US" altLang="ja-JP" sz="1200" b="0" i="0" kern="1200" dirty="0">
                <a:solidFill>
                  <a:schemeClr val="tx1"/>
                </a:solidFill>
                <a:effectLst/>
                <a:latin typeface="+mn-lt"/>
                <a:ea typeface="+mn-ea"/>
                <a:cs typeface="+mn-cs"/>
              </a:rPr>
              <a:t>Results and Future Work</a:t>
            </a:r>
            <a:r>
              <a:rPr lang="ja-JP" altLang="en-US" sz="1200" b="0" i="0" kern="1200" dirty="0">
                <a:solidFill>
                  <a:schemeClr val="tx1"/>
                </a:solidFill>
                <a:effectLst/>
                <a:latin typeface="+mn-lt"/>
                <a:ea typeface="+mn-ea"/>
                <a:cs typeface="+mn-cs"/>
              </a:rPr>
              <a:t>、</a:t>
            </a:r>
            <a:r>
              <a:rPr lang="en-US" altLang="ja-JP" sz="1200" b="0" i="0" kern="1200" dirty="0">
                <a:solidFill>
                  <a:schemeClr val="tx1"/>
                </a:solidFill>
                <a:effectLst/>
                <a:latin typeface="+mn-lt"/>
                <a:ea typeface="+mn-ea"/>
                <a:cs typeface="+mn-cs"/>
              </a:rPr>
              <a:t>Results and</a:t>
            </a:r>
            <a:br>
              <a:rPr lang="ja-JP" altLang="en-US" dirty="0"/>
            </a:br>
            <a:r>
              <a:rPr lang="en-US" altLang="ja-JP" sz="1200" b="0" i="0" kern="1200" dirty="0">
                <a:solidFill>
                  <a:schemeClr val="tx1"/>
                </a:solidFill>
                <a:effectLst/>
                <a:latin typeface="+mn-lt"/>
                <a:ea typeface="+mn-ea"/>
                <a:cs typeface="+mn-cs"/>
              </a:rPr>
              <a:t>Discussion</a:t>
            </a:r>
            <a:r>
              <a:rPr lang="ja-JP" altLang="en-US" sz="1200" b="0" i="0" kern="1200" dirty="0">
                <a:solidFill>
                  <a:schemeClr val="tx1"/>
                </a:solidFill>
                <a:effectLst/>
                <a:latin typeface="+mn-lt"/>
                <a:ea typeface="+mn-ea"/>
                <a:cs typeface="+mn-cs"/>
              </a:rPr>
              <a:t>はそれぞれ分けてください。</a:t>
            </a:r>
            <a:br>
              <a:rPr lang="ja-JP" altLang="en-US" dirty="0"/>
            </a:br>
            <a:r>
              <a:rPr lang="ja-JP" altLang="en-US" sz="1200" b="0" i="0" kern="1200" dirty="0">
                <a:solidFill>
                  <a:schemeClr val="tx1"/>
                </a:solidFill>
                <a:effectLst/>
                <a:latin typeface="+mn-lt"/>
                <a:ea typeface="+mn-ea"/>
                <a:cs typeface="+mn-cs"/>
              </a:rPr>
              <a:t>全体的に文字が多くて見にくいのですが、上記で少しよくなると思います。</a:t>
            </a:r>
            <a:br>
              <a:rPr lang="ja-JP" altLang="en-US" dirty="0"/>
            </a:br>
            <a:r>
              <a:rPr lang="ja-JP" altLang="en-US" sz="1200" b="0" i="0" kern="1200" dirty="0">
                <a:solidFill>
                  <a:schemeClr val="tx1"/>
                </a:solidFill>
                <a:effectLst/>
                <a:latin typeface="+mn-lt"/>
                <a:ea typeface="+mn-ea"/>
                <a:cs typeface="+mn-cs"/>
              </a:rPr>
              <a:t>文字フォントも大きく、画像も大きく見せてください。</a:t>
            </a:r>
            <a:br>
              <a:rPr lang="ja-JP" altLang="en-US" dirty="0"/>
            </a:br>
            <a:br>
              <a:rPr lang="ja-JP" altLang="en-US" dirty="0"/>
            </a:br>
            <a:r>
              <a:rPr lang="en-US" altLang="ja-JP" sz="1200" b="0" i="0" kern="1200" dirty="0">
                <a:solidFill>
                  <a:schemeClr val="tx1"/>
                </a:solidFill>
                <a:effectLst/>
                <a:latin typeface="+mn-lt"/>
                <a:ea typeface="+mn-ea"/>
                <a:cs typeface="+mn-cs"/>
              </a:rPr>
              <a:t>Research</a:t>
            </a:r>
            <a:br>
              <a:rPr lang="ja-JP" altLang="en-US" dirty="0"/>
            </a:br>
            <a:r>
              <a:rPr lang="en-US" altLang="ja-JP" sz="1200" b="0" i="0" kern="1200" dirty="0">
                <a:solidFill>
                  <a:schemeClr val="tx1"/>
                </a:solidFill>
                <a:effectLst/>
                <a:latin typeface="+mn-lt"/>
                <a:ea typeface="+mn-ea"/>
                <a:cs typeface="+mn-cs"/>
              </a:rPr>
              <a:t>outline</a:t>
            </a:r>
            <a:r>
              <a:rPr lang="ja-JP" altLang="en-US" sz="1200" b="0" i="0" kern="1200">
                <a:solidFill>
                  <a:schemeClr val="tx1"/>
                </a:solidFill>
                <a:effectLst/>
                <a:latin typeface="+mn-lt"/>
                <a:ea typeface="+mn-ea"/>
                <a:cs typeface="+mn-cs"/>
              </a:rPr>
              <a:t>の部分は独立したページにして、どういったトピックの研究をなぜ紹介するのか丁寧に説明してください。</a:t>
            </a:r>
            <a:endParaRPr kumimoji="1" lang="ja-JP" altLang="en-US"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1</a:t>
            </a:fld>
            <a:endParaRPr lang="en-US"/>
          </a:p>
        </p:txBody>
      </p:sp>
    </p:spTree>
    <p:extLst>
      <p:ext uri="{BB962C8B-B14F-4D97-AF65-F5344CB8AC3E}">
        <p14:creationId xmlns:p14="http://schemas.microsoft.com/office/powerpoint/2010/main" val="3209383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本発表のインデックスはこちらとなります。</a:t>
            </a:r>
            <a:endParaRPr lang="en-US"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2</a:t>
            </a:fld>
            <a:endParaRPr lang="en-US"/>
          </a:p>
        </p:txBody>
      </p:sp>
    </p:spTree>
    <p:extLst>
      <p:ext uri="{BB962C8B-B14F-4D97-AF65-F5344CB8AC3E}">
        <p14:creationId xmlns:p14="http://schemas.microsoft.com/office/powerpoint/2010/main" val="1408298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アウトラインの説明は、イントロダクションの中で行わせていただきたいと思います．まず初めに，今回取り上げている，</a:t>
            </a:r>
            <a:r>
              <a:rPr kumimoji="1" lang="en-US" altLang="ja-JP" dirty="0"/>
              <a:t>『OST-AR</a:t>
            </a:r>
            <a:r>
              <a:rPr kumimoji="1" lang="ja-JP" altLang="en-US" dirty="0"/>
              <a:t>とは何か</a:t>
            </a:r>
            <a:r>
              <a:rPr kumimoji="1" lang="en-US" altLang="ja-JP" dirty="0"/>
              <a:t>』</a:t>
            </a:r>
            <a:r>
              <a:rPr kumimoji="1" lang="ja-JP" altLang="en-US" dirty="0"/>
              <a:t>について説明いたします．</a:t>
            </a:r>
            <a:endParaRPr lang="en-US"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3</a:t>
            </a:fld>
            <a:endParaRPr lang="en-US"/>
          </a:p>
        </p:txBody>
      </p:sp>
    </p:spTree>
    <p:extLst>
      <p:ext uri="{BB962C8B-B14F-4D97-AF65-F5344CB8AC3E}">
        <p14:creationId xmlns:p14="http://schemas.microsoft.com/office/powerpoint/2010/main" val="30629137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そもそも</a:t>
            </a:r>
            <a:r>
              <a:rPr kumimoji="1" lang="en-US" altLang="ja-JP" dirty="0"/>
              <a:t>AR</a:t>
            </a:r>
            <a:r>
              <a:rPr kumimoji="1" lang="ja-JP" altLang="en-US" dirty="0"/>
              <a:t>とは、</a:t>
            </a:r>
            <a:r>
              <a:rPr kumimoji="1" lang="en-US" altLang="ja-JP" dirty="0"/>
              <a:t>XR</a:t>
            </a:r>
            <a:r>
              <a:rPr kumimoji="1" lang="ja-JP" altLang="en-US" dirty="0"/>
              <a:t>と総称される技術の一つです．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XR</a:t>
            </a:r>
            <a:r>
              <a:rPr kumimoji="1" lang="ja-JP" altLang="en-US" dirty="0"/>
              <a:t>に内包される技術は，現実環境と仮想環境の間に位置する様々な環境を実現するものです．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その中でも</a:t>
            </a:r>
            <a:r>
              <a:rPr kumimoji="1" lang="en-US" altLang="ja-JP" dirty="0"/>
              <a:t>AR</a:t>
            </a:r>
            <a:r>
              <a:rPr kumimoji="1" lang="ja-JP" altLang="en-US" dirty="0"/>
              <a:t>は、「現実環境の中に仮想オブジェクトが重畳された環境，およびそれを実現する技術」とされています。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具体的には，右上の図のような表現を実現する技術，と認識していただければと思います．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4</a:t>
            </a:fld>
            <a:endParaRPr lang="en-US"/>
          </a:p>
        </p:txBody>
      </p:sp>
    </p:spTree>
    <p:extLst>
      <p:ext uri="{BB962C8B-B14F-4D97-AF65-F5344CB8AC3E}">
        <p14:creationId xmlns:p14="http://schemas.microsoft.com/office/powerpoint/2010/main" val="18489095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この</a:t>
            </a:r>
            <a:r>
              <a:rPr kumimoji="1" lang="en-US" altLang="ja-JP" dirty="0"/>
              <a:t>AR</a:t>
            </a:r>
            <a:r>
              <a:rPr kumimoji="1" lang="ja-JP" altLang="en-US" dirty="0"/>
              <a:t>は、表示方式によってさらに</a:t>
            </a:r>
            <a:r>
              <a:rPr kumimoji="1" lang="en-US" altLang="ja-JP" dirty="0"/>
              <a:t>2</a:t>
            </a:r>
            <a:r>
              <a:rPr kumimoji="1" lang="ja-JP" altLang="en-US" dirty="0"/>
              <a:t>種類に分類されています。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一つ目は、ビデオシースルー方式です。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こちらでは、現実環境をカメラで撮影し、</a:t>
            </a:r>
            <a:r>
              <a:rPr kumimoji="1" lang="en-US" altLang="ja-JP" dirty="0"/>
              <a:t>HMD</a:t>
            </a:r>
            <a:r>
              <a:rPr kumimoji="1" lang="ja-JP" altLang="en-US" dirty="0"/>
              <a:t>内で仮想表示と合成、その結果をディスプレイに映してユーザーに表示します。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この方式の利点は、仮想表示可能な視野が広いこと、またその表示が画像処理的に制御しやすいことが挙げられます。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一方で、現実環境の撮影処理を挟むので、その解像度低下や遅延が課題になります。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二つ目の方式が、今回扱うオプティカルシースルー、光学シースルー方式です。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こちらでは、ビームスプリッターを用いて、現実環境に仮想表示を光学的に重畳させ、ユーザーに知覚させます。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この方式では、現実環境を直接知覚するので、</a:t>
            </a:r>
            <a:r>
              <a:rPr kumimoji="1" lang="en-US" altLang="ja-JP" dirty="0"/>
              <a:t>VST</a:t>
            </a:r>
            <a:r>
              <a:rPr kumimoji="1" lang="ja-JP" altLang="en-US" dirty="0"/>
              <a:t>方式が持つ解像度低下や遅延といった課題はありません。</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一方で，仮想表示が半透明に知覚されるため，その視認性の低下や，不正確な知覚が課題となります．</a:t>
            </a:r>
          </a:p>
          <a:p>
            <a:endParaRPr lang="en-US"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5</a:t>
            </a:fld>
            <a:endParaRPr lang="en-US"/>
          </a:p>
        </p:txBody>
      </p:sp>
    </p:spTree>
    <p:extLst>
      <p:ext uri="{BB962C8B-B14F-4D97-AF65-F5344CB8AC3E}">
        <p14:creationId xmlns:p14="http://schemas.microsoft.com/office/powerpoint/2010/main" val="2186279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A912A-50A8-46D8-0136-8B93EC7F98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EB81FA7-F428-EA40-A2C1-4BC66886D96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7D227D1-B813-907B-A91A-7B0938C1C34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アウトラインの説明は、イントロダクションの中で行わせていただきたいと思います．まず初めに，今回取り上げている，</a:t>
            </a:r>
            <a:r>
              <a:rPr kumimoji="1" lang="en-US" altLang="ja-JP" dirty="0"/>
              <a:t>『OST-AR</a:t>
            </a:r>
            <a:r>
              <a:rPr kumimoji="1" lang="ja-JP" altLang="en-US" dirty="0"/>
              <a:t>とは何か</a:t>
            </a:r>
            <a:r>
              <a:rPr kumimoji="1" lang="en-US" altLang="ja-JP" dirty="0"/>
              <a:t>』</a:t>
            </a:r>
            <a:r>
              <a:rPr kumimoji="1" lang="ja-JP" altLang="en-US" dirty="0"/>
              <a:t>について説明いたします．</a:t>
            </a:r>
            <a:endParaRPr lang="en-US" dirty="0"/>
          </a:p>
        </p:txBody>
      </p:sp>
      <p:sp>
        <p:nvSpPr>
          <p:cNvPr id="4" name="スライド番号プレースホルダー 3">
            <a:extLst>
              <a:ext uri="{FF2B5EF4-FFF2-40B4-BE49-F238E27FC236}">
                <a16:creationId xmlns:a16="http://schemas.microsoft.com/office/drawing/2014/main" id="{2530FF02-F07B-0960-907E-287D612B481C}"/>
              </a:ext>
            </a:extLst>
          </p:cNvPr>
          <p:cNvSpPr>
            <a:spLocks noGrp="1"/>
          </p:cNvSpPr>
          <p:nvPr>
            <p:ph type="sldNum" sz="quarter" idx="5"/>
          </p:nvPr>
        </p:nvSpPr>
        <p:spPr/>
        <p:txBody>
          <a:bodyPr/>
          <a:lstStyle/>
          <a:p>
            <a:fld id="{A7794E6B-F3E5-40ED-A88E-3C9469E6AF68}" type="slidenum">
              <a:rPr lang="en-US" smtClean="0"/>
              <a:t>7</a:t>
            </a:fld>
            <a:endParaRPr lang="en-US"/>
          </a:p>
        </p:txBody>
      </p:sp>
    </p:spTree>
    <p:extLst>
      <p:ext uri="{BB962C8B-B14F-4D97-AF65-F5344CB8AC3E}">
        <p14:creationId xmlns:p14="http://schemas.microsoft.com/office/powerpoint/2010/main" val="37565304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まず，「知覚的視認性」とは何か，について扱います．</a:t>
            </a:r>
            <a:endParaRPr lang="en-US" altLang="ja-JP" dirty="0"/>
          </a:p>
          <a:p>
            <a:r>
              <a:rPr lang="ja-JP" altLang="en-US" dirty="0"/>
              <a:t>そもそも人間の視覚は，大きさとコントラストに基づいて刺激を見分けるため，視認性もまた，コントラストの大きさに基づくものとされています．</a:t>
            </a:r>
            <a:endParaRPr lang="en-US" altLang="ja-JP" dirty="0"/>
          </a:p>
          <a:p>
            <a:r>
              <a:rPr lang="ja-JP" altLang="en-US" dirty="0"/>
              <a:t>また，コントラストに対する感度は空間周波数に依存しており，これは関数として定義されています．</a:t>
            </a:r>
            <a:endParaRPr lang="en-US" altLang="ja-JP" dirty="0"/>
          </a:p>
          <a:p>
            <a:r>
              <a:rPr lang="ja-JP" altLang="en-US" dirty="0"/>
              <a:t>よって，基本的にはこの感度以上の範囲で，コントラストを高めることが視認性を高めることになります．</a:t>
            </a:r>
            <a:endParaRPr lang="en-US"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8</a:t>
            </a:fld>
            <a:endParaRPr lang="en-US"/>
          </a:p>
        </p:txBody>
      </p:sp>
    </p:spTree>
    <p:extLst>
      <p:ext uri="{BB962C8B-B14F-4D97-AF65-F5344CB8AC3E}">
        <p14:creationId xmlns:p14="http://schemas.microsoft.com/office/powerpoint/2010/main" val="31380067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しかし，「知覚的視認性」という尺度自体は主観的なものであるため，その直接的な評価を行う場合は，基準や実験設計によって，解釈に幅が生まれます．</a:t>
            </a:r>
            <a:endParaRPr lang="en-US" altLang="ja-JP" dirty="0"/>
          </a:p>
          <a:p>
            <a:r>
              <a:rPr lang="ja-JP" altLang="en-US" dirty="0"/>
              <a:t>ここにはその例を示しています．</a:t>
            </a:r>
            <a:endParaRPr lang="en-US" altLang="ja-JP" dirty="0"/>
          </a:p>
          <a:p>
            <a:r>
              <a:rPr lang="ja-JP" altLang="en-US" dirty="0"/>
              <a:t>例えば，色の影響に着目した研究では，背景に対する色相の差，明るさに着目した研究では，明るさの適切さというものを，それぞれ視認性と解釈し扱っています．</a:t>
            </a:r>
            <a:endParaRPr lang="en-US" altLang="ja-JP" dirty="0"/>
          </a:p>
          <a:p>
            <a:r>
              <a:rPr lang="ja-JP" altLang="en-US" dirty="0"/>
              <a:t>また，</a:t>
            </a:r>
            <a:r>
              <a:rPr lang="en-US" altLang="ja-JP" dirty="0"/>
              <a:t>UI</a:t>
            </a:r>
            <a:r>
              <a:rPr lang="ja-JP" altLang="en-US" dirty="0"/>
              <a:t>に着目した研究では，タスク実行中における視認性を扱っており，上の二つとは前提条件が異なります．</a:t>
            </a:r>
            <a:endParaRPr lang="en-US" altLang="ja-JP" dirty="0"/>
          </a:p>
          <a:p>
            <a:r>
              <a:rPr lang="ja-JP" altLang="en-US" dirty="0"/>
              <a:t>このように，視認性の研究では，目的に合わせた適切な解釈と実験設計が求められます．</a:t>
            </a:r>
            <a:endParaRPr lang="en-US" altLang="ja-JP"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9</a:t>
            </a:fld>
            <a:endParaRPr lang="en-US"/>
          </a:p>
        </p:txBody>
      </p:sp>
    </p:spTree>
    <p:extLst>
      <p:ext uri="{BB962C8B-B14F-4D97-AF65-F5344CB8AC3E}">
        <p14:creationId xmlns:p14="http://schemas.microsoft.com/office/powerpoint/2010/main" val="36450584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次に，視認性研究の意義を示すため，その応用について触れたいと思います．</a:t>
            </a:r>
            <a:endParaRPr lang="en-US" altLang="ja-JP" dirty="0"/>
          </a:p>
          <a:p>
            <a:r>
              <a:rPr lang="ja-JP" altLang="en-US" dirty="0"/>
              <a:t>視認性の研究は，その予測や向上だけでなく，知見を共有する様々な分野に対しても重要な役割を果たします．</a:t>
            </a:r>
            <a:endParaRPr lang="en-US" altLang="ja-JP" dirty="0"/>
          </a:p>
          <a:p>
            <a:r>
              <a:rPr lang="ja-JP" altLang="en-US" dirty="0"/>
              <a:t>例えば，画像の品質評価，</a:t>
            </a:r>
            <a:r>
              <a:rPr lang="en-US" altLang="ja-JP" dirty="0"/>
              <a:t>IQA</a:t>
            </a:r>
            <a:r>
              <a:rPr lang="ja-JP" altLang="en-US" dirty="0"/>
              <a:t>は，人間の視覚の研究をもとに行われています．</a:t>
            </a:r>
            <a:endParaRPr lang="en-US" altLang="ja-JP" dirty="0"/>
          </a:p>
          <a:p>
            <a:r>
              <a:rPr lang="ja-JP" altLang="en-US" dirty="0"/>
              <a:t>そのため，</a:t>
            </a:r>
            <a:r>
              <a:rPr lang="en-US" altLang="ja-JP" dirty="0"/>
              <a:t>IQA</a:t>
            </a:r>
            <a:r>
              <a:rPr lang="ja-JP" altLang="en-US" dirty="0"/>
              <a:t>モデルによる視認性予測や，</a:t>
            </a:r>
            <a:r>
              <a:rPr lang="en-US" altLang="ja-JP" dirty="0"/>
              <a:t>IQA</a:t>
            </a:r>
            <a:r>
              <a:rPr lang="ja-JP" altLang="en-US" dirty="0"/>
              <a:t>モデルの</a:t>
            </a:r>
            <a:r>
              <a:rPr lang="en-US" altLang="ja-JP" dirty="0"/>
              <a:t>OST-AR</a:t>
            </a:r>
            <a:r>
              <a:rPr lang="ja-JP" altLang="en-US" dirty="0"/>
              <a:t>化といった研究は，今回扱うテーマと密接な関係があります．</a:t>
            </a:r>
            <a:endParaRPr lang="en-US" altLang="ja-JP" dirty="0"/>
          </a:p>
          <a:p>
            <a:r>
              <a:rPr lang="ja-JP" altLang="en-US" dirty="0"/>
              <a:t>しかしこの分野においても，</a:t>
            </a:r>
            <a:r>
              <a:rPr lang="en-US" altLang="ja-JP" dirty="0"/>
              <a:t>OST-AR</a:t>
            </a:r>
            <a:r>
              <a:rPr lang="ja-JP" altLang="en-US" dirty="0"/>
              <a:t>における既存モデルの限界が示されており，更なる研究が必要とされています．</a:t>
            </a:r>
            <a:endParaRPr lang="en-US"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10</a:t>
            </a:fld>
            <a:endParaRPr lang="en-US"/>
          </a:p>
        </p:txBody>
      </p:sp>
    </p:spTree>
    <p:extLst>
      <p:ext uri="{BB962C8B-B14F-4D97-AF65-F5344CB8AC3E}">
        <p14:creationId xmlns:p14="http://schemas.microsoft.com/office/powerpoint/2010/main" val="14103240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dirty="0"/>
              <a:t>IQA</a:t>
            </a:r>
            <a:r>
              <a:rPr lang="ja-JP" altLang="en-US" dirty="0"/>
              <a:t>の他に，</a:t>
            </a:r>
            <a:r>
              <a:rPr lang="en-US" altLang="ja-JP" dirty="0"/>
              <a:t>UX</a:t>
            </a:r>
            <a:r>
              <a:rPr lang="ja-JP" altLang="en-US" dirty="0"/>
              <a:t>や安全性といった分野においても，視認性研究は重要です．</a:t>
            </a:r>
            <a:endParaRPr lang="en-US" altLang="ja-JP" dirty="0"/>
          </a:p>
          <a:p>
            <a:r>
              <a:rPr lang="ja-JP" altLang="en-US" dirty="0"/>
              <a:t>ここに示すように，</a:t>
            </a:r>
            <a:r>
              <a:rPr lang="en-US" altLang="ja-JP" dirty="0"/>
              <a:t>UI</a:t>
            </a:r>
            <a:r>
              <a:rPr lang="ja-JP" altLang="en-US" dirty="0"/>
              <a:t>と視認性，ユーザーの好みとの間に，</a:t>
            </a:r>
            <a:r>
              <a:rPr lang="en-US" altLang="ja-JP" dirty="0"/>
              <a:t>OST-AR</a:t>
            </a:r>
            <a:r>
              <a:rPr lang="ja-JP" altLang="en-US" dirty="0"/>
              <a:t>特有の関係があるという報告や，自動車運転環境における</a:t>
            </a:r>
            <a:r>
              <a:rPr lang="en-US" altLang="ja-JP" dirty="0"/>
              <a:t>OST</a:t>
            </a:r>
            <a:r>
              <a:rPr lang="ja-JP" altLang="en-US" dirty="0"/>
              <a:t>表示の視認性に関する研究も存在します．</a:t>
            </a:r>
            <a:endParaRPr lang="en-US" altLang="ja-JP" dirty="0"/>
          </a:p>
          <a:p>
            <a:r>
              <a:rPr lang="ja-JP" altLang="en-US" dirty="0"/>
              <a:t>よって，</a:t>
            </a:r>
            <a:r>
              <a:rPr lang="en-US" altLang="ja-JP" dirty="0"/>
              <a:t>OST-AR</a:t>
            </a:r>
            <a:r>
              <a:rPr lang="ja-JP" altLang="en-US" dirty="0"/>
              <a:t>の知覚的視認性に関する研究は，幅広い分野に対する意義があり，重要であることが分かります．</a:t>
            </a:r>
            <a:endParaRPr lang="en-US"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11</a:t>
            </a:fld>
            <a:endParaRPr lang="en-US"/>
          </a:p>
        </p:txBody>
      </p:sp>
    </p:spTree>
    <p:extLst>
      <p:ext uri="{BB962C8B-B14F-4D97-AF65-F5344CB8AC3E}">
        <p14:creationId xmlns:p14="http://schemas.microsoft.com/office/powerpoint/2010/main" val="18024698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C94E7-3178-89FF-0B72-A4C9BA0E341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88DD42E-E83A-E694-6FB7-64993009517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E1E98DF-3A92-F28B-4A23-1134A51AAE3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アウトラインの説明は、イントロダクションの中で行わせていただきたいと思います．まず初めに，今回取り上げている，</a:t>
            </a:r>
            <a:r>
              <a:rPr kumimoji="1" lang="en-US" altLang="ja-JP" dirty="0"/>
              <a:t>『OST-AR</a:t>
            </a:r>
            <a:r>
              <a:rPr kumimoji="1" lang="ja-JP" altLang="en-US" dirty="0"/>
              <a:t>とは何か</a:t>
            </a:r>
            <a:r>
              <a:rPr kumimoji="1" lang="en-US" altLang="ja-JP" dirty="0"/>
              <a:t>』</a:t>
            </a:r>
            <a:r>
              <a:rPr kumimoji="1" lang="ja-JP" altLang="en-US" dirty="0"/>
              <a:t>について説明いたします．</a:t>
            </a:r>
            <a:endParaRPr lang="en-US" dirty="0"/>
          </a:p>
        </p:txBody>
      </p:sp>
      <p:sp>
        <p:nvSpPr>
          <p:cNvPr id="4" name="スライド番号プレースホルダー 3">
            <a:extLst>
              <a:ext uri="{FF2B5EF4-FFF2-40B4-BE49-F238E27FC236}">
                <a16:creationId xmlns:a16="http://schemas.microsoft.com/office/drawing/2014/main" id="{8957D526-9089-C743-CDA8-8540FB4CC741}"/>
              </a:ext>
            </a:extLst>
          </p:cNvPr>
          <p:cNvSpPr>
            <a:spLocks noGrp="1"/>
          </p:cNvSpPr>
          <p:nvPr>
            <p:ph type="sldNum" sz="quarter" idx="5"/>
          </p:nvPr>
        </p:nvSpPr>
        <p:spPr/>
        <p:txBody>
          <a:bodyPr/>
          <a:lstStyle/>
          <a:p>
            <a:fld id="{A7794E6B-F3E5-40ED-A88E-3C9469E6AF68}" type="slidenum">
              <a:rPr lang="en-US" smtClean="0"/>
              <a:t>12</a:t>
            </a:fld>
            <a:endParaRPr lang="en-US"/>
          </a:p>
        </p:txBody>
      </p:sp>
    </p:spTree>
    <p:extLst>
      <p:ext uri="{BB962C8B-B14F-4D97-AF65-F5344CB8AC3E}">
        <p14:creationId xmlns:p14="http://schemas.microsoft.com/office/powerpoint/2010/main" val="39981320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そこで，本調査輪講では，この</a:t>
            </a:r>
            <a:r>
              <a:rPr lang="en-US" altLang="ja-JP" dirty="0"/>
              <a:t>OST-AR</a:t>
            </a:r>
            <a:r>
              <a:rPr lang="ja-JP" altLang="en-US" dirty="0"/>
              <a:t>における知覚的視認性を扱います．</a:t>
            </a:r>
            <a:endParaRPr lang="en-US" altLang="ja-JP" dirty="0"/>
          </a:p>
          <a:p>
            <a:r>
              <a:rPr lang="ja-JP" altLang="en-US" dirty="0"/>
              <a:t>具体的には，視認性に影響を与える，色，明るさ，透明度といった要素ごとに，基礎研究と応用研究を取り上げ，知見や成果を整理します．</a:t>
            </a:r>
            <a:endParaRPr lang="en-US" altLang="ja-JP" dirty="0"/>
          </a:p>
          <a:p>
            <a:r>
              <a:rPr lang="ja-JP" altLang="en-US" dirty="0"/>
              <a:t>ここで，基礎研究とは，各要素が視認性に与える影響を扱ったもの，応用研究は，視認性の予測や向上に取り組んだもの，という分類を行いました．</a:t>
            </a:r>
            <a:endParaRPr lang="en-US" altLang="ja-JP" dirty="0"/>
          </a:p>
          <a:p>
            <a:r>
              <a:rPr lang="ja-JP" altLang="en-US" dirty="0"/>
              <a:t>加えて，このテーマにおける有望なアプローチを提供する視認性予測モデルについても触れたいと思います．</a:t>
            </a:r>
            <a:endParaRPr lang="en-US"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13</a:t>
            </a:fld>
            <a:endParaRPr lang="en-US"/>
          </a:p>
        </p:txBody>
      </p:sp>
    </p:spTree>
    <p:extLst>
      <p:ext uri="{BB962C8B-B14F-4D97-AF65-F5344CB8AC3E}">
        <p14:creationId xmlns:p14="http://schemas.microsoft.com/office/powerpoint/2010/main" val="32631616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では，これらの背景を踏まえ，本題に入ります．</a:t>
            </a:r>
            <a:endParaRPr lang="en-US"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14</a:t>
            </a:fld>
            <a:endParaRPr lang="en-US"/>
          </a:p>
        </p:txBody>
      </p:sp>
    </p:spTree>
    <p:extLst>
      <p:ext uri="{BB962C8B-B14F-4D97-AF65-F5344CB8AC3E}">
        <p14:creationId xmlns:p14="http://schemas.microsoft.com/office/powerpoint/2010/main" val="25427678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まずは色と視認性に関する研究です．</a:t>
            </a:r>
            <a:endParaRPr lang="en-US" altLang="ja-JP" dirty="0"/>
          </a:p>
          <a:p>
            <a:r>
              <a:rPr lang="ja-JP" altLang="en-US" dirty="0"/>
              <a:t>共通する背景として，</a:t>
            </a:r>
            <a:r>
              <a:rPr lang="en-US" altLang="ja-JP" dirty="0"/>
              <a:t>OST-AR</a:t>
            </a:r>
            <a:r>
              <a:rPr lang="ja-JP" altLang="en-US" dirty="0"/>
              <a:t>における色混合の問題があります．</a:t>
            </a:r>
            <a:endParaRPr lang="en-US" altLang="ja-JP" dirty="0"/>
          </a:p>
          <a:p>
            <a:r>
              <a:rPr lang="ja-JP" altLang="en-US" dirty="0"/>
              <a:t>これは，</a:t>
            </a:r>
            <a:r>
              <a:rPr lang="en-US" altLang="ja-JP" dirty="0"/>
              <a:t>OST-AR</a:t>
            </a:r>
            <a:r>
              <a:rPr lang="ja-JP" altLang="en-US" dirty="0"/>
              <a:t>において知覚される色は，現実環境と仮想表示の色が，右図のように加法混色された結果であることによるものです．</a:t>
            </a:r>
            <a:endParaRPr lang="en-US" altLang="ja-JP" dirty="0"/>
          </a:p>
          <a:p>
            <a:r>
              <a:rPr lang="ja-JP" altLang="en-US" dirty="0"/>
              <a:t>この加法混色による色混合は，色の正確な知覚や，視認性に影響を与えます．</a:t>
            </a:r>
            <a:endParaRPr lang="en-US" altLang="ja-JP" dirty="0"/>
          </a:p>
          <a:p>
            <a:r>
              <a:rPr lang="ja-JP" altLang="en-US" dirty="0"/>
              <a:t>よってこのセクションでは，この問題の工学的な調査，知覚的視認性への影響，その補正手法といった研究に触れていくことで，</a:t>
            </a:r>
            <a:r>
              <a:rPr lang="en-US" altLang="ja-JP" dirty="0"/>
              <a:t>OST-AR</a:t>
            </a:r>
            <a:r>
              <a:rPr lang="ja-JP" altLang="en-US" dirty="0"/>
              <a:t>における色知覚の研究動向を概観・整理します．</a:t>
            </a:r>
            <a:endParaRPr lang="en-US" altLang="ja-JP"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15</a:t>
            </a:fld>
            <a:endParaRPr lang="en-US"/>
          </a:p>
        </p:txBody>
      </p:sp>
    </p:spTree>
    <p:extLst>
      <p:ext uri="{BB962C8B-B14F-4D97-AF65-F5344CB8AC3E}">
        <p14:creationId xmlns:p14="http://schemas.microsoft.com/office/powerpoint/2010/main" val="26279241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C0060-854E-003E-6304-E093A2CBA92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6D553D2-B5EB-BF83-2B87-53A5F0F5524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BEA4642-92D9-83E8-09BE-5AFC6A76A892}"/>
              </a:ext>
            </a:extLst>
          </p:cNvPr>
          <p:cNvSpPr>
            <a:spLocks noGrp="1"/>
          </p:cNvSpPr>
          <p:nvPr>
            <p:ph type="body" idx="1"/>
          </p:nvPr>
        </p:nvSpPr>
        <p:spPr/>
        <p:txBody>
          <a:bodyPr/>
          <a:lstStyle/>
          <a:p>
            <a:r>
              <a:rPr lang="ja-JP" altLang="en-US" dirty="0"/>
              <a:t>まずは色と視認性に関する研究です．</a:t>
            </a:r>
            <a:endParaRPr lang="en-US" altLang="ja-JP" dirty="0"/>
          </a:p>
          <a:p>
            <a:r>
              <a:rPr lang="ja-JP" altLang="en-US" dirty="0"/>
              <a:t>共通する背景として，</a:t>
            </a:r>
            <a:r>
              <a:rPr lang="en-US" altLang="ja-JP" dirty="0"/>
              <a:t>OST-AR</a:t>
            </a:r>
            <a:r>
              <a:rPr lang="ja-JP" altLang="en-US" dirty="0"/>
              <a:t>における色混合の問題があります．</a:t>
            </a:r>
            <a:endParaRPr lang="en-US" altLang="ja-JP" dirty="0"/>
          </a:p>
          <a:p>
            <a:r>
              <a:rPr lang="ja-JP" altLang="en-US" dirty="0"/>
              <a:t>これは，</a:t>
            </a:r>
            <a:r>
              <a:rPr lang="en-US" altLang="ja-JP" dirty="0"/>
              <a:t>OST-AR</a:t>
            </a:r>
            <a:r>
              <a:rPr lang="ja-JP" altLang="en-US" dirty="0"/>
              <a:t>において知覚される色は，現実環境と仮想表示の色が，右図のように加法混色された結果であることによるものです．</a:t>
            </a:r>
            <a:endParaRPr lang="en-US" altLang="ja-JP" dirty="0"/>
          </a:p>
          <a:p>
            <a:r>
              <a:rPr lang="ja-JP" altLang="en-US" dirty="0"/>
              <a:t>この加法混色による色混合は，色の正確な知覚や，視認性に影響を与えます．</a:t>
            </a:r>
            <a:endParaRPr lang="en-US" altLang="ja-JP" dirty="0"/>
          </a:p>
          <a:p>
            <a:r>
              <a:rPr lang="ja-JP" altLang="en-US" dirty="0"/>
              <a:t>よってこのセクションでは，この問題の工学的な調査，知覚的視認性への影響，その補正手法といった研究に触れていくことで，</a:t>
            </a:r>
            <a:r>
              <a:rPr lang="en-US" altLang="ja-JP" dirty="0"/>
              <a:t>OST-AR</a:t>
            </a:r>
            <a:r>
              <a:rPr lang="ja-JP" altLang="en-US" dirty="0"/>
              <a:t>における色知覚の研究動向を概観・整理します．</a:t>
            </a:r>
            <a:endParaRPr lang="en-US" altLang="ja-JP" dirty="0"/>
          </a:p>
        </p:txBody>
      </p:sp>
      <p:sp>
        <p:nvSpPr>
          <p:cNvPr id="4" name="スライド番号プレースホルダー 3">
            <a:extLst>
              <a:ext uri="{FF2B5EF4-FFF2-40B4-BE49-F238E27FC236}">
                <a16:creationId xmlns:a16="http://schemas.microsoft.com/office/drawing/2014/main" id="{CD8A90F2-DBD8-664B-1C3F-3450DD03B811}"/>
              </a:ext>
            </a:extLst>
          </p:cNvPr>
          <p:cNvSpPr>
            <a:spLocks noGrp="1"/>
          </p:cNvSpPr>
          <p:nvPr>
            <p:ph type="sldNum" sz="quarter" idx="5"/>
          </p:nvPr>
        </p:nvSpPr>
        <p:spPr/>
        <p:txBody>
          <a:bodyPr/>
          <a:lstStyle/>
          <a:p>
            <a:fld id="{A7794E6B-F3E5-40ED-A88E-3C9469E6AF68}" type="slidenum">
              <a:rPr lang="en-US" smtClean="0"/>
              <a:t>16</a:t>
            </a:fld>
            <a:endParaRPr lang="en-US"/>
          </a:p>
        </p:txBody>
      </p:sp>
    </p:spTree>
    <p:extLst>
      <p:ext uri="{BB962C8B-B14F-4D97-AF65-F5344CB8AC3E}">
        <p14:creationId xmlns:p14="http://schemas.microsoft.com/office/powerpoint/2010/main" val="1926657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一つ目の研究は，この色混合問題の理解と定量化を目的としたものです．</a:t>
            </a:r>
            <a:endParaRPr lang="en-US" altLang="ja-JP" dirty="0"/>
          </a:p>
          <a:p>
            <a:r>
              <a:rPr lang="ja-JP" altLang="en-US" dirty="0"/>
              <a:t>著者らは，この色混合を再現するために，工学的なテストベッドを作成し，</a:t>
            </a:r>
            <a:r>
              <a:rPr lang="en-US" altLang="ja-JP" dirty="0"/>
              <a:t>6</a:t>
            </a:r>
            <a:r>
              <a:rPr lang="ja-JP" altLang="en-US" dirty="0"/>
              <a:t>種類の背景条件，</a:t>
            </a:r>
            <a:r>
              <a:rPr lang="en-US" altLang="ja-JP" dirty="0"/>
              <a:t>27</a:t>
            </a:r>
            <a:r>
              <a:rPr lang="ja-JP" altLang="en-US" dirty="0"/>
              <a:t>種類の表示色に対して，測色を行いました．</a:t>
            </a:r>
            <a:endParaRPr lang="en-US" altLang="ja-JP" dirty="0"/>
          </a:p>
          <a:p>
            <a:r>
              <a:rPr lang="ja-JP" altLang="en-US" dirty="0"/>
              <a:t>これらの結果を</a:t>
            </a:r>
            <a:r>
              <a:rPr lang="en-US" altLang="ja-JP" dirty="0" err="1"/>
              <a:t>CIELuv</a:t>
            </a:r>
            <a:r>
              <a:rPr lang="ja-JP" altLang="en-US" dirty="0"/>
              <a:t>色空間内で比較することで，背景の有無や変化に対する色の変化を分析しました．</a:t>
            </a:r>
            <a:endParaRPr lang="en-US"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17</a:t>
            </a:fld>
            <a:endParaRPr lang="en-US"/>
          </a:p>
        </p:txBody>
      </p:sp>
    </p:spTree>
    <p:extLst>
      <p:ext uri="{BB962C8B-B14F-4D97-AF65-F5344CB8AC3E}">
        <p14:creationId xmlns:p14="http://schemas.microsoft.com/office/powerpoint/2010/main" val="12667727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分析の結果，色混合による，白色点への収束と，色相の線形シフトが確認されました．</a:t>
            </a:r>
            <a:endParaRPr lang="en-US" altLang="ja-JP" dirty="0"/>
          </a:p>
          <a:p>
            <a:r>
              <a:rPr lang="ja-JP" altLang="en-US" dirty="0"/>
              <a:t>背景に明るいものが表示されると，明度の上昇が起こり，さらに各色は白色点にむかってシフトし，彩度が失われます．</a:t>
            </a:r>
            <a:endParaRPr lang="en-US" altLang="ja-JP" dirty="0"/>
          </a:p>
          <a:p>
            <a:r>
              <a:rPr lang="ja-JP" altLang="en-US" dirty="0"/>
              <a:t>また，明るさが近しい場合でも，色相の線形なシフトによって，知覚される色に変化が起こります．</a:t>
            </a:r>
            <a:endParaRPr lang="en-US" altLang="ja-JP" dirty="0"/>
          </a:p>
          <a:p>
            <a:r>
              <a:rPr lang="ja-JP" altLang="en-US" dirty="0"/>
              <a:t>著者らはこの結果に対し，更なる分析や知覚への影響の研究を行うことで，適応的な予測モデルの構築に活用したいと述べています．</a:t>
            </a:r>
            <a:endParaRPr lang="en-US"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18</a:t>
            </a:fld>
            <a:endParaRPr lang="en-US"/>
          </a:p>
        </p:txBody>
      </p:sp>
    </p:spTree>
    <p:extLst>
      <p:ext uri="{BB962C8B-B14F-4D97-AF65-F5344CB8AC3E}">
        <p14:creationId xmlns:p14="http://schemas.microsoft.com/office/powerpoint/2010/main" val="2013614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二つ目は，色における知覚的視認性として，色混合に対して知覚的にロバストな色を調査した研究です．</a:t>
            </a:r>
            <a:endParaRPr lang="en-US" altLang="ja-JP" dirty="0"/>
          </a:p>
          <a:p>
            <a:r>
              <a:rPr lang="ja-JP" altLang="en-US" dirty="0"/>
              <a:t>ここでのロバスト性とは，</a:t>
            </a:r>
            <a:r>
              <a:rPr lang="en-US" altLang="ja-JP" dirty="0"/>
              <a:t>HUD</a:t>
            </a:r>
            <a:r>
              <a:rPr lang="ja-JP" altLang="en-US" dirty="0"/>
              <a:t>を使用した運転環境を前提として，タスクパフォーマンスの変動が小さく，またそのセマンティクスが維持されること，とされています．</a:t>
            </a:r>
            <a:endParaRPr lang="en-US" altLang="ja-JP" dirty="0"/>
          </a:p>
          <a:p>
            <a:r>
              <a:rPr lang="ja-JP" altLang="en-US" dirty="0"/>
              <a:t>実験方法としては，まず被験者にテキストのカウントかシンボルのロケートといったタスクを行わせ，その後，表示されていた色について，マッチングとネーミングのタスクを行わせました．</a:t>
            </a:r>
            <a:endParaRPr lang="en-US" altLang="ja-JP" dirty="0"/>
          </a:p>
          <a:p>
            <a:r>
              <a:rPr lang="ja-JP" altLang="en-US" dirty="0"/>
              <a:t>実験条件の概要は，ここに示す通りになります．</a:t>
            </a:r>
            <a:endParaRPr lang="en-US" altLang="ja-JP" dirty="0"/>
          </a:p>
          <a:p>
            <a:endParaRPr lang="en-US"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19</a:t>
            </a:fld>
            <a:endParaRPr lang="en-US"/>
          </a:p>
        </p:txBody>
      </p:sp>
    </p:spTree>
    <p:extLst>
      <p:ext uri="{BB962C8B-B14F-4D97-AF65-F5344CB8AC3E}">
        <p14:creationId xmlns:p14="http://schemas.microsoft.com/office/powerpoint/2010/main" val="17251445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実験の結果，青，緑，黄の三色が，ロバストな色であることが判明しました．</a:t>
            </a:r>
            <a:endParaRPr lang="en-US" altLang="ja-JP" dirty="0"/>
          </a:p>
          <a:p>
            <a:r>
              <a:rPr lang="ja-JP" altLang="en-US" dirty="0"/>
              <a:t>カラーマッチングタスクでは，すべての色において知覚的な輝度の上昇が起こりました．一方でこの三色については，色相シフトが他と比較してとても小さいものでした．</a:t>
            </a:r>
            <a:endParaRPr lang="en-US" altLang="ja-JP" dirty="0"/>
          </a:p>
          <a:p>
            <a:r>
              <a:rPr lang="ja-JP" altLang="en-US" dirty="0"/>
              <a:t>カラーネーミングタスクでは，右図のように，これら三色に対するパフォーマンスは，他の色と比較して高い結果となりました．</a:t>
            </a:r>
            <a:endParaRPr lang="en-US" altLang="ja-JP" dirty="0"/>
          </a:p>
          <a:p>
            <a:r>
              <a:rPr lang="ja-JP" altLang="en-US" dirty="0"/>
              <a:t>これらの結果を受け著者らは，色のロバスト性において重要なのは，知覚的な輝度の一貫性ではなく，色度の一貫性である，と述べています．</a:t>
            </a:r>
            <a:endParaRPr lang="en-US"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20</a:t>
            </a:fld>
            <a:endParaRPr lang="en-US"/>
          </a:p>
        </p:txBody>
      </p:sp>
    </p:spTree>
    <p:extLst>
      <p:ext uri="{BB962C8B-B14F-4D97-AF65-F5344CB8AC3E}">
        <p14:creationId xmlns:p14="http://schemas.microsoft.com/office/powerpoint/2010/main" val="30893601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三つ目の研究は，この色混合に伴う視認性低下に対処するため，その補正手法を提案したものです．</a:t>
            </a:r>
            <a:endParaRPr lang="en-US" altLang="ja-JP" dirty="0"/>
          </a:p>
          <a:p>
            <a:r>
              <a:rPr lang="ja-JP" altLang="en-US" dirty="0"/>
              <a:t>著者らは，</a:t>
            </a:r>
            <a:r>
              <a:rPr lang="en-US" altLang="ja-JP" dirty="0" err="1"/>
              <a:t>CIELab</a:t>
            </a:r>
            <a:r>
              <a:rPr lang="ja-JP" altLang="en-US" dirty="0"/>
              <a:t>色空間内で，色差という値を定義し，補色の方向にこの色差を与えることで，色コントラストの向上を試みました．</a:t>
            </a:r>
            <a:endParaRPr lang="en-US" altLang="ja-JP" dirty="0"/>
          </a:p>
          <a:p>
            <a:r>
              <a:rPr lang="ja-JP" altLang="en-US" dirty="0"/>
              <a:t>また，色のもつセマンティクスを考慮し，色差，彩度，輝度，弁別いきの四つの要素について制約条件を設けました．</a:t>
            </a:r>
            <a:endParaRPr lang="en-US"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21</a:t>
            </a:fld>
            <a:endParaRPr lang="en-US"/>
          </a:p>
        </p:txBody>
      </p:sp>
    </p:spTree>
    <p:extLst>
      <p:ext uri="{BB962C8B-B14F-4D97-AF65-F5344CB8AC3E}">
        <p14:creationId xmlns:p14="http://schemas.microsoft.com/office/powerpoint/2010/main" val="9461571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モデルの構成は三つのパートから成り，ボケや視野についての前処理，色空間の変換，そして，最適化が行われてます．</a:t>
            </a:r>
            <a:endParaRPr lang="en-US" altLang="ja-JP" dirty="0"/>
          </a:p>
          <a:p>
            <a:r>
              <a:rPr lang="ja-JP" altLang="en-US" dirty="0"/>
              <a:t>このうち最適化では．正規化された色空間内で，表示色を，背景色の補色の方向へシフトさせる処理が行われています．</a:t>
            </a:r>
            <a:endParaRPr lang="en-US" altLang="ja-JP" dirty="0"/>
          </a:p>
          <a:p>
            <a:r>
              <a:rPr lang="ja-JP" altLang="en-US" dirty="0"/>
              <a:t>この際，図に示すように，</a:t>
            </a:r>
            <a:r>
              <a:rPr lang="en-US" altLang="ja-JP" dirty="0"/>
              <a:t>4</a:t>
            </a:r>
            <a:r>
              <a:rPr lang="ja-JP" altLang="en-US" dirty="0"/>
              <a:t>つの制約条件を，色空間内で幾何学的に適用しています．</a:t>
            </a:r>
            <a:endParaRPr lang="en-US"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22</a:t>
            </a:fld>
            <a:endParaRPr lang="en-US"/>
          </a:p>
        </p:txBody>
      </p:sp>
    </p:spTree>
    <p:extLst>
      <p:ext uri="{BB962C8B-B14F-4D97-AF65-F5344CB8AC3E}">
        <p14:creationId xmlns:p14="http://schemas.microsoft.com/office/powerpoint/2010/main" val="37775965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モデルの評価は，客観的評価実験と，</a:t>
            </a:r>
            <a:r>
              <a:rPr lang="en-US" altLang="ja-JP" dirty="0"/>
              <a:t>3 </a:t>
            </a:r>
            <a:r>
              <a:rPr lang="ja-JP" altLang="en-US" dirty="0"/>
              <a:t>種類の主観的評価実験，計</a:t>
            </a:r>
            <a:r>
              <a:rPr lang="en-US" altLang="ja-JP" dirty="0"/>
              <a:t>4</a:t>
            </a:r>
            <a:r>
              <a:rPr lang="ja-JP" altLang="en-US" dirty="0"/>
              <a:t>つの実験により行われました．</a:t>
            </a:r>
            <a:endParaRPr lang="en-US" altLang="ja-JP" dirty="0"/>
          </a:p>
          <a:p>
            <a:r>
              <a:rPr lang="ja-JP" altLang="en-US" dirty="0"/>
              <a:t>シミュレーションによる客観的評価では，色差を取り入れていないモデルと比較し，弁別いきを超える補正をより広範に行えることが示されました．</a:t>
            </a:r>
            <a:endParaRPr lang="en-US" altLang="ja-JP" dirty="0"/>
          </a:p>
          <a:p>
            <a:r>
              <a:rPr lang="ja-JP" altLang="en-US" dirty="0"/>
              <a:t>色差制約の閾値最適化を行う実験では，識別性と自然さのトレードオフ関係が確認され，閾値は</a:t>
            </a:r>
            <a:r>
              <a:rPr lang="en-US" altLang="ja-JP" dirty="0"/>
              <a:t>0.4</a:t>
            </a:r>
            <a:r>
              <a:rPr lang="ja-JP" altLang="en-US" dirty="0"/>
              <a:t>が望ましいとされました．</a:t>
            </a:r>
            <a:endParaRPr lang="en-US" altLang="ja-JP" dirty="0"/>
          </a:p>
          <a:p>
            <a:r>
              <a:rPr lang="ja-JP" altLang="en-US" dirty="0"/>
              <a:t>色差制約の有無や他のモデルとの比較では，ほとんどの場合において閾値</a:t>
            </a:r>
            <a:r>
              <a:rPr lang="en-US" altLang="ja-JP" dirty="0"/>
              <a:t>0.4</a:t>
            </a:r>
            <a:r>
              <a:rPr lang="ja-JP" altLang="en-US" dirty="0"/>
              <a:t>の提案モデルが，識別性，自然さともに優れていました．</a:t>
            </a:r>
            <a:endParaRPr lang="en-US" altLang="ja-JP" dirty="0"/>
          </a:p>
          <a:p>
            <a:r>
              <a:rPr lang="ja-JP" altLang="en-US"/>
              <a:t>しかし，視認</a:t>
            </a:r>
            <a:r>
              <a:rPr lang="ja-JP" altLang="en-US" dirty="0"/>
              <a:t>性ベースのモデルに対してのみ，識別性で劣っていました．</a:t>
            </a:r>
            <a:endParaRPr lang="en-US"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23</a:t>
            </a:fld>
            <a:endParaRPr lang="en-US"/>
          </a:p>
        </p:txBody>
      </p:sp>
    </p:spTree>
    <p:extLst>
      <p:ext uri="{BB962C8B-B14F-4D97-AF65-F5344CB8AC3E}">
        <p14:creationId xmlns:p14="http://schemas.microsoft.com/office/powerpoint/2010/main" val="12364395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このような結果を示したモデルですが，著者らは，適応的な閾値の必要性，無彩色への適応，消費電力の増加，ジオメトリへの対応といった課題も提起しています．</a:t>
            </a:r>
            <a:endParaRPr lang="en-US" altLang="ja-JP" dirty="0"/>
          </a:p>
          <a:p>
            <a:r>
              <a:rPr lang="ja-JP" altLang="en-US" dirty="0"/>
              <a:t>結論としては，リアルタイムかつエンドツーエンドな形で視認性を向上させることができたとその成果を強調しています．</a:t>
            </a:r>
            <a:endParaRPr lang="en-US"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24</a:t>
            </a:fld>
            <a:endParaRPr lang="en-US"/>
          </a:p>
        </p:txBody>
      </p:sp>
    </p:spTree>
    <p:extLst>
      <p:ext uri="{BB962C8B-B14F-4D97-AF65-F5344CB8AC3E}">
        <p14:creationId xmlns:p14="http://schemas.microsoft.com/office/powerpoint/2010/main" val="26594708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続いて，明るさと視認性についてを扱います．</a:t>
            </a:r>
            <a:endParaRPr lang="en-US"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25</a:t>
            </a:fld>
            <a:endParaRPr lang="en-US"/>
          </a:p>
        </p:txBody>
      </p:sp>
    </p:spTree>
    <p:extLst>
      <p:ext uri="{BB962C8B-B14F-4D97-AF65-F5344CB8AC3E}">
        <p14:creationId xmlns:p14="http://schemas.microsoft.com/office/powerpoint/2010/main" val="40670673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ここで扱う「明るさ」とは，</a:t>
            </a:r>
            <a:endParaRPr lang="en-US" altLang="ja-JP" dirty="0"/>
          </a:p>
          <a:p>
            <a:r>
              <a:rPr lang="ja-JP" altLang="en-US" dirty="0"/>
              <a:t>「ある面を照らす光の明るさ」を表す照度と，</a:t>
            </a:r>
            <a:endParaRPr lang="en-US" altLang="ja-JP" dirty="0"/>
          </a:p>
          <a:p>
            <a:r>
              <a:rPr lang="ja-JP" altLang="en-US" dirty="0"/>
              <a:t>「面光源の単位面積当たりの明るさ」である輝度になります．</a:t>
            </a:r>
            <a:endParaRPr lang="en-US" altLang="ja-JP" dirty="0"/>
          </a:p>
          <a:p>
            <a:r>
              <a:rPr lang="ja-JP" altLang="en-US" dirty="0"/>
              <a:t>人間が知覚するコントラストは，二つの色チャンネルと輝度のチャンネルからなるため，当然これらの要素も視認性に大きな影響を与えます．</a:t>
            </a:r>
            <a:endParaRPr lang="en-US" altLang="ja-JP" dirty="0"/>
          </a:p>
          <a:p>
            <a:r>
              <a:rPr lang="ja-JP" altLang="en-US" dirty="0"/>
              <a:t>このセクションでは，その影響の工学的検証，心理物理学実験を通した実際の影響の調査，そして輝度に注目した表示の見やすさの予測といった研究を紹介し，知見を整理します．</a:t>
            </a:r>
            <a:endParaRPr lang="en-US" altLang="ja-JP"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26</a:t>
            </a:fld>
            <a:endParaRPr lang="en-US"/>
          </a:p>
        </p:txBody>
      </p:sp>
    </p:spTree>
    <p:extLst>
      <p:ext uri="{BB962C8B-B14F-4D97-AF65-F5344CB8AC3E}">
        <p14:creationId xmlns:p14="http://schemas.microsoft.com/office/powerpoint/2010/main" val="28029138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一つ目は，</a:t>
            </a:r>
            <a:r>
              <a:rPr lang="en-US" altLang="ja-JP" dirty="0"/>
              <a:t>OST-AR</a:t>
            </a:r>
            <a:r>
              <a:rPr lang="ja-JP" altLang="en-US" dirty="0"/>
              <a:t>において，周囲の照度がコントラストに与える影響を調査した，工学的な検証です．</a:t>
            </a:r>
            <a:endParaRPr lang="en-US" altLang="ja-JP" dirty="0"/>
          </a:p>
          <a:p>
            <a:r>
              <a:rPr lang="ja-JP" altLang="en-US" dirty="0"/>
              <a:t>著者らは，</a:t>
            </a:r>
            <a:r>
              <a:rPr lang="en-US" altLang="ja-JP" dirty="0"/>
              <a:t>OST-AR</a:t>
            </a:r>
            <a:r>
              <a:rPr lang="ja-JP" altLang="en-US" dirty="0"/>
              <a:t>　</a:t>
            </a:r>
            <a:r>
              <a:rPr lang="en-US" altLang="ja-JP" dirty="0"/>
              <a:t>HMD</a:t>
            </a:r>
            <a:r>
              <a:rPr lang="ja-JP" altLang="en-US" dirty="0"/>
              <a:t>を装着した際の眼の位置における照度を，様々な周囲照度条件において測定しました．</a:t>
            </a:r>
            <a:endParaRPr lang="en-US" altLang="ja-JP" dirty="0"/>
          </a:p>
          <a:p>
            <a:r>
              <a:rPr lang="ja-JP" altLang="en-US" dirty="0"/>
              <a:t>このうち，ディスプレイに黒い表示と白い表示を行った際の照度の差から，表示可能な最大コントラストを算出しました．</a:t>
            </a:r>
            <a:endParaRPr lang="en-US" altLang="ja-JP" dirty="0"/>
          </a:p>
          <a:p>
            <a:r>
              <a:rPr lang="ja-JP" altLang="en-US" dirty="0"/>
              <a:t>また，この測定は</a:t>
            </a:r>
            <a:r>
              <a:rPr lang="en-US" altLang="ja-JP" dirty="0"/>
              <a:t>Hololens1</a:t>
            </a:r>
            <a:r>
              <a:rPr lang="ja-JP" altLang="en-US" dirty="0"/>
              <a:t>と</a:t>
            </a:r>
            <a:r>
              <a:rPr lang="en-US" altLang="ja-JP" dirty="0"/>
              <a:t>2</a:t>
            </a:r>
            <a:r>
              <a:rPr lang="ja-JP" altLang="en-US" dirty="0"/>
              <a:t>とで行われ，これらのデバイスの性能の比較も行われました．</a:t>
            </a:r>
            <a:endParaRPr lang="en-US" altLang="ja-JP" dirty="0"/>
          </a:p>
          <a:p>
            <a:endParaRPr lang="en-US"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27</a:t>
            </a:fld>
            <a:endParaRPr lang="en-US"/>
          </a:p>
        </p:txBody>
      </p:sp>
    </p:spTree>
    <p:extLst>
      <p:ext uri="{BB962C8B-B14F-4D97-AF65-F5344CB8AC3E}">
        <p14:creationId xmlns:p14="http://schemas.microsoft.com/office/powerpoint/2010/main" val="40034048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測定の結果，周囲照度の上昇によるコントラストの低下が定量化された．</a:t>
            </a:r>
            <a:endParaRPr lang="en-US" altLang="ja-JP" dirty="0"/>
          </a:p>
          <a:p>
            <a:r>
              <a:rPr lang="ja-JP" altLang="en-US" dirty="0"/>
              <a:t>著者らは，このコントラストの低下について，屋内環境に該当する</a:t>
            </a:r>
            <a:r>
              <a:rPr lang="en-US" altLang="ja-JP" dirty="0"/>
              <a:t>~1000 lux</a:t>
            </a:r>
            <a:r>
              <a:rPr lang="ja-JP" altLang="en-US" dirty="0"/>
              <a:t>の照度では，</a:t>
            </a:r>
            <a:r>
              <a:rPr lang="en-US" altLang="ja-JP" dirty="0"/>
              <a:t>Hololens2</a:t>
            </a:r>
            <a:r>
              <a:rPr lang="ja-JP" altLang="en-US" dirty="0"/>
              <a:t>であれば十分使用可能であるが，屋外環境では，これらのデバイスはコントラストを出せず，ほとんど使用できないと述べています．</a:t>
            </a:r>
            <a:endParaRPr lang="en-US"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28</a:t>
            </a:fld>
            <a:endParaRPr lang="en-US"/>
          </a:p>
        </p:txBody>
      </p:sp>
    </p:spTree>
    <p:extLst>
      <p:ext uri="{BB962C8B-B14F-4D97-AF65-F5344CB8AC3E}">
        <p14:creationId xmlns:p14="http://schemas.microsoft.com/office/powerpoint/2010/main" val="37051469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二つ目の研究は，レイヤー分離効果が，知覚される輝度にあたえる影響について調査したものです．</a:t>
            </a:r>
            <a:endParaRPr lang="en-US" altLang="ja-JP" dirty="0"/>
          </a:p>
          <a:p>
            <a:r>
              <a:rPr lang="ja-JP" altLang="en-US" dirty="0"/>
              <a:t>レイヤー分離効果とは，</a:t>
            </a:r>
            <a:r>
              <a:rPr lang="en-US" altLang="ja-JP" dirty="0"/>
              <a:t>OST-AR</a:t>
            </a:r>
            <a:r>
              <a:rPr lang="ja-JP" altLang="en-US" dirty="0"/>
              <a:t>において，ユーザーが，表示と背景とを別のものであると知覚することで，それぞれに対する知覚の一貫性を保つ現象です．</a:t>
            </a:r>
            <a:endParaRPr lang="en-US" altLang="ja-JP" dirty="0"/>
          </a:p>
          <a:p>
            <a:r>
              <a:rPr lang="ja-JP" altLang="en-US" dirty="0"/>
              <a:t>著者らはこの現象について調査を行うため，知覚的明るさのマッチングを行う心理物理学実験を実施しました．</a:t>
            </a:r>
            <a:endParaRPr lang="en-US" altLang="ja-JP" dirty="0"/>
          </a:p>
          <a:p>
            <a:r>
              <a:rPr lang="ja-JP" altLang="en-US" dirty="0"/>
              <a:t>この実験で被験者は，</a:t>
            </a:r>
            <a:r>
              <a:rPr lang="en-US" altLang="ja-JP" dirty="0"/>
              <a:t>AR</a:t>
            </a:r>
            <a:r>
              <a:rPr lang="ja-JP" altLang="en-US" dirty="0"/>
              <a:t>オーバーレイが重畳されたキューブと，そうでないキューブの明るさが同じになるように，オーバーレイの輝度を調整します．</a:t>
            </a:r>
            <a:endParaRPr lang="en-US" altLang="ja-JP" dirty="0"/>
          </a:p>
          <a:p>
            <a:r>
              <a:rPr lang="ja-JP" altLang="en-US" dirty="0"/>
              <a:t>このオーバーレイは</a:t>
            </a:r>
            <a:r>
              <a:rPr lang="en-US" altLang="ja-JP" dirty="0"/>
              <a:t>6</a:t>
            </a:r>
            <a:r>
              <a:rPr lang="ja-JP" altLang="en-US" dirty="0"/>
              <a:t>種類用意され，それぞれに対する結果を比較することで，レイヤー分離効果の調査が行われました．</a:t>
            </a:r>
            <a:endParaRPr lang="en-US" altLang="ja-JP"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29</a:t>
            </a:fld>
            <a:endParaRPr lang="en-US"/>
          </a:p>
        </p:txBody>
      </p:sp>
    </p:spTree>
    <p:extLst>
      <p:ext uri="{BB962C8B-B14F-4D97-AF65-F5344CB8AC3E}">
        <p14:creationId xmlns:p14="http://schemas.microsoft.com/office/powerpoint/2010/main" val="12629270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実験の結果，キューブに対してオーバーレイのサイズが大きい場合，ユーザーが輝度マッチングのために要求する輝度が高くなりました．</a:t>
            </a:r>
            <a:endParaRPr lang="en-US" altLang="ja-JP" dirty="0"/>
          </a:p>
          <a:p>
            <a:r>
              <a:rPr lang="ja-JP" altLang="en-US" dirty="0"/>
              <a:t>またこの傾向は，オーバーレイのサイズが大きいほど顕著になりました．</a:t>
            </a:r>
            <a:endParaRPr lang="en-US" altLang="ja-JP" dirty="0"/>
          </a:p>
          <a:p>
            <a:r>
              <a:rPr lang="ja-JP" altLang="en-US" dirty="0"/>
              <a:t>この結果をうけ著者らは，次のような仮説が支持されたと述べています．</a:t>
            </a:r>
            <a:endParaRPr lang="en-US" altLang="ja-JP" dirty="0"/>
          </a:p>
          <a:p>
            <a:r>
              <a:rPr lang="ja-JP" altLang="en-US" dirty="0"/>
              <a:t>これは，オーバーレイのサイズが大きくなると，それはより明確に透明な「層」であると認識され，レイヤー分離によってその影響が割り引かれる，というものです．</a:t>
            </a:r>
            <a:endParaRPr lang="en-US" altLang="ja-JP" dirty="0"/>
          </a:p>
          <a:p>
            <a:r>
              <a:rPr lang="ja-JP" altLang="en-US" dirty="0"/>
              <a:t>著者らは，より高い輝度が求められたのは割引の影響である，として，実験によって仮説が支持されたと述べています．</a:t>
            </a:r>
            <a:endParaRPr lang="en-US"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30</a:t>
            </a:fld>
            <a:endParaRPr lang="en-US"/>
          </a:p>
        </p:txBody>
      </p:sp>
    </p:spTree>
    <p:extLst>
      <p:ext uri="{BB962C8B-B14F-4D97-AF65-F5344CB8AC3E}">
        <p14:creationId xmlns:p14="http://schemas.microsoft.com/office/powerpoint/2010/main" val="20867698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三つ目の研究は，オーバーレイの不透明な知覚のために必要な表示輝度を予測したものです．</a:t>
            </a:r>
            <a:endParaRPr lang="en-US" altLang="ja-JP" dirty="0"/>
          </a:p>
          <a:p>
            <a:r>
              <a:rPr lang="ja-JP" altLang="en-US" dirty="0"/>
              <a:t>この研究で著者らは，まず心理物理学実験によりそのような輝度を決定し，得られたデータを用いてそれを予測するモデルの提案を行っています．</a:t>
            </a:r>
            <a:endParaRPr lang="en-US" altLang="ja-JP" dirty="0"/>
          </a:p>
          <a:p>
            <a:r>
              <a:rPr lang="ja-JP" altLang="en-US" dirty="0"/>
              <a:t>実験は，</a:t>
            </a:r>
            <a:r>
              <a:rPr lang="en-US" altLang="ja-JP" dirty="0"/>
              <a:t>4000 </a:t>
            </a:r>
            <a:r>
              <a:rPr lang="ja-JP" altLang="en-US" dirty="0"/>
              <a:t>カンデラ毎平方メートルまで表示が可能なディスプレイを備えた，特注の装置を用いて行われました．</a:t>
            </a:r>
            <a:endParaRPr lang="en-US" altLang="ja-JP" dirty="0"/>
          </a:p>
          <a:p>
            <a:r>
              <a:rPr lang="ja-JP" altLang="en-US" dirty="0"/>
              <a:t>被験者は，ここに示す各種条件の下で，表示されるオーバーレイの輝度をスライダーで調節し，不透明に見え始める輝度に合わせました．</a:t>
            </a:r>
            <a:endParaRPr lang="en-US"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31</a:t>
            </a:fld>
            <a:endParaRPr lang="en-US"/>
          </a:p>
        </p:txBody>
      </p:sp>
    </p:spTree>
    <p:extLst>
      <p:ext uri="{BB962C8B-B14F-4D97-AF65-F5344CB8AC3E}">
        <p14:creationId xmlns:p14="http://schemas.microsoft.com/office/powerpoint/2010/main" val="30142725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実験の結果，オーバーレイが不透明に知覚されるためには，背景の約</a:t>
            </a:r>
            <a:r>
              <a:rPr lang="en-US" altLang="ja-JP" dirty="0"/>
              <a:t>60</a:t>
            </a:r>
            <a:r>
              <a:rPr lang="ja-JP" altLang="en-US" dirty="0"/>
              <a:t>倍の輝度が必要であることが判明しました．</a:t>
            </a:r>
            <a:endParaRPr lang="en-US" altLang="ja-JP" dirty="0"/>
          </a:p>
          <a:p>
            <a:r>
              <a:rPr lang="ja-JP" altLang="en-US" dirty="0"/>
              <a:t>各条件の影響としては，輝度の他に，表示のコントラストの上昇や，焦点ボケが強まることが，必要輝度を低下させていました．</a:t>
            </a:r>
            <a:endParaRPr lang="en-US" altLang="ja-JP" dirty="0"/>
          </a:p>
          <a:p>
            <a:r>
              <a:rPr lang="ja-JP" altLang="en-US" dirty="0"/>
              <a:t>これらの要素の結果を考慮した場合，必要輝度は背景の</a:t>
            </a:r>
            <a:r>
              <a:rPr lang="en-US" altLang="ja-JP" dirty="0"/>
              <a:t>40</a:t>
            </a:r>
            <a:r>
              <a:rPr lang="ja-JP" altLang="en-US" dirty="0"/>
              <a:t>倍まで低下することも分かりました．</a:t>
            </a:r>
            <a:endParaRPr lang="en-US"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32</a:t>
            </a:fld>
            <a:endParaRPr lang="en-US"/>
          </a:p>
        </p:txBody>
      </p:sp>
    </p:spTree>
    <p:extLst>
      <p:ext uri="{BB962C8B-B14F-4D97-AF65-F5344CB8AC3E}">
        <p14:creationId xmlns:p14="http://schemas.microsoft.com/office/powerpoint/2010/main" val="9051631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著者らは，これらの結果に対し，信号対雑音比による必要輝度の予測モデルを提案しました．</a:t>
            </a:r>
            <a:endParaRPr lang="en-US" altLang="ja-JP" dirty="0"/>
          </a:p>
          <a:p>
            <a:r>
              <a:rPr lang="ja-JP" altLang="en-US" dirty="0"/>
              <a:t>これはまず，ウェーバーの定義を用いて背景コントラストを計算し，これと表示のコントラスト，オフセットコントラストによって信号対雑音比を計算します．</a:t>
            </a:r>
            <a:endParaRPr lang="en-US" altLang="ja-JP" dirty="0"/>
          </a:p>
          <a:p>
            <a:r>
              <a:rPr lang="ja-JP" altLang="en-US" dirty="0"/>
              <a:t>この信号対雑音比に，焦点ボケの効果を表す光学伝達関数を乗算することで，行った実験に適用可能なものになります．</a:t>
            </a:r>
            <a:endParaRPr lang="en-US" altLang="ja-JP" dirty="0"/>
          </a:p>
          <a:p>
            <a:r>
              <a:rPr lang="ja-JP" altLang="en-US" dirty="0"/>
              <a:t>著者らは，この信号対雑音比が</a:t>
            </a:r>
            <a:r>
              <a:rPr lang="en-US" altLang="ja-JP" dirty="0"/>
              <a:t>1</a:t>
            </a:r>
            <a:r>
              <a:rPr lang="ja-JP" altLang="en-US" dirty="0"/>
              <a:t>以下であれば，表示は不透明に知覚され，</a:t>
            </a:r>
            <a:r>
              <a:rPr lang="en-US" altLang="ja-JP" dirty="0"/>
              <a:t>1</a:t>
            </a:r>
            <a:r>
              <a:rPr lang="ja-JP" altLang="en-US" dirty="0"/>
              <a:t>より大きければ透明に知覚されるとしています．</a:t>
            </a:r>
            <a:endParaRPr lang="en-US" altLang="ja-JP" dirty="0"/>
          </a:p>
          <a:p>
            <a:r>
              <a:rPr lang="ja-JP" altLang="en-US" dirty="0"/>
              <a:t>このモデルの</a:t>
            </a:r>
            <a:r>
              <a:rPr lang="ja-JP" altLang="en-US" sz="1200" b="0" i="0" kern="1200" dirty="0">
                <a:solidFill>
                  <a:schemeClr val="tx1"/>
                </a:solidFill>
                <a:effectLst/>
                <a:latin typeface="+mn-lt"/>
                <a:ea typeface="+mn-ea"/>
                <a:cs typeface="+mn-cs"/>
              </a:rPr>
              <a:t>実験データに対する予測性能を，</a:t>
            </a:r>
            <a:r>
              <a:rPr lang="zh-TW" altLang="en-US" sz="1200" b="0" i="0" kern="1200" dirty="0">
                <a:solidFill>
                  <a:schemeClr val="tx1"/>
                </a:solidFill>
                <a:effectLst/>
                <a:latin typeface="+mn-lt"/>
                <a:ea typeface="+mn-ea"/>
                <a:cs typeface="+mn-cs"/>
              </a:rPr>
              <a:t>二乗平均平方根誤差</a:t>
            </a:r>
            <a:r>
              <a:rPr lang="ja-JP" altLang="en-US" sz="1200" b="0" i="0" kern="1200" dirty="0">
                <a:solidFill>
                  <a:schemeClr val="tx1"/>
                </a:solidFill>
                <a:effectLst/>
                <a:latin typeface="+mn-lt"/>
                <a:ea typeface="+mn-ea"/>
                <a:cs typeface="+mn-cs"/>
              </a:rPr>
              <a:t>によって算出すると，予測誤差は</a:t>
            </a:r>
            <a:r>
              <a:rPr lang="en-US" altLang="ja-JP" sz="1200" b="0" i="0" kern="1200" dirty="0">
                <a:solidFill>
                  <a:schemeClr val="tx1"/>
                </a:solidFill>
                <a:effectLst/>
                <a:latin typeface="+mn-lt"/>
                <a:ea typeface="+mn-ea"/>
                <a:cs typeface="+mn-cs"/>
              </a:rPr>
              <a:t>8.29%</a:t>
            </a:r>
            <a:r>
              <a:rPr lang="ja-JP" altLang="en-US" sz="1200" b="0" i="0" kern="1200" dirty="0">
                <a:solidFill>
                  <a:schemeClr val="tx1"/>
                </a:solidFill>
                <a:effectLst/>
                <a:latin typeface="+mn-lt"/>
                <a:ea typeface="+mn-ea"/>
                <a:cs typeface="+mn-cs"/>
              </a:rPr>
              <a:t>となりました．</a:t>
            </a:r>
            <a:endParaRPr lang="en-US" altLang="ja-JP" sz="1200" b="0" i="0" kern="1200" dirty="0">
              <a:solidFill>
                <a:schemeClr val="tx1"/>
              </a:solidFill>
              <a:effectLst/>
              <a:latin typeface="+mn-lt"/>
              <a:ea typeface="+mn-ea"/>
              <a:cs typeface="+mn-cs"/>
            </a:endParaRPr>
          </a:p>
          <a:p>
            <a:r>
              <a:rPr lang="ja-JP" altLang="en-US" sz="1200" b="0" i="0" kern="1200" dirty="0">
                <a:solidFill>
                  <a:schemeClr val="tx1"/>
                </a:solidFill>
                <a:effectLst/>
                <a:latin typeface="+mn-lt"/>
                <a:ea typeface="+mn-ea"/>
                <a:cs typeface="+mn-cs"/>
              </a:rPr>
              <a:t>著者らはこの結果について，既存の</a:t>
            </a:r>
            <a:r>
              <a:rPr lang="en-US" altLang="ja-JP" sz="1200" b="0" i="0" kern="1200" dirty="0">
                <a:solidFill>
                  <a:schemeClr val="tx1"/>
                </a:solidFill>
                <a:effectLst/>
                <a:latin typeface="+mn-lt"/>
                <a:ea typeface="+mn-ea"/>
                <a:cs typeface="+mn-cs"/>
              </a:rPr>
              <a:t>IQA</a:t>
            </a:r>
            <a:r>
              <a:rPr lang="ja-JP" altLang="en-US" sz="1200" b="0" i="0" kern="1200" dirty="0">
                <a:solidFill>
                  <a:schemeClr val="tx1"/>
                </a:solidFill>
                <a:effectLst/>
                <a:latin typeface="+mn-lt"/>
                <a:ea typeface="+mn-ea"/>
                <a:cs typeface="+mn-cs"/>
              </a:rPr>
              <a:t>モデルを用いた予測が</a:t>
            </a:r>
            <a:r>
              <a:rPr lang="en-US" altLang="ja-JP" sz="1200" b="0" i="0" kern="1200" dirty="0">
                <a:solidFill>
                  <a:schemeClr val="tx1"/>
                </a:solidFill>
                <a:effectLst/>
                <a:latin typeface="+mn-lt"/>
                <a:ea typeface="+mn-ea"/>
                <a:cs typeface="+mn-cs"/>
              </a:rPr>
              <a:t>30%</a:t>
            </a:r>
            <a:r>
              <a:rPr lang="ja-JP" altLang="en-US" sz="1200" b="0" i="0" kern="1200" dirty="0">
                <a:solidFill>
                  <a:schemeClr val="tx1"/>
                </a:solidFill>
                <a:effectLst/>
                <a:latin typeface="+mn-lt"/>
                <a:ea typeface="+mn-ea"/>
                <a:cs typeface="+mn-cs"/>
              </a:rPr>
              <a:t>を超える誤差を出していることから，提案モデルの精度の高さを示していると述べています．</a:t>
            </a:r>
            <a:endParaRPr lang="en-US" altLang="ja-JP" sz="1200" b="0" i="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33</a:t>
            </a:fld>
            <a:endParaRPr lang="en-US"/>
          </a:p>
        </p:txBody>
      </p:sp>
    </p:spTree>
    <p:extLst>
      <p:ext uri="{BB962C8B-B14F-4D97-AF65-F5344CB8AC3E}">
        <p14:creationId xmlns:p14="http://schemas.microsoft.com/office/powerpoint/2010/main" val="5711167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続いて，透明度について扱います</a:t>
            </a:r>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34</a:t>
            </a:fld>
            <a:endParaRPr lang="en-US"/>
          </a:p>
        </p:txBody>
      </p:sp>
    </p:spTree>
    <p:extLst>
      <p:ext uri="{BB962C8B-B14F-4D97-AF65-F5344CB8AC3E}">
        <p14:creationId xmlns:p14="http://schemas.microsoft.com/office/powerpoint/2010/main" val="16847745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この透明度という知覚要素は，通常のディスプレイや</a:t>
            </a:r>
            <a:r>
              <a:rPr lang="en-US" altLang="ja-JP" dirty="0"/>
              <a:t>VST</a:t>
            </a:r>
            <a:r>
              <a:rPr lang="ja-JP" altLang="en-US" dirty="0"/>
              <a:t>方式では考慮する必要の無い，</a:t>
            </a:r>
            <a:r>
              <a:rPr lang="en-US" altLang="ja-JP" dirty="0"/>
              <a:t>OST-AR</a:t>
            </a:r>
            <a:r>
              <a:rPr lang="ja-JP" altLang="en-US" dirty="0"/>
              <a:t>特有のものです．</a:t>
            </a:r>
            <a:endParaRPr lang="en-US" altLang="ja-JP" dirty="0"/>
          </a:p>
          <a:p>
            <a:r>
              <a:rPr lang="ja-JP" altLang="en-US" dirty="0"/>
              <a:t>冒頭で説明した通り，</a:t>
            </a:r>
            <a:r>
              <a:rPr lang="en-US" altLang="ja-JP" dirty="0"/>
              <a:t>OST-AR</a:t>
            </a:r>
            <a:r>
              <a:rPr lang="ja-JP" altLang="en-US" dirty="0"/>
              <a:t>はその表示原理から，透明度の扱いを避けることが出来ません．</a:t>
            </a:r>
            <a:endParaRPr lang="en-US" altLang="ja-JP" dirty="0"/>
          </a:p>
          <a:p>
            <a:r>
              <a:rPr lang="ja-JP" altLang="en-US" dirty="0"/>
              <a:t>ここで，知覚される透明度について定義を確認すると，国際照明員会により，「ある媒体を通して背景が見える度合い」と定義されています．</a:t>
            </a:r>
            <a:endParaRPr lang="en-US" altLang="ja-JP" dirty="0"/>
          </a:p>
          <a:p>
            <a:endParaRPr lang="en-US" dirty="0"/>
          </a:p>
          <a:p>
            <a:r>
              <a:rPr lang="ja-JP" altLang="en-US" dirty="0"/>
              <a:t>このセクションでは，このような透明度について，どのような知覚がなされているのかを扱った二つの研究と，ハードウェアから不透明度を高める手法について紹介します．</a:t>
            </a:r>
            <a:endParaRPr lang="en-US"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35</a:t>
            </a:fld>
            <a:endParaRPr lang="en-US"/>
          </a:p>
        </p:txBody>
      </p:sp>
    </p:spTree>
    <p:extLst>
      <p:ext uri="{BB962C8B-B14F-4D97-AF65-F5344CB8AC3E}">
        <p14:creationId xmlns:p14="http://schemas.microsoft.com/office/powerpoint/2010/main" val="33939641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一つ目の研究は，背景が知覚される透明度に与える影響についての研究です．</a:t>
            </a:r>
            <a:endParaRPr kumimoji="1" lang="en-US" altLang="ja-JP" dirty="0"/>
          </a:p>
          <a:p>
            <a:r>
              <a:rPr kumimoji="1" lang="ja-JP" altLang="en-US" dirty="0"/>
              <a:t>ここでは，影響を与えうる背景の要素として，輝度，コントラスト，波形を扱っています．</a:t>
            </a:r>
            <a:endParaRPr kumimoji="1" lang="en-US" altLang="ja-JP" dirty="0"/>
          </a:p>
          <a:p>
            <a:r>
              <a:rPr kumimoji="1" lang="ja-JP" altLang="en-US" dirty="0"/>
              <a:t>著者らはこれらの影響を調査するため，透明度を</a:t>
            </a:r>
            <a:r>
              <a:rPr kumimoji="1" lang="en-US" altLang="ja-JP" dirty="0"/>
              <a:t>0~1</a:t>
            </a:r>
            <a:r>
              <a:rPr kumimoji="1" lang="ja-JP" altLang="en-US" dirty="0"/>
              <a:t>でスケーリングを行う心理物理学実験を実施しました．</a:t>
            </a:r>
            <a:endParaRPr kumimoji="1" lang="en-US" altLang="ja-JP" dirty="0"/>
          </a:p>
          <a:p>
            <a:r>
              <a:rPr kumimoji="1" lang="ja-JP" altLang="en-US" dirty="0"/>
              <a:t>背景の条件として，</a:t>
            </a:r>
            <a:r>
              <a:rPr kumimoji="1" lang="en-US" altLang="ja-JP" dirty="0"/>
              <a:t>3</a:t>
            </a:r>
            <a:r>
              <a:rPr kumimoji="1" lang="ja-JP" altLang="en-US" dirty="0"/>
              <a:t>段階の輝度，</a:t>
            </a:r>
            <a:r>
              <a:rPr kumimoji="1" lang="en-US" altLang="ja-JP" dirty="0"/>
              <a:t>4</a:t>
            </a:r>
            <a:r>
              <a:rPr kumimoji="1" lang="ja-JP" altLang="en-US" dirty="0"/>
              <a:t>段階のコントラスト，</a:t>
            </a:r>
            <a:r>
              <a:rPr kumimoji="1" lang="en-US" altLang="ja-JP" dirty="0"/>
              <a:t>2</a:t>
            </a:r>
            <a:r>
              <a:rPr kumimoji="1" lang="ja-JP" altLang="en-US" dirty="0"/>
              <a:t>種類の波形が用意されました．</a:t>
            </a:r>
            <a:endParaRPr kumimoji="1" lang="en-US" altLang="ja-JP" dirty="0"/>
          </a:p>
          <a:p>
            <a:r>
              <a:rPr kumimoji="1" lang="ja-JP" altLang="en-US" dirty="0"/>
              <a:t>また，オーバーレイの表示方法については，</a:t>
            </a:r>
            <a:r>
              <a:rPr kumimoji="1" lang="en-US" altLang="ja-JP" dirty="0"/>
              <a:t>OST-AR</a:t>
            </a:r>
            <a:r>
              <a:rPr kumimoji="1" lang="ja-JP" altLang="en-US" dirty="0"/>
              <a:t>の他に，シミュレーションによる表示が行われました．</a:t>
            </a:r>
            <a:endParaRPr kumimoji="1" lang="en-US" altLang="ja-JP" dirty="0"/>
          </a:p>
          <a:p>
            <a:r>
              <a:rPr kumimoji="1" lang="ja-JP" altLang="en-US" dirty="0"/>
              <a:t>いずれにおいても，実際の透明度を背景との相対コントラストによって定めるため，オーバーレイの輝度は</a:t>
            </a:r>
            <a:r>
              <a:rPr kumimoji="1" lang="en-US" altLang="ja-JP" dirty="0"/>
              <a:t>10</a:t>
            </a:r>
            <a:r>
              <a:rPr kumimoji="1" lang="ja-JP" altLang="en-US" dirty="0"/>
              <a:t>段階用意されました．</a:t>
            </a:r>
            <a:endParaRPr kumimoji="1" lang="en-US" altLang="ja-JP"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36</a:t>
            </a:fld>
            <a:endParaRPr lang="en-US"/>
          </a:p>
        </p:txBody>
      </p:sp>
    </p:spTree>
    <p:extLst>
      <p:ext uri="{BB962C8B-B14F-4D97-AF65-F5344CB8AC3E}">
        <p14:creationId xmlns:p14="http://schemas.microsoft.com/office/powerpoint/2010/main" val="225942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実験の結果，背景コントラストのみが，知覚される透明性に有意に影響を与えることが判明しました．</a:t>
            </a:r>
            <a:endParaRPr kumimoji="1" lang="en-US" altLang="ja-JP" dirty="0"/>
          </a:p>
          <a:p>
            <a:r>
              <a:rPr kumimoji="1" lang="ja-JP" altLang="en-US" dirty="0"/>
              <a:t>まず，表示方式の違いについては，</a:t>
            </a:r>
            <a:r>
              <a:rPr kumimoji="1" lang="en-US" altLang="ja-JP"/>
              <a:t>OST-AR</a:t>
            </a:r>
            <a:r>
              <a:rPr kumimoji="1" lang="ja-JP" altLang="en-US" dirty="0"/>
              <a:t>の結果とシミュレーションの結果は大きく異なり，シミュレーションの限界が示唆されました．</a:t>
            </a:r>
            <a:endParaRPr kumimoji="1" lang="en-US" altLang="ja-JP" dirty="0"/>
          </a:p>
          <a:p>
            <a:r>
              <a:rPr kumimoji="1" lang="ja-JP" altLang="en-US" dirty="0"/>
              <a:t>背景の影響については，コントラストが高まるほど，知覚される透明度も高まりましたが，輝度と波形は，有意な影響を与えませんでした．</a:t>
            </a:r>
            <a:endParaRPr kumimoji="1" lang="en-US" altLang="ja-JP" dirty="0"/>
          </a:p>
          <a:p>
            <a:r>
              <a:rPr kumimoji="1" lang="ja-JP" altLang="en-US" dirty="0"/>
              <a:t>著者らは，得られたデータから，コントラストを用いた透明度予測モデルの設計も行い，相関係数</a:t>
            </a:r>
            <a:r>
              <a:rPr kumimoji="1" lang="en-US" altLang="ja-JP" dirty="0"/>
              <a:t>0.99</a:t>
            </a:r>
            <a:r>
              <a:rPr kumimoji="1" lang="ja-JP" altLang="en-US" dirty="0"/>
              <a:t>という高い精度を記録しました．</a:t>
            </a:r>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37</a:t>
            </a:fld>
            <a:endParaRPr lang="en-US"/>
          </a:p>
        </p:txBody>
      </p:sp>
    </p:spTree>
    <p:extLst>
      <p:ext uri="{BB962C8B-B14F-4D97-AF65-F5344CB8AC3E}">
        <p14:creationId xmlns:p14="http://schemas.microsoft.com/office/powerpoint/2010/main" val="223056750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二つ目の研究は，一つ目の研究を受け，周囲の照度が知覚される透明度に与える影響を調査しました．</a:t>
            </a:r>
            <a:endParaRPr kumimoji="1" lang="en-US" altLang="ja-JP" dirty="0"/>
          </a:p>
          <a:p>
            <a:r>
              <a:rPr kumimoji="1" lang="ja-JP" altLang="en-US" dirty="0"/>
              <a:t>著者らは，一つ目の研究で行われた心理物理学実験と類似の実験を，暗室と屋内光環境とで行いました．</a:t>
            </a:r>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38</a:t>
            </a:fld>
            <a:endParaRPr lang="en-US"/>
          </a:p>
        </p:txBody>
      </p:sp>
    </p:spTree>
    <p:extLst>
      <p:ext uri="{BB962C8B-B14F-4D97-AF65-F5344CB8AC3E}">
        <p14:creationId xmlns:p14="http://schemas.microsoft.com/office/powerpoint/2010/main" val="30388515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その結果，実際の透明度に対して，知覚される透明度は過小評価されたものになることが判明しました．</a:t>
            </a:r>
            <a:endParaRPr kumimoji="1" lang="en-US" altLang="ja-JP" dirty="0"/>
          </a:p>
          <a:p>
            <a:r>
              <a:rPr kumimoji="1" lang="ja-JP" altLang="en-US" dirty="0"/>
              <a:t>この傾向は，実際の透明度が高くなるにつれ顕著になることが分かりました．</a:t>
            </a:r>
            <a:endParaRPr kumimoji="1" lang="en-US" altLang="ja-JP" dirty="0"/>
          </a:p>
          <a:p>
            <a:r>
              <a:rPr kumimoji="1" lang="ja-JP" altLang="en-US" dirty="0"/>
              <a:t>また，周囲照度の影響については，周囲照度が高くなると，過小評価が強くなることが判明しました．</a:t>
            </a:r>
            <a:endParaRPr kumimoji="1" lang="en-US" altLang="ja-JP" dirty="0"/>
          </a:p>
          <a:p>
            <a:endParaRPr kumimoji="1" lang="en-US" altLang="ja-JP" dirty="0"/>
          </a:p>
          <a:p>
            <a:r>
              <a:rPr kumimoji="1" lang="ja-JP" altLang="en-US" dirty="0"/>
              <a:t>著者らはこの結果について，表示の明るさが相対的に低下したことを理由として上げています．</a:t>
            </a:r>
            <a:endParaRPr kumimoji="1" lang="en-US" altLang="ja-JP" dirty="0"/>
          </a:p>
          <a:p>
            <a:r>
              <a:rPr kumimoji="1" lang="ja-JP" altLang="en-US" dirty="0"/>
              <a:t>しかし，透明度の過小評価は，視認性の向上と捉えられるため，この考察は，周囲照度の上昇が視認性を下げるとしている</a:t>
            </a:r>
            <a:r>
              <a:rPr kumimoji="1" lang="en-US" altLang="ja-JP" dirty="0"/>
              <a:t>3-1</a:t>
            </a:r>
            <a:r>
              <a:rPr kumimoji="1" lang="ja-JP" altLang="en-US" dirty="0"/>
              <a:t>の研究と矛盾します．</a:t>
            </a:r>
            <a:endParaRPr kumimoji="1" lang="en-US" altLang="ja-JP" dirty="0"/>
          </a:p>
          <a:p>
            <a:r>
              <a:rPr kumimoji="1" lang="ja-JP" altLang="en-US" dirty="0"/>
              <a:t>よって私は，周囲光の影響で背景のコントラストが低下し，知覚される透明度が下がったという仮説を提示します．</a:t>
            </a:r>
            <a:endParaRPr kumimoji="1" lang="en-US" altLang="ja-JP" dirty="0"/>
          </a:p>
          <a:p>
            <a:r>
              <a:rPr kumimoji="1" lang="ja-JP" altLang="en-US" dirty="0"/>
              <a:t>これは，一つ目の研究とも矛盾せず，比較的妥当なのではないかと考えております．</a:t>
            </a:r>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39</a:t>
            </a:fld>
            <a:endParaRPr lang="en-US"/>
          </a:p>
        </p:txBody>
      </p:sp>
    </p:spTree>
    <p:extLst>
      <p:ext uri="{BB962C8B-B14F-4D97-AF65-F5344CB8AC3E}">
        <p14:creationId xmlns:p14="http://schemas.microsoft.com/office/powerpoint/2010/main" val="22604420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3</a:t>
            </a:r>
            <a:r>
              <a:rPr kumimoji="1" lang="ja-JP" altLang="en-US" dirty="0"/>
              <a:t>つ目の研究は，ハードウェアによって透明度を制御し，視認性を向上させる研究です．</a:t>
            </a:r>
            <a:endParaRPr kumimoji="1" lang="en-US" altLang="ja-JP" dirty="0"/>
          </a:p>
          <a:p>
            <a:r>
              <a:rPr kumimoji="1" lang="ja-JP" altLang="en-US" dirty="0"/>
              <a:t>著者らは，電圧印加によって不透明度を高めることが出来る</a:t>
            </a:r>
            <a:r>
              <a:rPr kumimoji="1" lang="en-US" altLang="ja-JP" dirty="0"/>
              <a:t>GHLC</a:t>
            </a:r>
            <a:r>
              <a:rPr kumimoji="1" lang="ja-JP" altLang="en-US" dirty="0"/>
              <a:t>セルという液晶を作成し，</a:t>
            </a:r>
            <a:r>
              <a:rPr kumimoji="1" lang="en-US" altLang="ja-JP" dirty="0"/>
              <a:t>HMD</a:t>
            </a:r>
            <a:r>
              <a:rPr kumimoji="1" lang="ja-JP" altLang="en-US" dirty="0"/>
              <a:t>の前方に設置することで，背景輝度を抑えることを試みました．</a:t>
            </a:r>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40</a:t>
            </a:fld>
            <a:endParaRPr lang="en-US"/>
          </a:p>
        </p:txBody>
      </p:sp>
    </p:spTree>
    <p:extLst>
      <p:ext uri="{BB962C8B-B14F-4D97-AF65-F5344CB8AC3E}">
        <p14:creationId xmlns:p14="http://schemas.microsoft.com/office/powerpoint/2010/main" val="126430315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GHLC</a:t>
            </a:r>
            <a:r>
              <a:rPr kumimoji="1" lang="ja-JP" altLang="en-US" dirty="0"/>
              <a:t>セルの性能を評価するために，</a:t>
            </a:r>
            <a:r>
              <a:rPr kumimoji="1" lang="en-US" altLang="ja-JP" dirty="0"/>
              <a:t>3</a:t>
            </a:r>
            <a:r>
              <a:rPr kumimoji="1" lang="ja-JP" altLang="en-US" dirty="0"/>
              <a:t>種類の照度条件下において，表示の輝度と色の測定が行われました．</a:t>
            </a:r>
            <a:endParaRPr kumimoji="1" lang="en-US" altLang="ja-JP" dirty="0"/>
          </a:p>
          <a:p>
            <a:r>
              <a:rPr kumimoji="1" lang="ja-JP" altLang="en-US" dirty="0"/>
              <a:t>測定された輝度は，こちらの式で算出される，周囲コントラスト比，</a:t>
            </a:r>
            <a:r>
              <a:rPr kumimoji="1" lang="en-US" altLang="ja-JP" dirty="0"/>
              <a:t>ACR</a:t>
            </a:r>
            <a:r>
              <a:rPr kumimoji="1" lang="ja-JP" altLang="en-US" dirty="0"/>
              <a:t>の計算に用いられました．</a:t>
            </a:r>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41</a:t>
            </a:fld>
            <a:endParaRPr lang="en-US"/>
          </a:p>
        </p:txBody>
      </p:sp>
    </p:spTree>
    <p:extLst>
      <p:ext uri="{BB962C8B-B14F-4D97-AF65-F5344CB8AC3E}">
        <p14:creationId xmlns:p14="http://schemas.microsoft.com/office/powerpoint/2010/main" val="297219870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測定の結果，</a:t>
            </a:r>
            <a:r>
              <a:rPr kumimoji="1" lang="en-US" altLang="ja-JP" dirty="0"/>
              <a:t>GHLC</a:t>
            </a:r>
            <a:r>
              <a:rPr kumimoji="1" lang="ja-JP" altLang="en-US" dirty="0"/>
              <a:t>セルをオンにすることで，</a:t>
            </a:r>
            <a:r>
              <a:rPr kumimoji="1" lang="en-US" altLang="ja-JP" dirty="0"/>
              <a:t>ACR</a:t>
            </a:r>
            <a:r>
              <a:rPr kumimoji="1" lang="ja-JP" altLang="en-US" dirty="0"/>
              <a:t>と知覚される色域が改善されました．</a:t>
            </a:r>
            <a:endParaRPr kumimoji="1" lang="en-US" altLang="ja-JP" dirty="0"/>
          </a:p>
          <a:p>
            <a:r>
              <a:rPr kumimoji="1" lang="ja-JP" altLang="en-US" dirty="0"/>
              <a:t>屋内環境では，</a:t>
            </a:r>
            <a:r>
              <a:rPr kumimoji="1" lang="en-US" altLang="ja-JP" dirty="0"/>
              <a:t>ACR</a:t>
            </a:r>
            <a:r>
              <a:rPr kumimoji="1" lang="ja-JP" altLang="en-US" dirty="0"/>
              <a:t>は約</a:t>
            </a:r>
            <a:r>
              <a:rPr kumimoji="1" lang="en-US" altLang="ja-JP" dirty="0"/>
              <a:t>4.7</a:t>
            </a:r>
            <a:r>
              <a:rPr kumimoji="1" lang="ja-JP" altLang="en-US" dirty="0"/>
              <a:t>倍向上，色域は</a:t>
            </a:r>
            <a:r>
              <a:rPr kumimoji="1" lang="en-US" altLang="ja-JP" dirty="0"/>
              <a:t>2.87</a:t>
            </a:r>
            <a:r>
              <a:rPr kumimoji="1" lang="ja-JP" altLang="en-US" dirty="0"/>
              <a:t>倍に拡大し，屋外環境では，</a:t>
            </a:r>
            <a:r>
              <a:rPr kumimoji="1" lang="en-US" altLang="ja-JP" dirty="0"/>
              <a:t>ACR</a:t>
            </a:r>
            <a:r>
              <a:rPr kumimoji="1" lang="ja-JP" altLang="en-US" dirty="0"/>
              <a:t>は</a:t>
            </a:r>
            <a:r>
              <a:rPr kumimoji="1" lang="en-US" altLang="ja-JP" dirty="0"/>
              <a:t>2.31</a:t>
            </a:r>
            <a:r>
              <a:rPr kumimoji="1" lang="ja-JP" altLang="en-US" dirty="0"/>
              <a:t>倍，色域は</a:t>
            </a:r>
            <a:r>
              <a:rPr kumimoji="1" lang="en-US" altLang="ja-JP" dirty="0"/>
              <a:t>16</a:t>
            </a:r>
            <a:r>
              <a:rPr kumimoji="1" lang="ja-JP" altLang="en-US" dirty="0"/>
              <a:t>倍もの向上が確認されました</a:t>
            </a:r>
            <a:endParaRPr kumimoji="1" lang="en-US" altLang="ja-JP" dirty="0"/>
          </a:p>
          <a:p>
            <a:r>
              <a:rPr kumimoji="1" lang="ja-JP" altLang="en-US" dirty="0"/>
              <a:t>著者らは結論として，これらの結果だけでなく，</a:t>
            </a:r>
            <a:r>
              <a:rPr kumimoji="1" lang="en-US" altLang="ja-JP" dirty="0"/>
              <a:t>GHLC</a:t>
            </a:r>
            <a:r>
              <a:rPr kumimoji="1" lang="ja-JP" altLang="en-US" dirty="0"/>
              <a:t>が持つ取り外し可能な点も含め，既存の</a:t>
            </a:r>
            <a:r>
              <a:rPr kumimoji="1" lang="en-US" altLang="ja-JP" dirty="0"/>
              <a:t>OST-HMD</a:t>
            </a:r>
            <a:r>
              <a:rPr kumimoji="1" lang="ja-JP" altLang="en-US" dirty="0"/>
              <a:t>への応用が可能であると述べています．</a:t>
            </a:r>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42</a:t>
            </a:fld>
            <a:endParaRPr lang="en-US"/>
          </a:p>
        </p:txBody>
      </p:sp>
    </p:spTree>
    <p:extLst>
      <p:ext uri="{BB962C8B-B14F-4D97-AF65-F5344CB8AC3E}">
        <p14:creationId xmlns:p14="http://schemas.microsoft.com/office/powerpoint/2010/main" val="333499552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以上の研究に加えて，有望な視認性予測モデルを紹介します．</a:t>
            </a:r>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43</a:t>
            </a:fld>
            <a:endParaRPr lang="en-US"/>
          </a:p>
        </p:txBody>
      </p:sp>
    </p:spTree>
    <p:extLst>
      <p:ext uri="{BB962C8B-B14F-4D97-AF65-F5344CB8AC3E}">
        <p14:creationId xmlns:p14="http://schemas.microsoft.com/office/powerpoint/2010/main" val="9320126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これまで取り上げてき視認性の予測，向上モデルは，それぞれの知覚要素に個別に対応したものです．</a:t>
            </a:r>
            <a:endParaRPr kumimoji="1" lang="en-US" altLang="ja-JP" dirty="0"/>
          </a:p>
          <a:p>
            <a:r>
              <a:rPr kumimoji="1" lang="ja-JP" altLang="en-US" dirty="0"/>
              <a:t>ここで紹介する視認性予測モデルは，これらの知覚要素を包括的に扱える可能性のあるものになります．</a:t>
            </a:r>
            <a:endParaRPr kumimoji="1" lang="en-US" altLang="ja-JP" dirty="0"/>
          </a:p>
          <a:p>
            <a:endParaRPr kumimoji="1" lang="en-US" altLang="ja-JP" dirty="0"/>
          </a:p>
          <a:p>
            <a:r>
              <a:rPr kumimoji="1" lang="ja-JP" altLang="en-US" dirty="0"/>
              <a:t>このモデルは，</a:t>
            </a:r>
            <a:r>
              <a:rPr kumimoji="1" lang="en-US" altLang="ja-JP" dirty="0"/>
              <a:t>α</a:t>
            </a:r>
            <a:r>
              <a:rPr kumimoji="1" lang="ja-JP" altLang="en-US" dirty="0"/>
              <a:t>ブレンディングという半透明表現の視認性予測のために提案された，コンテンツ適応型のモデルです．</a:t>
            </a:r>
            <a:endParaRPr kumimoji="1" lang="en-US" altLang="ja-JP" dirty="0"/>
          </a:p>
          <a:p>
            <a:endParaRPr kumimoji="1" lang="en-US" altLang="ja-JP" dirty="0"/>
          </a:p>
          <a:p>
            <a:r>
              <a:rPr kumimoji="1" lang="ja-JP" altLang="en-US" dirty="0"/>
              <a:t>著者らは，既存</a:t>
            </a:r>
            <a:r>
              <a:rPr kumimoji="1" lang="en-US" altLang="ja-JP" dirty="0"/>
              <a:t>IQA</a:t>
            </a:r>
            <a:r>
              <a:rPr kumimoji="1" lang="ja-JP" altLang="en-US" dirty="0"/>
              <a:t>モデルによる視認性予測が持つ課題として，表示コンテンツに適応的でないことや，完全に不透明な時にも背景の影響を受けてしまうといった点を挙げ，それらに対応し得るモデルの提案を行いました．</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44</a:t>
            </a:fld>
            <a:endParaRPr lang="en-US"/>
          </a:p>
        </p:txBody>
      </p:sp>
    </p:spTree>
    <p:extLst>
      <p:ext uri="{BB962C8B-B14F-4D97-AF65-F5344CB8AC3E}">
        <p14:creationId xmlns:p14="http://schemas.microsoft.com/office/powerpoint/2010/main" val="151952274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このモデルは，主に次の三つの特徴を持ちます．</a:t>
            </a:r>
            <a:endParaRPr kumimoji="1" lang="en-US" altLang="ja-JP" dirty="0"/>
          </a:p>
          <a:p>
            <a:r>
              <a:rPr kumimoji="1" lang="ja-JP" altLang="en-US" dirty="0"/>
              <a:t>まず一つ目に，既存の</a:t>
            </a:r>
            <a:r>
              <a:rPr kumimoji="1" lang="en-US" altLang="ja-JP" dirty="0"/>
              <a:t>IQA</a:t>
            </a:r>
            <a:r>
              <a:rPr kumimoji="1" lang="ja-JP" altLang="en-US" dirty="0"/>
              <a:t>モデルと同様，人間のコントラスト知覚メカニズムを再現しています．</a:t>
            </a:r>
            <a:endParaRPr kumimoji="1" lang="en-US" altLang="ja-JP" dirty="0"/>
          </a:p>
          <a:p>
            <a:r>
              <a:rPr kumimoji="1" lang="ja-JP" altLang="en-US" dirty="0"/>
              <a:t>二つ目に，半透明表現から前景と背景を分離し，ターゲットとなる前景成分を抽出します．</a:t>
            </a:r>
            <a:endParaRPr kumimoji="1" lang="en-US" altLang="ja-JP" dirty="0"/>
          </a:p>
          <a:p>
            <a:r>
              <a:rPr kumimoji="1" lang="ja-JP" altLang="en-US" dirty="0"/>
              <a:t>三つ目に，完全に不透明なターゲット画像に対する知覚応答を分析し，集約される特徴の重みを動的に決定しています．</a:t>
            </a:r>
            <a:endParaRPr kumimoji="1" lang="en-US" altLang="ja-JP" dirty="0"/>
          </a:p>
          <a:p>
            <a:endParaRPr kumimoji="1" lang="en-US" altLang="ja-JP" dirty="0"/>
          </a:p>
          <a:p>
            <a:r>
              <a:rPr kumimoji="1" lang="ja-JP" altLang="en-US" dirty="0"/>
              <a:t>このモデルのキャリブレーションと評価は，視認性マッチング実験を通して行われました．</a:t>
            </a:r>
            <a:endParaRPr kumimoji="1" lang="en-US" altLang="ja-JP" dirty="0"/>
          </a:p>
          <a:p>
            <a:r>
              <a:rPr kumimoji="1" lang="ja-JP" altLang="en-US" dirty="0"/>
              <a:t>ここでの視認性は，その</a:t>
            </a:r>
            <a:r>
              <a:rPr kumimoji="1" lang="ja-JP" altLang="en-US"/>
              <a:t>画像がに含まれる特徴がどれだけよく見えるか</a:t>
            </a:r>
            <a:r>
              <a:rPr kumimoji="1" lang="ja-JP" altLang="en-US" dirty="0"/>
              <a:t>，と解釈されています．</a:t>
            </a:r>
            <a:endParaRPr kumimoji="1" lang="en-US" altLang="ja-JP" dirty="0"/>
          </a:p>
          <a:p>
            <a:r>
              <a:rPr kumimoji="1" lang="ja-JP" altLang="en-US" dirty="0"/>
              <a:t>評価の結果，このモデルは，既存の</a:t>
            </a:r>
            <a:r>
              <a:rPr kumimoji="1" lang="en-US" altLang="ja-JP" dirty="0"/>
              <a:t>IQA</a:t>
            </a:r>
            <a:r>
              <a:rPr kumimoji="1" lang="ja-JP" altLang="en-US" dirty="0"/>
              <a:t>モデルと比較して，高い精度を記録しました．</a:t>
            </a:r>
            <a:endParaRPr kumimoji="1" lang="en-US" altLang="ja-JP"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45</a:t>
            </a:fld>
            <a:endParaRPr lang="en-US"/>
          </a:p>
        </p:txBody>
      </p:sp>
    </p:spTree>
    <p:extLst>
      <p:ext uri="{BB962C8B-B14F-4D97-AF65-F5344CB8AC3E}">
        <p14:creationId xmlns:p14="http://schemas.microsoft.com/office/powerpoint/2010/main" val="254862684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アルファブレンディングは，半透明な表示という点で，</a:t>
            </a:r>
            <a:r>
              <a:rPr kumimoji="1" lang="en-US" altLang="ja-JP" dirty="0"/>
              <a:t>OST-AR</a:t>
            </a:r>
            <a:r>
              <a:rPr kumimoji="1" lang="ja-JP" altLang="en-US" dirty="0"/>
              <a:t>と親和性があり，このモデルも応用が示唆されています．</a:t>
            </a:r>
            <a:endParaRPr kumimoji="1" lang="en-US" altLang="ja-JP" dirty="0"/>
          </a:p>
          <a:p>
            <a:endParaRPr kumimoji="1" lang="en-US" altLang="ja-JP" dirty="0"/>
          </a:p>
          <a:p>
            <a:r>
              <a:rPr kumimoji="1" lang="ja-JP" altLang="en-US" dirty="0"/>
              <a:t>しかし，モデルへの入力形式や，</a:t>
            </a:r>
            <a:r>
              <a:rPr kumimoji="1" lang="en-US" altLang="ja-JP" dirty="0"/>
              <a:t>OST-AR</a:t>
            </a:r>
            <a:r>
              <a:rPr kumimoji="1" lang="ja-JP" altLang="en-US" dirty="0"/>
              <a:t>特有の視覚現象の再現，追加実験によるモデルの再キャリブレーションといった課題も存在し，</a:t>
            </a:r>
            <a:r>
              <a:rPr kumimoji="1" lang="en-US" altLang="ja-JP" dirty="0"/>
              <a:t>OST-AR</a:t>
            </a:r>
            <a:r>
              <a:rPr kumimoji="1" lang="ja-JP" altLang="en-US" dirty="0"/>
              <a:t>化は容易でない，と考えられます．</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46</a:t>
            </a:fld>
            <a:endParaRPr lang="en-US"/>
          </a:p>
        </p:txBody>
      </p:sp>
    </p:spTree>
    <p:extLst>
      <p:ext uri="{BB962C8B-B14F-4D97-AF65-F5344CB8AC3E}">
        <p14:creationId xmlns:p14="http://schemas.microsoft.com/office/powerpoint/2010/main" val="126391070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本調査輪講の本題は以上になりますので，最後にまとめに移りたいと思います．</a:t>
            </a:r>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47</a:t>
            </a:fld>
            <a:endParaRPr lang="en-US"/>
          </a:p>
        </p:txBody>
      </p:sp>
    </p:spTree>
    <p:extLst>
      <p:ext uri="{BB962C8B-B14F-4D97-AF65-F5344CB8AC3E}">
        <p14:creationId xmlns:p14="http://schemas.microsoft.com/office/powerpoint/2010/main" val="110060154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OST-AR</a:t>
            </a:r>
            <a:r>
              <a:rPr kumimoji="1" lang="ja-JP" altLang="en-US" dirty="0"/>
              <a:t>における知覚的視認性の研究は，その予測，向上だけでなく，</a:t>
            </a:r>
            <a:r>
              <a:rPr kumimoji="1" lang="en-US" altLang="ja-JP" dirty="0"/>
              <a:t>IQA.UX</a:t>
            </a:r>
            <a:r>
              <a:rPr kumimoji="1" lang="ja-JP" altLang="en-US" dirty="0"/>
              <a:t>，安全性といった分野にも寄与する，重要なものです．</a:t>
            </a:r>
            <a:endParaRPr kumimoji="1" lang="en-US" altLang="ja-JP" dirty="0"/>
          </a:p>
          <a:p>
            <a:endParaRPr kumimoji="1" lang="en-US" altLang="ja-JP" dirty="0"/>
          </a:p>
          <a:p>
            <a:r>
              <a:rPr kumimoji="1" lang="ja-JP" altLang="en-US" dirty="0"/>
              <a:t>本調査輪講では，色，明るさ，透明度といった知覚要素について，基礎研究と応用研究を取り上げました．</a:t>
            </a:r>
            <a:endParaRPr kumimoji="1" lang="en-US" altLang="ja-JP" dirty="0"/>
          </a:p>
          <a:p>
            <a:r>
              <a:rPr kumimoji="1" lang="ja-JP" altLang="en-US" dirty="0"/>
              <a:t>いずれの要素においても，視認性に影響し得るその知覚について，様々な知見が示され，それらを基にした視認性の予測・向上手法が提案されています．</a:t>
            </a:r>
            <a:endParaRPr kumimoji="1" lang="en-US" altLang="ja-JP" dirty="0"/>
          </a:p>
          <a:p>
            <a:r>
              <a:rPr kumimoji="1" lang="ja-JP" altLang="en-US" dirty="0"/>
              <a:t>しかし，これらはあくまでも，人間の知覚に対する理解の一部であり，今後もこの分野の研究動向を注視していく必要があります．</a:t>
            </a:r>
            <a:endParaRPr kumimoji="1" lang="en-US" altLang="ja-JP" dirty="0"/>
          </a:p>
          <a:p>
            <a:endParaRPr kumimoji="1" lang="en-US" altLang="ja-JP" dirty="0"/>
          </a:p>
          <a:p>
            <a:r>
              <a:rPr kumimoji="1" lang="ja-JP" altLang="en-US" dirty="0"/>
              <a:t>また，最後に触れた視認性予測モデルも，</a:t>
            </a:r>
            <a:r>
              <a:rPr kumimoji="1" lang="en-US" altLang="ja-JP" dirty="0"/>
              <a:t>OST-AR</a:t>
            </a:r>
            <a:r>
              <a:rPr kumimoji="1" lang="ja-JP" altLang="en-US" dirty="0"/>
              <a:t>への応用には様々な課題があります．</a:t>
            </a:r>
            <a:endParaRPr kumimoji="1" lang="en-US" altLang="ja-JP" dirty="0"/>
          </a:p>
          <a:p>
            <a:r>
              <a:rPr kumimoji="1" lang="ja-JP" altLang="en-US" dirty="0"/>
              <a:t>私の研究では，調査によって得た様々な知見も参考にしながら，</a:t>
            </a:r>
            <a:r>
              <a:rPr kumimoji="1" lang="en-US" altLang="ja-JP" dirty="0"/>
              <a:t>OST-AR</a:t>
            </a:r>
            <a:r>
              <a:rPr kumimoji="1" lang="ja-JP" altLang="en-US" dirty="0"/>
              <a:t>に対応した視認性予測モデルの提案を目指していく所存です．</a:t>
            </a:r>
          </a:p>
        </p:txBody>
      </p:sp>
      <p:sp>
        <p:nvSpPr>
          <p:cNvPr id="4" name="スライド番号プレースホルダー 3"/>
          <p:cNvSpPr>
            <a:spLocks noGrp="1"/>
          </p:cNvSpPr>
          <p:nvPr>
            <p:ph type="sldNum" sz="quarter" idx="5"/>
          </p:nvPr>
        </p:nvSpPr>
        <p:spPr/>
        <p:txBody>
          <a:bodyPr/>
          <a:lstStyle/>
          <a:p>
            <a:fld id="{A7794E6B-F3E5-40ED-A88E-3C9469E6AF68}" type="slidenum">
              <a:rPr lang="en-US" smtClean="0"/>
              <a:t>48</a:t>
            </a:fld>
            <a:endParaRPr lang="en-US"/>
          </a:p>
        </p:txBody>
      </p:sp>
    </p:spTree>
    <p:extLst>
      <p:ext uri="{BB962C8B-B14F-4D97-AF65-F5344CB8AC3E}">
        <p14:creationId xmlns:p14="http://schemas.microsoft.com/office/powerpoint/2010/main" val="3129315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AE07804-32AA-575C-8BAE-6FDC9B84E1B5}"/>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B7053CF6-57AB-ACAF-3B39-E4BD8D058E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B3A120CD-19AA-54A6-CD9A-679444DA740F}"/>
              </a:ext>
            </a:extLst>
          </p:cNvPr>
          <p:cNvSpPr>
            <a:spLocks noGrp="1"/>
          </p:cNvSpPr>
          <p:nvPr>
            <p:ph type="dt" sz="half" idx="10"/>
          </p:nvPr>
        </p:nvSpPr>
        <p:spPr>
          <a:xfrm>
            <a:off x="838200" y="5214385"/>
            <a:ext cx="2342322" cy="365125"/>
          </a:xfrm>
          <a:prstGeom prst="rect">
            <a:avLst/>
          </a:prstGeom>
        </p:spPr>
        <p:txBody>
          <a:bodyPr/>
          <a:lstStyle/>
          <a:p>
            <a:endParaRPr lang="en-US"/>
          </a:p>
        </p:txBody>
      </p:sp>
      <p:sp>
        <p:nvSpPr>
          <p:cNvPr id="5" name="フッター プレースホルダー 4">
            <a:extLst>
              <a:ext uri="{FF2B5EF4-FFF2-40B4-BE49-F238E27FC236}">
                <a16:creationId xmlns:a16="http://schemas.microsoft.com/office/drawing/2014/main" id="{E9EB4EC2-3712-7AA7-773A-8BBA3A8B5B06}"/>
              </a:ext>
            </a:extLst>
          </p:cNvPr>
          <p:cNvSpPr>
            <a:spLocks noGrp="1"/>
          </p:cNvSpPr>
          <p:nvPr>
            <p:ph type="ftr" sz="quarter" idx="11"/>
          </p:nvPr>
        </p:nvSpPr>
        <p:spPr>
          <a:xfrm>
            <a:off x="4038600" y="6403422"/>
            <a:ext cx="4114800" cy="365125"/>
          </a:xfrm>
          <a:prstGeom prst="rect">
            <a:avLst/>
          </a:prstGeom>
        </p:spPr>
        <p:txBody>
          <a:bodyPr/>
          <a:lstStyle/>
          <a:p>
            <a:endParaRPr lang="en-US"/>
          </a:p>
        </p:txBody>
      </p:sp>
      <p:sp>
        <p:nvSpPr>
          <p:cNvPr id="6" name="スライド番号プレースホルダー 5">
            <a:extLst>
              <a:ext uri="{FF2B5EF4-FFF2-40B4-BE49-F238E27FC236}">
                <a16:creationId xmlns:a16="http://schemas.microsoft.com/office/drawing/2014/main" id="{8374A8BE-A49B-DE99-4338-56801ACA6219}"/>
              </a:ext>
            </a:extLst>
          </p:cNvPr>
          <p:cNvSpPr>
            <a:spLocks noGrp="1"/>
          </p:cNvSpPr>
          <p:nvPr>
            <p:ph type="sldNum" sz="quarter" idx="12"/>
          </p:nvPr>
        </p:nvSpPr>
        <p:spPr>
          <a:xfrm>
            <a:off x="9448800" y="6435083"/>
            <a:ext cx="2743200" cy="336954"/>
          </a:xfrm>
          <a:prstGeom prst="rect">
            <a:avLst/>
          </a:prstGeom>
        </p:spPr>
        <p:txBody>
          <a:bodyPr/>
          <a:lstStyle>
            <a:lvl1pPr>
              <a:defRPr>
                <a:solidFill>
                  <a:schemeClr val="bg1"/>
                </a:solidFill>
              </a:defRPr>
            </a:lvl1pPr>
          </a:lstStyle>
          <a:p>
            <a:fld id="{BEF4553F-1DE4-4E24-BEE1-073CD313E6D1}" type="slidenum">
              <a:rPr lang="en-US" smtClean="0"/>
              <a:t>‹#›</a:t>
            </a:fld>
            <a:endParaRPr lang="en-US"/>
          </a:p>
        </p:txBody>
      </p:sp>
    </p:spTree>
    <p:extLst>
      <p:ext uri="{BB962C8B-B14F-4D97-AF65-F5344CB8AC3E}">
        <p14:creationId xmlns:p14="http://schemas.microsoft.com/office/powerpoint/2010/main" val="1440723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9" name="タイトル プレースホルダー 1">
            <a:extLst>
              <a:ext uri="{FF2B5EF4-FFF2-40B4-BE49-F238E27FC236}">
                <a16:creationId xmlns:a16="http://schemas.microsoft.com/office/drawing/2014/main" id="{E775F416-9229-E7CC-E27A-A79C6BE00279}"/>
              </a:ext>
            </a:extLst>
          </p:cNvPr>
          <p:cNvSpPr>
            <a:spLocks noGrp="1"/>
          </p:cNvSpPr>
          <p:nvPr>
            <p:ph type="title" hasCustomPrompt="1"/>
          </p:nvPr>
        </p:nvSpPr>
        <p:spPr>
          <a:xfrm>
            <a:off x="568634" y="141019"/>
            <a:ext cx="11036464" cy="597453"/>
          </a:xfrm>
          <a:prstGeom prst="rect">
            <a:avLst/>
          </a:prstGeom>
        </p:spPr>
        <p:txBody>
          <a:bodyPr vert="horz" lIns="91440" tIns="45720" rIns="91440" bIns="45720" rtlCol="0" anchor="ctr">
            <a:noAutofit/>
          </a:bodyPr>
          <a:lstStyle>
            <a:lvl1pPr>
              <a:defRPr sz="2550" b="0">
                <a:solidFill>
                  <a:schemeClr val="tx1">
                    <a:lumMod val="75000"/>
                  </a:schemeClr>
                </a:solidFill>
                <a:latin typeface="+mn-ea"/>
                <a:ea typeface="+mn-ea"/>
              </a:defRPr>
            </a:lvl1pPr>
          </a:lstStyle>
          <a:p>
            <a:r>
              <a:rPr kumimoji="1" lang="en-US" altLang="ja-JP" dirty="0"/>
              <a:t>25.5pt</a:t>
            </a:r>
            <a:endParaRPr kumimoji="1" lang="ja-JP" altLang="en-US" dirty="0"/>
          </a:p>
        </p:txBody>
      </p:sp>
      <p:sp>
        <p:nvSpPr>
          <p:cNvPr id="3" name="コンテンツ プレースホルダー 2">
            <a:extLst>
              <a:ext uri="{FF2B5EF4-FFF2-40B4-BE49-F238E27FC236}">
                <a16:creationId xmlns:a16="http://schemas.microsoft.com/office/drawing/2014/main" id="{451E11D7-8225-77AE-411F-3E066CF6FA81}"/>
              </a:ext>
            </a:extLst>
          </p:cNvPr>
          <p:cNvSpPr>
            <a:spLocks noGrp="1"/>
          </p:cNvSpPr>
          <p:nvPr>
            <p:ph idx="1" hasCustomPrompt="1"/>
          </p:nvPr>
        </p:nvSpPr>
        <p:spPr>
          <a:xfrm>
            <a:off x="568633" y="1828708"/>
            <a:ext cx="11036465" cy="4306394"/>
          </a:xfrm>
        </p:spPr>
        <p:txBody>
          <a:bodyPr/>
          <a:lstStyle>
            <a:lvl1pPr marL="0" indent="0">
              <a:lnSpc>
                <a:spcPct val="110000"/>
              </a:lnSpc>
              <a:buNone/>
              <a:defRPr sz="2200"/>
            </a:lvl1pPr>
            <a:lvl2pPr marL="457200" indent="0">
              <a:buNone/>
              <a:defRPr sz="2200"/>
            </a:lvl2pPr>
            <a:lvl3pPr>
              <a:defRPr sz="2900"/>
            </a:lvl3pPr>
          </a:lstStyle>
          <a:p>
            <a:pPr lvl="0"/>
            <a:r>
              <a:rPr kumimoji="1" lang="en-US" altLang="ja-JP" dirty="0"/>
              <a:t>22pt</a:t>
            </a:r>
            <a:endParaRPr kumimoji="1" lang="ja-JP" altLang="en-US" dirty="0"/>
          </a:p>
        </p:txBody>
      </p:sp>
      <p:sp>
        <p:nvSpPr>
          <p:cNvPr id="4" name="日付プレースホルダー 3">
            <a:extLst>
              <a:ext uri="{FF2B5EF4-FFF2-40B4-BE49-F238E27FC236}">
                <a16:creationId xmlns:a16="http://schemas.microsoft.com/office/drawing/2014/main" id="{F48FAB2F-1602-F216-D363-F18AF7D3D17D}"/>
              </a:ext>
            </a:extLst>
          </p:cNvPr>
          <p:cNvSpPr>
            <a:spLocks noGrp="1"/>
          </p:cNvSpPr>
          <p:nvPr>
            <p:ph type="dt" sz="half" idx="10"/>
          </p:nvPr>
        </p:nvSpPr>
        <p:spPr>
          <a:xfrm>
            <a:off x="4790056" y="4071385"/>
            <a:ext cx="2342322" cy="365125"/>
          </a:xfrm>
          <a:prstGeom prst="rect">
            <a:avLst/>
          </a:prstGeom>
        </p:spPr>
        <p:txBody>
          <a:bodyPr/>
          <a:lstStyle/>
          <a:p>
            <a:endParaRPr lang="en-US"/>
          </a:p>
        </p:txBody>
      </p:sp>
      <p:sp>
        <p:nvSpPr>
          <p:cNvPr id="5" name="フッター プレースホルダー 4">
            <a:extLst>
              <a:ext uri="{FF2B5EF4-FFF2-40B4-BE49-F238E27FC236}">
                <a16:creationId xmlns:a16="http://schemas.microsoft.com/office/drawing/2014/main" id="{6498B766-9CBD-EBBE-A342-37EA31DC1802}"/>
              </a:ext>
            </a:extLst>
          </p:cNvPr>
          <p:cNvSpPr>
            <a:spLocks noGrp="1"/>
          </p:cNvSpPr>
          <p:nvPr>
            <p:ph type="ftr" sz="quarter" idx="11"/>
          </p:nvPr>
        </p:nvSpPr>
        <p:spPr>
          <a:xfrm>
            <a:off x="4038600" y="6403422"/>
            <a:ext cx="4114800" cy="365125"/>
          </a:xfrm>
          <a:prstGeom prst="rect">
            <a:avLst/>
          </a:prstGeom>
        </p:spPr>
        <p:txBody>
          <a:bodyPr/>
          <a:lstStyle/>
          <a:p>
            <a:endParaRPr lang="en-US"/>
          </a:p>
        </p:txBody>
      </p:sp>
      <p:sp>
        <p:nvSpPr>
          <p:cNvPr id="6" name="スライド番号プレースホルダー 5">
            <a:extLst>
              <a:ext uri="{FF2B5EF4-FFF2-40B4-BE49-F238E27FC236}">
                <a16:creationId xmlns:a16="http://schemas.microsoft.com/office/drawing/2014/main" id="{5EA06C0F-15C3-8B29-7A09-0AA33819EA45}"/>
              </a:ext>
            </a:extLst>
          </p:cNvPr>
          <p:cNvSpPr>
            <a:spLocks noGrp="1"/>
          </p:cNvSpPr>
          <p:nvPr>
            <p:ph type="sldNum" sz="quarter" idx="12"/>
          </p:nvPr>
        </p:nvSpPr>
        <p:spPr>
          <a:xfrm>
            <a:off x="9448800" y="6435083"/>
            <a:ext cx="2743200" cy="336954"/>
          </a:xfrm>
          <a:prstGeom prst="rect">
            <a:avLst/>
          </a:prstGeom>
        </p:spPr>
        <p:txBody>
          <a:bodyPr/>
          <a:lstStyle/>
          <a:p>
            <a:fld id="{BEF4553F-1DE4-4E24-BEE1-073CD313E6D1}" type="slidenum">
              <a:rPr lang="en-US" smtClean="0"/>
              <a:t>‹#›</a:t>
            </a:fld>
            <a:endParaRPr lang="en-US"/>
          </a:p>
        </p:txBody>
      </p:sp>
      <p:cxnSp>
        <p:nvCxnSpPr>
          <p:cNvPr id="10" name="直線コネクタ 9">
            <a:extLst>
              <a:ext uri="{FF2B5EF4-FFF2-40B4-BE49-F238E27FC236}">
                <a16:creationId xmlns:a16="http://schemas.microsoft.com/office/drawing/2014/main" id="{32AE2AA1-0F22-48DB-8D2C-8330DD12F795}"/>
              </a:ext>
            </a:extLst>
          </p:cNvPr>
          <p:cNvCxnSpPr>
            <a:cxnSpLocks/>
          </p:cNvCxnSpPr>
          <p:nvPr/>
        </p:nvCxnSpPr>
        <p:spPr>
          <a:xfrm>
            <a:off x="0" y="707068"/>
            <a:ext cx="12192000" cy="14177"/>
          </a:xfrm>
          <a:prstGeom prst="line">
            <a:avLst/>
          </a:prstGeom>
          <a:ln w="3175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7" name="直線コネクタ 6">
            <a:extLst>
              <a:ext uri="{FF2B5EF4-FFF2-40B4-BE49-F238E27FC236}">
                <a16:creationId xmlns:a16="http://schemas.microsoft.com/office/drawing/2014/main" id="{49E46CE4-C2EA-3F3B-A14C-6656B650FAE0}"/>
              </a:ext>
            </a:extLst>
          </p:cNvPr>
          <p:cNvCxnSpPr>
            <a:cxnSpLocks/>
          </p:cNvCxnSpPr>
          <p:nvPr/>
        </p:nvCxnSpPr>
        <p:spPr>
          <a:xfrm>
            <a:off x="459412" y="-13378"/>
            <a:ext cx="0" cy="1274324"/>
          </a:xfrm>
          <a:prstGeom prst="line">
            <a:avLst/>
          </a:prstGeom>
          <a:ln w="31750">
            <a:solidFill>
              <a:schemeClr val="accent3"/>
            </a:solidFill>
          </a:ln>
        </p:spPr>
        <p:style>
          <a:lnRef idx="2">
            <a:schemeClr val="accent1"/>
          </a:lnRef>
          <a:fillRef idx="0">
            <a:schemeClr val="accent1"/>
          </a:fillRef>
          <a:effectRef idx="1">
            <a:schemeClr val="accent1"/>
          </a:effectRef>
          <a:fontRef idx="minor">
            <a:schemeClr val="tx1"/>
          </a:fontRef>
        </p:style>
      </p:cxnSp>
      <p:sp>
        <p:nvSpPr>
          <p:cNvPr id="12" name="コンテンツ プレースホルダー 2">
            <a:extLst>
              <a:ext uri="{FF2B5EF4-FFF2-40B4-BE49-F238E27FC236}">
                <a16:creationId xmlns:a16="http://schemas.microsoft.com/office/drawing/2014/main" id="{9A787379-3293-5F5B-9CFF-E1CCD91EA904}"/>
              </a:ext>
            </a:extLst>
          </p:cNvPr>
          <p:cNvSpPr>
            <a:spLocks noGrp="1"/>
          </p:cNvSpPr>
          <p:nvPr>
            <p:ph idx="13" hasCustomPrompt="1"/>
          </p:nvPr>
        </p:nvSpPr>
        <p:spPr>
          <a:xfrm>
            <a:off x="568634" y="994595"/>
            <a:ext cx="11036457" cy="597453"/>
          </a:xfrm>
        </p:spPr>
        <p:txBody>
          <a:bodyPr>
            <a:normAutofit/>
          </a:bodyPr>
          <a:lstStyle>
            <a:lvl1pPr marL="0" indent="0">
              <a:buNone/>
              <a:defRPr sz="3600"/>
            </a:lvl1pPr>
            <a:lvl2pPr marL="457200" indent="0">
              <a:buNone/>
              <a:defRPr sz="2200"/>
            </a:lvl2pPr>
            <a:lvl3pPr>
              <a:defRPr sz="2900"/>
            </a:lvl3pPr>
          </a:lstStyle>
          <a:p>
            <a:pPr lvl="0"/>
            <a:r>
              <a:rPr kumimoji="1" lang="en-US" altLang="ja-JP" dirty="0"/>
              <a:t>36pt</a:t>
            </a:r>
          </a:p>
        </p:txBody>
      </p:sp>
    </p:spTree>
    <p:extLst>
      <p:ext uri="{BB962C8B-B14F-4D97-AF65-F5344CB8AC3E}">
        <p14:creationId xmlns:p14="http://schemas.microsoft.com/office/powerpoint/2010/main" val="3590220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A9BE94-EFF9-0BE0-A29C-26B17ED31A9D}"/>
              </a:ext>
            </a:extLst>
          </p:cNvPr>
          <p:cNvSpPr>
            <a:spLocks noGrp="1"/>
          </p:cNvSpPr>
          <p:nvPr>
            <p:ph type="title"/>
          </p:nvPr>
        </p:nvSpPr>
        <p:spPr>
          <a:xfrm>
            <a:off x="696000" y="1463547"/>
            <a:ext cx="10800000" cy="2852737"/>
          </a:xfrm>
          <a:prstGeom prst="rect">
            <a:avLst/>
          </a:prstGeom>
        </p:spPr>
        <p:txBody>
          <a:bodyPr anchor="b"/>
          <a:lstStyle>
            <a:lvl1pPr>
              <a:defRPr sz="5800" b="1">
                <a:solidFill>
                  <a:schemeClr val="tx1"/>
                </a:solidFill>
                <a:latin typeface="+mn-ea"/>
                <a:ea typeface="+mn-ea"/>
              </a:defRPr>
            </a:lvl1p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4581E19F-8718-B106-6453-1D688092B18D}"/>
              </a:ext>
            </a:extLst>
          </p:cNvPr>
          <p:cNvSpPr>
            <a:spLocks noGrp="1"/>
          </p:cNvSpPr>
          <p:nvPr>
            <p:ph type="body" idx="1"/>
          </p:nvPr>
        </p:nvSpPr>
        <p:spPr>
          <a:xfrm>
            <a:off x="702350" y="4404406"/>
            <a:ext cx="10800000" cy="1500187"/>
          </a:xfrm>
        </p:spPr>
        <p:txBody>
          <a:bodyPr>
            <a:normAutofit/>
          </a:bodyPr>
          <a:lstStyle>
            <a:lvl1pPr marL="0" indent="0">
              <a:buNone/>
              <a:defRPr sz="255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dirty="0"/>
              <a:t>マスター テキストの書式設定</a:t>
            </a:r>
          </a:p>
        </p:txBody>
      </p:sp>
      <p:sp>
        <p:nvSpPr>
          <p:cNvPr id="4" name="日付プレースホルダー 3">
            <a:extLst>
              <a:ext uri="{FF2B5EF4-FFF2-40B4-BE49-F238E27FC236}">
                <a16:creationId xmlns:a16="http://schemas.microsoft.com/office/drawing/2014/main" id="{8646DAB3-0CA6-BAAD-15CC-85F22BB6C57E}"/>
              </a:ext>
            </a:extLst>
          </p:cNvPr>
          <p:cNvSpPr>
            <a:spLocks noGrp="1"/>
          </p:cNvSpPr>
          <p:nvPr>
            <p:ph type="dt" sz="half" idx="10"/>
          </p:nvPr>
        </p:nvSpPr>
        <p:spPr>
          <a:xfrm>
            <a:off x="708700" y="5029328"/>
            <a:ext cx="10800000" cy="365125"/>
          </a:xfrm>
          <a:prstGeom prst="rect">
            <a:avLst/>
          </a:prstGeom>
        </p:spPr>
        <p:txBody>
          <a:bodyPr/>
          <a:lstStyle>
            <a:lvl1pPr>
              <a:defRPr sz="2550"/>
            </a:lvl1pPr>
          </a:lstStyle>
          <a:p>
            <a:endParaRPr lang="en-US" dirty="0"/>
          </a:p>
        </p:txBody>
      </p:sp>
      <p:sp>
        <p:nvSpPr>
          <p:cNvPr id="5" name="フッター プレースホルダー 4">
            <a:extLst>
              <a:ext uri="{FF2B5EF4-FFF2-40B4-BE49-F238E27FC236}">
                <a16:creationId xmlns:a16="http://schemas.microsoft.com/office/drawing/2014/main" id="{D284E3B4-B1ED-E089-AFC0-170AEE8BFDB9}"/>
              </a:ext>
            </a:extLst>
          </p:cNvPr>
          <p:cNvSpPr>
            <a:spLocks noGrp="1"/>
          </p:cNvSpPr>
          <p:nvPr>
            <p:ph type="ftr" sz="quarter" idx="11"/>
          </p:nvPr>
        </p:nvSpPr>
        <p:spPr>
          <a:xfrm>
            <a:off x="4038600" y="6403422"/>
            <a:ext cx="4114800" cy="365125"/>
          </a:xfrm>
          <a:prstGeom prst="rect">
            <a:avLst/>
          </a:prstGeom>
        </p:spPr>
        <p:txBody>
          <a:bodyPr/>
          <a:lstStyle/>
          <a:p>
            <a:endParaRPr lang="en-US"/>
          </a:p>
        </p:txBody>
      </p:sp>
      <p:cxnSp>
        <p:nvCxnSpPr>
          <p:cNvPr id="7" name="直線コネクタ 6">
            <a:extLst>
              <a:ext uri="{FF2B5EF4-FFF2-40B4-BE49-F238E27FC236}">
                <a16:creationId xmlns:a16="http://schemas.microsoft.com/office/drawing/2014/main" id="{12B2F190-5CF8-0AF7-F826-32B11D6EB92A}"/>
              </a:ext>
            </a:extLst>
          </p:cNvPr>
          <p:cNvCxnSpPr>
            <a:cxnSpLocks/>
          </p:cNvCxnSpPr>
          <p:nvPr/>
        </p:nvCxnSpPr>
        <p:spPr>
          <a:xfrm>
            <a:off x="702350" y="4316284"/>
            <a:ext cx="10800000" cy="0"/>
          </a:xfrm>
          <a:prstGeom prst="line">
            <a:avLst/>
          </a:prstGeom>
          <a:ln>
            <a:solidFill>
              <a:srgbClr val="133463"/>
            </a:solidFill>
          </a:ln>
        </p:spPr>
        <p:style>
          <a:lnRef idx="2">
            <a:schemeClr val="accent1"/>
          </a:lnRef>
          <a:fillRef idx="0">
            <a:schemeClr val="accent1"/>
          </a:fillRef>
          <a:effectRef idx="1">
            <a:schemeClr val="accent1"/>
          </a:effectRef>
          <a:fontRef idx="minor">
            <a:schemeClr val="tx1"/>
          </a:fontRef>
        </p:style>
      </p:cxnSp>
      <p:sp>
        <p:nvSpPr>
          <p:cNvPr id="13" name="スライド番号プレースホルダー 5">
            <a:extLst>
              <a:ext uri="{FF2B5EF4-FFF2-40B4-BE49-F238E27FC236}">
                <a16:creationId xmlns:a16="http://schemas.microsoft.com/office/drawing/2014/main" id="{2E42CDEE-B1B0-A4C5-8806-CF3C0F82546B}"/>
              </a:ext>
            </a:extLst>
          </p:cNvPr>
          <p:cNvSpPr>
            <a:spLocks noGrp="1"/>
          </p:cNvSpPr>
          <p:nvPr>
            <p:ph type="sldNum" sz="quarter" idx="12"/>
          </p:nvPr>
        </p:nvSpPr>
        <p:spPr>
          <a:xfrm>
            <a:off x="9437511" y="6426416"/>
            <a:ext cx="2743200" cy="336954"/>
          </a:xfrm>
          <a:prstGeom prst="rect">
            <a:avLst/>
          </a:prstGeom>
        </p:spPr>
        <p:txBody>
          <a:bodyPr/>
          <a:lstStyle/>
          <a:p>
            <a:fld id="{BEF4553F-1DE4-4E24-BEE1-073CD313E6D1}" type="slidenum">
              <a:rPr lang="en-US" smtClean="0"/>
              <a:t>‹#›</a:t>
            </a:fld>
            <a:endParaRPr lang="en-US"/>
          </a:p>
        </p:txBody>
      </p:sp>
    </p:spTree>
    <p:extLst>
      <p:ext uri="{BB962C8B-B14F-4D97-AF65-F5344CB8AC3E}">
        <p14:creationId xmlns:p14="http://schemas.microsoft.com/office/powerpoint/2010/main" val="920003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D44F76-F322-2D3F-6D20-60649E5241AF}"/>
              </a:ext>
            </a:extLst>
          </p:cNvPr>
          <p:cNvSpPr>
            <a:spLocks noGrp="1"/>
          </p:cNvSpPr>
          <p:nvPr>
            <p:ph type="title"/>
          </p:nvPr>
        </p:nvSpPr>
        <p:spPr>
          <a:xfrm>
            <a:off x="838200" y="445085"/>
            <a:ext cx="10515600" cy="471903"/>
          </a:xfrm>
          <a:prstGeom prst="rect">
            <a:avLst/>
          </a:prstGeo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A19A184-65FD-DAB3-D6E9-7175A6A9F1F7}"/>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98E687C6-6848-BA30-F4D4-7B1F22DF7441}"/>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5F8BB184-59D6-6E22-2F61-1344959CFB30}"/>
              </a:ext>
            </a:extLst>
          </p:cNvPr>
          <p:cNvSpPr>
            <a:spLocks noGrp="1"/>
          </p:cNvSpPr>
          <p:nvPr>
            <p:ph type="dt" sz="half" idx="10"/>
          </p:nvPr>
        </p:nvSpPr>
        <p:spPr>
          <a:xfrm>
            <a:off x="838200" y="5214385"/>
            <a:ext cx="2342322" cy="365125"/>
          </a:xfrm>
          <a:prstGeom prst="rect">
            <a:avLst/>
          </a:prstGeom>
        </p:spPr>
        <p:txBody>
          <a:bodyPr/>
          <a:lstStyle/>
          <a:p>
            <a:endParaRPr lang="en-US"/>
          </a:p>
        </p:txBody>
      </p:sp>
      <p:sp>
        <p:nvSpPr>
          <p:cNvPr id="6" name="フッター プレースホルダー 5">
            <a:extLst>
              <a:ext uri="{FF2B5EF4-FFF2-40B4-BE49-F238E27FC236}">
                <a16:creationId xmlns:a16="http://schemas.microsoft.com/office/drawing/2014/main" id="{6227B7D8-0ED5-C2B9-7D5E-F762D8F10A51}"/>
              </a:ext>
            </a:extLst>
          </p:cNvPr>
          <p:cNvSpPr>
            <a:spLocks noGrp="1"/>
          </p:cNvSpPr>
          <p:nvPr>
            <p:ph type="ftr" sz="quarter" idx="11"/>
          </p:nvPr>
        </p:nvSpPr>
        <p:spPr>
          <a:xfrm>
            <a:off x="4038600" y="6403422"/>
            <a:ext cx="4114800" cy="365125"/>
          </a:xfrm>
          <a:prstGeom prst="rect">
            <a:avLst/>
          </a:prstGeom>
        </p:spPr>
        <p:txBody>
          <a:bodyPr/>
          <a:lstStyle/>
          <a:p>
            <a:endParaRPr lang="en-US"/>
          </a:p>
        </p:txBody>
      </p:sp>
      <p:sp>
        <p:nvSpPr>
          <p:cNvPr id="7" name="スライド番号プレースホルダー 6">
            <a:extLst>
              <a:ext uri="{FF2B5EF4-FFF2-40B4-BE49-F238E27FC236}">
                <a16:creationId xmlns:a16="http://schemas.microsoft.com/office/drawing/2014/main" id="{966F5D77-B756-A1B2-DF85-83B725CD4664}"/>
              </a:ext>
            </a:extLst>
          </p:cNvPr>
          <p:cNvSpPr>
            <a:spLocks noGrp="1"/>
          </p:cNvSpPr>
          <p:nvPr>
            <p:ph type="sldNum" sz="quarter" idx="12"/>
          </p:nvPr>
        </p:nvSpPr>
        <p:spPr>
          <a:xfrm>
            <a:off x="9448800" y="6435083"/>
            <a:ext cx="2743200" cy="336954"/>
          </a:xfrm>
          <a:prstGeom prst="rect">
            <a:avLst/>
          </a:prstGeom>
        </p:spPr>
        <p:txBody>
          <a:bodyPr/>
          <a:lstStyle/>
          <a:p>
            <a:fld id="{BEF4553F-1DE4-4E24-BEE1-073CD313E6D1}" type="slidenum">
              <a:rPr lang="en-US" smtClean="0"/>
              <a:t>‹#›</a:t>
            </a:fld>
            <a:endParaRPr lang="en-US"/>
          </a:p>
        </p:txBody>
      </p:sp>
    </p:spTree>
    <p:extLst>
      <p:ext uri="{BB962C8B-B14F-4D97-AF65-F5344CB8AC3E}">
        <p14:creationId xmlns:p14="http://schemas.microsoft.com/office/powerpoint/2010/main" val="31315083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3BA848-E0B1-1AD9-253B-CDCC47631EBA}"/>
              </a:ext>
            </a:extLst>
          </p:cNvPr>
          <p:cNvSpPr>
            <a:spLocks noGrp="1"/>
          </p:cNvSpPr>
          <p:nvPr>
            <p:ph type="title"/>
          </p:nvPr>
        </p:nvSpPr>
        <p:spPr>
          <a:xfrm>
            <a:off x="839788" y="365125"/>
            <a:ext cx="10515600" cy="1325563"/>
          </a:xfrm>
          <a:prstGeom prst="rect">
            <a:avLst/>
          </a:prstGeo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FCB9702-90AB-F81D-48F8-65D93456A1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E335D6AD-C187-D30F-FC06-CC34FA5572FC}"/>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62EBEBEA-EE32-70C8-518E-A2F8CDED81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DF74CA3A-2DC9-364F-E644-24DCE29A64AC}"/>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85C3BB6C-CE4F-933F-1A00-4690E2DCD0DE}"/>
              </a:ext>
            </a:extLst>
          </p:cNvPr>
          <p:cNvSpPr>
            <a:spLocks noGrp="1"/>
          </p:cNvSpPr>
          <p:nvPr>
            <p:ph type="dt" sz="half" idx="10"/>
          </p:nvPr>
        </p:nvSpPr>
        <p:spPr>
          <a:xfrm>
            <a:off x="838200" y="5214385"/>
            <a:ext cx="2342322" cy="365125"/>
          </a:xfrm>
          <a:prstGeom prst="rect">
            <a:avLst/>
          </a:prstGeom>
        </p:spPr>
        <p:txBody>
          <a:bodyPr/>
          <a:lstStyle/>
          <a:p>
            <a:endParaRPr lang="en-US"/>
          </a:p>
        </p:txBody>
      </p:sp>
      <p:sp>
        <p:nvSpPr>
          <p:cNvPr id="8" name="フッター プレースホルダー 7">
            <a:extLst>
              <a:ext uri="{FF2B5EF4-FFF2-40B4-BE49-F238E27FC236}">
                <a16:creationId xmlns:a16="http://schemas.microsoft.com/office/drawing/2014/main" id="{0B63F7DF-14C2-1261-5704-47B7B65BE875}"/>
              </a:ext>
            </a:extLst>
          </p:cNvPr>
          <p:cNvSpPr>
            <a:spLocks noGrp="1"/>
          </p:cNvSpPr>
          <p:nvPr>
            <p:ph type="ftr" sz="quarter" idx="11"/>
          </p:nvPr>
        </p:nvSpPr>
        <p:spPr>
          <a:xfrm>
            <a:off x="4038600" y="6403422"/>
            <a:ext cx="4114800" cy="365125"/>
          </a:xfrm>
          <a:prstGeom prst="rect">
            <a:avLst/>
          </a:prstGeom>
        </p:spPr>
        <p:txBody>
          <a:bodyPr/>
          <a:lstStyle/>
          <a:p>
            <a:endParaRPr lang="en-US"/>
          </a:p>
        </p:txBody>
      </p:sp>
      <p:sp>
        <p:nvSpPr>
          <p:cNvPr id="9" name="スライド番号プレースホルダー 8">
            <a:extLst>
              <a:ext uri="{FF2B5EF4-FFF2-40B4-BE49-F238E27FC236}">
                <a16:creationId xmlns:a16="http://schemas.microsoft.com/office/drawing/2014/main" id="{384D076E-B35C-74DD-733D-DFF0E6658A12}"/>
              </a:ext>
            </a:extLst>
          </p:cNvPr>
          <p:cNvSpPr>
            <a:spLocks noGrp="1"/>
          </p:cNvSpPr>
          <p:nvPr>
            <p:ph type="sldNum" sz="quarter" idx="12"/>
          </p:nvPr>
        </p:nvSpPr>
        <p:spPr>
          <a:xfrm>
            <a:off x="9448800" y="6435083"/>
            <a:ext cx="2743200" cy="336954"/>
          </a:xfrm>
          <a:prstGeom prst="rect">
            <a:avLst/>
          </a:prstGeom>
        </p:spPr>
        <p:txBody>
          <a:bodyPr/>
          <a:lstStyle/>
          <a:p>
            <a:fld id="{BEF4553F-1DE4-4E24-BEE1-073CD313E6D1}" type="slidenum">
              <a:rPr lang="en-US" smtClean="0"/>
              <a:t>‹#›</a:t>
            </a:fld>
            <a:endParaRPr lang="en-US"/>
          </a:p>
        </p:txBody>
      </p:sp>
    </p:spTree>
    <p:extLst>
      <p:ext uri="{BB962C8B-B14F-4D97-AF65-F5344CB8AC3E}">
        <p14:creationId xmlns:p14="http://schemas.microsoft.com/office/powerpoint/2010/main" val="3484254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6" name="タイトル プレースホルダー 1">
            <a:extLst>
              <a:ext uri="{FF2B5EF4-FFF2-40B4-BE49-F238E27FC236}">
                <a16:creationId xmlns:a16="http://schemas.microsoft.com/office/drawing/2014/main" id="{DEF20EBA-3875-CAB4-B2B6-3994E6CA1DEA}"/>
              </a:ext>
            </a:extLst>
          </p:cNvPr>
          <p:cNvSpPr>
            <a:spLocks noGrp="1"/>
          </p:cNvSpPr>
          <p:nvPr>
            <p:ph type="title" hasCustomPrompt="1"/>
          </p:nvPr>
        </p:nvSpPr>
        <p:spPr>
          <a:xfrm>
            <a:off x="577768" y="262982"/>
            <a:ext cx="11036464" cy="597453"/>
          </a:xfrm>
          <a:prstGeom prst="rect">
            <a:avLst/>
          </a:prstGeom>
        </p:spPr>
        <p:txBody>
          <a:bodyPr vert="horz" lIns="91440" tIns="45720" rIns="91440" bIns="45720" rtlCol="0" anchor="ctr">
            <a:noAutofit/>
          </a:bodyPr>
          <a:lstStyle>
            <a:lvl1pPr>
              <a:defRPr sz="3600" b="0">
                <a:solidFill>
                  <a:schemeClr val="tx1">
                    <a:lumMod val="75000"/>
                  </a:schemeClr>
                </a:solidFill>
                <a:latin typeface="+mn-ea"/>
                <a:ea typeface="+mn-ea"/>
              </a:defRPr>
            </a:lvl1pPr>
          </a:lstStyle>
          <a:p>
            <a:r>
              <a:rPr kumimoji="1" lang="en-US" altLang="ja-JP" dirty="0"/>
              <a:t>25.5pt</a:t>
            </a:r>
            <a:endParaRPr kumimoji="1" lang="ja-JP" altLang="en-US" dirty="0"/>
          </a:p>
        </p:txBody>
      </p:sp>
      <p:sp>
        <p:nvSpPr>
          <p:cNvPr id="7" name="コンテンツ プレースホルダー 2">
            <a:extLst>
              <a:ext uri="{FF2B5EF4-FFF2-40B4-BE49-F238E27FC236}">
                <a16:creationId xmlns:a16="http://schemas.microsoft.com/office/drawing/2014/main" id="{E0F33A0F-EB70-F755-616E-D0991EEAC03D}"/>
              </a:ext>
            </a:extLst>
          </p:cNvPr>
          <p:cNvSpPr>
            <a:spLocks noGrp="1"/>
          </p:cNvSpPr>
          <p:nvPr>
            <p:ph idx="1" hasCustomPrompt="1"/>
          </p:nvPr>
        </p:nvSpPr>
        <p:spPr>
          <a:xfrm>
            <a:off x="568633" y="994595"/>
            <a:ext cx="11036465" cy="5140507"/>
          </a:xfrm>
        </p:spPr>
        <p:txBody>
          <a:bodyPr/>
          <a:lstStyle>
            <a:lvl1pPr marL="0" indent="0">
              <a:lnSpc>
                <a:spcPct val="110000"/>
              </a:lnSpc>
              <a:buNone/>
              <a:defRPr sz="2200"/>
            </a:lvl1pPr>
            <a:lvl2pPr marL="457200" indent="0">
              <a:buNone/>
              <a:defRPr sz="2200"/>
            </a:lvl2pPr>
            <a:lvl3pPr>
              <a:defRPr sz="2900"/>
            </a:lvl3pPr>
          </a:lstStyle>
          <a:p>
            <a:pPr lvl="0"/>
            <a:r>
              <a:rPr kumimoji="1" lang="en-US" altLang="ja-JP" dirty="0"/>
              <a:t>22pt</a:t>
            </a:r>
            <a:endParaRPr kumimoji="1" lang="ja-JP" altLang="en-US" dirty="0"/>
          </a:p>
        </p:txBody>
      </p:sp>
      <p:sp>
        <p:nvSpPr>
          <p:cNvPr id="8" name="日付プレースホルダー 3">
            <a:extLst>
              <a:ext uri="{FF2B5EF4-FFF2-40B4-BE49-F238E27FC236}">
                <a16:creationId xmlns:a16="http://schemas.microsoft.com/office/drawing/2014/main" id="{1916994B-6BF9-22DF-C534-0A7E41914AD3}"/>
              </a:ext>
            </a:extLst>
          </p:cNvPr>
          <p:cNvSpPr>
            <a:spLocks noGrp="1"/>
          </p:cNvSpPr>
          <p:nvPr>
            <p:ph type="dt" sz="half" idx="10"/>
          </p:nvPr>
        </p:nvSpPr>
        <p:spPr>
          <a:xfrm>
            <a:off x="4790056" y="4071385"/>
            <a:ext cx="2342322" cy="365125"/>
          </a:xfrm>
          <a:prstGeom prst="rect">
            <a:avLst/>
          </a:prstGeom>
        </p:spPr>
        <p:txBody>
          <a:bodyPr/>
          <a:lstStyle/>
          <a:p>
            <a:endParaRPr lang="en-US"/>
          </a:p>
        </p:txBody>
      </p:sp>
      <p:sp>
        <p:nvSpPr>
          <p:cNvPr id="13" name="コンテンツ プレースホルダー 2">
            <a:extLst>
              <a:ext uri="{FF2B5EF4-FFF2-40B4-BE49-F238E27FC236}">
                <a16:creationId xmlns:a16="http://schemas.microsoft.com/office/drawing/2014/main" id="{B586EC0D-650A-26E2-B297-EBE05847AF4C}"/>
              </a:ext>
            </a:extLst>
          </p:cNvPr>
          <p:cNvSpPr>
            <a:spLocks noGrp="1"/>
          </p:cNvSpPr>
          <p:nvPr>
            <p:ph idx="13" hasCustomPrompt="1"/>
          </p:nvPr>
        </p:nvSpPr>
        <p:spPr>
          <a:xfrm>
            <a:off x="568634" y="994595"/>
            <a:ext cx="11036457" cy="597453"/>
          </a:xfrm>
        </p:spPr>
        <p:txBody>
          <a:bodyPr>
            <a:normAutofit/>
          </a:bodyPr>
          <a:lstStyle>
            <a:lvl1pPr marL="0" indent="0">
              <a:buNone/>
              <a:defRPr sz="3600"/>
            </a:lvl1pPr>
            <a:lvl2pPr marL="457200" indent="0">
              <a:buNone/>
              <a:defRPr sz="2200"/>
            </a:lvl2pPr>
            <a:lvl3pPr>
              <a:defRPr sz="2900"/>
            </a:lvl3pPr>
          </a:lstStyle>
          <a:p>
            <a:pPr lvl="0"/>
            <a:r>
              <a:rPr kumimoji="1" lang="en-US" altLang="ja-JP" dirty="0"/>
              <a:t>36pt</a:t>
            </a:r>
          </a:p>
        </p:txBody>
      </p:sp>
      <p:sp>
        <p:nvSpPr>
          <p:cNvPr id="2" name="スライド番号プレースホルダー 5">
            <a:extLst>
              <a:ext uri="{FF2B5EF4-FFF2-40B4-BE49-F238E27FC236}">
                <a16:creationId xmlns:a16="http://schemas.microsoft.com/office/drawing/2014/main" id="{310B4839-D517-F67E-D4E4-E9D491925813}"/>
              </a:ext>
            </a:extLst>
          </p:cNvPr>
          <p:cNvSpPr>
            <a:spLocks noGrp="1"/>
          </p:cNvSpPr>
          <p:nvPr>
            <p:ph type="sldNum" sz="quarter" idx="4"/>
          </p:nvPr>
        </p:nvSpPr>
        <p:spPr>
          <a:xfrm>
            <a:off x="11495999" y="6423794"/>
            <a:ext cx="662133" cy="336954"/>
          </a:xfrm>
          <a:prstGeom prst="rect">
            <a:avLst/>
          </a:prstGeom>
        </p:spPr>
        <p:txBody>
          <a:bodyPr/>
          <a:lstStyle>
            <a:lvl1pPr algn="r">
              <a:defRPr sz="2200" b="1">
                <a:solidFill>
                  <a:schemeClr val="tx1"/>
                </a:solidFill>
              </a:defRPr>
            </a:lvl1pPr>
          </a:lstStyle>
          <a:p>
            <a:fld id="{BEF4553F-1DE4-4E24-BEE1-073CD313E6D1}" type="slidenum">
              <a:rPr lang="en-US" smtClean="0"/>
              <a:pPr/>
              <a:t>‹#›</a:t>
            </a:fld>
            <a:endParaRPr lang="en-US" dirty="0"/>
          </a:p>
        </p:txBody>
      </p:sp>
      <p:sp>
        <p:nvSpPr>
          <p:cNvPr id="3" name="フッター プレースホルダー 4">
            <a:extLst>
              <a:ext uri="{FF2B5EF4-FFF2-40B4-BE49-F238E27FC236}">
                <a16:creationId xmlns:a16="http://schemas.microsoft.com/office/drawing/2014/main" id="{B956EF9D-7FEC-4B55-E3DF-AD9165B9768C}"/>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dirty="0" err="1"/>
              <a:t>Sorce</a:t>
            </a:r>
            <a:endParaRPr lang="en-US" sz="1100" dirty="0"/>
          </a:p>
        </p:txBody>
      </p:sp>
    </p:spTree>
    <p:extLst>
      <p:ext uri="{BB962C8B-B14F-4D97-AF65-F5344CB8AC3E}">
        <p14:creationId xmlns:p14="http://schemas.microsoft.com/office/powerpoint/2010/main" val="1999453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80F10D4-9341-FC3D-6359-0469D8E1B883}"/>
              </a:ext>
            </a:extLst>
          </p:cNvPr>
          <p:cNvSpPr>
            <a:spLocks noGrp="1"/>
          </p:cNvSpPr>
          <p:nvPr>
            <p:ph type="dt" sz="half" idx="10"/>
          </p:nvPr>
        </p:nvSpPr>
        <p:spPr>
          <a:xfrm>
            <a:off x="838200" y="5214385"/>
            <a:ext cx="2342322" cy="365125"/>
          </a:xfrm>
          <a:prstGeom prst="rect">
            <a:avLst/>
          </a:prstGeom>
        </p:spPr>
        <p:txBody>
          <a:bodyPr/>
          <a:lstStyle/>
          <a:p>
            <a:endParaRPr lang="en-US"/>
          </a:p>
        </p:txBody>
      </p:sp>
      <p:sp>
        <p:nvSpPr>
          <p:cNvPr id="3" name="フッター プレースホルダー 2">
            <a:extLst>
              <a:ext uri="{FF2B5EF4-FFF2-40B4-BE49-F238E27FC236}">
                <a16:creationId xmlns:a16="http://schemas.microsoft.com/office/drawing/2014/main" id="{3F2D5643-A4FB-0007-A6B2-B15D9ADADCB0}"/>
              </a:ext>
            </a:extLst>
          </p:cNvPr>
          <p:cNvSpPr>
            <a:spLocks noGrp="1"/>
          </p:cNvSpPr>
          <p:nvPr>
            <p:ph type="ftr" sz="quarter" idx="11"/>
          </p:nvPr>
        </p:nvSpPr>
        <p:spPr>
          <a:xfrm>
            <a:off x="4038600" y="6403422"/>
            <a:ext cx="4114800" cy="365125"/>
          </a:xfrm>
          <a:prstGeom prst="rect">
            <a:avLst/>
          </a:prstGeom>
        </p:spPr>
        <p:txBody>
          <a:bodyPr/>
          <a:lstStyle/>
          <a:p>
            <a:endParaRPr lang="en-US"/>
          </a:p>
        </p:txBody>
      </p:sp>
      <p:sp>
        <p:nvSpPr>
          <p:cNvPr id="4" name="スライド番号プレースホルダー 3">
            <a:extLst>
              <a:ext uri="{FF2B5EF4-FFF2-40B4-BE49-F238E27FC236}">
                <a16:creationId xmlns:a16="http://schemas.microsoft.com/office/drawing/2014/main" id="{77492AF3-3551-49DF-568C-5FC9E985940E}"/>
              </a:ext>
            </a:extLst>
          </p:cNvPr>
          <p:cNvSpPr>
            <a:spLocks noGrp="1"/>
          </p:cNvSpPr>
          <p:nvPr>
            <p:ph type="sldNum" sz="quarter" idx="12"/>
          </p:nvPr>
        </p:nvSpPr>
        <p:spPr>
          <a:xfrm>
            <a:off x="9448800" y="6435083"/>
            <a:ext cx="2743200" cy="336954"/>
          </a:xfrm>
          <a:prstGeom prst="rect">
            <a:avLst/>
          </a:prstGeom>
        </p:spPr>
        <p:txBody>
          <a:bodyPr/>
          <a:lstStyle/>
          <a:p>
            <a:fld id="{BEF4553F-1DE4-4E24-BEE1-073CD313E6D1}" type="slidenum">
              <a:rPr lang="en-US" smtClean="0"/>
              <a:t>‹#›</a:t>
            </a:fld>
            <a:endParaRPr lang="en-US"/>
          </a:p>
        </p:txBody>
      </p:sp>
    </p:spTree>
    <p:extLst>
      <p:ext uri="{BB962C8B-B14F-4D97-AF65-F5344CB8AC3E}">
        <p14:creationId xmlns:p14="http://schemas.microsoft.com/office/powerpoint/2010/main" val="3578353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5AF62D-9DAB-8987-1F2D-2BE7BCA22457}"/>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7CC09F2-02E8-9596-3A12-1A9C2976FE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9EDB33FE-0FE0-F386-3EC5-9A0D8C52C1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A8F40B8-E601-4887-90D2-AFDC31B29BAA}"/>
              </a:ext>
            </a:extLst>
          </p:cNvPr>
          <p:cNvSpPr>
            <a:spLocks noGrp="1"/>
          </p:cNvSpPr>
          <p:nvPr>
            <p:ph type="dt" sz="half" idx="10"/>
          </p:nvPr>
        </p:nvSpPr>
        <p:spPr>
          <a:xfrm>
            <a:off x="838200" y="5214385"/>
            <a:ext cx="2342322" cy="365125"/>
          </a:xfrm>
          <a:prstGeom prst="rect">
            <a:avLst/>
          </a:prstGeom>
        </p:spPr>
        <p:txBody>
          <a:bodyPr/>
          <a:lstStyle/>
          <a:p>
            <a:endParaRPr lang="en-US"/>
          </a:p>
        </p:txBody>
      </p:sp>
      <p:sp>
        <p:nvSpPr>
          <p:cNvPr id="6" name="フッター プレースホルダー 5">
            <a:extLst>
              <a:ext uri="{FF2B5EF4-FFF2-40B4-BE49-F238E27FC236}">
                <a16:creationId xmlns:a16="http://schemas.microsoft.com/office/drawing/2014/main" id="{12CF4195-E623-F6A5-1C33-36C336F31D27}"/>
              </a:ext>
            </a:extLst>
          </p:cNvPr>
          <p:cNvSpPr>
            <a:spLocks noGrp="1"/>
          </p:cNvSpPr>
          <p:nvPr>
            <p:ph type="ftr" sz="quarter" idx="11"/>
          </p:nvPr>
        </p:nvSpPr>
        <p:spPr>
          <a:xfrm>
            <a:off x="4038600" y="6403422"/>
            <a:ext cx="4114800" cy="365125"/>
          </a:xfrm>
          <a:prstGeom prst="rect">
            <a:avLst/>
          </a:prstGeom>
        </p:spPr>
        <p:txBody>
          <a:bodyPr/>
          <a:lstStyle/>
          <a:p>
            <a:endParaRPr lang="en-US"/>
          </a:p>
        </p:txBody>
      </p:sp>
      <p:sp>
        <p:nvSpPr>
          <p:cNvPr id="7" name="スライド番号プレースホルダー 6">
            <a:extLst>
              <a:ext uri="{FF2B5EF4-FFF2-40B4-BE49-F238E27FC236}">
                <a16:creationId xmlns:a16="http://schemas.microsoft.com/office/drawing/2014/main" id="{4B172DE4-F08E-0B31-8214-56D6C273F146}"/>
              </a:ext>
            </a:extLst>
          </p:cNvPr>
          <p:cNvSpPr>
            <a:spLocks noGrp="1"/>
          </p:cNvSpPr>
          <p:nvPr>
            <p:ph type="sldNum" sz="quarter" idx="12"/>
          </p:nvPr>
        </p:nvSpPr>
        <p:spPr>
          <a:xfrm>
            <a:off x="9448800" y="6435083"/>
            <a:ext cx="2743200" cy="336954"/>
          </a:xfrm>
          <a:prstGeom prst="rect">
            <a:avLst/>
          </a:prstGeom>
        </p:spPr>
        <p:txBody>
          <a:bodyPr/>
          <a:lstStyle/>
          <a:p>
            <a:fld id="{BEF4553F-1DE4-4E24-BEE1-073CD313E6D1}" type="slidenum">
              <a:rPr lang="en-US" smtClean="0"/>
              <a:t>‹#›</a:t>
            </a:fld>
            <a:endParaRPr lang="en-US"/>
          </a:p>
        </p:txBody>
      </p:sp>
    </p:spTree>
    <p:extLst>
      <p:ext uri="{BB962C8B-B14F-4D97-AF65-F5344CB8AC3E}">
        <p14:creationId xmlns:p14="http://schemas.microsoft.com/office/powerpoint/2010/main" val="26342084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B399E6C-4AF1-56DC-C78D-2A1AFDFB722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5483BD10-47AC-E295-59F5-51F9759C97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a:extLst>
              <a:ext uri="{FF2B5EF4-FFF2-40B4-BE49-F238E27FC236}">
                <a16:creationId xmlns:a16="http://schemas.microsoft.com/office/drawing/2014/main" id="{1F3CDA0D-A53D-84C3-4F84-9A70B4F2FD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1C6E6A6-7321-11FD-A80D-ABE4774B307F}"/>
              </a:ext>
            </a:extLst>
          </p:cNvPr>
          <p:cNvSpPr>
            <a:spLocks noGrp="1"/>
          </p:cNvSpPr>
          <p:nvPr>
            <p:ph type="dt" sz="half" idx="10"/>
          </p:nvPr>
        </p:nvSpPr>
        <p:spPr>
          <a:xfrm>
            <a:off x="838200" y="5214385"/>
            <a:ext cx="2342322" cy="365125"/>
          </a:xfrm>
          <a:prstGeom prst="rect">
            <a:avLst/>
          </a:prstGeom>
        </p:spPr>
        <p:txBody>
          <a:bodyPr/>
          <a:lstStyle/>
          <a:p>
            <a:endParaRPr lang="en-US"/>
          </a:p>
        </p:txBody>
      </p:sp>
      <p:sp>
        <p:nvSpPr>
          <p:cNvPr id="6" name="フッター プレースホルダー 5">
            <a:extLst>
              <a:ext uri="{FF2B5EF4-FFF2-40B4-BE49-F238E27FC236}">
                <a16:creationId xmlns:a16="http://schemas.microsoft.com/office/drawing/2014/main" id="{7AA6C2FB-BA12-4CC4-9FE4-BF3D2F575A66}"/>
              </a:ext>
            </a:extLst>
          </p:cNvPr>
          <p:cNvSpPr>
            <a:spLocks noGrp="1"/>
          </p:cNvSpPr>
          <p:nvPr>
            <p:ph type="ftr" sz="quarter" idx="11"/>
          </p:nvPr>
        </p:nvSpPr>
        <p:spPr>
          <a:xfrm>
            <a:off x="4038600" y="6403422"/>
            <a:ext cx="4114800" cy="365125"/>
          </a:xfrm>
          <a:prstGeom prst="rect">
            <a:avLst/>
          </a:prstGeom>
        </p:spPr>
        <p:txBody>
          <a:bodyPr/>
          <a:lstStyle/>
          <a:p>
            <a:endParaRPr lang="en-US"/>
          </a:p>
        </p:txBody>
      </p:sp>
      <p:sp>
        <p:nvSpPr>
          <p:cNvPr id="7" name="スライド番号プレースホルダー 6">
            <a:extLst>
              <a:ext uri="{FF2B5EF4-FFF2-40B4-BE49-F238E27FC236}">
                <a16:creationId xmlns:a16="http://schemas.microsoft.com/office/drawing/2014/main" id="{58289214-C108-04EE-3E7D-53A0088B7A83}"/>
              </a:ext>
            </a:extLst>
          </p:cNvPr>
          <p:cNvSpPr>
            <a:spLocks noGrp="1"/>
          </p:cNvSpPr>
          <p:nvPr>
            <p:ph type="sldNum" sz="quarter" idx="12"/>
          </p:nvPr>
        </p:nvSpPr>
        <p:spPr>
          <a:xfrm>
            <a:off x="9448800" y="6435083"/>
            <a:ext cx="2743200" cy="336954"/>
          </a:xfrm>
          <a:prstGeom prst="rect">
            <a:avLst/>
          </a:prstGeom>
        </p:spPr>
        <p:txBody>
          <a:bodyPr/>
          <a:lstStyle/>
          <a:p>
            <a:fld id="{BEF4553F-1DE4-4E24-BEE1-073CD313E6D1}" type="slidenum">
              <a:rPr lang="en-US" smtClean="0"/>
              <a:t>‹#›</a:t>
            </a:fld>
            <a:endParaRPr lang="en-US"/>
          </a:p>
        </p:txBody>
      </p:sp>
    </p:spTree>
    <p:extLst>
      <p:ext uri="{BB962C8B-B14F-4D97-AF65-F5344CB8AC3E}">
        <p14:creationId xmlns:p14="http://schemas.microsoft.com/office/powerpoint/2010/main" val="2571336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0204B8-D138-A162-FF8F-1EFD4C0A3E4F}"/>
              </a:ext>
            </a:extLst>
          </p:cNvPr>
          <p:cNvSpPr>
            <a:spLocks noGrp="1"/>
          </p:cNvSpPr>
          <p:nvPr>
            <p:ph type="title"/>
          </p:nvPr>
        </p:nvSpPr>
        <p:spPr>
          <a:xfrm>
            <a:off x="838200" y="445085"/>
            <a:ext cx="10515600" cy="471903"/>
          </a:xfrm>
          <a:prstGeom prst="rect">
            <a:avLst/>
          </a:prstGeom>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389A882-B3CB-BC85-E290-68948F8BD707}"/>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4EA070F-91AE-B0C4-8CD9-8DA1ED16ED22}"/>
              </a:ext>
            </a:extLst>
          </p:cNvPr>
          <p:cNvSpPr>
            <a:spLocks noGrp="1"/>
          </p:cNvSpPr>
          <p:nvPr>
            <p:ph type="dt" sz="half" idx="10"/>
          </p:nvPr>
        </p:nvSpPr>
        <p:spPr>
          <a:xfrm>
            <a:off x="838200" y="5214385"/>
            <a:ext cx="2342322" cy="365125"/>
          </a:xfrm>
          <a:prstGeom prst="rect">
            <a:avLst/>
          </a:prstGeom>
        </p:spPr>
        <p:txBody>
          <a:bodyPr/>
          <a:lstStyle/>
          <a:p>
            <a:endParaRPr lang="en-US"/>
          </a:p>
        </p:txBody>
      </p:sp>
      <p:sp>
        <p:nvSpPr>
          <p:cNvPr id="5" name="フッター プレースホルダー 4">
            <a:extLst>
              <a:ext uri="{FF2B5EF4-FFF2-40B4-BE49-F238E27FC236}">
                <a16:creationId xmlns:a16="http://schemas.microsoft.com/office/drawing/2014/main" id="{AE969D91-4A88-94A5-E11D-D76FD8FF318B}"/>
              </a:ext>
            </a:extLst>
          </p:cNvPr>
          <p:cNvSpPr>
            <a:spLocks noGrp="1"/>
          </p:cNvSpPr>
          <p:nvPr>
            <p:ph type="ftr" sz="quarter" idx="11"/>
          </p:nvPr>
        </p:nvSpPr>
        <p:spPr>
          <a:xfrm>
            <a:off x="4038600" y="6403422"/>
            <a:ext cx="4114800" cy="365125"/>
          </a:xfrm>
          <a:prstGeom prst="rect">
            <a:avLst/>
          </a:prstGeom>
        </p:spPr>
        <p:txBody>
          <a:bodyPr/>
          <a:lstStyle/>
          <a:p>
            <a:endParaRPr lang="en-US"/>
          </a:p>
        </p:txBody>
      </p:sp>
      <p:sp>
        <p:nvSpPr>
          <p:cNvPr id="6" name="スライド番号プレースホルダー 5">
            <a:extLst>
              <a:ext uri="{FF2B5EF4-FFF2-40B4-BE49-F238E27FC236}">
                <a16:creationId xmlns:a16="http://schemas.microsoft.com/office/drawing/2014/main" id="{6576BFD8-FCBD-3500-E08F-FE6DF0810952}"/>
              </a:ext>
            </a:extLst>
          </p:cNvPr>
          <p:cNvSpPr>
            <a:spLocks noGrp="1"/>
          </p:cNvSpPr>
          <p:nvPr>
            <p:ph type="sldNum" sz="quarter" idx="12"/>
          </p:nvPr>
        </p:nvSpPr>
        <p:spPr>
          <a:xfrm>
            <a:off x="9448800" y="6435083"/>
            <a:ext cx="2743200" cy="336954"/>
          </a:xfrm>
          <a:prstGeom prst="rect">
            <a:avLst/>
          </a:prstGeom>
        </p:spPr>
        <p:txBody>
          <a:bodyPr/>
          <a:lstStyle/>
          <a:p>
            <a:fld id="{BEF4553F-1DE4-4E24-BEE1-073CD313E6D1}" type="slidenum">
              <a:rPr lang="en-US" smtClean="0"/>
              <a:t>‹#›</a:t>
            </a:fld>
            <a:endParaRPr lang="en-US"/>
          </a:p>
        </p:txBody>
      </p:sp>
    </p:spTree>
    <p:extLst>
      <p:ext uri="{BB962C8B-B14F-4D97-AF65-F5344CB8AC3E}">
        <p14:creationId xmlns:p14="http://schemas.microsoft.com/office/powerpoint/2010/main" val="39052204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FA0F1FD-71EB-0311-AE68-0F8BB13729F3}"/>
              </a:ext>
            </a:extLst>
          </p:cNvPr>
          <p:cNvSpPr>
            <a:spLocks noGrp="1"/>
          </p:cNvSpPr>
          <p:nvPr>
            <p:ph type="title" orient="vert"/>
          </p:nvPr>
        </p:nvSpPr>
        <p:spPr>
          <a:xfrm>
            <a:off x="8724900" y="365125"/>
            <a:ext cx="2628900" cy="5811838"/>
          </a:xfrm>
          <a:prstGeom prst="rect">
            <a:avLst/>
          </a:prstGeo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C552465-3837-ADAA-30F4-3253FFDAF819}"/>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C36F6F5-4D5A-118C-5DE7-3450160BC74B}"/>
              </a:ext>
            </a:extLst>
          </p:cNvPr>
          <p:cNvSpPr>
            <a:spLocks noGrp="1"/>
          </p:cNvSpPr>
          <p:nvPr>
            <p:ph type="dt" sz="half" idx="10"/>
          </p:nvPr>
        </p:nvSpPr>
        <p:spPr>
          <a:xfrm>
            <a:off x="838200" y="5214385"/>
            <a:ext cx="2342322" cy="365125"/>
          </a:xfrm>
          <a:prstGeom prst="rect">
            <a:avLst/>
          </a:prstGeom>
        </p:spPr>
        <p:txBody>
          <a:bodyPr/>
          <a:lstStyle/>
          <a:p>
            <a:endParaRPr lang="en-US"/>
          </a:p>
        </p:txBody>
      </p:sp>
      <p:sp>
        <p:nvSpPr>
          <p:cNvPr id="5" name="フッター プレースホルダー 4">
            <a:extLst>
              <a:ext uri="{FF2B5EF4-FFF2-40B4-BE49-F238E27FC236}">
                <a16:creationId xmlns:a16="http://schemas.microsoft.com/office/drawing/2014/main" id="{641FC3E9-4AAB-8D0E-9706-C928B0CE5EE8}"/>
              </a:ext>
            </a:extLst>
          </p:cNvPr>
          <p:cNvSpPr>
            <a:spLocks noGrp="1"/>
          </p:cNvSpPr>
          <p:nvPr>
            <p:ph type="ftr" sz="quarter" idx="11"/>
          </p:nvPr>
        </p:nvSpPr>
        <p:spPr>
          <a:xfrm>
            <a:off x="4038600" y="6403422"/>
            <a:ext cx="4114800" cy="365125"/>
          </a:xfrm>
          <a:prstGeom prst="rect">
            <a:avLst/>
          </a:prstGeom>
        </p:spPr>
        <p:txBody>
          <a:bodyPr/>
          <a:lstStyle/>
          <a:p>
            <a:endParaRPr lang="en-US"/>
          </a:p>
        </p:txBody>
      </p:sp>
      <p:sp>
        <p:nvSpPr>
          <p:cNvPr id="6" name="スライド番号プレースホルダー 5">
            <a:extLst>
              <a:ext uri="{FF2B5EF4-FFF2-40B4-BE49-F238E27FC236}">
                <a16:creationId xmlns:a16="http://schemas.microsoft.com/office/drawing/2014/main" id="{0A044FD4-6F2F-AB75-42E2-79EB93D855DB}"/>
              </a:ext>
            </a:extLst>
          </p:cNvPr>
          <p:cNvSpPr>
            <a:spLocks noGrp="1"/>
          </p:cNvSpPr>
          <p:nvPr>
            <p:ph type="sldNum" sz="quarter" idx="12"/>
          </p:nvPr>
        </p:nvSpPr>
        <p:spPr>
          <a:xfrm>
            <a:off x="9448800" y="6435083"/>
            <a:ext cx="2743200" cy="336954"/>
          </a:xfrm>
          <a:prstGeom prst="rect">
            <a:avLst/>
          </a:prstGeom>
        </p:spPr>
        <p:txBody>
          <a:bodyPr/>
          <a:lstStyle/>
          <a:p>
            <a:fld id="{BEF4553F-1DE4-4E24-BEE1-073CD313E6D1}" type="slidenum">
              <a:rPr lang="en-US" smtClean="0"/>
              <a:t>‹#›</a:t>
            </a:fld>
            <a:endParaRPr lang="en-US"/>
          </a:p>
        </p:txBody>
      </p:sp>
    </p:spTree>
    <p:extLst>
      <p:ext uri="{BB962C8B-B14F-4D97-AF65-F5344CB8AC3E}">
        <p14:creationId xmlns:p14="http://schemas.microsoft.com/office/powerpoint/2010/main" val="3329232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B49183-9B87-300D-2667-E1BB71E1D1D6}"/>
              </a:ext>
            </a:extLst>
          </p:cNvPr>
          <p:cNvSpPr>
            <a:spLocks noGrp="1"/>
          </p:cNvSpPr>
          <p:nvPr>
            <p:ph type="title"/>
          </p:nvPr>
        </p:nvSpPr>
        <p:spPr>
          <a:xfrm>
            <a:off x="838200" y="445085"/>
            <a:ext cx="10515600" cy="471903"/>
          </a:xfrm>
          <a:prstGeom prst="rect">
            <a:avLst/>
          </a:prstGeom>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F6C7901-2AE4-A5E7-7281-07C8CFEC39DA}"/>
              </a:ext>
            </a:extLst>
          </p:cNvPr>
          <p:cNvSpPr>
            <a:spLocks noGrp="1"/>
          </p:cNvSpPr>
          <p:nvPr>
            <p:ph type="dt" sz="half" idx="10"/>
          </p:nvPr>
        </p:nvSpPr>
        <p:spPr>
          <a:xfrm>
            <a:off x="838200" y="5214385"/>
            <a:ext cx="2342322" cy="365125"/>
          </a:xfrm>
          <a:prstGeom prst="rect">
            <a:avLst/>
          </a:prstGeom>
        </p:spPr>
        <p:txBody>
          <a:bodyPr/>
          <a:lstStyle/>
          <a:p>
            <a:endParaRPr lang="en-US"/>
          </a:p>
        </p:txBody>
      </p:sp>
      <p:sp>
        <p:nvSpPr>
          <p:cNvPr id="4" name="フッター プレースホルダー 3">
            <a:extLst>
              <a:ext uri="{FF2B5EF4-FFF2-40B4-BE49-F238E27FC236}">
                <a16:creationId xmlns:a16="http://schemas.microsoft.com/office/drawing/2014/main" id="{7CEEFF8A-802E-2F12-B847-CA17C25EA3D1}"/>
              </a:ext>
            </a:extLst>
          </p:cNvPr>
          <p:cNvSpPr>
            <a:spLocks noGrp="1"/>
          </p:cNvSpPr>
          <p:nvPr>
            <p:ph type="ftr" sz="quarter" idx="11"/>
          </p:nvPr>
        </p:nvSpPr>
        <p:spPr>
          <a:xfrm>
            <a:off x="4038600" y="6403422"/>
            <a:ext cx="4114800" cy="365125"/>
          </a:xfrm>
          <a:prstGeom prst="rect">
            <a:avLst/>
          </a:prstGeom>
        </p:spPr>
        <p:txBody>
          <a:bodyPr/>
          <a:lstStyle/>
          <a:p>
            <a:endParaRPr lang="en-US"/>
          </a:p>
        </p:txBody>
      </p:sp>
      <p:sp>
        <p:nvSpPr>
          <p:cNvPr id="5" name="スライド番号プレースホルダー 4">
            <a:extLst>
              <a:ext uri="{FF2B5EF4-FFF2-40B4-BE49-F238E27FC236}">
                <a16:creationId xmlns:a16="http://schemas.microsoft.com/office/drawing/2014/main" id="{681A33D0-9E43-DD16-F44A-3FB2FD3B449A}"/>
              </a:ext>
            </a:extLst>
          </p:cNvPr>
          <p:cNvSpPr>
            <a:spLocks noGrp="1"/>
          </p:cNvSpPr>
          <p:nvPr>
            <p:ph type="sldNum" sz="quarter" idx="12"/>
          </p:nvPr>
        </p:nvSpPr>
        <p:spPr>
          <a:xfrm>
            <a:off x="9448800" y="6435083"/>
            <a:ext cx="2743200" cy="336954"/>
          </a:xfrm>
          <a:prstGeom prst="rect">
            <a:avLst/>
          </a:prstGeom>
        </p:spPr>
        <p:txBody>
          <a:bodyPr/>
          <a:lstStyle/>
          <a:p>
            <a:fld id="{BEF4553F-1DE4-4E24-BEE1-073CD313E6D1}" type="slidenum">
              <a:rPr lang="en-US" smtClean="0"/>
              <a:t>‹#›</a:t>
            </a:fld>
            <a:endParaRPr lang="en-US"/>
          </a:p>
        </p:txBody>
      </p:sp>
    </p:spTree>
    <p:extLst>
      <p:ext uri="{BB962C8B-B14F-4D97-AF65-F5344CB8AC3E}">
        <p14:creationId xmlns:p14="http://schemas.microsoft.com/office/powerpoint/2010/main" val="30164470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BBA55F-4E0A-F552-ECC2-7BF1F436EF83}"/>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3A63FDC-E9B1-9F1B-2D1E-2A9B07D164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A16A9685-26CE-B008-2B2E-A8758DA8F053}"/>
              </a:ext>
            </a:extLst>
          </p:cNvPr>
          <p:cNvSpPr>
            <a:spLocks noGrp="1"/>
          </p:cNvSpPr>
          <p:nvPr>
            <p:ph type="dt" sz="half" idx="10"/>
          </p:nvPr>
        </p:nvSpPr>
        <p:spPr/>
        <p:txBody>
          <a:bodyPr/>
          <a:lstStyle/>
          <a:p>
            <a:endParaRPr kumimoji="1" lang="ja-JP" altLang="en-US"/>
          </a:p>
        </p:txBody>
      </p:sp>
      <p:sp>
        <p:nvSpPr>
          <p:cNvPr id="5" name="フッター プレースホルダー 4">
            <a:extLst>
              <a:ext uri="{FF2B5EF4-FFF2-40B4-BE49-F238E27FC236}">
                <a16:creationId xmlns:a16="http://schemas.microsoft.com/office/drawing/2014/main" id="{3B39C84F-5A23-BE70-EEA6-1E6D2B29F31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001EB47-2B43-B682-0AA1-A259FCF4616B}"/>
              </a:ext>
            </a:extLst>
          </p:cNvPr>
          <p:cNvSpPr>
            <a:spLocks noGrp="1"/>
          </p:cNvSpPr>
          <p:nvPr>
            <p:ph type="sldNum" sz="quarter" idx="12"/>
          </p:nvPr>
        </p:nvSpPr>
        <p:spPr/>
        <p:txBody>
          <a:bodyPr/>
          <a:lstStyle/>
          <a:p>
            <a:fld id="{6B7FA74C-7B4C-4303-BA46-9441479F9E70}" type="slidenum">
              <a:rPr kumimoji="1" lang="ja-JP" altLang="en-US" smtClean="0"/>
              <a:t>‹#›</a:t>
            </a:fld>
            <a:endParaRPr kumimoji="1" lang="ja-JP" altLang="en-US"/>
          </a:p>
        </p:txBody>
      </p:sp>
    </p:spTree>
    <p:extLst>
      <p:ext uri="{BB962C8B-B14F-4D97-AF65-F5344CB8AC3E}">
        <p14:creationId xmlns:p14="http://schemas.microsoft.com/office/powerpoint/2010/main" val="30367788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FB0AFA-E620-2906-03DF-82251DE0346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E6D4B80-9C0D-7F73-41E7-E96E2BDA7230}"/>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24641DE-5CBD-6EA8-0CF5-F07B7BE5D69E}"/>
              </a:ext>
            </a:extLst>
          </p:cNvPr>
          <p:cNvSpPr>
            <a:spLocks noGrp="1"/>
          </p:cNvSpPr>
          <p:nvPr>
            <p:ph type="dt" sz="half" idx="10"/>
          </p:nvPr>
        </p:nvSpPr>
        <p:spPr/>
        <p:txBody>
          <a:bodyPr/>
          <a:lstStyle/>
          <a:p>
            <a:endParaRPr kumimoji="1" lang="ja-JP" altLang="en-US"/>
          </a:p>
        </p:txBody>
      </p:sp>
      <p:sp>
        <p:nvSpPr>
          <p:cNvPr id="5" name="フッター プレースホルダー 4">
            <a:extLst>
              <a:ext uri="{FF2B5EF4-FFF2-40B4-BE49-F238E27FC236}">
                <a16:creationId xmlns:a16="http://schemas.microsoft.com/office/drawing/2014/main" id="{A8CB28F7-255E-4E61-71AF-0B297749DD0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B7DD805-5607-F327-2D94-0F6B3F1D762D}"/>
              </a:ext>
            </a:extLst>
          </p:cNvPr>
          <p:cNvSpPr>
            <a:spLocks noGrp="1"/>
          </p:cNvSpPr>
          <p:nvPr>
            <p:ph type="sldNum" sz="quarter" idx="12"/>
          </p:nvPr>
        </p:nvSpPr>
        <p:spPr/>
        <p:txBody>
          <a:bodyPr/>
          <a:lstStyle/>
          <a:p>
            <a:fld id="{6B7FA74C-7B4C-4303-BA46-9441479F9E70}" type="slidenum">
              <a:rPr kumimoji="1" lang="ja-JP" altLang="en-US" smtClean="0"/>
              <a:t>‹#›</a:t>
            </a:fld>
            <a:endParaRPr kumimoji="1" lang="ja-JP" altLang="en-US"/>
          </a:p>
        </p:txBody>
      </p:sp>
    </p:spTree>
    <p:extLst>
      <p:ext uri="{BB962C8B-B14F-4D97-AF65-F5344CB8AC3E}">
        <p14:creationId xmlns:p14="http://schemas.microsoft.com/office/powerpoint/2010/main" val="20581961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B96DAE-14F9-8BFB-FADF-75F62076581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80801AE-528C-ABBD-D2F6-9BF75B769AD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122B0944-C2D4-C79D-425E-E937C10B236A}"/>
              </a:ext>
            </a:extLst>
          </p:cNvPr>
          <p:cNvSpPr>
            <a:spLocks noGrp="1"/>
          </p:cNvSpPr>
          <p:nvPr>
            <p:ph type="dt" sz="half" idx="10"/>
          </p:nvPr>
        </p:nvSpPr>
        <p:spPr/>
        <p:txBody>
          <a:bodyPr/>
          <a:lstStyle/>
          <a:p>
            <a:endParaRPr kumimoji="1" lang="ja-JP" altLang="en-US"/>
          </a:p>
        </p:txBody>
      </p:sp>
      <p:sp>
        <p:nvSpPr>
          <p:cNvPr id="5" name="フッター プレースホルダー 4">
            <a:extLst>
              <a:ext uri="{FF2B5EF4-FFF2-40B4-BE49-F238E27FC236}">
                <a16:creationId xmlns:a16="http://schemas.microsoft.com/office/drawing/2014/main" id="{DA896BF7-324D-B0A3-9BD8-CE383EA438F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16D3231-F577-68B6-0DB6-2E25A19CC2E7}"/>
              </a:ext>
            </a:extLst>
          </p:cNvPr>
          <p:cNvSpPr>
            <a:spLocks noGrp="1"/>
          </p:cNvSpPr>
          <p:nvPr>
            <p:ph type="sldNum" sz="quarter" idx="12"/>
          </p:nvPr>
        </p:nvSpPr>
        <p:spPr/>
        <p:txBody>
          <a:bodyPr/>
          <a:lstStyle/>
          <a:p>
            <a:fld id="{6B7FA74C-7B4C-4303-BA46-9441479F9E70}" type="slidenum">
              <a:rPr kumimoji="1" lang="ja-JP" altLang="en-US" smtClean="0"/>
              <a:t>‹#›</a:t>
            </a:fld>
            <a:endParaRPr kumimoji="1" lang="ja-JP" altLang="en-US"/>
          </a:p>
        </p:txBody>
      </p:sp>
    </p:spTree>
    <p:extLst>
      <p:ext uri="{BB962C8B-B14F-4D97-AF65-F5344CB8AC3E}">
        <p14:creationId xmlns:p14="http://schemas.microsoft.com/office/powerpoint/2010/main" val="312027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3240E1-323A-FE03-1228-75201CC53DC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DA81785-D3C3-22CA-8037-31DB85DEFAEA}"/>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38CBF488-DAFF-D02D-F7A1-F9A26C4E6960}"/>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F99D192A-1F49-9C0A-086C-3F0E17F01594}"/>
              </a:ext>
            </a:extLst>
          </p:cNvPr>
          <p:cNvSpPr>
            <a:spLocks noGrp="1"/>
          </p:cNvSpPr>
          <p:nvPr>
            <p:ph type="dt" sz="half" idx="10"/>
          </p:nvPr>
        </p:nvSpPr>
        <p:spPr/>
        <p:txBody>
          <a:bodyPr/>
          <a:lstStyle/>
          <a:p>
            <a:endParaRPr kumimoji="1" lang="ja-JP" altLang="en-US"/>
          </a:p>
        </p:txBody>
      </p:sp>
      <p:sp>
        <p:nvSpPr>
          <p:cNvPr id="6" name="フッター プレースホルダー 5">
            <a:extLst>
              <a:ext uri="{FF2B5EF4-FFF2-40B4-BE49-F238E27FC236}">
                <a16:creationId xmlns:a16="http://schemas.microsoft.com/office/drawing/2014/main" id="{DCF816D1-E94F-5A43-6050-219014C6906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7E15122-7074-5621-846F-BADDD7631A82}"/>
              </a:ext>
            </a:extLst>
          </p:cNvPr>
          <p:cNvSpPr>
            <a:spLocks noGrp="1"/>
          </p:cNvSpPr>
          <p:nvPr>
            <p:ph type="sldNum" sz="quarter" idx="12"/>
          </p:nvPr>
        </p:nvSpPr>
        <p:spPr/>
        <p:txBody>
          <a:bodyPr/>
          <a:lstStyle/>
          <a:p>
            <a:fld id="{6B7FA74C-7B4C-4303-BA46-9441479F9E70}" type="slidenum">
              <a:rPr kumimoji="1" lang="ja-JP" altLang="en-US" smtClean="0"/>
              <a:t>‹#›</a:t>
            </a:fld>
            <a:endParaRPr kumimoji="1" lang="ja-JP" altLang="en-US"/>
          </a:p>
        </p:txBody>
      </p:sp>
    </p:spTree>
    <p:extLst>
      <p:ext uri="{BB962C8B-B14F-4D97-AF65-F5344CB8AC3E}">
        <p14:creationId xmlns:p14="http://schemas.microsoft.com/office/powerpoint/2010/main" val="32363444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5ACD912-7EF0-5A70-1238-20D78D1C2D4D}"/>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82DCB3F-B581-7EBC-BE8D-8F13A00C42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18A49D2D-8035-2B05-1F66-863119795724}"/>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5DAB6CDA-9D8E-CF83-49BD-65F8AB8D3F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792F7833-C771-9E57-F2F0-D5014384A7E9}"/>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3E38AAE9-AA0D-7283-CC40-9629E642C3B9}"/>
              </a:ext>
            </a:extLst>
          </p:cNvPr>
          <p:cNvSpPr>
            <a:spLocks noGrp="1"/>
          </p:cNvSpPr>
          <p:nvPr>
            <p:ph type="dt" sz="half" idx="10"/>
          </p:nvPr>
        </p:nvSpPr>
        <p:spPr/>
        <p:txBody>
          <a:bodyPr/>
          <a:lstStyle/>
          <a:p>
            <a:endParaRPr kumimoji="1" lang="ja-JP" altLang="en-US"/>
          </a:p>
        </p:txBody>
      </p:sp>
      <p:sp>
        <p:nvSpPr>
          <p:cNvPr id="8" name="フッター プレースホルダー 7">
            <a:extLst>
              <a:ext uri="{FF2B5EF4-FFF2-40B4-BE49-F238E27FC236}">
                <a16:creationId xmlns:a16="http://schemas.microsoft.com/office/drawing/2014/main" id="{23A4E6E0-6C4C-D35C-1BAD-8E0A94FA06D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71E9A9F-B9E1-42A4-EDC5-EAEBE592E7EC}"/>
              </a:ext>
            </a:extLst>
          </p:cNvPr>
          <p:cNvSpPr>
            <a:spLocks noGrp="1"/>
          </p:cNvSpPr>
          <p:nvPr>
            <p:ph type="sldNum" sz="quarter" idx="12"/>
          </p:nvPr>
        </p:nvSpPr>
        <p:spPr/>
        <p:txBody>
          <a:bodyPr/>
          <a:lstStyle/>
          <a:p>
            <a:fld id="{6B7FA74C-7B4C-4303-BA46-9441479F9E70}" type="slidenum">
              <a:rPr kumimoji="1" lang="ja-JP" altLang="en-US" smtClean="0"/>
              <a:t>‹#›</a:t>
            </a:fld>
            <a:endParaRPr kumimoji="1" lang="ja-JP" altLang="en-US"/>
          </a:p>
        </p:txBody>
      </p:sp>
    </p:spTree>
    <p:extLst>
      <p:ext uri="{BB962C8B-B14F-4D97-AF65-F5344CB8AC3E}">
        <p14:creationId xmlns:p14="http://schemas.microsoft.com/office/powerpoint/2010/main" val="1376705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E80FFA-E654-07C9-0D33-2CE5B963E5B6}"/>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C672820-9D5F-4438-8131-21684623A4F4}"/>
              </a:ext>
            </a:extLst>
          </p:cNvPr>
          <p:cNvSpPr>
            <a:spLocks noGrp="1"/>
          </p:cNvSpPr>
          <p:nvPr>
            <p:ph type="dt" sz="half" idx="10"/>
          </p:nvPr>
        </p:nvSpPr>
        <p:spPr/>
        <p:txBody>
          <a:bodyPr/>
          <a:lstStyle/>
          <a:p>
            <a:endParaRPr kumimoji="1" lang="ja-JP" altLang="en-US"/>
          </a:p>
        </p:txBody>
      </p:sp>
      <p:sp>
        <p:nvSpPr>
          <p:cNvPr id="4" name="フッター プレースホルダー 3">
            <a:extLst>
              <a:ext uri="{FF2B5EF4-FFF2-40B4-BE49-F238E27FC236}">
                <a16:creationId xmlns:a16="http://schemas.microsoft.com/office/drawing/2014/main" id="{DF6289D4-9122-2B52-2CD6-CAEE5E446C69}"/>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C94DDE58-2420-E797-FF02-C77047100C46}"/>
              </a:ext>
            </a:extLst>
          </p:cNvPr>
          <p:cNvSpPr>
            <a:spLocks noGrp="1"/>
          </p:cNvSpPr>
          <p:nvPr>
            <p:ph type="sldNum" sz="quarter" idx="12"/>
          </p:nvPr>
        </p:nvSpPr>
        <p:spPr/>
        <p:txBody>
          <a:bodyPr/>
          <a:lstStyle/>
          <a:p>
            <a:fld id="{6B7FA74C-7B4C-4303-BA46-9441479F9E70}" type="slidenum">
              <a:rPr kumimoji="1" lang="ja-JP" altLang="en-US" smtClean="0"/>
              <a:t>‹#›</a:t>
            </a:fld>
            <a:endParaRPr kumimoji="1" lang="ja-JP" altLang="en-US"/>
          </a:p>
        </p:txBody>
      </p:sp>
    </p:spTree>
    <p:extLst>
      <p:ext uri="{BB962C8B-B14F-4D97-AF65-F5344CB8AC3E}">
        <p14:creationId xmlns:p14="http://schemas.microsoft.com/office/powerpoint/2010/main" val="16205307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D722759D-4141-946E-5206-B6C2F5718062}"/>
              </a:ext>
            </a:extLst>
          </p:cNvPr>
          <p:cNvSpPr>
            <a:spLocks noGrp="1"/>
          </p:cNvSpPr>
          <p:nvPr>
            <p:ph type="dt" sz="half" idx="10"/>
          </p:nvPr>
        </p:nvSpPr>
        <p:spPr/>
        <p:txBody>
          <a:bodyPr/>
          <a:lstStyle/>
          <a:p>
            <a:endParaRPr kumimoji="1" lang="ja-JP" altLang="en-US"/>
          </a:p>
        </p:txBody>
      </p:sp>
      <p:sp>
        <p:nvSpPr>
          <p:cNvPr id="3" name="フッター プレースホルダー 2">
            <a:extLst>
              <a:ext uri="{FF2B5EF4-FFF2-40B4-BE49-F238E27FC236}">
                <a16:creationId xmlns:a16="http://schemas.microsoft.com/office/drawing/2014/main" id="{B0DE014D-67D8-4A2E-CE69-00A799AA85B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DBDC45E-DA5A-E69F-E777-3BCCD09F30B2}"/>
              </a:ext>
            </a:extLst>
          </p:cNvPr>
          <p:cNvSpPr>
            <a:spLocks noGrp="1"/>
          </p:cNvSpPr>
          <p:nvPr>
            <p:ph type="sldNum" sz="quarter" idx="12"/>
          </p:nvPr>
        </p:nvSpPr>
        <p:spPr/>
        <p:txBody>
          <a:bodyPr/>
          <a:lstStyle/>
          <a:p>
            <a:fld id="{6B7FA74C-7B4C-4303-BA46-9441479F9E70}" type="slidenum">
              <a:rPr kumimoji="1" lang="ja-JP" altLang="en-US" smtClean="0"/>
              <a:t>‹#›</a:t>
            </a:fld>
            <a:endParaRPr kumimoji="1" lang="ja-JP" altLang="en-US"/>
          </a:p>
        </p:txBody>
      </p:sp>
    </p:spTree>
    <p:extLst>
      <p:ext uri="{BB962C8B-B14F-4D97-AF65-F5344CB8AC3E}">
        <p14:creationId xmlns:p14="http://schemas.microsoft.com/office/powerpoint/2010/main" val="10893916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73F887-6241-D7BF-E318-15B36874990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7F1DDE-72FD-624F-2D5E-44AECADA55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3A2A95EB-7E1C-AE97-AB50-3C06E5F17C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927643D-1D00-7E67-27BA-DD429C4705F9}"/>
              </a:ext>
            </a:extLst>
          </p:cNvPr>
          <p:cNvSpPr>
            <a:spLocks noGrp="1"/>
          </p:cNvSpPr>
          <p:nvPr>
            <p:ph type="dt" sz="half" idx="10"/>
          </p:nvPr>
        </p:nvSpPr>
        <p:spPr/>
        <p:txBody>
          <a:bodyPr/>
          <a:lstStyle/>
          <a:p>
            <a:endParaRPr kumimoji="1" lang="ja-JP" altLang="en-US"/>
          </a:p>
        </p:txBody>
      </p:sp>
      <p:sp>
        <p:nvSpPr>
          <p:cNvPr id="6" name="フッター プレースホルダー 5">
            <a:extLst>
              <a:ext uri="{FF2B5EF4-FFF2-40B4-BE49-F238E27FC236}">
                <a16:creationId xmlns:a16="http://schemas.microsoft.com/office/drawing/2014/main" id="{FFB22034-AEFF-2626-AC15-BC3C4907249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D925646-BFEB-F239-4EF6-165BDA1D04ED}"/>
              </a:ext>
            </a:extLst>
          </p:cNvPr>
          <p:cNvSpPr>
            <a:spLocks noGrp="1"/>
          </p:cNvSpPr>
          <p:nvPr>
            <p:ph type="sldNum" sz="quarter" idx="12"/>
          </p:nvPr>
        </p:nvSpPr>
        <p:spPr/>
        <p:txBody>
          <a:bodyPr/>
          <a:lstStyle/>
          <a:p>
            <a:fld id="{6B7FA74C-7B4C-4303-BA46-9441479F9E70}" type="slidenum">
              <a:rPr kumimoji="1" lang="ja-JP" altLang="en-US" smtClean="0"/>
              <a:t>‹#›</a:t>
            </a:fld>
            <a:endParaRPr kumimoji="1" lang="ja-JP" altLang="en-US"/>
          </a:p>
        </p:txBody>
      </p:sp>
    </p:spTree>
    <p:extLst>
      <p:ext uri="{BB962C8B-B14F-4D97-AF65-F5344CB8AC3E}">
        <p14:creationId xmlns:p14="http://schemas.microsoft.com/office/powerpoint/2010/main" val="1650635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C79273-23D0-AF36-F123-9567161497C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442A8400-AF25-8997-87B4-5BF7FC9B2E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a:extLst>
              <a:ext uri="{FF2B5EF4-FFF2-40B4-BE49-F238E27FC236}">
                <a16:creationId xmlns:a16="http://schemas.microsoft.com/office/drawing/2014/main" id="{1634DDB6-D585-4F66-7564-8EEEA2A6D7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AD0BB00-2199-3A62-5C7C-7C3750818555}"/>
              </a:ext>
            </a:extLst>
          </p:cNvPr>
          <p:cNvSpPr>
            <a:spLocks noGrp="1"/>
          </p:cNvSpPr>
          <p:nvPr>
            <p:ph type="dt" sz="half" idx="10"/>
          </p:nvPr>
        </p:nvSpPr>
        <p:spPr/>
        <p:txBody>
          <a:bodyPr/>
          <a:lstStyle/>
          <a:p>
            <a:endParaRPr kumimoji="1" lang="ja-JP" altLang="en-US"/>
          </a:p>
        </p:txBody>
      </p:sp>
      <p:sp>
        <p:nvSpPr>
          <p:cNvPr id="6" name="フッター プレースホルダー 5">
            <a:extLst>
              <a:ext uri="{FF2B5EF4-FFF2-40B4-BE49-F238E27FC236}">
                <a16:creationId xmlns:a16="http://schemas.microsoft.com/office/drawing/2014/main" id="{B9B2A271-FDDC-1C85-C4BD-8B85E05CCB5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9735E38-CE41-A39E-7CA1-211339B2030F}"/>
              </a:ext>
            </a:extLst>
          </p:cNvPr>
          <p:cNvSpPr>
            <a:spLocks noGrp="1"/>
          </p:cNvSpPr>
          <p:nvPr>
            <p:ph type="sldNum" sz="quarter" idx="12"/>
          </p:nvPr>
        </p:nvSpPr>
        <p:spPr/>
        <p:txBody>
          <a:bodyPr/>
          <a:lstStyle/>
          <a:p>
            <a:fld id="{6B7FA74C-7B4C-4303-BA46-9441479F9E70}" type="slidenum">
              <a:rPr kumimoji="1" lang="ja-JP" altLang="en-US" smtClean="0"/>
              <a:t>‹#›</a:t>
            </a:fld>
            <a:endParaRPr kumimoji="1" lang="ja-JP" altLang="en-US"/>
          </a:p>
        </p:txBody>
      </p:sp>
    </p:spTree>
    <p:extLst>
      <p:ext uri="{BB962C8B-B14F-4D97-AF65-F5344CB8AC3E}">
        <p14:creationId xmlns:p14="http://schemas.microsoft.com/office/powerpoint/2010/main" val="11155028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588546-F641-FAC3-6388-F8ED47D7C2E2}"/>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0865B1B-5465-23B6-F0F7-B59B23C21324}"/>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AAE172C-3980-153E-6143-661692B78D9B}"/>
              </a:ext>
            </a:extLst>
          </p:cNvPr>
          <p:cNvSpPr>
            <a:spLocks noGrp="1"/>
          </p:cNvSpPr>
          <p:nvPr>
            <p:ph type="dt" sz="half" idx="10"/>
          </p:nvPr>
        </p:nvSpPr>
        <p:spPr/>
        <p:txBody>
          <a:bodyPr/>
          <a:lstStyle/>
          <a:p>
            <a:endParaRPr kumimoji="1" lang="ja-JP" altLang="en-US"/>
          </a:p>
        </p:txBody>
      </p:sp>
      <p:sp>
        <p:nvSpPr>
          <p:cNvPr id="5" name="フッター プレースホルダー 4">
            <a:extLst>
              <a:ext uri="{FF2B5EF4-FFF2-40B4-BE49-F238E27FC236}">
                <a16:creationId xmlns:a16="http://schemas.microsoft.com/office/drawing/2014/main" id="{BC926F80-DD08-8DFC-BAE9-DB1104F5855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390805F-0FE6-A811-B320-02EB13064830}"/>
              </a:ext>
            </a:extLst>
          </p:cNvPr>
          <p:cNvSpPr>
            <a:spLocks noGrp="1"/>
          </p:cNvSpPr>
          <p:nvPr>
            <p:ph type="sldNum" sz="quarter" idx="12"/>
          </p:nvPr>
        </p:nvSpPr>
        <p:spPr/>
        <p:txBody>
          <a:bodyPr/>
          <a:lstStyle/>
          <a:p>
            <a:fld id="{6B7FA74C-7B4C-4303-BA46-9441479F9E70}" type="slidenum">
              <a:rPr kumimoji="1" lang="ja-JP" altLang="en-US" smtClean="0"/>
              <a:t>‹#›</a:t>
            </a:fld>
            <a:endParaRPr kumimoji="1" lang="ja-JP" altLang="en-US"/>
          </a:p>
        </p:txBody>
      </p:sp>
    </p:spTree>
    <p:extLst>
      <p:ext uri="{BB962C8B-B14F-4D97-AF65-F5344CB8AC3E}">
        <p14:creationId xmlns:p14="http://schemas.microsoft.com/office/powerpoint/2010/main" val="30444225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F9EE07DF-18A3-8AF4-750C-A54851576E7C}"/>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42E7634-30BC-79CF-A22A-55418648AC7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3F9ABA6-F131-B3BE-BEEF-5E2D3E197E29}"/>
              </a:ext>
            </a:extLst>
          </p:cNvPr>
          <p:cNvSpPr>
            <a:spLocks noGrp="1"/>
          </p:cNvSpPr>
          <p:nvPr>
            <p:ph type="dt" sz="half" idx="10"/>
          </p:nvPr>
        </p:nvSpPr>
        <p:spPr/>
        <p:txBody>
          <a:bodyPr/>
          <a:lstStyle/>
          <a:p>
            <a:endParaRPr kumimoji="1" lang="ja-JP" altLang="en-US"/>
          </a:p>
        </p:txBody>
      </p:sp>
      <p:sp>
        <p:nvSpPr>
          <p:cNvPr id="5" name="フッター プレースホルダー 4">
            <a:extLst>
              <a:ext uri="{FF2B5EF4-FFF2-40B4-BE49-F238E27FC236}">
                <a16:creationId xmlns:a16="http://schemas.microsoft.com/office/drawing/2014/main" id="{21F9B634-D0DC-AD99-4C95-6E56BC70E7F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904C406-DA6B-A3F3-92B0-F7055511AEF4}"/>
              </a:ext>
            </a:extLst>
          </p:cNvPr>
          <p:cNvSpPr>
            <a:spLocks noGrp="1"/>
          </p:cNvSpPr>
          <p:nvPr>
            <p:ph type="sldNum" sz="quarter" idx="12"/>
          </p:nvPr>
        </p:nvSpPr>
        <p:spPr/>
        <p:txBody>
          <a:bodyPr/>
          <a:lstStyle/>
          <a:p>
            <a:fld id="{6B7FA74C-7B4C-4303-BA46-9441479F9E70}" type="slidenum">
              <a:rPr kumimoji="1" lang="ja-JP" altLang="en-US" smtClean="0"/>
              <a:t>‹#›</a:t>
            </a:fld>
            <a:endParaRPr kumimoji="1" lang="ja-JP" altLang="en-US"/>
          </a:p>
        </p:txBody>
      </p:sp>
    </p:spTree>
    <p:extLst>
      <p:ext uri="{BB962C8B-B14F-4D97-AF65-F5344CB8AC3E}">
        <p14:creationId xmlns:p14="http://schemas.microsoft.com/office/powerpoint/2010/main" val="2224114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BBA55F-4E0A-F552-ECC2-7BF1F436EF83}"/>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3A63FDC-E9B1-9F1B-2D1E-2A9B07D164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A16A9685-26CE-B008-2B2E-A8758DA8F053}"/>
              </a:ext>
            </a:extLst>
          </p:cNvPr>
          <p:cNvSpPr>
            <a:spLocks noGrp="1"/>
          </p:cNvSpPr>
          <p:nvPr>
            <p:ph type="dt" sz="half" idx="10"/>
          </p:nvPr>
        </p:nvSpPr>
        <p:spPr/>
        <p:txBody>
          <a:bodyPr/>
          <a:lstStyle/>
          <a:p>
            <a:endParaRPr kumimoji="1" lang="ja-JP" altLang="en-US"/>
          </a:p>
        </p:txBody>
      </p:sp>
      <p:sp>
        <p:nvSpPr>
          <p:cNvPr id="5" name="フッター プレースホルダー 4">
            <a:extLst>
              <a:ext uri="{FF2B5EF4-FFF2-40B4-BE49-F238E27FC236}">
                <a16:creationId xmlns:a16="http://schemas.microsoft.com/office/drawing/2014/main" id="{3B39C84F-5A23-BE70-EEA6-1E6D2B29F31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001EB47-2B43-B682-0AA1-A259FCF4616B}"/>
              </a:ext>
            </a:extLst>
          </p:cNvPr>
          <p:cNvSpPr>
            <a:spLocks noGrp="1"/>
          </p:cNvSpPr>
          <p:nvPr>
            <p:ph type="sldNum" sz="quarter" idx="12"/>
          </p:nvPr>
        </p:nvSpPr>
        <p:spPr/>
        <p:txBody>
          <a:bodyPr/>
          <a:lstStyle/>
          <a:p>
            <a:fld id="{6B7FA74C-7B4C-4303-BA46-9441479F9E70}" type="slidenum">
              <a:rPr kumimoji="1" lang="ja-JP" altLang="en-US" smtClean="0"/>
              <a:t>‹#›</a:t>
            </a:fld>
            <a:endParaRPr kumimoji="1" lang="ja-JP" altLang="en-US"/>
          </a:p>
        </p:txBody>
      </p:sp>
    </p:spTree>
    <p:extLst>
      <p:ext uri="{BB962C8B-B14F-4D97-AF65-F5344CB8AC3E}">
        <p14:creationId xmlns:p14="http://schemas.microsoft.com/office/powerpoint/2010/main" val="6764961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FB0AFA-E620-2906-03DF-82251DE0346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E6D4B80-9C0D-7F73-41E7-E96E2BDA7230}"/>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24641DE-5CBD-6EA8-0CF5-F07B7BE5D69E}"/>
              </a:ext>
            </a:extLst>
          </p:cNvPr>
          <p:cNvSpPr>
            <a:spLocks noGrp="1"/>
          </p:cNvSpPr>
          <p:nvPr>
            <p:ph type="dt" sz="half" idx="10"/>
          </p:nvPr>
        </p:nvSpPr>
        <p:spPr/>
        <p:txBody>
          <a:bodyPr/>
          <a:lstStyle/>
          <a:p>
            <a:endParaRPr kumimoji="1" lang="ja-JP" altLang="en-US"/>
          </a:p>
        </p:txBody>
      </p:sp>
      <p:sp>
        <p:nvSpPr>
          <p:cNvPr id="5" name="フッター プレースホルダー 4">
            <a:extLst>
              <a:ext uri="{FF2B5EF4-FFF2-40B4-BE49-F238E27FC236}">
                <a16:creationId xmlns:a16="http://schemas.microsoft.com/office/drawing/2014/main" id="{A8CB28F7-255E-4E61-71AF-0B297749DD0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B7DD805-5607-F327-2D94-0F6B3F1D762D}"/>
              </a:ext>
            </a:extLst>
          </p:cNvPr>
          <p:cNvSpPr>
            <a:spLocks noGrp="1"/>
          </p:cNvSpPr>
          <p:nvPr>
            <p:ph type="sldNum" sz="quarter" idx="12"/>
          </p:nvPr>
        </p:nvSpPr>
        <p:spPr/>
        <p:txBody>
          <a:bodyPr/>
          <a:lstStyle/>
          <a:p>
            <a:fld id="{6B7FA74C-7B4C-4303-BA46-9441479F9E70}" type="slidenum">
              <a:rPr kumimoji="1" lang="ja-JP" altLang="en-US" smtClean="0"/>
              <a:t>‹#›</a:t>
            </a:fld>
            <a:endParaRPr kumimoji="1" lang="ja-JP" altLang="en-US"/>
          </a:p>
        </p:txBody>
      </p:sp>
    </p:spTree>
    <p:extLst>
      <p:ext uri="{BB962C8B-B14F-4D97-AF65-F5344CB8AC3E}">
        <p14:creationId xmlns:p14="http://schemas.microsoft.com/office/powerpoint/2010/main" val="7178291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B96DAE-14F9-8BFB-FADF-75F62076581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80801AE-528C-ABBD-D2F6-9BF75B769AD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122B0944-C2D4-C79D-425E-E937C10B236A}"/>
              </a:ext>
            </a:extLst>
          </p:cNvPr>
          <p:cNvSpPr>
            <a:spLocks noGrp="1"/>
          </p:cNvSpPr>
          <p:nvPr>
            <p:ph type="dt" sz="half" idx="10"/>
          </p:nvPr>
        </p:nvSpPr>
        <p:spPr/>
        <p:txBody>
          <a:bodyPr/>
          <a:lstStyle/>
          <a:p>
            <a:endParaRPr kumimoji="1" lang="ja-JP" altLang="en-US"/>
          </a:p>
        </p:txBody>
      </p:sp>
      <p:sp>
        <p:nvSpPr>
          <p:cNvPr id="5" name="フッター プレースホルダー 4">
            <a:extLst>
              <a:ext uri="{FF2B5EF4-FFF2-40B4-BE49-F238E27FC236}">
                <a16:creationId xmlns:a16="http://schemas.microsoft.com/office/drawing/2014/main" id="{DA896BF7-324D-B0A3-9BD8-CE383EA438F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16D3231-F577-68B6-0DB6-2E25A19CC2E7}"/>
              </a:ext>
            </a:extLst>
          </p:cNvPr>
          <p:cNvSpPr>
            <a:spLocks noGrp="1"/>
          </p:cNvSpPr>
          <p:nvPr>
            <p:ph type="sldNum" sz="quarter" idx="12"/>
          </p:nvPr>
        </p:nvSpPr>
        <p:spPr/>
        <p:txBody>
          <a:bodyPr/>
          <a:lstStyle/>
          <a:p>
            <a:fld id="{6B7FA74C-7B4C-4303-BA46-9441479F9E70}" type="slidenum">
              <a:rPr kumimoji="1" lang="ja-JP" altLang="en-US" smtClean="0"/>
              <a:t>‹#›</a:t>
            </a:fld>
            <a:endParaRPr kumimoji="1" lang="ja-JP" altLang="en-US"/>
          </a:p>
        </p:txBody>
      </p:sp>
    </p:spTree>
    <p:extLst>
      <p:ext uri="{BB962C8B-B14F-4D97-AF65-F5344CB8AC3E}">
        <p14:creationId xmlns:p14="http://schemas.microsoft.com/office/powerpoint/2010/main" val="4983776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3240E1-323A-FE03-1228-75201CC53DC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DA81785-D3C3-22CA-8037-31DB85DEFAEA}"/>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38CBF488-DAFF-D02D-F7A1-F9A26C4E6960}"/>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F99D192A-1F49-9C0A-086C-3F0E17F01594}"/>
              </a:ext>
            </a:extLst>
          </p:cNvPr>
          <p:cNvSpPr>
            <a:spLocks noGrp="1"/>
          </p:cNvSpPr>
          <p:nvPr>
            <p:ph type="dt" sz="half" idx="10"/>
          </p:nvPr>
        </p:nvSpPr>
        <p:spPr/>
        <p:txBody>
          <a:bodyPr/>
          <a:lstStyle/>
          <a:p>
            <a:endParaRPr kumimoji="1" lang="ja-JP" altLang="en-US"/>
          </a:p>
        </p:txBody>
      </p:sp>
      <p:sp>
        <p:nvSpPr>
          <p:cNvPr id="6" name="フッター プレースホルダー 5">
            <a:extLst>
              <a:ext uri="{FF2B5EF4-FFF2-40B4-BE49-F238E27FC236}">
                <a16:creationId xmlns:a16="http://schemas.microsoft.com/office/drawing/2014/main" id="{DCF816D1-E94F-5A43-6050-219014C6906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7E15122-7074-5621-846F-BADDD7631A82}"/>
              </a:ext>
            </a:extLst>
          </p:cNvPr>
          <p:cNvSpPr>
            <a:spLocks noGrp="1"/>
          </p:cNvSpPr>
          <p:nvPr>
            <p:ph type="sldNum" sz="quarter" idx="12"/>
          </p:nvPr>
        </p:nvSpPr>
        <p:spPr/>
        <p:txBody>
          <a:bodyPr/>
          <a:lstStyle/>
          <a:p>
            <a:fld id="{6B7FA74C-7B4C-4303-BA46-9441479F9E70}" type="slidenum">
              <a:rPr kumimoji="1" lang="ja-JP" altLang="en-US" smtClean="0"/>
              <a:t>‹#›</a:t>
            </a:fld>
            <a:endParaRPr kumimoji="1" lang="ja-JP" altLang="en-US"/>
          </a:p>
        </p:txBody>
      </p:sp>
    </p:spTree>
    <p:extLst>
      <p:ext uri="{BB962C8B-B14F-4D97-AF65-F5344CB8AC3E}">
        <p14:creationId xmlns:p14="http://schemas.microsoft.com/office/powerpoint/2010/main" val="35264545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5ACD912-7EF0-5A70-1238-20D78D1C2D4D}"/>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82DCB3F-B581-7EBC-BE8D-8F13A00C42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18A49D2D-8035-2B05-1F66-863119795724}"/>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5DAB6CDA-9D8E-CF83-49BD-65F8AB8D3F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792F7833-C771-9E57-F2F0-D5014384A7E9}"/>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3E38AAE9-AA0D-7283-CC40-9629E642C3B9}"/>
              </a:ext>
            </a:extLst>
          </p:cNvPr>
          <p:cNvSpPr>
            <a:spLocks noGrp="1"/>
          </p:cNvSpPr>
          <p:nvPr>
            <p:ph type="dt" sz="half" idx="10"/>
          </p:nvPr>
        </p:nvSpPr>
        <p:spPr/>
        <p:txBody>
          <a:bodyPr/>
          <a:lstStyle/>
          <a:p>
            <a:endParaRPr kumimoji="1" lang="ja-JP" altLang="en-US"/>
          </a:p>
        </p:txBody>
      </p:sp>
      <p:sp>
        <p:nvSpPr>
          <p:cNvPr id="8" name="フッター プレースホルダー 7">
            <a:extLst>
              <a:ext uri="{FF2B5EF4-FFF2-40B4-BE49-F238E27FC236}">
                <a16:creationId xmlns:a16="http://schemas.microsoft.com/office/drawing/2014/main" id="{23A4E6E0-6C4C-D35C-1BAD-8E0A94FA06D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71E9A9F-B9E1-42A4-EDC5-EAEBE592E7EC}"/>
              </a:ext>
            </a:extLst>
          </p:cNvPr>
          <p:cNvSpPr>
            <a:spLocks noGrp="1"/>
          </p:cNvSpPr>
          <p:nvPr>
            <p:ph type="sldNum" sz="quarter" idx="12"/>
          </p:nvPr>
        </p:nvSpPr>
        <p:spPr/>
        <p:txBody>
          <a:bodyPr/>
          <a:lstStyle/>
          <a:p>
            <a:fld id="{6B7FA74C-7B4C-4303-BA46-9441479F9E70}" type="slidenum">
              <a:rPr kumimoji="1" lang="ja-JP" altLang="en-US" smtClean="0"/>
              <a:t>‹#›</a:t>
            </a:fld>
            <a:endParaRPr kumimoji="1" lang="ja-JP" altLang="en-US"/>
          </a:p>
        </p:txBody>
      </p:sp>
    </p:spTree>
    <p:extLst>
      <p:ext uri="{BB962C8B-B14F-4D97-AF65-F5344CB8AC3E}">
        <p14:creationId xmlns:p14="http://schemas.microsoft.com/office/powerpoint/2010/main" val="42538425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E80FFA-E654-07C9-0D33-2CE5B963E5B6}"/>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C672820-9D5F-4438-8131-21684623A4F4}"/>
              </a:ext>
            </a:extLst>
          </p:cNvPr>
          <p:cNvSpPr>
            <a:spLocks noGrp="1"/>
          </p:cNvSpPr>
          <p:nvPr>
            <p:ph type="dt" sz="half" idx="10"/>
          </p:nvPr>
        </p:nvSpPr>
        <p:spPr/>
        <p:txBody>
          <a:bodyPr/>
          <a:lstStyle/>
          <a:p>
            <a:endParaRPr kumimoji="1" lang="ja-JP" altLang="en-US"/>
          </a:p>
        </p:txBody>
      </p:sp>
      <p:sp>
        <p:nvSpPr>
          <p:cNvPr id="4" name="フッター プレースホルダー 3">
            <a:extLst>
              <a:ext uri="{FF2B5EF4-FFF2-40B4-BE49-F238E27FC236}">
                <a16:creationId xmlns:a16="http://schemas.microsoft.com/office/drawing/2014/main" id="{DF6289D4-9122-2B52-2CD6-CAEE5E446C69}"/>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C94DDE58-2420-E797-FF02-C77047100C46}"/>
              </a:ext>
            </a:extLst>
          </p:cNvPr>
          <p:cNvSpPr>
            <a:spLocks noGrp="1"/>
          </p:cNvSpPr>
          <p:nvPr>
            <p:ph type="sldNum" sz="quarter" idx="12"/>
          </p:nvPr>
        </p:nvSpPr>
        <p:spPr/>
        <p:txBody>
          <a:bodyPr/>
          <a:lstStyle/>
          <a:p>
            <a:fld id="{6B7FA74C-7B4C-4303-BA46-9441479F9E70}" type="slidenum">
              <a:rPr kumimoji="1" lang="ja-JP" altLang="en-US" smtClean="0"/>
              <a:t>‹#›</a:t>
            </a:fld>
            <a:endParaRPr kumimoji="1" lang="ja-JP" altLang="en-US"/>
          </a:p>
        </p:txBody>
      </p:sp>
    </p:spTree>
    <p:extLst>
      <p:ext uri="{BB962C8B-B14F-4D97-AF65-F5344CB8AC3E}">
        <p14:creationId xmlns:p14="http://schemas.microsoft.com/office/powerpoint/2010/main" val="74820304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D722759D-4141-946E-5206-B6C2F5718062}"/>
              </a:ext>
            </a:extLst>
          </p:cNvPr>
          <p:cNvSpPr>
            <a:spLocks noGrp="1"/>
          </p:cNvSpPr>
          <p:nvPr>
            <p:ph type="dt" sz="half" idx="10"/>
          </p:nvPr>
        </p:nvSpPr>
        <p:spPr/>
        <p:txBody>
          <a:bodyPr/>
          <a:lstStyle/>
          <a:p>
            <a:endParaRPr kumimoji="1" lang="ja-JP" altLang="en-US"/>
          </a:p>
        </p:txBody>
      </p:sp>
      <p:sp>
        <p:nvSpPr>
          <p:cNvPr id="3" name="フッター プレースホルダー 2">
            <a:extLst>
              <a:ext uri="{FF2B5EF4-FFF2-40B4-BE49-F238E27FC236}">
                <a16:creationId xmlns:a16="http://schemas.microsoft.com/office/drawing/2014/main" id="{B0DE014D-67D8-4A2E-CE69-00A799AA85B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DBDC45E-DA5A-E69F-E777-3BCCD09F30B2}"/>
              </a:ext>
            </a:extLst>
          </p:cNvPr>
          <p:cNvSpPr>
            <a:spLocks noGrp="1"/>
          </p:cNvSpPr>
          <p:nvPr>
            <p:ph type="sldNum" sz="quarter" idx="12"/>
          </p:nvPr>
        </p:nvSpPr>
        <p:spPr/>
        <p:txBody>
          <a:bodyPr/>
          <a:lstStyle/>
          <a:p>
            <a:fld id="{6B7FA74C-7B4C-4303-BA46-9441479F9E70}" type="slidenum">
              <a:rPr kumimoji="1" lang="ja-JP" altLang="en-US" smtClean="0"/>
              <a:t>‹#›</a:t>
            </a:fld>
            <a:endParaRPr kumimoji="1" lang="ja-JP" altLang="en-US"/>
          </a:p>
        </p:txBody>
      </p:sp>
    </p:spTree>
    <p:extLst>
      <p:ext uri="{BB962C8B-B14F-4D97-AF65-F5344CB8AC3E}">
        <p14:creationId xmlns:p14="http://schemas.microsoft.com/office/powerpoint/2010/main" val="191681145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73F887-6241-D7BF-E318-15B36874990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7F1DDE-72FD-624F-2D5E-44AECADA55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3A2A95EB-7E1C-AE97-AB50-3C06E5F17C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927643D-1D00-7E67-27BA-DD429C4705F9}"/>
              </a:ext>
            </a:extLst>
          </p:cNvPr>
          <p:cNvSpPr>
            <a:spLocks noGrp="1"/>
          </p:cNvSpPr>
          <p:nvPr>
            <p:ph type="dt" sz="half" idx="10"/>
          </p:nvPr>
        </p:nvSpPr>
        <p:spPr/>
        <p:txBody>
          <a:bodyPr/>
          <a:lstStyle/>
          <a:p>
            <a:endParaRPr kumimoji="1" lang="ja-JP" altLang="en-US"/>
          </a:p>
        </p:txBody>
      </p:sp>
      <p:sp>
        <p:nvSpPr>
          <p:cNvPr id="6" name="フッター プレースホルダー 5">
            <a:extLst>
              <a:ext uri="{FF2B5EF4-FFF2-40B4-BE49-F238E27FC236}">
                <a16:creationId xmlns:a16="http://schemas.microsoft.com/office/drawing/2014/main" id="{FFB22034-AEFF-2626-AC15-BC3C4907249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D925646-BFEB-F239-4EF6-165BDA1D04ED}"/>
              </a:ext>
            </a:extLst>
          </p:cNvPr>
          <p:cNvSpPr>
            <a:spLocks noGrp="1"/>
          </p:cNvSpPr>
          <p:nvPr>
            <p:ph type="sldNum" sz="quarter" idx="12"/>
          </p:nvPr>
        </p:nvSpPr>
        <p:spPr/>
        <p:txBody>
          <a:bodyPr/>
          <a:lstStyle/>
          <a:p>
            <a:fld id="{6B7FA74C-7B4C-4303-BA46-9441479F9E70}" type="slidenum">
              <a:rPr kumimoji="1" lang="ja-JP" altLang="en-US" smtClean="0"/>
              <a:t>‹#›</a:t>
            </a:fld>
            <a:endParaRPr kumimoji="1" lang="ja-JP" altLang="en-US"/>
          </a:p>
        </p:txBody>
      </p:sp>
    </p:spTree>
    <p:extLst>
      <p:ext uri="{BB962C8B-B14F-4D97-AF65-F5344CB8AC3E}">
        <p14:creationId xmlns:p14="http://schemas.microsoft.com/office/powerpoint/2010/main" val="188319456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C79273-23D0-AF36-F123-9567161497C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442A8400-AF25-8997-87B4-5BF7FC9B2E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a:extLst>
              <a:ext uri="{FF2B5EF4-FFF2-40B4-BE49-F238E27FC236}">
                <a16:creationId xmlns:a16="http://schemas.microsoft.com/office/drawing/2014/main" id="{1634DDB6-D585-4F66-7564-8EEEA2A6D7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AD0BB00-2199-3A62-5C7C-7C3750818555}"/>
              </a:ext>
            </a:extLst>
          </p:cNvPr>
          <p:cNvSpPr>
            <a:spLocks noGrp="1"/>
          </p:cNvSpPr>
          <p:nvPr>
            <p:ph type="dt" sz="half" idx="10"/>
          </p:nvPr>
        </p:nvSpPr>
        <p:spPr/>
        <p:txBody>
          <a:bodyPr/>
          <a:lstStyle/>
          <a:p>
            <a:endParaRPr kumimoji="1" lang="ja-JP" altLang="en-US"/>
          </a:p>
        </p:txBody>
      </p:sp>
      <p:sp>
        <p:nvSpPr>
          <p:cNvPr id="6" name="フッター プレースホルダー 5">
            <a:extLst>
              <a:ext uri="{FF2B5EF4-FFF2-40B4-BE49-F238E27FC236}">
                <a16:creationId xmlns:a16="http://schemas.microsoft.com/office/drawing/2014/main" id="{B9B2A271-FDDC-1C85-C4BD-8B85E05CCB5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9735E38-CE41-A39E-7CA1-211339B2030F}"/>
              </a:ext>
            </a:extLst>
          </p:cNvPr>
          <p:cNvSpPr>
            <a:spLocks noGrp="1"/>
          </p:cNvSpPr>
          <p:nvPr>
            <p:ph type="sldNum" sz="quarter" idx="12"/>
          </p:nvPr>
        </p:nvSpPr>
        <p:spPr/>
        <p:txBody>
          <a:bodyPr/>
          <a:lstStyle/>
          <a:p>
            <a:fld id="{6B7FA74C-7B4C-4303-BA46-9441479F9E70}" type="slidenum">
              <a:rPr kumimoji="1" lang="ja-JP" altLang="en-US" smtClean="0"/>
              <a:t>‹#›</a:t>
            </a:fld>
            <a:endParaRPr kumimoji="1" lang="ja-JP" altLang="en-US"/>
          </a:p>
        </p:txBody>
      </p:sp>
    </p:spTree>
    <p:extLst>
      <p:ext uri="{BB962C8B-B14F-4D97-AF65-F5344CB8AC3E}">
        <p14:creationId xmlns:p14="http://schemas.microsoft.com/office/powerpoint/2010/main" val="371768421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588546-F641-FAC3-6388-F8ED47D7C2E2}"/>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0865B1B-5465-23B6-F0F7-B59B23C21324}"/>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AAE172C-3980-153E-6143-661692B78D9B}"/>
              </a:ext>
            </a:extLst>
          </p:cNvPr>
          <p:cNvSpPr>
            <a:spLocks noGrp="1"/>
          </p:cNvSpPr>
          <p:nvPr>
            <p:ph type="dt" sz="half" idx="10"/>
          </p:nvPr>
        </p:nvSpPr>
        <p:spPr/>
        <p:txBody>
          <a:bodyPr/>
          <a:lstStyle/>
          <a:p>
            <a:endParaRPr kumimoji="1" lang="ja-JP" altLang="en-US"/>
          </a:p>
        </p:txBody>
      </p:sp>
      <p:sp>
        <p:nvSpPr>
          <p:cNvPr id="5" name="フッター プレースホルダー 4">
            <a:extLst>
              <a:ext uri="{FF2B5EF4-FFF2-40B4-BE49-F238E27FC236}">
                <a16:creationId xmlns:a16="http://schemas.microsoft.com/office/drawing/2014/main" id="{BC926F80-DD08-8DFC-BAE9-DB1104F5855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390805F-0FE6-A811-B320-02EB13064830}"/>
              </a:ext>
            </a:extLst>
          </p:cNvPr>
          <p:cNvSpPr>
            <a:spLocks noGrp="1"/>
          </p:cNvSpPr>
          <p:nvPr>
            <p:ph type="sldNum" sz="quarter" idx="12"/>
          </p:nvPr>
        </p:nvSpPr>
        <p:spPr/>
        <p:txBody>
          <a:bodyPr/>
          <a:lstStyle/>
          <a:p>
            <a:fld id="{6B7FA74C-7B4C-4303-BA46-9441479F9E70}" type="slidenum">
              <a:rPr kumimoji="1" lang="ja-JP" altLang="en-US" smtClean="0"/>
              <a:t>‹#›</a:t>
            </a:fld>
            <a:endParaRPr kumimoji="1" lang="ja-JP" altLang="en-US"/>
          </a:p>
        </p:txBody>
      </p:sp>
    </p:spTree>
    <p:extLst>
      <p:ext uri="{BB962C8B-B14F-4D97-AF65-F5344CB8AC3E}">
        <p14:creationId xmlns:p14="http://schemas.microsoft.com/office/powerpoint/2010/main" val="318915421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F9EE07DF-18A3-8AF4-750C-A54851576E7C}"/>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42E7634-30BC-79CF-A22A-55418648AC7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3F9ABA6-F131-B3BE-BEEF-5E2D3E197E29}"/>
              </a:ext>
            </a:extLst>
          </p:cNvPr>
          <p:cNvSpPr>
            <a:spLocks noGrp="1"/>
          </p:cNvSpPr>
          <p:nvPr>
            <p:ph type="dt" sz="half" idx="10"/>
          </p:nvPr>
        </p:nvSpPr>
        <p:spPr/>
        <p:txBody>
          <a:bodyPr/>
          <a:lstStyle/>
          <a:p>
            <a:endParaRPr kumimoji="1" lang="ja-JP" altLang="en-US"/>
          </a:p>
        </p:txBody>
      </p:sp>
      <p:sp>
        <p:nvSpPr>
          <p:cNvPr id="5" name="フッター プレースホルダー 4">
            <a:extLst>
              <a:ext uri="{FF2B5EF4-FFF2-40B4-BE49-F238E27FC236}">
                <a16:creationId xmlns:a16="http://schemas.microsoft.com/office/drawing/2014/main" id="{21F9B634-D0DC-AD99-4C95-6E56BC70E7F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904C406-DA6B-A3F3-92B0-F7055511AEF4}"/>
              </a:ext>
            </a:extLst>
          </p:cNvPr>
          <p:cNvSpPr>
            <a:spLocks noGrp="1"/>
          </p:cNvSpPr>
          <p:nvPr>
            <p:ph type="sldNum" sz="quarter" idx="12"/>
          </p:nvPr>
        </p:nvSpPr>
        <p:spPr/>
        <p:txBody>
          <a:bodyPr/>
          <a:lstStyle/>
          <a:p>
            <a:fld id="{6B7FA74C-7B4C-4303-BA46-9441479F9E70}" type="slidenum">
              <a:rPr kumimoji="1" lang="ja-JP" altLang="en-US" smtClean="0"/>
              <a:t>‹#›</a:t>
            </a:fld>
            <a:endParaRPr kumimoji="1" lang="ja-JP" altLang="en-US"/>
          </a:p>
        </p:txBody>
      </p:sp>
    </p:spTree>
    <p:extLst>
      <p:ext uri="{BB962C8B-B14F-4D97-AF65-F5344CB8AC3E}">
        <p14:creationId xmlns:p14="http://schemas.microsoft.com/office/powerpoint/2010/main" val="12052790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F8FAF8B1-4427-758A-909E-6E1401F67E18}"/>
              </a:ext>
            </a:extLst>
          </p:cNvPr>
          <p:cNvSpPr>
            <a:spLocks noGrp="1"/>
          </p:cNvSpPr>
          <p:nvPr>
            <p:ph type="body" idx="1"/>
          </p:nvPr>
        </p:nvSpPr>
        <p:spPr>
          <a:xfrm>
            <a:off x="696000" y="1488248"/>
            <a:ext cx="10800000" cy="4715911"/>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9" name="スライド番号プレースホルダー 5">
            <a:extLst>
              <a:ext uri="{FF2B5EF4-FFF2-40B4-BE49-F238E27FC236}">
                <a16:creationId xmlns:a16="http://schemas.microsoft.com/office/drawing/2014/main" id="{2EF4BA0B-8A5F-F195-1358-62BAE5033C21}"/>
              </a:ext>
            </a:extLst>
          </p:cNvPr>
          <p:cNvSpPr>
            <a:spLocks noGrp="1"/>
          </p:cNvSpPr>
          <p:nvPr>
            <p:ph type="sldNum" sz="quarter" idx="4"/>
          </p:nvPr>
        </p:nvSpPr>
        <p:spPr>
          <a:xfrm>
            <a:off x="11495999" y="6423794"/>
            <a:ext cx="662133" cy="336954"/>
          </a:xfrm>
          <a:prstGeom prst="rect">
            <a:avLst/>
          </a:prstGeom>
        </p:spPr>
        <p:txBody>
          <a:bodyPr/>
          <a:lstStyle>
            <a:lvl1pPr algn="r">
              <a:defRPr sz="2200" b="1">
                <a:solidFill>
                  <a:schemeClr val="tx1"/>
                </a:solidFill>
              </a:defRPr>
            </a:lvl1pPr>
          </a:lstStyle>
          <a:p>
            <a:fld id="{BEF4553F-1DE4-4E24-BEE1-073CD313E6D1}" type="slidenum">
              <a:rPr lang="en-US" smtClean="0"/>
              <a:pPr/>
              <a:t>‹#›</a:t>
            </a:fld>
            <a:endParaRPr lang="en-US" dirty="0"/>
          </a:p>
        </p:txBody>
      </p:sp>
      <p:sp>
        <p:nvSpPr>
          <p:cNvPr id="2" name="フッター プレースホルダー 4">
            <a:extLst>
              <a:ext uri="{FF2B5EF4-FFF2-40B4-BE49-F238E27FC236}">
                <a16:creationId xmlns:a16="http://schemas.microsoft.com/office/drawing/2014/main" id="{579B7D22-490A-B25D-B83F-F6AF0D64E052}"/>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dirty="0" err="1"/>
              <a:t>Sorce</a:t>
            </a:r>
            <a:endParaRPr lang="en-US" sz="1100" dirty="0"/>
          </a:p>
        </p:txBody>
      </p:sp>
    </p:spTree>
    <p:extLst>
      <p:ext uri="{BB962C8B-B14F-4D97-AF65-F5344CB8AC3E}">
        <p14:creationId xmlns:p14="http://schemas.microsoft.com/office/powerpoint/2010/main" val="28994824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616E2D8-D482-1EA8-4C06-2A72E6D46F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70B2C67-EFFB-DDA8-C27D-8BBD3BAB9E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4FAD91D-F53B-E978-C4D3-07CAEB8DC6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kumimoji="1" lang="ja-JP" altLang="en-US"/>
          </a:p>
        </p:txBody>
      </p:sp>
      <p:sp>
        <p:nvSpPr>
          <p:cNvPr id="5" name="フッター プレースホルダー 4">
            <a:extLst>
              <a:ext uri="{FF2B5EF4-FFF2-40B4-BE49-F238E27FC236}">
                <a16:creationId xmlns:a16="http://schemas.microsoft.com/office/drawing/2014/main" id="{F35EFEB3-7AE7-2E7F-C09D-59B4E29B49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9C3813F8-CAC8-D68C-FCDF-FD2055F5BD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B7FA74C-7B4C-4303-BA46-9441479F9E70}" type="slidenum">
              <a:rPr kumimoji="1" lang="ja-JP" altLang="en-US" smtClean="0"/>
              <a:t>‹#›</a:t>
            </a:fld>
            <a:endParaRPr kumimoji="1" lang="ja-JP" altLang="en-US"/>
          </a:p>
        </p:txBody>
      </p:sp>
    </p:spTree>
    <p:extLst>
      <p:ext uri="{BB962C8B-B14F-4D97-AF65-F5344CB8AC3E}">
        <p14:creationId xmlns:p14="http://schemas.microsoft.com/office/powerpoint/2010/main" val="2108280556"/>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616E2D8-D482-1EA8-4C06-2A72E6D46F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70B2C67-EFFB-DDA8-C27D-8BBD3BAB9E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4FAD91D-F53B-E978-C4D3-07CAEB8DC6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kumimoji="1" lang="ja-JP" altLang="en-US"/>
          </a:p>
        </p:txBody>
      </p:sp>
      <p:sp>
        <p:nvSpPr>
          <p:cNvPr id="5" name="フッター プレースホルダー 4">
            <a:extLst>
              <a:ext uri="{FF2B5EF4-FFF2-40B4-BE49-F238E27FC236}">
                <a16:creationId xmlns:a16="http://schemas.microsoft.com/office/drawing/2014/main" id="{F35EFEB3-7AE7-2E7F-C09D-59B4E29B49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9C3813F8-CAC8-D68C-FCDF-FD2055F5BD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B7FA74C-7B4C-4303-BA46-9441479F9E70}" type="slidenum">
              <a:rPr kumimoji="1" lang="ja-JP" altLang="en-US" smtClean="0"/>
              <a:t>‹#›</a:t>
            </a:fld>
            <a:endParaRPr kumimoji="1" lang="ja-JP" altLang="en-US"/>
          </a:p>
        </p:txBody>
      </p:sp>
    </p:spTree>
    <p:extLst>
      <p:ext uri="{BB962C8B-B14F-4D97-AF65-F5344CB8AC3E}">
        <p14:creationId xmlns:p14="http://schemas.microsoft.com/office/powerpoint/2010/main" val="2488924441"/>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image" Target="../media/image22.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31.svg"/></Relationships>
</file>

<file path=ppt/slides/_rels/slide2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6.xml"/><Relationship Id="rId1" Type="http://schemas.openxmlformats.org/officeDocument/2006/relationships/slideLayout" Target="../slideLayouts/slideLayout6.xml"/><Relationship Id="rId5" Type="http://schemas.openxmlformats.org/officeDocument/2006/relationships/image" Target="../media/image32.png"/><Relationship Id="rId4" Type="http://schemas.openxmlformats.org/officeDocument/2006/relationships/image" Target="../media/image6.svg"/></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2.xml"/><Relationship Id="rId1" Type="http://schemas.openxmlformats.org/officeDocument/2006/relationships/slideLayout" Target="../slideLayouts/slideLayout6.xml"/><Relationship Id="rId4" Type="http://schemas.openxmlformats.org/officeDocument/2006/relationships/image" Target="../media/image47.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6.xml"/><Relationship Id="rId1" Type="http://schemas.openxmlformats.org/officeDocument/2006/relationships/slideLayout" Target="../slideLayouts/slideLayout6.xml"/><Relationship Id="rId4" Type="http://schemas.openxmlformats.org/officeDocument/2006/relationships/image" Target="../media/image52.png"/></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0.xml"/><Relationship Id="rId1" Type="http://schemas.openxmlformats.org/officeDocument/2006/relationships/slideLayout" Target="../slideLayouts/slideLayout6.xml"/><Relationship Id="rId5" Type="http://schemas.openxmlformats.org/officeDocument/2006/relationships/image" Target="../media/image58.png"/><Relationship Id="rId4" Type="http://schemas.openxmlformats.org/officeDocument/2006/relationships/image" Target="../media/image57.png"/></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2A3451-D9D9-11C3-56EE-2157EF7F7F95}"/>
              </a:ext>
            </a:extLst>
          </p:cNvPr>
          <p:cNvSpPr>
            <a:spLocks noGrp="1"/>
          </p:cNvSpPr>
          <p:nvPr>
            <p:ph type="title"/>
          </p:nvPr>
        </p:nvSpPr>
        <p:spPr>
          <a:xfrm>
            <a:off x="702350" y="828867"/>
            <a:ext cx="10800000" cy="2852737"/>
          </a:xfrm>
        </p:spPr>
        <p:txBody>
          <a:bodyPr/>
          <a:lstStyle/>
          <a:p>
            <a:pPr algn="ctr">
              <a:lnSpc>
                <a:spcPct val="120000"/>
              </a:lnSpc>
            </a:pPr>
            <a:r>
              <a:rPr kumimoji="0" lang="en-US" altLang="en-US" sz="3200" dirty="0">
                <a:solidFill>
                  <a:schemeClr val="accent1"/>
                </a:solidFill>
                <a:latin typeface="+mj-lt"/>
                <a:cs typeface="Arial" panose="020B0604020202020204" pitchFamily="34" charset="0"/>
              </a:rPr>
              <a:t>A Survey on the Perceptual Visibility of Overlaid Content on Optical See-Through Augmented Reality</a:t>
            </a:r>
            <a:br>
              <a:rPr kumimoji="0" lang="en-US" altLang="en-US" sz="5400" dirty="0"/>
            </a:br>
            <a:endParaRPr lang="en-US" sz="2800" dirty="0">
              <a:latin typeface="+mj-ea"/>
              <a:ea typeface="+mj-ea"/>
            </a:endParaRPr>
          </a:p>
        </p:txBody>
      </p:sp>
      <p:sp>
        <p:nvSpPr>
          <p:cNvPr id="3" name="テキスト プレースホルダー 2">
            <a:extLst>
              <a:ext uri="{FF2B5EF4-FFF2-40B4-BE49-F238E27FC236}">
                <a16:creationId xmlns:a16="http://schemas.microsoft.com/office/drawing/2014/main" id="{132DA74A-133E-F5CA-E905-0091FE4F2FD5}"/>
              </a:ext>
            </a:extLst>
          </p:cNvPr>
          <p:cNvSpPr>
            <a:spLocks noGrp="1"/>
          </p:cNvSpPr>
          <p:nvPr>
            <p:ph type="body" idx="1"/>
          </p:nvPr>
        </p:nvSpPr>
        <p:spPr>
          <a:xfrm>
            <a:off x="702350" y="4404406"/>
            <a:ext cx="10800000" cy="2022010"/>
          </a:xfrm>
        </p:spPr>
        <p:txBody>
          <a:bodyPr>
            <a:normAutofit fontScale="77500" lnSpcReduction="20000"/>
          </a:bodyPr>
          <a:lstStyle/>
          <a:p>
            <a:pPr algn="r"/>
            <a:r>
              <a:rPr lang="en-US" altLang="ja-JP" dirty="0"/>
              <a:t>Department of Electrical Engineering and Information Systems</a:t>
            </a:r>
          </a:p>
          <a:p>
            <a:pPr algn="r"/>
            <a:r>
              <a:rPr lang="en-US" altLang="ja-JP" dirty="0"/>
              <a:t> Graduate School of Engineering</a:t>
            </a:r>
          </a:p>
          <a:p>
            <a:pPr algn="r"/>
            <a:r>
              <a:rPr lang="en-US" altLang="ja-JP" dirty="0"/>
              <a:t>The University of Tokyo </a:t>
            </a:r>
          </a:p>
          <a:p>
            <a:pPr algn="r"/>
            <a:r>
              <a:rPr lang="en-US" dirty="0"/>
              <a:t>Oishi-Lab</a:t>
            </a:r>
          </a:p>
          <a:p>
            <a:pPr algn="r"/>
            <a:r>
              <a:rPr lang="en-US" dirty="0"/>
              <a:t>M1 Kazuki Hamada</a:t>
            </a:r>
          </a:p>
          <a:p>
            <a:pPr algn="r"/>
            <a:r>
              <a:rPr lang="en-US" dirty="0"/>
              <a:t>2025/11/28</a:t>
            </a:r>
          </a:p>
        </p:txBody>
      </p:sp>
      <p:sp>
        <p:nvSpPr>
          <p:cNvPr id="4" name="スライド番号プレースホルダー 3">
            <a:extLst>
              <a:ext uri="{FF2B5EF4-FFF2-40B4-BE49-F238E27FC236}">
                <a16:creationId xmlns:a16="http://schemas.microsoft.com/office/drawing/2014/main" id="{EB9DA97D-8F4F-590E-BA6B-02DB391D4896}"/>
              </a:ext>
            </a:extLst>
          </p:cNvPr>
          <p:cNvSpPr>
            <a:spLocks noGrp="1"/>
          </p:cNvSpPr>
          <p:nvPr>
            <p:ph type="sldNum" sz="quarter" idx="12"/>
          </p:nvPr>
        </p:nvSpPr>
        <p:spPr/>
        <p:txBody>
          <a:bodyPr/>
          <a:lstStyle/>
          <a:p>
            <a:fld id="{BEF4553F-1DE4-4E24-BEE1-073CD313E6D1}" type="slidenum">
              <a:rPr lang="en-US" smtClean="0"/>
              <a:t>1</a:t>
            </a:fld>
            <a:endParaRPr lang="en-US"/>
          </a:p>
        </p:txBody>
      </p:sp>
      <p:sp>
        <p:nvSpPr>
          <p:cNvPr id="5" name="タイトル 1">
            <a:extLst>
              <a:ext uri="{FF2B5EF4-FFF2-40B4-BE49-F238E27FC236}">
                <a16:creationId xmlns:a16="http://schemas.microsoft.com/office/drawing/2014/main" id="{661239F0-A06C-6B73-90F2-05C376F134F3}"/>
              </a:ext>
            </a:extLst>
          </p:cNvPr>
          <p:cNvSpPr txBox="1">
            <a:spLocks/>
          </p:cNvSpPr>
          <p:nvPr/>
        </p:nvSpPr>
        <p:spPr>
          <a:xfrm>
            <a:off x="696000" y="1479999"/>
            <a:ext cx="10800000" cy="2852737"/>
          </a:xfrm>
          <a:prstGeom prst="rect">
            <a:avLst/>
          </a:prstGeom>
        </p:spPr>
        <p:txBody>
          <a:bodyPr anchor="b"/>
          <a:lstStyle>
            <a:lvl1pPr algn="l" defTabSz="914400" rtl="0" eaLnBrk="1" latinLnBrk="0" hangingPunct="1">
              <a:lnSpc>
                <a:spcPct val="90000"/>
              </a:lnSpc>
              <a:spcBef>
                <a:spcPct val="0"/>
              </a:spcBef>
              <a:buNone/>
              <a:defRPr kumimoji="1" sz="5800" b="1" kern="1200">
                <a:solidFill>
                  <a:schemeClr val="tx1"/>
                </a:solidFill>
                <a:latin typeface="+mn-ea"/>
                <a:ea typeface="+mn-ea"/>
                <a:cs typeface="+mj-cs"/>
              </a:defRPr>
            </a:lvl1pPr>
          </a:lstStyle>
          <a:p>
            <a:pPr algn="ctr">
              <a:lnSpc>
                <a:spcPct val="120000"/>
              </a:lnSpc>
            </a:pPr>
            <a:br>
              <a:rPr kumimoji="0" lang="en-US" altLang="en-US" sz="6000" dirty="0"/>
            </a:br>
            <a:r>
              <a:rPr kumimoji="0" lang="ja-JP" altLang="en-US" sz="2550" b="0" dirty="0">
                <a:solidFill>
                  <a:srgbClr val="222222"/>
                </a:solidFill>
                <a:latin typeface="+mj-ea"/>
                <a:ea typeface="+mj-ea"/>
                <a:cs typeface="Arial" panose="020B0604020202020204" pitchFamily="34" charset="0"/>
              </a:rPr>
              <a:t>光学シースルー拡張現実における重畳コンテンツの</a:t>
            </a:r>
            <a:br>
              <a:rPr kumimoji="0" lang="en-US" altLang="ja-JP" sz="2550" b="0" dirty="0">
                <a:solidFill>
                  <a:srgbClr val="222222"/>
                </a:solidFill>
                <a:latin typeface="+mj-ea"/>
                <a:ea typeface="+mj-ea"/>
                <a:cs typeface="Arial" panose="020B0604020202020204" pitchFamily="34" charset="0"/>
              </a:rPr>
            </a:br>
            <a:r>
              <a:rPr kumimoji="0" lang="ja-JP" altLang="en-US" sz="2550" b="0" dirty="0">
                <a:solidFill>
                  <a:srgbClr val="222222"/>
                </a:solidFill>
                <a:latin typeface="+mj-ea"/>
                <a:ea typeface="+mj-ea"/>
                <a:cs typeface="Arial" panose="020B0604020202020204" pitchFamily="34" charset="0"/>
              </a:rPr>
              <a:t>知覚的視認性に関する調査</a:t>
            </a:r>
            <a:endParaRPr lang="en-US" sz="2550" dirty="0">
              <a:latin typeface="+mj-ea"/>
              <a:ea typeface="+mj-ea"/>
            </a:endParaRPr>
          </a:p>
        </p:txBody>
      </p:sp>
    </p:spTree>
    <p:extLst>
      <p:ext uri="{BB962C8B-B14F-4D97-AF65-F5344CB8AC3E}">
        <p14:creationId xmlns:p14="http://schemas.microsoft.com/office/powerpoint/2010/main" val="16528087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9FCE5-AC84-305C-9869-6A40C22966D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4068C05-5597-3A7A-31DD-3AC3F2DE1B2A}"/>
              </a:ext>
            </a:extLst>
          </p:cNvPr>
          <p:cNvSpPr>
            <a:spLocks noGrp="1"/>
          </p:cNvSpPr>
          <p:nvPr>
            <p:ph type="title"/>
          </p:nvPr>
        </p:nvSpPr>
        <p:spPr/>
        <p:txBody>
          <a:bodyPr/>
          <a:lstStyle/>
          <a:p>
            <a:r>
              <a:rPr lang="en-US" sz="3600" b="1" dirty="0">
                <a:solidFill>
                  <a:schemeClr val="accent1"/>
                </a:solidFill>
                <a:latin typeface="+mj-lt"/>
                <a:ea typeface="+mj-ea"/>
              </a:rPr>
              <a:t>Index</a:t>
            </a:r>
          </a:p>
        </p:txBody>
      </p:sp>
      <p:sp>
        <p:nvSpPr>
          <p:cNvPr id="3" name="コンテンツ プレースホルダー 2">
            <a:extLst>
              <a:ext uri="{FF2B5EF4-FFF2-40B4-BE49-F238E27FC236}">
                <a16:creationId xmlns:a16="http://schemas.microsoft.com/office/drawing/2014/main" id="{4C74EF98-A6EB-BBDC-2256-2B0E50EB042F}"/>
              </a:ext>
            </a:extLst>
          </p:cNvPr>
          <p:cNvSpPr>
            <a:spLocks noGrp="1"/>
          </p:cNvSpPr>
          <p:nvPr>
            <p:ph idx="1"/>
          </p:nvPr>
        </p:nvSpPr>
        <p:spPr>
          <a:xfrm>
            <a:off x="568633" y="994595"/>
            <a:ext cx="11036465" cy="5777442"/>
          </a:xfrm>
        </p:spPr>
        <p:txBody>
          <a:bodyPr>
            <a:normAutofit/>
          </a:bodyPr>
          <a:lstStyle/>
          <a:p>
            <a:pPr marL="457200" indent="-457200">
              <a:buAutoNum type="arabicPeriod"/>
            </a:pPr>
            <a:r>
              <a:rPr lang="en-US" sz="2550" b="1" dirty="0"/>
              <a:t>Introduction</a:t>
            </a:r>
          </a:p>
          <a:p>
            <a:pPr marL="457200" indent="-457200">
              <a:buAutoNum type="arabicPeriod"/>
            </a:pPr>
            <a:r>
              <a:rPr lang="en-US" sz="2550" b="1" dirty="0"/>
              <a:t>Studies on the Perceptual Visibility of OST-AR</a:t>
            </a:r>
          </a:p>
          <a:p>
            <a:pPr marL="457200" indent="-457200">
              <a:buFont typeface="Arial" panose="020B0604020202020204" pitchFamily="34" charset="0"/>
              <a:buAutoNum type="arabicPeriod"/>
            </a:pPr>
            <a:r>
              <a:rPr lang="en-US" altLang="ja-JP" sz="2550" b="1" dirty="0"/>
              <a:t>Visibility Predictor</a:t>
            </a:r>
          </a:p>
          <a:p>
            <a:pPr marL="457200" indent="-457200">
              <a:buFont typeface="Arial" panose="020B0604020202020204" pitchFamily="34" charset="0"/>
              <a:buAutoNum type="arabicPeriod"/>
            </a:pPr>
            <a:r>
              <a:rPr lang="en-US" altLang="ja-JP" sz="2550" b="1" dirty="0"/>
              <a:t>Conclusion</a:t>
            </a:r>
          </a:p>
          <a:p>
            <a:endParaRPr lang="en-US" sz="2550" b="1" dirty="0"/>
          </a:p>
          <a:p>
            <a:pPr marL="457200" indent="-457200">
              <a:buAutoNum type="arabicPeriod"/>
            </a:pPr>
            <a:endParaRPr lang="en-US" sz="2550" b="1" dirty="0"/>
          </a:p>
        </p:txBody>
      </p:sp>
      <p:sp>
        <p:nvSpPr>
          <p:cNvPr id="4" name="スライド番号プレースホルダー 3">
            <a:extLst>
              <a:ext uri="{FF2B5EF4-FFF2-40B4-BE49-F238E27FC236}">
                <a16:creationId xmlns:a16="http://schemas.microsoft.com/office/drawing/2014/main" id="{7C3EAFDB-2594-57B6-A88C-87CFD001534F}"/>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2</a:t>
            </a:fld>
            <a:endParaRPr lang="en-US"/>
          </a:p>
        </p:txBody>
      </p:sp>
    </p:spTree>
    <p:extLst>
      <p:ext uri="{BB962C8B-B14F-4D97-AF65-F5344CB8AC3E}">
        <p14:creationId xmlns:p14="http://schemas.microsoft.com/office/powerpoint/2010/main" val="2161411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355A5-8425-BC7F-64E1-4E80A7DD3A4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09F3919-DF71-BF5C-F6B0-D39B6A9163E7}"/>
              </a:ext>
            </a:extLst>
          </p:cNvPr>
          <p:cNvSpPr>
            <a:spLocks noGrp="1"/>
          </p:cNvSpPr>
          <p:nvPr>
            <p:ph type="title"/>
          </p:nvPr>
        </p:nvSpPr>
        <p:spPr/>
        <p:txBody>
          <a:bodyPr/>
          <a:lstStyle/>
          <a:p>
            <a:r>
              <a:rPr lang="en-US" sz="3600" b="1" dirty="0">
                <a:solidFill>
                  <a:schemeClr val="accent1"/>
                </a:solidFill>
                <a:latin typeface="+mj-lt"/>
                <a:ea typeface="+mj-ea"/>
              </a:rPr>
              <a:t>Index</a:t>
            </a:r>
          </a:p>
        </p:txBody>
      </p:sp>
      <p:sp>
        <p:nvSpPr>
          <p:cNvPr id="3" name="コンテンツ プレースホルダー 2">
            <a:extLst>
              <a:ext uri="{FF2B5EF4-FFF2-40B4-BE49-F238E27FC236}">
                <a16:creationId xmlns:a16="http://schemas.microsoft.com/office/drawing/2014/main" id="{ABB0A85F-7826-F698-B692-F66EC53CA99D}"/>
              </a:ext>
            </a:extLst>
          </p:cNvPr>
          <p:cNvSpPr>
            <a:spLocks noGrp="1"/>
          </p:cNvSpPr>
          <p:nvPr>
            <p:ph idx="1"/>
          </p:nvPr>
        </p:nvSpPr>
        <p:spPr>
          <a:xfrm>
            <a:off x="568633" y="994595"/>
            <a:ext cx="11036465" cy="5777442"/>
          </a:xfrm>
        </p:spPr>
        <p:txBody>
          <a:bodyPr>
            <a:normAutofit/>
          </a:bodyPr>
          <a:lstStyle/>
          <a:p>
            <a:pPr marL="457200" indent="-457200">
              <a:buAutoNum type="arabicPeriod"/>
            </a:pPr>
            <a:r>
              <a:rPr lang="en-US" sz="2550" b="1" dirty="0">
                <a:solidFill>
                  <a:schemeClr val="accent1"/>
                </a:solidFill>
              </a:rPr>
              <a:t>Introduction</a:t>
            </a:r>
          </a:p>
          <a:p>
            <a:pPr marL="971550" lvl="1" indent="-514350">
              <a:buFont typeface="+mj-lt"/>
              <a:buAutoNum type="alphaLcPeriod"/>
            </a:pPr>
            <a:r>
              <a:rPr lang="en-US" sz="2550" b="1" dirty="0">
                <a:solidFill>
                  <a:schemeClr val="accent1"/>
                </a:solidFill>
              </a:rPr>
              <a:t>What is AR?</a:t>
            </a:r>
          </a:p>
          <a:p>
            <a:pPr marL="971550" lvl="1" indent="-514350">
              <a:buFont typeface="+mj-lt"/>
              <a:buAutoNum type="alphaLcPeriod"/>
            </a:pPr>
            <a:r>
              <a:rPr lang="en-US" sz="2550" b="1" dirty="0">
                <a:solidFill>
                  <a:schemeClr val="accent1"/>
                </a:solidFill>
              </a:rPr>
              <a:t>What is “OST”-AR?</a:t>
            </a:r>
          </a:p>
          <a:p>
            <a:pPr marL="971550" lvl="1" indent="-514350">
              <a:buFont typeface="+mj-lt"/>
              <a:buAutoNum type="alphaLcPeriod"/>
            </a:pPr>
            <a:r>
              <a:rPr lang="en-US" sz="2550" b="1" dirty="0">
                <a:solidFill>
                  <a:schemeClr val="accent1"/>
                </a:solidFill>
              </a:rPr>
              <a:t>Issue of OST-AR</a:t>
            </a:r>
          </a:p>
          <a:p>
            <a:pPr marL="971550" lvl="1" indent="-514350">
              <a:buFont typeface="+mj-lt"/>
              <a:buAutoNum type="alphaLcPeriod"/>
            </a:pPr>
            <a:r>
              <a:rPr lang="en-US" sz="2550" b="1" dirty="0"/>
              <a:t>Background (1): What is “Visibility” </a:t>
            </a:r>
          </a:p>
          <a:p>
            <a:pPr marL="971550" lvl="1" indent="-514350">
              <a:buFont typeface="+mj-lt"/>
              <a:buAutoNum type="alphaLcPeriod"/>
            </a:pPr>
            <a:r>
              <a:rPr lang="en-US" sz="2550" b="1" dirty="0"/>
              <a:t>Background (2): Application</a:t>
            </a:r>
          </a:p>
          <a:p>
            <a:pPr marL="971550" lvl="1" indent="-514350">
              <a:buFont typeface="+mj-lt"/>
              <a:buAutoNum type="alphaLcPeriod"/>
            </a:pPr>
            <a:r>
              <a:rPr lang="en-US" sz="2550" b="1" dirty="0"/>
              <a:t>Scope of this Survey</a:t>
            </a:r>
          </a:p>
          <a:p>
            <a:pPr marL="457200" indent="-457200">
              <a:buAutoNum type="arabicPeriod"/>
            </a:pPr>
            <a:r>
              <a:rPr lang="en-US" sz="2550" b="1" dirty="0">
                <a:solidFill>
                  <a:schemeClr val="tx1">
                    <a:lumMod val="40000"/>
                    <a:lumOff val="60000"/>
                  </a:schemeClr>
                </a:solidFill>
              </a:rPr>
              <a:t>Studies on the Perceptual Visibility of OST-AR</a:t>
            </a:r>
          </a:p>
          <a:p>
            <a:pPr marL="457200" indent="-457200">
              <a:buFont typeface="Arial" panose="020B0604020202020204" pitchFamily="34" charset="0"/>
              <a:buAutoNum type="arabicPeriod"/>
            </a:pPr>
            <a:r>
              <a:rPr lang="en-US" altLang="ja-JP" sz="2550" b="1" dirty="0">
                <a:solidFill>
                  <a:schemeClr val="tx1">
                    <a:lumMod val="40000"/>
                    <a:lumOff val="60000"/>
                  </a:schemeClr>
                </a:solidFill>
              </a:rPr>
              <a:t>Visibility Predictor</a:t>
            </a:r>
          </a:p>
          <a:p>
            <a:pPr marL="457200" indent="-457200">
              <a:buFont typeface="Arial" panose="020B0604020202020204" pitchFamily="34" charset="0"/>
              <a:buAutoNum type="arabicPeriod"/>
            </a:pPr>
            <a:r>
              <a:rPr lang="en-US" altLang="ja-JP" sz="2550" b="1" dirty="0">
                <a:solidFill>
                  <a:schemeClr val="tx1">
                    <a:lumMod val="40000"/>
                    <a:lumOff val="60000"/>
                  </a:schemeClr>
                </a:solidFill>
              </a:rPr>
              <a:t>Conclusion</a:t>
            </a:r>
          </a:p>
          <a:p>
            <a:endParaRPr lang="en-US" sz="2550" b="1" dirty="0"/>
          </a:p>
          <a:p>
            <a:pPr marL="457200" indent="-457200">
              <a:buAutoNum type="arabicPeriod"/>
            </a:pPr>
            <a:endParaRPr lang="en-US" sz="2550" b="1" dirty="0"/>
          </a:p>
        </p:txBody>
      </p:sp>
      <p:sp>
        <p:nvSpPr>
          <p:cNvPr id="4" name="スライド番号プレースホルダー 3">
            <a:extLst>
              <a:ext uri="{FF2B5EF4-FFF2-40B4-BE49-F238E27FC236}">
                <a16:creationId xmlns:a16="http://schemas.microsoft.com/office/drawing/2014/main" id="{2A806C11-5D1B-EC58-30C2-41FF02E7474B}"/>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3</a:t>
            </a:fld>
            <a:endParaRPr lang="en-US"/>
          </a:p>
        </p:txBody>
      </p:sp>
    </p:spTree>
    <p:extLst>
      <p:ext uri="{BB962C8B-B14F-4D97-AF65-F5344CB8AC3E}">
        <p14:creationId xmlns:p14="http://schemas.microsoft.com/office/powerpoint/2010/main" val="3758631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CF33B3FC-33EF-FC73-CEFE-F4CB0162A393}"/>
              </a:ext>
            </a:extLst>
          </p:cNvPr>
          <p:cNvSpPr/>
          <p:nvPr/>
        </p:nvSpPr>
        <p:spPr>
          <a:xfrm>
            <a:off x="3505200" y="2185340"/>
            <a:ext cx="7843520" cy="869138"/>
          </a:xfrm>
          <a:prstGeom prst="rect">
            <a:avLst/>
          </a:prstGeom>
          <a:solidFill>
            <a:schemeClr val="accent4">
              <a:lumMod val="40000"/>
              <a:lumOff val="60000"/>
            </a:schemeClr>
          </a:solid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F936CC47-377E-00AA-86E9-DB2745DF219E}"/>
              </a:ext>
            </a:extLst>
          </p:cNvPr>
          <p:cNvSpPr>
            <a:spLocks noGrp="1"/>
          </p:cNvSpPr>
          <p:nvPr>
            <p:ph type="title"/>
          </p:nvPr>
        </p:nvSpPr>
        <p:spPr/>
        <p:txBody>
          <a:bodyPr/>
          <a:lstStyle/>
          <a:p>
            <a:r>
              <a:rPr lang="en-US" sz="3600" b="1" dirty="0">
                <a:solidFill>
                  <a:schemeClr val="accent1"/>
                </a:solidFill>
                <a:latin typeface="+mn-lt"/>
              </a:rPr>
              <a:t>What is AR?</a:t>
            </a:r>
          </a:p>
        </p:txBody>
      </p:sp>
      <p:sp>
        <p:nvSpPr>
          <p:cNvPr id="4" name="スライド番号プレースホルダー 3">
            <a:extLst>
              <a:ext uri="{FF2B5EF4-FFF2-40B4-BE49-F238E27FC236}">
                <a16:creationId xmlns:a16="http://schemas.microsoft.com/office/drawing/2014/main" id="{5FB0F32D-EB37-9963-F0F6-0FB721977CD3}"/>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4</a:t>
            </a:fld>
            <a:endParaRPr lang="en-US"/>
          </a:p>
        </p:txBody>
      </p:sp>
      <p:cxnSp>
        <p:nvCxnSpPr>
          <p:cNvPr id="8" name="直線矢印コネクタ 7">
            <a:extLst>
              <a:ext uri="{FF2B5EF4-FFF2-40B4-BE49-F238E27FC236}">
                <a16:creationId xmlns:a16="http://schemas.microsoft.com/office/drawing/2014/main" id="{1E1DC8A0-7BDD-3336-71CD-06E21CE560E6}"/>
              </a:ext>
            </a:extLst>
          </p:cNvPr>
          <p:cNvCxnSpPr>
            <a:cxnSpLocks/>
          </p:cNvCxnSpPr>
          <p:nvPr/>
        </p:nvCxnSpPr>
        <p:spPr>
          <a:xfrm flipH="1">
            <a:off x="1290320" y="3146858"/>
            <a:ext cx="10314777" cy="0"/>
          </a:xfrm>
          <a:prstGeom prst="straightConnector1">
            <a:avLst/>
          </a:prstGeom>
          <a:ln w="7620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2" name="テキスト ボックス 11">
            <a:extLst>
              <a:ext uri="{FF2B5EF4-FFF2-40B4-BE49-F238E27FC236}">
                <a16:creationId xmlns:a16="http://schemas.microsoft.com/office/drawing/2014/main" id="{C5CB28FB-B62B-BD5C-6A98-BE2DFB234216}"/>
              </a:ext>
            </a:extLst>
          </p:cNvPr>
          <p:cNvSpPr txBox="1"/>
          <p:nvPr/>
        </p:nvSpPr>
        <p:spPr>
          <a:xfrm>
            <a:off x="1290320" y="3408451"/>
            <a:ext cx="1800000" cy="769441"/>
          </a:xfrm>
          <a:prstGeom prst="rect">
            <a:avLst/>
          </a:prstGeom>
          <a:noFill/>
        </p:spPr>
        <p:txBody>
          <a:bodyPr wrap="none" rtlCol="0">
            <a:spAutoFit/>
          </a:bodyPr>
          <a:lstStyle/>
          <a:p>
            <a:pPr algn="ctr"/>
            <a:r>
              <a:rPr lang="en-US" sz="2200" b="1" dirty="0"/>
              <a:t>Real</a:t>
            </a:r>
            <a:br>
              <a:rPr lang="en-US" sz="2200" b="1" dirty="0"/>
            </a:br>
            <a:r>
              <a:rPr lang="en-US" sz="2200" b="1" dirty="0"/>
              <a:t>Environment</a:t>
            </a:r>
          </a:p>
        </p:txBody>
      </p:sp>
      <p:sp>
        <p:nvSpPr>
          <p:cNvPr id="13" name="テキスト ボックス 12">
            <a:extLst>
              <a:ext uri="{FF2B5EF4-FFF2-40B4-BE49-F238E27FC236}">
                <a16:creationId xmlns:a16="http://schemas.microsoft.com/office/drawing/2014/main" id="{B96B8E47-A02E-6619-7A0A-FE79883485E9}"/>
              </a:ext>
            </a:extLst>
          </p:cNvPr>
          <p:cNvSpPr txBox="1"/>
          <p:nvPr/>
        </p:nvSpPr>
        <p:spPr>
          <a:xfrm>
            <a:off x="9805097" y="3402209"/>
            <a:ext cx="1800000" cy="769441"/>
          </a:xfrm>
          <a:prstGeom prst="rect">
            <a:avLst/>
          </a:prstGeom>
          <a:noFill/>
        </p:spPr>
        <p:txBody>
          <a:bodyPr wrap="none" rtlCol="0">
            <a:spAutoFit/>
          </a:bodyPr>
          <a:lstStyle/>
          <a:p>
            <a:pPr algn="ctr"/>
            <a:r>
              <a:rPr lang="en-US" sz="2200" b="1" dirty="0"/>
              <a:t>Virtual</a:t>
            </a:r>
            <a:br>
              <a:rPr lang="en-US" sz="2200" b="1" dirty="0"/>
            </a:br>
            <a:r>
              <a:rPr lang="en-US" sz="2200" b="1" dirty="0"/>
              <a:t>Environment</a:t>
            </a:r>
          </a:p>
        </p:txBody>
      </p:sp>
      <p:sp>
        <p:nvSpPr>
          <p:cNvPr id="14" name="テキスト ボックス 13">
            <a:extLst>
              <a:ext uri="{FF2B5EF4-FFF2-40B4-BE49-F238E27FC236}">
                <a16:creationId xmlns:a16="http://schemas.microsoft.com/office/drawing/2014/main" id="{771BA1C3-7ABE-C2DF-09C7-F6C562D7C0BA}"/>
              </a:ext>
            </a:extLst>
          </p:cNvPr>
          <p:cNvSpPr txBox="1"/>
          <p:nvPr/>
        </p:nvSpPr>
        <p:spPr>
          <a:xfrm>
            <a:off x="4097995" y="3402208"/>
            <a:ext cx="1800000" cy="769441"/>
          </a:xfrm>
          <a:prstGeom prst="rect">
            <a:avLst/>
          </a:prstGeom>
          <a:noFill/>
        </p:spPr>
        <p:txBody>
          <a:bodyPr wrap="none" rtlCol="0">
            <a:spAutoFit/>
          </a:bodyPr>
          <a:lstStyle/>
          <a:p>
            <a:pPr algn="ctr"/>
            <a:r>
              <a:rPr lang="en-US" sz="2200" b="1" dirty="0">
                <a:solidFill>
                  <a:schemeClr val="accent1"/>
                </a:solidFill>
              </a:rPr>
              <a:t>Augmented</a:t>
            </a:r>
          </a:p>
          <a:p>
            <a:pPr algn="ctr"/>
            <a:r>
              <a:rPr lang="en-US" sz="2200" b="1" dirty="0">
                <a:solidFill>
                  <a:schemeClr val="accent1"/>
                </a:solidFill>
              </a:rPr>
              <a:t>Reality</a:t>
            </a:r>
          </a:p>
        </p:txBody>
      </p:sp>
      <p:sp>
        <p:nvSpPr>
          <p:cNvPr id="15" name="テキスト ボックス 14">
            <a:extLst>
              <a:ext uri="{FF2B5EF4-FFF2-40B4-BE49-F238E27FC236}">
                <a16:creationId xmlns:a16="http://schemas.microsoft.com/office/drawing/2014/main" id="{7328026C-02E4-5633-CF51-7398752D2C0D}"/>
              </a:ext>
            </a:extLst>
          </p:cNvPr>
          <p:cNvSpPr txBox="1"/>
          <p:nvPr/>
        </p:nvSpPr>
        <p:spPr>
          <a:xfrm>
            <a:off x="6997422" y="3402207"/>
            <a:ext cx="1800000" cy="769441"/>
          </a:xfrm>
          <a:prstGeom prst="rect">
            <a:avLst/>
          </a:prstGeom>
          <a:noFill/>
        </p:spPr>
        <p:txBody>
          <a:bodyPr wrap="none" rtlCol="0">
            <a:spAutoFit/>
          </a:bodyPr>
          <a:lstStyle/>
          <a:p>
            <a:pPr algn="ctr"/>
            <a:r>
              <a:rPr lang="en-US" sz="2200" b="1" dirty="0"/>
              <a:t>Augmented</a:t>
            </a:r>
          </a:p>
          <a:p>
            <a:pPr algn="ctr"/>
            <a:r>
              <a:rPr lang="en-US" sz="2200" b="1" dirty="0"/>
              <a:t>Virtuality</a:t>
            </a:r>
          </a:p>
        </p:txBody>
      </p:sp>
      <p:sp>
        <p:nvSpPr>
          <p:cNvPr id="16" name="テキスト ボックス 15">
            <a:extLst>
              <a:ext uri="{FF2B5EF4-FFF2-40B4-BE49-F238E27FC236}">
                <a16:creationId xmlns:a16="http://schemas.microsoft.com/office/drawing/2014/main" id="{B987D6C8-49F7-FC2C-5D70-B5DC52654F2F}"/>
              </a:ext>
            </a:extLst>
          </p:cNvPr>
          <p:cNvSpPr txBox="1"/>
          <p:nvPr/>
        </p:nvSpPr>
        <p:spPr>
          <a:xfrm>
            <a:off x="4621827" y="2623600"/>
            <a:ext cx="567784" cy="430887"/>
          </a:xfrm>
          <a:prstGeom prst="rect">
            <a:avLst/>
          </a:prstGeom>
          <a:noFill/>
        </p:spPr>
        <p:txBody>
          <a:bodyPr wrap="none" rtlCol="0">
            <a:spAutoFit/>
          </a:bodyPr>
          <a:lstStyle/>
          <a:p>
            <a:pPr algn="ctr"/>
            <a:r>
              <a:rPr lang="en-US" sz="2200" b="1" dirty="0">
                <a:solidFill>
                  <a:schemeClr val="accent1"/>
                </a:solidFill>
              </a:rPr>
              <a:t>AR</a:t>
            </a:r>
          </a:p>
        </p:txBody>
      </p:sp>
      <p:sp>
        <p:nvSpPr>
          <p:cNvPr id="17" name="テキスト ボックス 16">
            <a:extLst>
              <a:ext uri="{FF2B5EF4-FFF2-40B4-BE49-F238E27FC236}">
                <a16:creationId xmlns:a16="http://schemas.microsoft.com/office/drawing/2014/main" id="{BD393514-857A-6D31-8511-DA4E129738D0}"/>
              </a:ext>
            </a:extLst>
          </p:cNvPr>
          <p:cNvSpPr txBox="1"/>
          <p:nvPr/>
        </p:nvSpPr>
        <p:spPr>
          <a:xfrm>
            <a:off x="10386237" y="2623610"/>
            <a:ext cx="556564" cy="430887"/>
          </a:xfrm>
          <a:prstGeom prst="rect">
            <a:avLst/>
          </a:prstGeom>
          <a:noFill/>
        </p:spPr>
        <p:txBody>
          <a:bodyPr wrap="none" rtlCol="0">
            <a:spAutoFit/>
          </a:bodyPr>
          <a:lstStyle/>
          <a:p>
            <a:pPr algn="ctr"/>
            <a:r>
              <a:rPr lang="en-US" sz="2200" b="1" dirty="0"/>
              <a:t>VR</a:t>
            </a:r>
          </a:p>
        </p:txBody>
      </p:sp>
      <p:cxnSp>
        <p:nvCxnSpPr>
          <p:cNvPr id="19" name="直線コネクタ 18">
            <a:extLst>
              <a:ext uri="{FF2B5EF4-FFF2-40B4-BE49-F238E27FC236}">
                <a16:creationId xmlns:a16="http://schemas.microsoft.com/office/drawing/2014/main" id="{E6F410E2-786C-6232-ABF8-41D094783666}"/>
              </a:ext>
            </a:extLst>
          </p:cNvPr>
          <p:cNvCxnSpPr>
            <a:cxnSpLocks/>
          </p:cNvCxnSpPr>
          <p:nvPr/>
        </p:nvCxnSpPr>
        <p:spPr>
          <a:xfrm flipV="1">
            <a:off x="4083859" y="2570311"/>
            <a:ext cx="0" cy="372675"/>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直線コネクタ 21">
            <a:extLst>
              <a:ext uri="{FF2B5EF4-FFF2-40B4-BE49-F238E27FC236}">
                <a16:creationId xmlns:a16="http://schemas.microsoft.com/office/drawing/2014/main" id="{F7982E7D-3689-03B9-6DB1-D4D1FEF4F824}"/>
              </a:ext>
            </a:extLst>
          </p:cNvPr>
          <p:cNvCxnSpPr>
            <a:cxnSpLocks/>
          </p:cNvCxnSpPr>
          <p:nvPr/>
        </p:nvCxnSpPr>
        <p:spPr>
          <a:xfrm flipV="1">
            <a:off x="8508985" y="2570311"/>
            <a:ext cx="0" cy="372675"/>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直線コネクタ 22">
            <a:extLst>
              <a:ext uri="{FF2B5EF4-FFF2-40B4-BE49-F238E27FC236}">
                <a16:creationId xmlns:a16="http://schemas.microsoft.com/office/drawing/2014/main" id="{370E6D3E-10FC-6749-CBA2-FABFBAC3DB45}"/>
              </a:ext>
            </a:extLst>
          </p:cNvPr>
          <p:cNvCxnSpPr>
            <a:cxnSpLocks/>
          </p:cNvCxnSpPr>
          <p:nvPr/>
        </p:nvCxnSpPr>
        <p:spPr>
          <a:xfrm>
            <a:off x="4083859" y="2570292"/>
            <a:ext cx="4425126" cy="19"/>
          </a:xfrm>
          <a:prstGeom prst="line">
            <a:avLst/>
          </a:prstGeom>
        </p:spPr>
        <p:style>
          <a:lnRef idx="2">
            <a:schemeClr val="accent1"/>
          </a:lnRef>
          <a:fillRef idx="0">
            <a:schemeClr val="accent1"/>
          </a:fillRef>
          <a:effectRef idx="1">
            <a:schemeClr val="accent1"/>
          </a:effectRef>
          <a:fontRef idx="minor">
            <a:schemeClr val="tx1"/>
          </a:fontRef>
        </p:style>
      </p:cxnSp>
      <p:sp>
        <p:nvSpPr>
          <p:cNvPr id="27" name="テキスト ボックス 26">
            <a:extLst>
              <a:ext uri="{FF2B5EF4-FFF2-40B4-BE49-F238E27FC236}">
                <a16:creationId xmlns:a16="http://schemas.microsoft.com/office/drawing/2014/main" id="{D88CEA3B-5F79-EF28-A302-589C0A1934DF}"/>
              </a:ext>
            </a:extLst>
          </p:cNvPr>
          <p:cNvSpPr txBox="1"/>
          <p:nvPr/>
        </p:nvSpPr>
        <p:spPr>
          <a:xfrm>
            <a:off x="5994530" y="2354848"/>
            <a:ext cx="638316" cy="430887"/>
          </a:xfrm>
          <a:prstGeom prst="rect">
            <a:avLst/>
          </a:prstGeom>
          <a:solidFill>
            <a:schemeClr val="accent4">
              <a:lumMod val="40000"/>
              <a:lumOff val="60000"/>
            </a:schemeClr>
          </a:solidFill>
        </p:spPr>
        <p:txBody>
          <a:bodyPr wrap="none" rtlCol="0">
            <a:spAutoFit/>
          </a:bodyPr>
          <a:lstStyle/>
          <a:p>
            <a:pPr algn="ctr"/>
            <a:r>
              <a:rPr lang="en-US" sz="2200" b="1" dirty="0"/>
              <a:t>MR</a:t>
            </a:r>
          </a:p>
        </p:txBody>
      </p:sp>
      <p:sp>
        <p:nvSpPr>
          <p:cNvPr id="10" name="テキスト ボックス 9">
            <a:extLst>
              <a:ext uri="{FF2B5EF4-FFF2-40B4-BE49-F238E27FC236}">
                <a16:creationId xmlns:a16="http://schemas.microsoft.com/office/drawing/2014/main" id="{19239D64-221F-E0B5-9D58-C8682ED2B418}"/>
              </a:ext>
            </a:extLst>
          </p:cNvPr>
          <p:cNvSpPr txBox="1"/>
          <p:nvPr/>
        </p:nvSpPr>
        <p:spPr>
          <a:xfrm>
            <a:off x="7241507" y="1769339"/>
            <a:ext cx="577402" cy="430887"/>
          </a:xfrm>
          <a:prstGeom prst="rect">
            <a:avLst/>
          </a:prstGeom>
          <a:solidFill>
            <a:schemeClr val="bg1"/>
          </a:solidFill>
          <a:ln w="28575">
            <a:noFill/>
          </a:ln>
        </p:spPr>
        <p:txBody>
          <a:bodyPr wrap="none" rtlCol="0">
            <a:spAutoFit/>
          </a:bodyPr>
          <a:lstStyle/>
          <a:p>
            <a:pPr algn="ctr"/>
            <a:r>
              <a:rPr lang="en-US" sz="2200" b="1" dirty="0"/>
              <a:t>     </a:t>
            </a:r>
          </a:p>
        </p:txBody>
      </p:sp>
      <p:sp>
        <p:nvSpPr>
          <p:cNvPr id="5" name="テキスト ボックス 4">
            <a:extLst>
              <a:ext uri="{FF2B5EF4-FFF2-40B4-BE49-F238E27FC236}">
                <a16:creationId xmlns:a16="http://schemas.microsoft.com/office/drawing/2014/main" id="{2CED77D4-7DA1-C2AE-E0B8-917AD49930EA}"/>
              </a:ext>
            </a:extLst>
          </p:cNvPr>
          <p:cNvSpPr txBox="1"/>
          <p:nvPr/>
        </p:nvSpPr>
        <p:spPr>
          <a:xfrm>
            <a:off x="7252313" y="1975330"/>
            <a:ext cx="553357" cy="430887"/>
          </a:xfrm>
          <a:prstGeom prst="rect">
            <a:avLst/>
          </a:prstGeom>
          <a:noFill/>
          <a:ln w="28575">
            <a:noFill/>
          </a:ln>
        </p:spPr>
        <p:txBody>
          <a:bodyPr wrap="none" rtlCol="0">
            <a:spAutoFit/>
          </a:bodyPr>
          <a:lstStyle/>
          <a:p>
            <a:pPr algn="ctr"/>
            <a:r>
              <a:rPr lang="en-US" sz="2200" b="1" dirty="0"/>
              <a:t>XR</a:t>
            </a:r>
          </a:p>
        </p:txBody>
      </p:sp>
      <p:sp>
        <p:nvSpPr>
          <p:cNvPr id="11" name="テキスト ボックス 10">
            <a:extLst>
              <a:ext uri="{FF2B5EF4-FFF2-40B4-BE49-F238E27FC236}">
                <a16:creationId xmlns:a16="http://schemas.microsoft.com/office/drawing/2014/main" id="{D053160A-379A-DD3C-3944-308C13D36238}"/>
              </a:ext>
            </a:extLst>
          </p:cNvPr>
          <p:cNvSpPr txBox="1"/>
          <p:nvPr/>
        </p:nvSpPr>
        <p:spPr>
          <a:xfrm>
            <a:off x="403856" y="2454379"/>
            <a:ext cx="781303" cy="430887"/>
          </a:xfrm>
          <a:prstGeom prst="rect">
            <a:avLst/>
          </a:prstGeom>
          <a:noFill/>
        </p:spPr>
        <p:txBody>
          <a:bodyPr wrap="none" rtlCol="0">
            <a:spAutoFit/>
          </a:bodyPr>
          <a:lstStyle/>
          <a:p>
            <a:pPr algn="ctr"/>
            <a:r>
              <a:rPr lang="en-US" sz="2200" b="1" dirty="0">
                <a:solidFill>
                  <a:schemeClr val="accent1"/>
                </a:solidFill>
              </a:rPr>
              <a:t>Tech</a:t>
            </a:r>
          </a:p>
        </p:txBody>
      </p:sp>
      <p:sp>
        <p:nvSpPr>
          <p:cNvPr id="18" name="テキスト ボックス 17">
            <a:extLst>
              <a:ext uri="{FF2B5EF4-FFF2-40B4-BE49-F238E27FC236}">
                <a16:creationId xmlns:a16="http://schemas.microsoft.com/office/drawing/2014/main" id="{AFE28DB8-B5CC-BBF8-67B4-4A96E97AA406}"/>
              </a:ext>
            </a:extLst>
          </p:cNvPr>
          <p:cNvSpPr txBox="1"/>
          <p:nvPr/>
        </p:nvSpPr>
        <p:spPr>
          <a:xfrm>
            <a:off x="526255" y="3467349"/>
            <a:ext cx="657552" cy="430887"/>
          </a:xfrm>
          <a:prstGeom prst="rect">
            <a:avLst/>
          </a:prstGeom>
          <a:noFill/>
        </p:spPr>
        <p:txBody>
          <a:bodyPr wrap="none" rtlCol="0">
            <a:spAutoFit/>
          </a:bodyPr>
          <a:lstStyle/>
          <a:p>
            <a:pPr algn="ctr"/>
            <a:r>
              <a:rPr lang="en-US" sz="2200" b="1" dirty="0">
                <a:solidFill>
                  <a:schemeClr val="accent6"/>
                </a:solidFill>
              </a:rPr>
              <a:t>Env</a:t>
            </a:r>
          </a:p>
        </p:txBody>
      </p:sp>
      <p:cxnSp>
        <p:nvCxnSpPr>
          <p:cNvPr id="25" name="直線コネクタ 24">
            <a:extLst>
              <a:ext uri="{FF2B5EF4-FFF2-40B4-BE49-F238E27FC236}">
                <a16:creationId xmlns:a16="http://schemas.microsoft.com/office/drawing/2014/main" id="{A9F8E3B6-B113-BC15-3F32-25C145782BFF}"/>
              </a:ext>
            </a:extLst>
          </p:cNvPr>
          <p:cNvCxnSpPr>
            <a:cxnSpLocks/>
          </p:cNvCxnSpPr>
          <p:nvPr/>
        </p:nvCxnSpPr>
        <p:spPr>
          <a:xfrm>
            <a:off x="308164" y="3146858"/>
            <a:ext cx="1024688" cy="0"/>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9" name="正方形/長方形 28">
            <a:extLst>
              <a:ext uri="{FF2B5EF4-FFF2-40B4-BE49-F238E27FC236}">
                <a16:creationId xmlns:a16="http://schemas.microsoft.com/office/drawing/2014/main" id="{755D04B9-533C-23EE-1E24-9AECA947EAC2}"/>
              </a:ext>
            </a:extLst>
          </p:cNvPr>
          <p:cNvSpPr/>
          <p:nvPr/>
        </p:nvSpPr>
        <p:spPr>
          <a:xfrm>
            <a:off x="1290320" y="4439484"/>
            <a:ext cx="1800000" cy="1800000"/>
          </a:xfrm>
          <a:prstGeom prst="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altLang="ja-JP" dirty="0">
                <a:solidFill>
                  <a:schemeClr val="accent6"/>
                </a:solidFill>
              </a:rPr>
              <a:t>Real</a:t>
            </a:r>
            <a:endParaRPr kumimoji="1" lang="ja-JP" altLang="en-US" dirty="0">
              <a:solidFill>
                <a:schemeClr val="accent6"/>
              </a:solidFill>
            </a:endParaRPr>
          </a:p>
        </p:txBody>
      </p:sp>
      <p:sp>
        <p:nvSpPr>
          <p:cNvPr id="30" name="正方形/長方形 29">
            <a:extLst>
              <a:ext uri="{FF2B5EF4-FFF2-40B4-BE49-F238E27FC236}">
                <a16:creationId xmlns:a16="http://schemas.microsoft.com/office/drawing/2014/main" id="{76ECBB45-ED9C-6A46-E215-A72D6242CBA0}"/>
              </a:ext>
            </a:extLst>
          </p:cNvPr>
          <p:cNvSpPr/>
          <p:nvPr/>
        </p:nvSpPr>
        <p:spPr>
          <a:xfrm>
            <a:off x="4097995" y="4439484"/>
            <a:ext cx="1800000" cy="1800000"/>
          </a:xfrm>
          <a:prstGeom prst="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altLang="ja-JP" dirty="0">
                <a:solidFill>
                  <a:schemeClr val="accent6"/>
                </a:solidFill>
              </a:rPr>
              <a:t>Real</a:t>
            </a:r>
            <a:endParaRPr kumimoji="1" lang="ja-JP" altLang="en-US" dirty="0">
              <a:solidFill>
                <a:schemeClr val="accent6"/>
              </a:solidFill>
            </a:endParaRPr>
          </a:p>
        </p:txBody>
      </p:sp>
      <p:sp>
        <p:nvSpPr>
          <p:cNvPr id="31" name="正方形/長方形 30">
            <a:extLst>
              <a:ext uri="{FF2B5EF4-FFF2-40B4-BE49-F238E27FC236}">
                <a16:creationId xmlns:a16="http://schemas.microsoft.com/office/drawing/2014/main" id="{BD44721B-8CC9-EEF4-590D-072AA72C3B3C}"/>
              </a:ext>
            </a:extLst>
          </p:cNvPr>
          <p:cNvSpPr/>
          <p:nvPr/>
        </p:nvSpPr>
        <p:spPr>
          <a:xfrm>
            <a:off x="6997422" y="4439484"/>
            <a:ext cx="1800000" cy="18000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altLang="ja-JP" dirty="0">
                <a:solidFill>
                  <a:schemeClr val="accent1"/>
                </a:solidFill>
              </a:rPr>
              <a:t>Virtual</a:t>
            </a:r>
            <a:endParaRPr kumimoji="1" lang="ja-JP" altLang="en-US" dirty="0">
              <a:solidFill>
                <a:schemeClr val="accent1"/>
              </a:solidFill>
            </a:endParaRPr>
          </a:p>
        </p:txBody>
      </p:sp>
      <p:sp>
        <p:nvSpPr>
          <p:cNvPr id="33" name="正方形/長方形 32">
            <a:extLst>
              <a:ext uri="{FF2B5EF4-FFF2-40B4-BE49-F238E27FC236}">
                <a16:creationId xmlns:a16="http://schemas.microsoft.com/office/drawing/2014/main" id="{F98CE3E3-B78E-0AA4-6B02-0CF27AD473E2}"/>
              </a:ext>
            </a:extLst>
          </p:cNvPr>
          <p:cNvSpPr/>
          <p:nvPr/>
        </p:nvSpPr>
        <p:spPr>
          <a:xfrm>
            <a:off x="9805097" y="4439484"/>
            <a:ext cx="1800000" cy="18000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altLang="ja-JP" dirty="0">
                <a:solidFill>
                  <a:schemeClr val="accent1"/>
                </a:solidFill>
              </a:rPr>
              <a:t>Virtual</a:t>
            </a:r>
            <a:endParaRPr kumimoji="1" lang="ja-JP" altLang="en-US" dirty="0">
              <a:solidFill>
                <a:schemeClr val="accent1"/>
              </a:solidFill>
            </a:endParaRPr>
          </a:p>
        </p:txBody>
      </p:sp>
      <p:sp>
        <p:nvSpPr>
          <p:cNvPr id="34" name="楕円 33">
            <a:extLst>
              <a:ext uri="{FF2B5EF4-FFF2-40B4-BE49-F238E27FC236}">
                <a16:creationId xmlns:a16="http://schemas.microsoft.com/office/drawing/2014/main" id="{9EEFE6C4-63D4-0D06-938D-350047646439}"/>
              </a:ext>
            </a:extLst>
          </p:cNvPr>
          <p:cNvSpPr/>
          <p:nvPr/>
        </p:nvSpPr>
        <p:spPr>
          <a:xfrm>
            <a:off x="1758158" y="4878676"/>
            <a:ext cx="1224000" cy="1224000"/>
          </a:xfrm>
          <a:prstGeom prst="ellipse">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Real</a:t>
            </a:r>
            <a:endParaRPr kumimoji="1" lang="ja-JP" altLang="en-US" dirty="0">
              <a:solidFill>
                <a:schemeClr val="tx1"/>
              </a:solidFill>
            </a:endParaRPr>
          </a:p>
        </p:txBody>
      </p:sp>
      <p:sp>
        <p:nvSpPr>
          <p:cNvPr id="35" name="楕円 34">
            <a:extLst>
              <a:ext uri="{FF2B5EF4-FFF2-40B4-BE49-F238E27FC236}">
                <a16:creationId xmlns:a16="http://schemas.microsoft.com/office/drawing/2014/main" id="{DF865D6D-BB90-C612-8789-5BB59DE6554B}"/>
              </a:ext>
            </a:extLst>
          </p:cNvPr>
          <p:cNvSpPr/>
          <p:nvPr/>
        </p:nvSpPr>
        <p:spPr>
          <a:xfrm>
            <a:off x="7465260" y="4878676"/>
            <a:ext cx="1224000" cy="1224000"/>
          </a:xfrm>
          <a:prstGeom prst="ellipse">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Real</a:t>
            </a:r>
            <a:endParaRPr kumimoji="1" lang="ja-JP" altLang="en-US" dirty="0">
              <a:solidFill>
                <a:schemeClr val="tx1"/>
              </a:solidFill>
            </a:endParaRPr>
          </a:p>
        </p:txBody>
      </p:sp>
      <p:sp>
        <p:nvSpPr>
          <p:cNvPr id="36" name="正方形/長方形 35">
            <a:extLst>
              <a:ext uri="{FF2B5EF4-FFF2-40B4-BE49-F238E27FC236}">
                <a16:creationId xmlns:a16="http://schemas.microsoft.com/office/drawing/2014/main" id="{11074DE0-8F3C-C2E6-3C59-4F42A834903A}"/>
              </a:ext>
            </a:extLst>
          </p:cNvPr>
          <p:cNvSpPr/>
          <p:nvPr/>
        </p:nvSpPr>
        <p:spPr>
          <a:xfrm>
            <a:off x="4577611" y="4878676"/>
            <a:ext cx="1224000" cy="122400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Virtual</a:t>
            </a:r>
            <a:endParaRPr kumimoji="1" lang="ja-JP" altLang="en-US" dirty="0">
              <a:solidFill>
                <a:schemeClr val="tx1"/>
              </a:solidFill>
            </a:endParaRPr>
          </a:p>
        </p:txBody>
      </p:sp>
      <p:sp>
        <p:nvSpPr>
          <p:cNvPr id="38" name="正方形/長方形 37">
            <a:extLst>
              <a:ext uri="{FF2B5EF4-FFF2-40B4-BE49-F238E27FC236}">
                <a16:creationId xmlns:a16="http://schemas.microsoft.com/office/drawing/2014/main" id="{3A52A59B-F778-1B47-D439-22F8C001055E}"/>
              </a:ext>
            </a:extLst>
          </p:cNvPr>
          <p:cNvSpPr/>
          <p:nvPr/>
        </p:nvSpPr>
        <p:spPr>
          <a:xfrm>
            <a:off x="10289680" y="4878676"/>
            <a:ext cx="1224000" cy="122400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Virtual</a:t>
            </a:r>
            <a:endParaRPr kumimoji="1" lang="ja-JP" altLang="en-US" dirty="0">
              <a:solidFill>
                <a:schemeClr val="tx1"/>
              </a:solidFill>
            </a:endParaRPr>
          </a:p>
        </p:txBody>
      </p:sp>
      <p:sp>
        <p:nvSpPr>
          <p:cNvPr id="39" name="楕円 38">
            <a:extLst>
              <a:ext uri="{FF2B5EF4-FFF2-40B4-BE49-F238E27FC236}">
                <a16:creationId xmlns:a16="http://schemas.microsoft.com/office/drawing/2014/main" id="{37A678E5-95CD-4BA2-B95B-02F3E0AFEA77}"/>
              </a:ext>
            </a:extLst>
          </p:cNvPr>
          <p:cNvSpPr/>
          <p:nvPr/>
        </p:nvSpPr>
        <p:spPr>
          <a:xfrm>
            <a:off x="4448519" y="2624256"/>
            <a:ext cx="914400" cy="44874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8AD7D9E8-DF16-CDCD-E85E-D6DB8159F00E}"/>
              </a:ext>
            </a:extLst>
          </p:cNvPr>
          <p:cNvSpPr txBox="1"/>
          <p:nvPr/>
        </p:nvSpPr>
        <p:spPr>
          <a:xfrm>
            <a:off x="577768" y="989563"/>
            <a:ext cx="3406830" cy="1131079"/>
          </a:xfrm>
          <a:prstGeom prst="rect">
            <a:avLst/>
          </a:prstGeom>
          <a:noFill/>
        </p:spPr>
        <p:txBody>
          <a:bodyPr wrap="none" rtlCol="0">
            <a:spAutoFit/>
          </a:bodyPr>
          <a:lstStyle/>
          <a:p>
            <a:r>
              <a:rPr lang="en-US" sz="2550" b="1" u="sng" dirty="0"/>
              <a:t>Virtual in Real</a:t>
            </a:r>
          </a:p>
          <a:p>
            <a:endParaRPr lang="en-US" sz="2000" b="1" u="sng" dirty="0"/>
          </a:p>
          <a:p>
            <a:r>
              <a:rPr lang="en-US" sz="2200" b="1" dirty="0"/>
              <a:t>&lt;Virtual Continuum[1]&gt;</a:t>
            </a:r>
          </a:p>
        </p:txBody>
      </p:sp>
      <p:sp>
        <p:nvSpPr>
          <p:cNvPr id="7" name="テキスト ボックス 6">
            <a:extLst>
              <a:ext uri="{FF2B5EF4-FFF2-40B4-BE49-F238E27FC236}">
                <a16:creationId xmlns:a16="http://schemas.microsoft.com/office/drawing/2014/main" id="{F329FCFE-ED1B-46CA-E986-C59AB33F047A}"/>
              </a:ext>
            </a:extLst>
          </p:cNvPr>
          <p:cNvSpPr txBox="1"/>
          <p:nvPr/>
        </p:nvSpPr>
        <p:spPr>
          <a:xfrm>
            <a:off x="7620913" y="2623600"/>
            <a:ext cx="555408" cy="430887"/>
          </a:xfrm>
          <a:prstGeom prst="rect">
            <a:avLst/>
          </a:prstGeom>
          <a:noFill/>
        </p:spPr>
        <p:txBody>
          <a:bodyPr wrap="none" rtlCol="0">
            <a:spAutoFit/>
          </a:bodyPr>
          <a:lstStyle/>
          <a:p>
            <a:pPr algn="ctr"/>
            <a:r>
              <a:rPr lang="en-US" sz="2200" b="1" dirty="0"/>
              <a:t>AV</a:t>
            </a:r>
          </a:p>
        </p:txBody>
      </p:sp>
      <p:sp>
        <p:nvSpPr>
          <p:cNvPr id="6" name="フッター プレースホルダー 4">
            <a:extLst>
              <a:ext uri="{FF2B5EF4-FFF2-40B4-BE49-F238E27FC236}">
                <a16:creationId xmlns:a16="http://schemas.microsoft.com/office/drawing/2014/main" id="{9E45BF69-C7D0-4B97-6492-713145A86CFF}"/>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sz="1200" b="1" dirty="0"/>
              <a:t>[1] F. K. Paul MILGRAM, “A taxonomy of mixed reality visual displays,”1994</a:t>
            </a:r>
          </a:p>
          <a:p>
            <a:r>
              <a:rPr lang="en-US" sz="1200" b="1" dirty="0"/>
              <a:t>[2] Y. Zhang, R. Wang, Y. Peng, W. Hua, and H. Bao, “ Color Contrast Enhanced Rendering for Optical See</a:t>
            </a:r>
            <a:r>
              <a:rPr lang="ja-JP" altLang="en-US" sz="1200" b="1" dirty="0"/>
              <a:t> </a:t>
            </a:r>
            <a:r>
              <a:rPr lang="en-US" sz="1200" b="1" dirty="0"/>
              <a:t>Through Head-Mounted Displays ,” 2022</a:t>
            </a:r>
          </a:p>
        </p:txBody>
      </p:sp>
      <p:pic>
        <p:nvPicPr>
          <p:cNvPr id="20" name="図 19">
            <a:extLst>
              <a:ext uri="{FF2B5EF4-FFF2-40B4-BE49-F238E27FC236}">
                <a16:creationId xmlns:a16="http://schemas.microsoft.com/office/drawing/2014/main" id="{1CDA049D-2FCC-2EC5-5990-60761CB7052E}"/>
              </a:ext>
            </a:extLst>
          </p:cNvPr>
          <p:cNvPicPr>
            <a:picLocks noChangeAspect="1"/>
          </p:cNvPicPr>
          <p:nvPr/>
        </p:nvPicPr>
        <p:blipFill>
          <a:blip r:embed="rId3"/>
          <a:stretch>
            <a:fillRect/>
          </a:stretch>
        </p:blipFill>
        <p:spPr>
          <a:xfrm>
            <a:off x="8207405" y="106522"/>
            <a:ext cx="3141316" cy="1787215"/>
          </a:xfrm>
          <a:prstGeom prst="rect">
            <a:avLst/>
          </a:prstGeom>
        </p:spPr>
      </p:pic>
      <p:sp>
        <p:nvSpPr>
          <p:cNvPr id="21" name="テキスト ボックス 20">
            <a:extLst>
              <a:ext uri="{FF2B5EF4-FFF2-40B4-BE49-F238E27FC236}">
                <a16:creationId xmlns:a16="http://schemas.microsoft.com/office/drawing/2014/main" id="{19DDF203-98E0-A175-D307-5430921A72A8}"/>
              </a:ext>
            </a:extLst>
          </p:cNvPr>
          <p:cNvSpPr txBox="1"/>
          <p:nvPr/>
        </p:nvSpPr>
        <p:spPr>
          <a:xfrm>
            <a:off x="10083643" y="1815421"/>
            <a:ext cx="1337674" cy="276999"/>
          </a:xfrm>
          <a:prstGeom prst="rect">
            <a:avLst/>
          </a:prstGeom>
          <a:noFill/>
        </p:spPr>
        <p:txBody>
          <a:bodyPr wrap="none" rtlCol="0">
            <a:spAutoFit/>
          </a:bodyPr>
          <a:lstStyle/>
          <a:p>
            <a:r>
              <a:rPr lang="en-US" sz="1200" dirty="0"/>
              <a:t>Example of AR[2]</a:t>
            </a:r>
          </a:p>
        </p:txBody>
      </p:sp>
    </p:spTree>
    <p:extLst>
      <p:ext uri="{BB962C8B-B14F-4D97-AF65-F5344CB8AC3E}">
        <p14:creationId xmlns:p14="http://schemas.microsoft.com/office/powerpoint/2010/main" val="895587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90BA67-BFDD-ABF6-41A4-95A77544AA21}"/>
              </a:ext>
            </a:extLst>
          </p:cNvPr>
          <p:cNvSpPr>
            <a:spLocks noGrp="1"/>
          </p:cNvSpPr>
          <p:nvPr>
            <p:ph type="title"/>
          </p:nvPr>
        </p:nvSpPr>
        <p:spPr/>
        <p:txBody>
          <a:bodyPr/>
          <a:lstStyle/>
          <a:p>
            <a:r>
              <a:rPr lang="en-US" altLang="ja-JP" sz="3600" b="1" dirty="0">
                <a:solidFill>
                  <a:schemeClr val="accent1"/>
                </a:solidFill>
                <a:latin typeface="+mj-lt"/>
              </a:rPr>
              <a:t>What is “OST”-AR?</a:t>
            </a:r>
            <a:r>
              <a:rPr lang="en-US" altLang="ja-JP" sz="1800" b="1" dirty="0">
                <a:solidFill>
                  <a:schemeClr val="accent1"/>
                </a:solidFill>
                <a:latin typeface="+mj-lt"/>
              </a:rPr>
              <a:t>[1]</a:t>
            </a:r>
            <a:endParaRPr kumimoji="1" lang="ja-JP" altLang="en-US" sz="1800" dirty="0">
              <a:latin typeface="+mj-lt"/>
            </a:endParaRPr>
          </a:p>
        </p:txBody>
      </p:sp>
      <p:sp>
        <p:nvSpPr>
          <p:cNvPr id="3" name="コンテンツ プレースホルダー 2">
            <a:extLst>
              <a:ext uri="{FF2B5EF4-FFF2-40B4-BE49-F238E27FC236}">
                <a16:creationId xmlns:a16="http://schemas.microsoft.com/office/drawing/2014/main" id="{C23197A0-97C1-BD36-C6C2-4779326AF4E5}"/>
              </a:ext>
            </a:extLst>
          </p:cNvPr>
          <p:cNvSpPr>
            <a:spLocks noGrp="1"/>
          </p:cNvSpPr>
          <p:nvPr>
            <p:ph idx="1"/>
          </p:nvPr>
        </p:nvSpPr>
        <p:spPr>
          <a:xfrm>
            <a:off x="568633" y="994596"/>
            <a:ext cx="5527367" cy="597206"/>
          </a:xfrm>
        </p:spPr>
        <p:txBody>
          <a:bodyPr>
            <a:noAutofit/>
          </a:bodyPr>
          <a:lstStyle/>
          <a:p>
            <a:r>
              <a:rPr lang="en-US" altLang="ja-JP" sz="2550" b="1" dirty="0"/>
              <a:t>Video See-Through AR</a:t>
            </a:r>
          </a:p>
        </p:txBody>
      </p:sp>
      <p:sp>
        <p:nvSpPr>
          <p:cNvPr id="4" name="スライド番号プレースホルダー 3">
            <a:extLst>
              <a:ext uri="{FF2B5EF4-FFF2-40B4-BE49-F238E27FC236}">
                <a16:creationId xmlns:a16="http://schemas.microsoft.com/office/drawing/2014/main" id="{7532D04F-ED1C-6019-914A-E5E89200E2FB}"/>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5</a:t>
            </a:fld>
            <a:endParaRPr lang="en-US"/>
          </a:p>
        </p:txBody>
      </p:sp>
      <p:sp>
        <p:nvSpPr>
          <p:cNvPr id="6" name="コンテンツ プレースホルダー 2">
            <a:extLst>
              <a:ext uri="{FF2B5EF4-FFF2-40B4-BE49-F238E27FC236}">
                <a16:creationId xmlns:a16="http://schemas.microsoft.com/office/drawing/2014/main" id="{0B46651C-6AD6-824F-AC0B-704B6F5728AB}"/>
              </a:ext>
            </a:extLst>
          </p:cNvPr>
          <p:cNvSpPr txBox="1">
            <a:spLocks/>
          </p:cNvSpPr>
          <p:nvPr/>
        </p:nvSpPr>
        <p:spPr>
          <a:xfrm>
            <a:off x="6108320" y="994594"/>
            <a:ext cx="5527367" cy="650947"/>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Font typeface="Arial" panose="020B0604020202020204" pitchFamily="34" charset="0"/>
              <a:buNone/>
              <a:defRPr kumimoji="1" sz="2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550" b="1" dirty="0"/>
              <a:t>Optical See-Through AR</a:t>
            </a:r>
          </a:p>
          <a:p>
            <a:endParaRPr lang="en-US" altLang="ja-JP" sz="2550" b="1" dirty="0"/>
          </a:p>
        </p:txBody>
      </p:sp>
      <p:grpSp>
        <p:nvGrpSpPr>
          <p:cNvPr id="20" name="グループ化 19">
            <a:extLst>
              <a:ext uri="{FF2B5EF4-FFF2-40B4-BE49-F238E27FC236}">
                <a16:creationId xmlns:a16="http://schemas.microsoft.com/office/drawing/2014/main" id="{FE3E8279-A52C-690D-696F-ADD333CEA99D}"/>
              </a:ext>
            </a:extLst>
          </p:cNvPr>
          <p:cNvGrpSpPr/>
          <p:nvPr/>
        </p:nvGrpSpPr>
        <p:grpSpPr>
          <a:xfrm>
            <a:off x="6308047" y="1511772"/>
            <a:ext cx="4879650" cy="2707333"/>
            <a:chOff x="224645" y="1677787"/>
            <a:chExt cx="4879650" cy="2707333"/>
          </a:xfrm>
        </p:grpSpPr>
        <p:sp>
          <p:nvSpPr>
            <p:cNvPr id="7" name="矢印: 右カーブ 6">
              <a:extLst>
                <a:ext uri="{FF2B5EF4-FFF2-40B4-BE49-F238E27FC236}">
                  <a16:creationId xmlns:a16="http://schemas.microsoft.com/office/drawing/2014/main" id="{6BED4A85-C396-6852-98D9-E59E9426FA89}"/>
                </a:ext>
              </a:extLst>
            </p:cNvPr>
            <p:cNvSpPr/>
            <p:nvPr/>
          </p:nvSpPr>
          <p:spPr>
            <a:xfrm>
              <a:off x="577768" y="2056087"/>
              <a:ext cx="568960" cy="1508760"/>
            </a:xfrm>
            <a:prstGeom prst="curvedRightArrow">
              <a:avLst>
                <a:gd name="adj1" fmla="val 124554"/>
                <a:gd name="adj2" fmla="val 179464"/>
                <a:gd name="adj3" fmla="val 0"/>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pic>
          <p:nvPicPr>
            <p:cNvPr id="9" name="グラフィックス 8" descr="りんご 枠線">
              <a:extLst>
                <a:ext uri="{FF2B5EF4-FFF2-40B4-BE49-F238E27FC236}">
                  <a16:creationId xmlns:a16="http://schemas.microsoft.com/office/drawing/2014/main" id="{0B405B78-7F48-FF2B-883E-4815704B5B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38433" y="3470720"/>
              <a:ext cx="914400" cy="914400"/>
            </a:xfrm>
            <a:prstGeom prst="rect">
              <a:avLst/>
            </a:prstGeom>
          </p:spPr>
        </p:pic>
        <p:grpSp>
          <p:nvGrpSpPr>
            <p:cNvPr id="12" name="グループ化 11">
              <a:extLst>
                <a:ext uri="{FF2B5EF4-FFF2-40B4-BE49-F238E27FC236}">
                  <a16:creationId xmlns:a16="http://schemas.microsoft.com/office/drawing/2014/main" id="{EBC22AF8-4E3F-DEB5-FE3B-C86CAD519133}"/>
                </a:ext>
              </a:extLst>
            </p:cNvPr>
            <p:cNvGrpSpPr/>
            <p:nvPr/>
          </p:nvGrpSpPr>
          <p:grpSpPr>
            <a:xfrm>
              <a:off x="3628146" y="2056087"/>
              <a:ext cx="1476149" cy="1508760"/>
              <a:chOff x="7241131" y="2871217"/>
              <a:chExt cx="2008732" cy="2087880"/>
            </a:xfrm>
          </p:grpSpPr>
          <p:pic>
            <p:nvPicPr>
              <p:cNvPr id="13" name="グラフィックス 12" descr="咳 枠線">
                <a:extLst>
                  <a:ext uri="{FF2B5EF4-FFF2-40B4-BE49-F238E27FC236}">
                    <a16:creationId xmlns:a16="http://schemas.microsoft.com/office/drawing/2014/main" id="{5B96149A-63F6-91E0-FF6C-C29AE225A12E}"/>
                  </a:ext>
                </a:extLst>
              </p:cNvPr>
              <p:cNvPicPr>
                <a:picLocks noChangeAspect="1"/>
              </p:cNvPicPr>
              <p:nvPr/>
            </p:nvPicPr>
            <p:blipFill rotWithShape="1">
              <a:blip>
                <a:extLst>
                  <a:ext uri="{96DAC541-7B7A-43D3-8B79-37D633B846F1}">
                    <asvg:svgBlip xmlns:asvg="http://schemas.microsoft.com/office/drawing/2016/SVG/main" r:embed="rId4"/>
                  </a:ext>
                </a:extLst>
              </a:blip>
              <a:srcRect l="1338" t="2861" r="9124" b="-2861"/>
              <a:stretch>
                <a:fillRect/>
              </a:stretch>
            </p:blipFill>
            <p:spPr>
              <a:xfrm flipH="1">
                <a:off x="7380424" y="2871217"/>
                <a:ext cx="1869439" cy="2087880"/>
              </a:xfrm>
              <a:prstGeom prst="rect">
                <a:avLst/>
              </a:prstGeom>
            </p:spPr>
          </p:pic>
          <p:sp>
            <p:nvSpPr>
              <p:cNvPr id="14" name="正方形/長方形 13">
                <a:extLst>
                  <a:ext uri="{FF2B5EF4-FFF2-40B4-BE49-F238E27FC236}">
                    <a16:creationId xmlns:a16="http://schemas.microsoft.com/office/drawing/2014/main" id="{5D8A1F52-496F-3603-CE77-12BE0FE09E45}"/>
                  </a:ext>
                </a:extLst>
              </p:cNvPr>
              <p:cNvSpPr/>
              <p:nvPr/>
            </p:nvSpPr>
            <p:spPr>
              <a:xfrm>
                <a:off x="7241131" y="4037177"/>
                <a:ext cx="339543" cy="5221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 name="矢印: 下 14">
              <a:extLst>
                <a:ext uri="{FF2B5EF4-FFF2-40B4-BE49-F238E27FC236}">
                  <a16:creationId xmlns:a16="http://schemas.microsoft.com/office/drawing/2014/main" id="{062A8CDC-FDAA-F94D-89C3-A8869DCF1A73}"/>
                </a:ext>
              </a:extLst>
            </p:cNvPr>
            <p:cNvSpPr/>
            <p:nvPr/>
          </p:nvSpPr>
          <p:spPr>
            <a:xfrm rot="16200000">
              <a:off x="2312130" y="1392089"/>
              <a:ext cx="484632" cy="2352123"/>
            </a:xfrm>
            <a:prstGeom prst="downArrow">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a:extLst>
                <a:ext uri="{FF2B5EF4-FFF2-40B4-BE49-F238E27FC236}">
                  <a16:creationId xmlns:a16="http://schemas.microsoft.com/office/drawing/2014/main" id="{2BF8AF44-B1F0-25B8-61A4-F7036276478D}"/>
                </a:ext>
              </a:extLst>
            </p:cNvPr>
            <p:cNvCxnSpPr>
              <a:cxnSpLocks/>
            </p:cNvCxnSpPr>
            <p:nvPr/>
          </p:nvCxnSpPr>
          <p:spPr>
            <a:xfrm flipV="1">
              <a:off x="1979644" y="2022601"/>
              <a:ext cx="995229" cy="1064691"/>
            </a:xfrm>
            <a:prstGeom prst="line">
              <a:avLst/>
            </a:prstGeom>
          </p:spPr>
          <p:style>
            <a:lnRef idx="2">
              <a:schemeClr val="accent1"/>
            </a:lnRef>
            <a:fillRef idx="0">
              <a:schemeClr val="accent1"/>
            </a:fillRef>
            <a:effectRef idx="1">
              <a:schemeClr val="accent1"/>
            </a:effectRef>
            <a:fontRef idx="minor">
              <a:schemeClr val="tx1"/>
            </a:fontRef>
          </p:style>
        </p:cxnSp>
        <p:sp>
          <p:nvSpPr>
            <p:cNvPr id="17" name="テキスト ボックス 16">
              <a:extLst>
                <a:ext uri="{FF2B5EF4-FFF2-40B4-BE49-F238E27FC236}">
                  <a16:creationId xmlns:a16="http://schemas.microsoft.com/office/drawing/2014/main" id="{819C7DA4-3A35-3611-D5F7-A9F859E6A2EA}"/>
                </a:ext>
              </a:extLst>
            </p:cNvPr>
            <p:cNvSpPr txBox="1"/>
            <p:nvPr/>
          </p:nvSpPr>
          <p:spPr>
            <a:xfrm>
              <a:off x="224645" y="3557190"/>
              <a:ext cx="1396921" cy="646331"/>
            </a:xfrm>
            <a:prstGeom prst="rect">
              <a:avLst/>
            </a:prstGeom>
            <a:noFill/>
          </p:spPr>
          <p:txBody>
            <a:bodyPr wrap="none" rtlCol="0">
              <a:spAutoFit/>
            </a:bodyPr>
            <a:lstStyle/>
            <a:p>
              <a:pPr algn="ctr"/>
              <a:r>
                <a:rPr kumimoji="1" lang="en-US" altLang="ja-JP" dirty="0"/>
                <a:t>Real</a:t>
              </a:r>
            </a:p>
            <a:p>
              <a:pPr algn="ctr"/>
              <a:r>
                <a:rPr lang="en-US" altLang="ja-JP" dirty="0"/>
                <a:t>Background</a:t>
              </a:r>
              <a:endParaRPr kumimoji="1" lang="ja-JP" altLang="en-US" dirty="0"/>
            </a:p>
          </p:txBody>
        </p:sp>
        <p:sp>
          <p:nvSpPr>
            <p:cNvPr id="18" name="テキスト ボックス 17">
              <a:extLst>
                <a:ext uri="{FF2B5EF4-FFF2-40B4-BE49-F238E27FC236}">
                  <a16:creationId xmlns:a16="http://schemas.microsoft.com/office/drawing/2014/main" id="{EB1528E4-01F6-C827-C522-4BD4EB241C8D}"/>
                </a:ext>
              </a:extLst>
            </p:cNvPr>
            <p:cNvSpPr txBox="1"/>
            <p:nvPr/>
          </p:nvSpPr>
          <p:spPr>
            <a:xfrm>
              <a:off x="2841432" y="3676607"/>
              <a:ext cx="851772" cy="646331"/>
            </a:xfrm>
            <a:prstGeom prst="rect">
              <a:avLst/>
            </a:prstGeom>
            <a:noFill/>
          </p:spPr>
          <p:txBody>
            <a:bodyPr wrap="none" rtlCol="0">
              <a:spAutoFit/>
            </a:bodyPr>
            <a:lstStyle/>
            <a:p>
              <a:pPr algn="ctr"/>
              <a:r>
                <a:rPr kumimoji="1" lang="en-US" altLang="ja-JP" dirty="0"/>
                <a:t>Virtual</a:t>
              </a:r>
              <a:br>
                <a:rPr kumimoji="1" lang="en-US" altLang="ja-JP" dirty="0"/>
              </a:br>
              <a:r>
                <a:rPr kumimoji="1" lang="en-US" altLang="ja-JP" dirty="0"/>
                <a:t>Object</a:t>
              </a:r>
              <a:endParaRPr kumimoji="1" lang="ja-JP" altLang="en-US" dirty="0"/>
            </a:p>
          </p:txBody>
        </p:sp>
        <p:sp>
          <p:nvSpPr>
            <p:cNvPr id="19" name="テキスト ボックス 18">
              <a:extLst>
                <a:ext uri="{FF2B5EF4-FFF2-40B4-BE49-F238E27FC236}">
                  <a16:creationId xmlns:a16="http://schemas.microsoft.com/office/drawing/2014/main" id="{0CA27ED2-89FD-CA42-49AC-E67DEF258CB1}"/>
                </a:ext>
              </a:extLst>
            </p:cNvPr>
            <p:cNvSpPr txBox="1"/>
            <p:nvPr/>
          </p:nvSpPr>
          <p:spPr>
            <a:xfrm>
              <a:off x="1823722" y="1677787"/>
              <a:ext cx="1543821" cy="369332"/>
            </a:xfrm>
            <a:prstGeom prst="rect">
              <a:avLst/>
            </a:prstGeom>
            <a:noFill/>
          </p:spPr>
          <p:txBody>
            <a:bodyPr wrap="none" rtlCol="0">
              <a:spAutoFit/>
            </a:bodyPr>
            <a:lstStyle/>
            <a:p>
              <a:pPr algn="ctr"/>
              <a:r>
                <a:rPr kumimoji="1" lang="en-US" altLang="ja-JP" dirty="0"/>
                <a:t>Beam Splitter</a:t>
              </a:r>
              <a:endParaRPr kumimoji="1" lang="ja-JP" altLang="en-US" dirty="0"/>
            </a:p>
          </p:txBody>
        </p:sp>
        <p:sp>
          <p:nvSpPr>
            <p:cNvPr id="16" name="矢印: 上向き折線 15">
              <a:extLst>
                <a:ext uri="{FF2B5EF4-FFF2-40B4-BE49-F238E27FC236}">
                  <a16:creationId xmlns:a16="http://schemas.microsoft.com/office/drawing/2014/main" id="{7249DC65-DEFC-0DEA-F430-C3401415D7F6}"/>
                </a:ext>
              </a:extLst>
            </p:cNvPr>
            <p:cNvSpPr/>
            <p:nvPr/>
          </p:nvSpPr>
          <p:spPr>
            <a:xfrm rot="16200000" flipV="1">
              <a:off x="2526081" y="2335020"/>
              <a:ext cx="1111207" cy="1297645"/>
            </a:xfrm>
            <a:prstGeom prst="bentUpArrow">
              <a:avLst/>
            </a:prstGeom>
            <a:solidFill>
              <a:schemeClr val="accent4">
                <a:lumMod val="40000"/>
                <a:lumOff val="6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5" name="グループ化 4">
            <a:extLst>
              <a:ext uri="{FF2B5EF4-FFF2-40B4-BE49-F238E27FC236}">
                <a16:creationId xmlns:a16="http://schemas.microsoft.com/office/drawing/2014/main" id="{6CED532F-5FC2-661E-E01A-7E3B311EE4E1}"/>
              </a:ext>
            </a:extLst>
          </p:cNvPr>
          <p:cNvGrpSpPr/>
          <p:nvPr/>
        </p:nvGrpSpPr>
        <p:grpSpPr>
          <a:xfrm>
            <a:off x="1069053" y="1500342"/>
            <a:ext cx="4526528" cy="2788724"/>
            <a:chOff x="6661170" y="1539435"/>
            <a:chExt cx="4526528" cy="2788724"/>
          </a:xfrm>
        </p:grpSpPr>
        <p:grpSp>
          <p:nvGrpSpPr>
            <p:cNvPr id="21" name="グループ化 20">
              <a:extLst>
                <a:ext uri="{FF2B5EF4-FFF2-40B4-BE49-F238E27FC236}">
                  <a16:creationId xmlns:a16="http://schemas.microsoft.com/office/drawing/2014/main" id="{BCD5DEF2-B18A-2482-AC5B-5D455251880A}"/>
                </a:ext>
              </a:extLst>
            </p:cNvPr>
            <p:cNvGrpSpPr/>
            <p:nvPr/>
          </p:nvGrpSpPr>
          <p:grpSpPr>
            <a:xfrm>
              <a:off x="6661170" y="1924007"/>
              <a:ext cx="4526528" cy="2319605"/>
              <a:chOff x="577768" y="2056087"/>
              <a:chExt cx="4526528" cy="2319605"/>
            </a:xfrm>
          </p:grpSpPr>
          <p:sp>
            <p:nvSpPr>
              <p:cNvPr id="22" name="矢印: 右カーブ 21">
                <a:extLst>
                  <a:ext uri="{FF2B5EF4-FFF2-40B4-BE49-F238E27FC236}">
                    <a16:creationId xmlns:a16="http://schemas.microsoft.com/office/drawing/2014/main" id="{2BC7B098-162C-A70D-4D19-3979D7D95DB8}"/>
                  </a:ext>
                </a:extLst>
              </p:cNvPr>
              <p:cNvSpPr/>
              <p:nvPr/>
            </p:nvSpPr>
            <p:spPr>
              <a:xfrm>
                <a:off x="577768" y="2056087"/>
                <a:ext cx="568960" cy="1508760"/>
              </a:xfrm>
              <a:prstGeom prst="curvedRightArrow">
                <a:avLst>
                  <a:gd name="adj1" fmla="val 124554"/>
                  <a:gd name="adj2" fmla="val 179464"/>
                  <a:gd name="adj3" fmla="val 0"/>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pic>
            <p:nvPicPr>
              <p:cNvPr id="23" name="グラフィックス 22" descr="りんご 枠線">
                <a:extLst>
                  <a:ext uri="{FF2B5EF4-FFF2-40B4-BE49-F238E27FC236}">
                    <a16:creationId xmlns:a16="http://schemas.microsoft.com/office/drawing/2014/main" id="{40FEE4A7-FA00-9A2B-1CFE-AA2A5FF642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07727" y="3461292"/>
                <a:ext cx="914400" cy="914400"/>
              </a:xfrm>
              <a:prstGeom prst="rect">
                <a:avLst/>
              </a:prstGeom>
            </p:spPr>
          </p:pic>
          <p:grpSp>
            <p:nvGrpSpPr>
              <p:cNvPr id="24" name="グループ化 23">
                <a:extLst>
                  <a:ext uri="{FF2B5EF4-FFF2-40B4-BE49-F238E27FC236}">
                    <a16:creationId xmlns:a16="http://schemas.microsoft.com/office/drawing/2014/main" id="{2953A6FF-C114-98FC-A348-6F79398682AD}"/>
                  </a:ext>
                </a:extLst>
              </p:cNvPr>
              <p:cNvGrpSpPr/>
              <p:nvPr/>
            </p:nvGrpSpPr>
            <p:grpSpPr>
              <a:xfrm>
                <a:off x="3628139" y="2056087"/>
                <a:ext cx="1476157" cy="1508760"/>
                <a:chOff x="7241142" y="2871217"/>
                <a:chExt cx="2008749" cy="2087880"/>
              </a:xfrm>
            </p:grpSpPr>
            <p:pic>
              <p:nvPicPr>
                <p:cNvPr id="31" name="グラフィックス 30" descr="咳 枠線">
                  <a:extLst>
                    <a:ext uri="{FF2B5EF4-FFF2-40B4-BE49-F238E27FC236}">
                      <a16:creationId xmlns:a16="http://schemas.microsoft.com/office/drawing/2014/main" id="{A68DE090-3145-6358-939F-C63BE6ED50A9}"/>
                    </a:ext>
                  </a:extLst>
                </p:cNvPr>
                <p:cNvPicPr>
                  <a:picLocks noChangeAspect="1"/>
                </p:cNvPicPr>
                <p:nvPr/>
              </p:nvPicPr>
              <p:blipFill rotWithShape="1">
                <a:blip>
                  <a:extLst>
                    <a:ext uri="{96DAC541-7B7A-43D3-8B79-37D633B846F1}">
                      <asvg:svgBlip xmlns:asvg="http://schemas.microsoft.com/office/drawing/2016/SVG/main" r:embed="rId4"/>
                    </a:ext>
                  </a:extLst>
                </a:blip>
                <a:srcRect l="1338" t="2861" r="9124" b="-2861"/>
                <a:stretch>
                  <a:fillRect/>
                </a:stretch>
              </p:blipFill>
              <p:spPr>
                <a:xfrm flipH="1">
                  <a:off x="7380445" y="2871217"/>
                  <a:ext cx="1869446" cy="2087880"/>
                </a:xfrm>
                <a:prstGeom prst="rect">
                  <a:avLst/>
                </a:prstGeom>
              </p:spPr>
            </p:pic>
            <p:sp>
              <p:nvSpPr>
                <p:cNvPr id="32" name="正方形/長方形 31">
                  <a:extLst>
                    <a:ext uri="{FF2B5EF4-FFF2-40B4-BE49-F238E27FC236}">
                      <a16:creationId xmlns:a16="http://schemas.microsoft.com/office/drawing/2014/main" id="{D4593F79-0AD4-F311-48DE-640DB88DFC0A}"/>
                    </a:ext>
                  </a:extLst>
                </p:cNvPr>
                <p:cNvSpPr/>
                <p:nvPr/>
              </p:nvSpPr>
              <p:spPr>
                <a:xfrm>
                  <a:off x="7241142" y="4037177"/>
                  <a:ext cx="339544" cy="5221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pic>
          <p:nvPicPr>
            <p:cNvPr id="34" name="グラフィックス 33" descr="ビデオ カメラ 枠線">
              <a:extLst>
                <a:ext uri="{FF2B5EF4-FFF2-40B4-BE49-F238E27FC236}">
                  <a16:creationId xmlns:a16="http://schemas.microsoft.com/office/drawing/2014/main" id="{9FA513E5-3EAC-89E0-6D25-1503A1C9D00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H="1">
              <a:off x="7502704" y="2118274"/>
              <a:ext cx="851772" cy="914400"/>
            </a:xfrm>
            <a:prstGeom prst="rect">
              <a:avLst/>
            </a:prstGeom>
          </p:spPr>
        </p:pic>
        <p:sp>
          <p:nvSpPr>
            <p:cNvPr id="35" name="二等辺三角形 34">
              <a:extLst>
                <a:ext uri="{FF2B5EF4-FFF2-40B4-BE49-F238E27FC236}">
                  <a16:creationId xmlns:a16="http://schemas.microsoft.com/office/drawing/2014/main" id="{E72173D4-1181-3231-3318-3153B22937E3}"/>
                </a:ext>
              </a:extLst>
            </p:cNvPr>
            <p:cNvSpPr/>
            <p:nvPr/>
          </p:nvSpPr>
          <p:spPr>
            <a:xfrm rot="5400000">
              <a:off x="6901648" y="2628136"/>
              <a:ext cx="1060704" cy="172553"/>
            </a:xfrm>
            <a:prstGeom prst="triangle">
              <a:avLst/>
            </a:prstGeom>
            <a:solidFill>
              <a:schemeClr val="tx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正方形/長方形 35">
              <a:extLst>
                <a:ext uri="{FF2B5EF4-FFF2-40B4-BE49-F238E27FC236}">
                  <a16:creationId xmlns:a16="http://schemas.microsoft.com/office/drawing/2014/main" id="{AB39714F-01D5-18EA-0643-2969ACD52F75}"/>
                </a:ext>
              </a:extLst>
            </p:cNvPr>
            <p:cNvSpPr/>
            <p:nvPr/>
          </p:nvSpPr>
          <p:spPr>
            <a:xfrm>
              <a:off x="7675258" y="1942978"/>
              <a:ext cx="1981061" cy="238518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矢印: 下 39">
              <a:extLst>
                <a:ext uri="{FF2B5EF4-FFF2-40B4-BE49-F238E27FC236}">
                  <a16:creationId xmlns:a16="http://schemas.microsoft.com/office/drawing/2014/main" id="{E8FB3DCF-71A0-ADE4-77F2-4FD281550C27}"/>
                </a:ext>
              </a:extLst>
            </p:cNvPr>
            <p:cNvSpPr/>
            <p:nvPr/>
          </p:nvSpPr>
          <p:spPr>
            <a:xfrm rot="16200000">
              <a:off x="8841880" y="1879728"/>
              <a:ext cx="484632" cy="1459437"/>
            </a:xfrm>
            <a:prstGeom prst="downArrow">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矢印: 下 40">
              <a:extLst>
                <a:ext uri="{FF2B5EF4-FFF2-40B4-BE49-F238E27FC236}">
                  <a16:creationId xmlns:a16="http://schemas.microsoft.com/office/drawing/2014/main" id="{C5BEAF24-C253-0CDD-925B-984A532C3767}"/>
                </a:ext>
              </a:extLst>
            </p:cNvPr>
            <p:cNvSpPr/>
            <p:nvPr/>
          </p:nvSpPr>
          <p:spPr>
            <a:xfrm rot="10800000">
              <a:off x="8665788" y="2529839"/>
              <a:ext cx="484632" cy="809324"/>
            </a:xfrm>
            <a:prstGeom prst="downArrow">
              <a:avLst>
                <a:gd name="adj1" fmla="val 50000"/>
                <a:gd name="adj2" fmla="val 33229"/>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楕円 42">
              <a:extLst>
                <a:ext uri="{FF2B5EF4-FFF2-40B4-BE49-F238E27FC236}">
                  <a16:creationId xmlns:a16="http://schemas.microsoft.com/office/drawing/2014/main" id="{C35AD641-99C7-2C11-C4E7-EA257AF9979E}"/>
                </a:ext>
              </a:extLst>
            </p:cNvPr>
            <p:cNvSpPr>
              <a:spLocks noChangeAspect="1"/>
            </p:cNvSpPr>
            <p:nvPr/>
          </p:nvSpPr>
          <p:spPr>
            <a:xfrm>
              <a:off x="8708260" y="2415750"/>
              <a:ext cx="432000" cy="432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4400" b="1" dirty="0">
                <a:solidFill>
                  <a:schemeClr val="tx1"/>
                </a:solidFill>
              </a:endParaRPr>
            </a:p>
          </p:txBody>
        </p:sp>
        <p:sp>
          <p:nvSpPr>
            <p:cNvPr id="44" name="テキスト ボックス 43">
              <a:extLst>
                <a:ext uri="{FF2B5EF4-FFF2-40B4-BE49-F238E27FC236}">
                  <a16:creationId xmlns:a16="http://schemas.microsoft.com/office/drawing/2014/main" id="{F1F37B1F-D535-FFB3-62EC-9840F489C2E0}"/>
                </a:ext>
              </a:extLst>
            </p:cNvPr>
            <p:cNvSpPr txBox="1"/>
            <p:nvPr/>
          </p:nvSpPr>
          <p:spPr>
            <a:xfrm>
              <a:off x="8678107" y="2272628"/>
              <a:ext cx="511679" cy="646331"/>
            </a:xfrm>
            <a:prstGeom prst="rect">
              <a:avLst/>
            </a:prstGeom>
            <a:noFill/>
          </p:spPr>
          <p:txBody>
            <a:bodyPr wrap="none" rtlCol="0">
              <a:spAutoFit/>
            </a:bodyPr>
            <a:lstStyle/>
            <a:p>
              <a:r>
                <a:rPr kumimoji="1" lang="en-US" altLang="ja-JP" sz="3600" dirty="0"/>
                <a:t>+</a:t>
              </a:r>
              <a:endParaRPr kumimoji="1" lang="ja-JP" altLang="en-US" sz="3600" dirty="0"/>
            </a:p>
          </p:txBody>
        </p:sp>
        <p:sp>
          <p:nvSpPr>
            <p:cNvPr id="45" name="テキスト ボックス 44">
              <a:extLst>
                <a:ext uri="{FF2B5EF4-FFF2-40B4-BE49-F238E27FC236}">
                  <a16:creationId xmlns:a16="http://schemas.microsoft.com/office/drawing/2014/main" id="{A0C7416D-0F90-851C-809D-6B07C5460B99}"/>
                </a:ext>
              </a:extLst>
            </p:cNvPr>
            <p:cNvSpPr txBox="1"/>
            <p:nvPr/>
          </p:nvSpPr>
          <p:spPr>
            <a:xfrm>
              <a:off x="7440100" y="1539435"/>
              <a:ext cx="2518446" cy="369332"/>
            </a:xfrm>
            <a:prstGeom prst="rect">
              <a:avLst/>
            </a:prstGeom>
            <a:noFill/>
          </p:spPr>
          <p:txBody>
            <a:bodyPr wrap="none" rtlCol="0">
              <a:spAutoFit/>
            </a:bodyPr>
            <a:lstStyle/>
            <a:p>
              <a:r>
                <a:rPr kumimoji="1" lang="en-US" altLang="ja-JP" dirty="0"/>
                <a:t>Head Mounted Display</a:t>
              </a:r>
              <a:endParaRPr kumimoji="1" lang="ja-JP" altLang="en-US" dirty="0"/>
            </a:p>
          </p:txBody>
        </p:sp>
      </p:grpSp>
      <p:sp>
        <p:nvSpPr>
          <p:cNvPr id="8" name="コンテンツ プレースホルダー 2">
            <a:extLst>
              <a:ext uri="{FF2B5EF4-FFF2-40B4-BE49-F238E27FC236}">
                <a16:creationId xmlns:a16="http://schemas.microsoft.com/office/drawing/2014/main" id="{CCCD7116-866C-C646-F52D-D3E3822B2AC8}"/>
              </a:ext>
            </a:extLst>
          </p:cNvPr>
          <p:cNvSpPr txBox="1">
            <a:spLocks/>
          </p:cNvSpPr>
          <p:nvPr/>
        </p:nvSpPr>
        <p:spPr>
          <a:xfrm>
            <a:off x="567743" y="4520354"/>
            <a:ext cx="5527367" cy="1683327"/>
          </a:xfrm>
          <a:prstGeom prst="rect">
            <a:avLst/>
          </a:prstGeom>
        </p:spPr>
        <p:txBody>
          <a:bodyPr vert="horz" lIns="91440" tIns="45720" rIns="91440" bIns="45720" rtlCol="0">
            <a:noAutofit/>
          </a:bodyPr>
          <a:lstStyle>
            <a:lvl1pPr marL="0" indent="0" algn="l" defTabSz="914400" rtl="0" eaLnBrk="1" latinLnBrk="0" hangingPunct="1">
              <a:lnSpc>
                <a:spcPct val="110000"/>
              </a:lnSpc>
              <a:spcBef>
                <a:spcPts val="1000"/>
              </a:spcBef>
              <a:buFont typeface="Arial" panose="020B0604020202020204" pitchFamily="34" charset="0"/>
              <a:buNone/>
              <a:defRPr kumimoji="1" sz="2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550" b="1" dirty="0"/>
              <a:t>　</a:t>
            </a:r>
            <a:r>
              <a:rPr lang="en-US" altLang="ja-JP" sz="2550" b="1" dirty="0"/>
              <a:t>Wide field of view</a:t>
            </a:r>
          </a:p>
          <a:p>
            <a:r>
              <a:rPr lang="ja-JP" altLang="en-US" sz="2550" b="1" dirty="0"/>
              <a:t>　</a:t>
            </a:r>
            <a:r>
              <a:rPr lang="en-US" altLang="ja-JP" sz="2550" b="1" dirty="0"/>
              <a:t>Relatively controlled rendering</a:t>
            </a:r>
          </a:p>
          <a:p>
            <a:r>
              <a:rPr lang="ja-JP" altLang="en-US" sz="2550" b="1" dirty="0"/>
              <a:t>　</a:t>
            </a:r>
            <a:r>
              <a:rPr lang="en-US" altLang="ja-JP" sz="2550" b="1" dirty="0"/>
              <a:t>Resolution loss &amp; latency of BG</a:t>
            </a:r>
          </a:p>
        </p:txBody>
      </p:sp>
      <p:sp>
        <p:nvSpPr>
          <p:cNvPr id="10" name="コンテンツ プレースホルダー 2">
            <a:extLst>
              <a:ext uri="{FF2B5EF4-FFF2-40B4-BE49-F238E27FC236}">
                <a16:creationId xmlns:a16="http://schemas.microsoft.com/office/drawing/2014/main" id="{4F83884D-7497-5128-4740-0935504BDDBF}"/>
              </a:ext>
            </a:extLst>
          </p:cNvPr>
          <p:cNvSpPr txBox="1">
            <a:spLocks/>
          </p:cNvSpPr>
          <p:nvPr/>
        </p:nvSpPr>
        <p:spPr>
          <a:xfrm>
            <a:off x="6154475" y="4500111"/>
            <a:ext cx="5527367" cy="1683327"/>
          </a:xfrm>
          <a:prstGeom prst="rect">
            <a:avLst/>
          </a:prstGeom>
        </p:spPr>
        <p:txBody>
          <a:bodyPr vert="horz" lIns="91440" tIns="45720" rIns="91440" bIns="45720" rtlCol="0">
            <a:noAutofit/>
          </a:bodyPr>
          <a:lstStyle>
            <a:lvl1pPr marL="0" indent="0" algn="l" defTabSz="914400" rtl="0" eaLnBrk="1" latinLnBrk="0" hangingPunct="1">
              <a:lnSpc>
                <a:spcPct val="110000"/>
              </a:lnSpc>
              <a:spcBef>
                <a:spcPts val="1000"/>
              </a:spcBef>
              <a:buFont typeface="Arial" panose="020B0604020202020204" pitchFamily="34" charset="0"/>
              <a:buNone/>
              <a:defRPr kumimoji="1" sz="2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550" b="1" dirty="0"/>
              <a:t>　</a:t>
            </a:r>
            <a:r>
              <a:rPr lang="en-US" altLang="ja-JP" sz="2550" b="1" dirty="0"/>
              <a:t>Direct perception of BG</a:t>
            </a:r>
          </a:p>
          <a:p>
            <a:r>
              <a:rPr lang="ja-JP" altLang="en-US" sz="2550" b="1" dirty="0"/>
              <a:t>　</a:t>
            </a:r>
            <a:r>
              <a:rPr lang="en-US" altLang="ja-JP" sz="2550" b="1" dirty="0">
                <a:solidFill>
                  <a:schemeClr val="accent1"/>
                </a:solidFill>
              </a:rPr>
              <a:t>Reduction in visibility</a:t>
            </a:r>
          </a:p>
          <a:p>
            <a:r>
              <a:rPr lang="ja-JP" altLang="en-US" sz="2550" b="1" dirty="0"/>
              <a:t>　</a:t>
            </a:r>
            <a:r>
              <a:rPr lang="en-US" altLang="ja-JP" sz="2550" b="1" dirty="0"/>
              <a:t>Inaccurate perception</a:t>
            </a:r>
          </a:p>
        </p:txBody>
      </p:sp>
      <p:pic>
        <p:nvPicPr>
          <p:cNvPr id="26" name="グラフィックス 25" descr="ハーベイ ボール 0% 単色塗りつぶし">
            <a:extLst>
              <a:ext uri="{FF2B5EF4-FFF2-40B4-BE49-F238E27FC236}">
                <a16:creationId xmlns:a16="http://schemas.microsoft.com/office/drawing/2014/main" id="{762477F4-61A2-DCF8-3EAC-592A9FE2935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65905" y="4574093"/>
            <a:ext cx="360000" cy="360000"/>
          </a:xfrm>
          <a:prstGeom prst="rect">
            <a:avLst/>
          </a:prstGeom>
        </p:spPr>
      </p:pic>
      <p:pic>
        <p:nvPicPr>
          <p:cNvPr id="27" name="グラフィックス 26" descr="ハーベイ ボール 0% 単色塗りつぶし">
            <a:extLst>
              <a:ext uri="{FF2B5EF4-FFF2-40B4-BE49-F238E27FC236}">
                <a16:creationId xmlns:a16="http://schemas.microsoft.com/office/drawing/2014/main" id="{FEC6E4D8-C23D-51F6-D707-55B7C8BD908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5963" y="4574093"/>
            <a:ext cx="360000" cy="360000"/>
          </a:xfrm>
          <a:prstGeom prst="rect">
            <a:avLst/>
          </a:prstGeom>
        </p:spPr>
      </p:pic>
      <p:pic>
        <p:nvPicPr>
          <p:cNvPr id="28" name="グラフィックス 27" descr="ハーベイ ボール 0% 単色塗りつぶし">
            <a:extLst>
              <a:ext uri="{FF2B5EF4-FFF2-40B4-BE49-F238E27FC236}">
                <a16:creationId xmlns:a16="http://schemas.microsoft.com/office/drawing/2014/main" id="{06A3F005-DFFC-6C27-0B63-72272386730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5963" y="5142521"/>
            <a:ext cx="360000" cy="360000"/>
          </a:xfrm>
          <a:prstGeom prst="rect">
            <a:avLst/>
          </a:prstGeom>
        </p:spPr>
      </p:pic>
      <p:pic>
        <p:nvPicPr>
          <p:cNvPr id="30" name="グラフィックス 29" descr="閉じる 単色塗りつぶし">
            <a:extLst>
              <a:ext uri="{FF2B5EF4-FFF2-40B4-BE49-F238E27FC236}">
                <a16:creationId xmlns:a16="http://schemas.microsoft.com/office/drawing/2014/main" id="{B90B7ED0-A7DD-6C42-1F00-C93AA79ECCA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165905" y="5142521"/>
            <a:ext cx="360000" cy="360000"/>
          </a:xfrm>
          <a:prstGeom prst="rect">
            <a:avLst/>
          </a:prstGeom>
        </p:spPr>
      </p:pic>
      <p:pic>
        <p:nvPicPr>
          <p:cNvPr id="33" name="グラフィックス 32" descr="閉じる 単色塗りつぶし">
            <a:extLst>
              <a:ext uri="{FF2B5EF4-FFF2-40B4-BE49-F238E27FC236}">
                <a16:creationId xmlns:a16="http://schemas.microsoft.com/office/drawing/2014/main" id="{A2C22D08-0E58-C174-8045-C7050082B62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165905" y="5683406"/>
            <a:ext cx="360000" cy="360000"/>
          </a:xfrm>
          <a:prstGeom prst="rect">
            <a:avLst/>
          </a:prstGeom>
        </p:spPr>
      </p:pic>
      <p:pic>
        <p:nvPicPr>
          <p:cNvPr id="37" name="グラフィックス 36" descr="閉じる 単色塗りつぶし">
            <a:extLst>
              <a:ext uri="{FF2B5EF4-FFF2-40B4-BE49-F238E27FC236}">
                <a16:creationId xmlns:a16="http://schemas.microsoft.com/office/drawing/2014/main" id="{6F6E2D99-04C1-4294-34BF-DBBD33821DC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65963" y="5683406"/>
            <a:ext cx="360000" cy="360000"/>
          </a:xfrm>
          <a:prstGeom prst="rect">
            <a:avLst/>
          </a:prstGeom>
        </p:spPr>
      </p:pic>
      <p:sp>
        <p:nvSpPr>
          <p:cNvPr id="25" name="テキスト ボックス 24">
            <a:extLst>
              <a:ext uri="{FF2B5EF4-FFF2-40B4-BE49-F238E27FC236}">
                <a16:creationId xmlns:a16="http://schemas.microsoft.com/office/drawing/2014/main" id="{6C98F214-C849-4A58-E308-D464DF045284}"/>
              </a:ext>
            </a:extLst>
          </p:cNvPr>
          <p:cNvSpPr txBox="1"/>
          <p:nvPr/>
        </p:nvSpPr>
        <p:spPr>
          <a:xfrm>
            <a:off x="712687" y="3389372"/>
            <a:ext cx="1396921" cy="646331"/>
          </a:xfrm>
          <a:prstGeom prst="rect">
            <a:avLst/>
          </a:prstGeom>
          <a:noFill/>
        </p:spPr>
        <p:txBody>
          <a:bodyPr wrap="none" rtlCol="0">
            <a:spAutoFit/>
          </a:bodyPr>
          <a:lstStyle/>
          <a:p>
            <a:pPr algn="ctr"/>
            <a:r>
              <a:rPr kumimoji="1" lang="en-US" altLang="ja-JP" dirty="0"/>
              <a:t>Real</a:t>
            </a:r>
          </a:p>
          <a:p>
            <a:pPr algn="ctr"/>
            <a:r>
              <a:rPr lang="en-US" altLang="ja-JP" dirty="0"/>
              <a:t>Background</a:t>
            </a:r>
            <a:endParaRPr kumimoji="1" lang="ja-JP" altLang="en-US" dirty="0"/>
          </a:p>
        </p:txBody>
      </p:sp>
      <p:sp>
        <p:nvSpPr>
          <p:cNvPr id="29" name="テキスト ボックス 28">
            <a:extLst>
              <a:ext uri="{FF2B5EF4-FFF2-40B4-BE49-F238E27FC236}">
                <a16:creationId xmlns:a16="http://schemas.microsoft.com/office/drawing/2014/main" id="{B4C07A36-5E15-498E-DB40-E5C66544A583}"/>
              </a:ext>
            </a:extLst>
          </p:cNvPr>
          <p:cNvSpPr txBox="1"/>
          <p:nvPr/>
        </p:nvSpPr>
        <p:spPr>
          <a:xfrm>
            <a:off x="2139022" y="3510592"/>
            <a:ext cx="851772" cy="646331"/>
          </a:xfrm>
          <a:prstGeom prst="rect">
            <a:avLst/>
          </a:prstGeom>
          <a:noFill/>
        </p:spPr>
        <p:txBody>
          <a:bodyPr wrap="none" rtlCol="0">
            <a:spAutoFit/>
          </a:bodyPr>
          <a:lstStyle/>
          <a:p>
            <a:pPr algn="ctr"/>
            <a:r>
              <a:rPr kumimoji="1" lang="en-US" altLang="ja-JP" dirty="0"/>
              <a:t>Virtual</a:t>
            </a:r>
            <a:br>
              <a:rPr kumimoji="1" lang="en-US" altLang="ja-JP" dirty="0"/>
            </a:br>
            <a:r>
              <a:rPr kumimoji="1" lang="en-US" altLang="ja-JP" dirty="0"/>
              <a:t>Object</a:t>
            </a:r>
            <a:endParaRPr kumimoji="1" lang="ja-JP" altLang="en-US" dirty="0"/>
          </a:p>
        </p:txBody>
      </p:sp>
      <p:sp>
        <p:nvSpPr>
          <p:cNvPr id="38" name="正方形/長方形 37">
            <a:extLst>
              <a:ext uri="{FF2B5EF4-FFF2-40B4-BE49-F238E27FC236}">
                <a16:creationId xmlns:a16="http://schemas.microsoft.com/office/drawing/2014/main" id="{E9614F72-A88D-E1DB-1AE0-3AF994C57037}"/>
              </a:ext>
            </a:extLst>
          </p:cNvPr>
          <p:cNvSpPr/>
          <p:nvPr/>
        </p:nvSpPr>
        <p:spPr>
          <a:xfrm>
            <a:off x="7704969" y="3224375"/>
            <a:ext cx="2201986" cy="106469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テキスト ボックス 38">
            <a:extLst>
              <a:ext uri="{FF2B5EF4-FFF2-40B4-BE49-F238E27FC236}">
                <a16:creationId xmlns:a16="http://schemas.microsoft.com/office/drawing/2014/main" id="{C2EB1D9A-AA93-3900-6032-B91116F94951}"/>
              </a:ext>
            </a:extLst>
          </p:cNvPr>
          <p:cNvSpPr txBox="1"/>
          <p:nvPr/>
        </p:nvSpPr>
        <p:spPr>
          <a:xfrm>
            <a:off x="9877818" y="3966129"/>
            <a:ext cx="1390702" cy="369332"/>
          </a:xfrm>
          <a:prstGeom prst="rect">
            <a:avLst/>
          </a:prstGeom>
          <a:noFill/>
        </p:spPr>
        <p:txBody>
          <a:bodyPr wrap="none" rtlCol="0">
            <a:spAutoFit/>
          </a:bodyPr>
          <a:lstStyle/>
          <a:p>
            <a:r>
              <a:rPr kumimoji="1" lang="en-US" altLang="ja-JP" dirty="0"/>
              <a:t>LCD Display</a:t>
            </a:r>
            <a:endParaRPr kumimoji="1" lang="ja-JP" altLang="en-US" dirty="0"/>
          </a:p>
        </p:txBody>
      </p:sp>
      <p:sp>
        <p:nvSpPr>
          <p:cNvPr id="42" name="フッター プレースホルダー 4">
            <a:extLst>
              <a:ext uri="{FF2B5EF4-FFF2-40B4-BE49-F238E27FC236}">
                <a16:creationId xmlns:a16="http://schemas.microsoft.com/office/drawing/2014/main" id="{F762D516-6F92-A7EF-BDF7-C1F504B05362}"/>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b="1" dirty="0"/>
              <a:t>[1] H. Lu, D. Xu, Q. Zhang, and F. Hou, “Comparison of optical see-through and video see-through schemes in augmented reality display technology,”2025</a:t>
            </a:r>
            <a:endParaRPr lang="en-US" sz="1100" b="1" dirty="0"/>
          </a:p>
        </p:txBody>
      </p:sp>
      <p:sp>
        <p:nvSpPr>
          <p:cNvPr id="46" name="矢印: 下 45">
            <a:extLst>
              <a:ext uri="{FF2B5EF4-FFF2-40B4-BE49-F238E27FC236}">
                <a16:creationId xmlns:a16="http://schemas.microsoft.com/office/drawing/2014/main" id="{A039C672-FE8D-EB74-9B92-5442B94389FF}"/>
              </a:ext>
            </a:extLst>
          </p:cNvPr>
          <p:cNvSpPr/>
          <p:nvPr/>
        </p:nvSpPr>
        <p:spPr>
          <a:xfrm rot="10800000">
            <a:off x="8425414" y="1938702"/>
            <a:ext cx="456368" cy="1434728"/>
          </a:xfrm>
          <a:prstGeom prst="downArrow">
            <a:avLst>
              <a:gd name="adj1" fmla="val 63429"/>
              <a:gd name="adj2" fmla="val 33229"/>
            </a:avLst>
          </a:prstGeom>
          <a:solidFill>
            <a:schemeClr val="accent4">
              <a:lumMod val="40000"/>
              <a:lumOff val="6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7" name="矢印: 下 46">
            <a:extLst>
              <a:ext uri="{FF2B5EF4-FFF2-40B4-BE49-F238E27FC236}">
                <a16:creationId xmlns:a16="http://schemas.microsoft.com/office/drawing/2014/main" id="{2BE420A3-266A-319D-D649-0A3385560129}"/>
              </a:ext>
            </a:extLst>
          </p:cNvPr>
          <p:cNvSpPr/>
          <p:nvPr/>
        </p:nvSpPr>
        <p:spPr>
          <a:xfrm rot="10800000">
            <a:off x="8425414" y="2459027"/>
            <a:ext cx="456368" cy="914400"/>
          </a:xfrm>
          <a:prstGeom prst="downArrow">
            <a:avLst>
              <a:gd name="adj1" fmla="val 63429"/>
              <a:gd name="adj2" fmla="val 0"/>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5824437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4372884-239B-05F2-3C12-7D4300428622}"/>
              </a:ext>
            </a:extLst>
          </p:cNvPr>
          <p:cNvSpPr>
            <a:spLocks noGrp="1"/>
          </p:cNvSpPr>
          <p:nvPr>
            <p:ph type="title"/>
          </p:nvPr>
        </p:nvSpPr>
        <p:spPr/>
        <p:txBody>
          <a:bodyPr/>
          <a:lstStyle/>
          <a:p>
            <a:r>
              <a:rPr lang="en-US" altLang="ja-JP" b="1" dirty="0">
                <a:solidFill>
                  <a:schemeClr val="accent1"/>
                </a:solidFill>
                <a:latin typeface="+mn-lt"/>
              </a:rPr>
              <a:t>Issue of OST-AR</a:t>
            </a:r>
            <a:endParaRPr kumimoji="1" lang="ja-JP" altLang="en-US" b="1" dirty="0">
              <a:latin typeface="+mn-lt"/>
            </a:endParaRPr>
          </a:p>
        </p:txBody>
      </p:sp>
      <p:pic>
        <p:nvPicPr>
          <p:cNvPr id="7" name="コンテンツ プレースホルダー 6">
            <a:extLst>
              <a:ext uri="{FF2B5EF4-FFF2-40B4-BE49-F238E27FC236}">
                <a16:creationId xmlns:a16="http://schemas.microsoft.com/office/drawing/2014/main" id="{4D8476EA-30E4-392F-2E72-482B7C7B51AC}"/>
              </a:ext>
            </a:extLst>
          </p:cNvPr>
          <p:cNvPicPr>
            <a:picLocks noGrp="1" noChangeAspect="1"/>
          </p:cNvPicPr>
          <p:nvPr>
            <p:ph idx="1"/>
          </p:nvPr>
        </p:nvPicPr>
        <p:blipFill>
          <a:blip r:embed="rId2"/>
          <a:stretch>
            <a:fillRect/>
          </a:stretch>
        </p:blipFill>
        <p:spPr>
          <a:xfrm>
            <a:off x="2364839" y="2088133"/>
            <a:ext cx="3115110" cy="4134427"/>
          </a:xfrm>
          <a:prstGeom prst="rect">
            <a:avLst/>
          </a:prstGeom>
        </p:spPr>
      </p:pic>
      <p:sp>
        <p:nvSpPr>
          <p:cNvPr id="5" name="スライド番号プレースホルダー 4">
            <a:extLst>
              <a:ext uri="{FF2B5EF4-FFF2-40B4-BE49-F238E27FC236}">
                <a16:creationId xmlns:a16="http://schemas.microsoft.com/office/drawing/2014/main" id="{A31E3584-3FEF-ADED-878D-6F55BE17B826}"/>
              </a:ext>
            </a:extLst>
          </p:cNvPr>
          <p:cNvSpPr>
            <a:spLocks noGrp="1"/>
          </p:cNvSpPr>
          <p:nvPr>
            <p:ph type="sldNum" sz="quarter" idx="4"/>
          </p:nvPr>
        </p:nvSpPr>
        <p:spPr/>
        <p:txBody>
          <a:bodyPr/>
          <a:lstStyle/>
          <a:p>
            <a:fld id="{BEF4553F-1DE4-4E24-BEE1-073CD313E6D1}" type="slidenum">
              <a:rPr lang="en-US" smtClean="0"/>
              <a:pPr/>
              <a:t>6</a:t>
            </a:fld>
            <a:endParaRPr lang="en-US" dirty="0"/>
          </a:p>
        </p:txBody>
      </p:sp>
      <p:pic>
        <p:nvPicPr>
          <p:cNvPr id="9" name="図 8">
            <a:extLst>
              <a:ext uri="{FF2B5EF4-FFF2-40B4-BE49-F238E27FC236}">
                <a16:creationId xmlns:a16="http://schemas.microsoft.com/office/drawing/2014/main" id="{20A36D23-2813-9D56-E6D0-50B373BF0BCA}"/>
              </a:ext>
            </a:extLst>
          </p:cNvPr>
          <p:cNvPicPr>
            <a:picLocks noChangeAspect="1"/>
          </p:cNvPicPr>
          <p:nvPr/>
        </p:nvPicPr>
        <p:blipFill>
          <a:blip r:embed="rId3"/>
          <a:stretch>
            <a:fillRect/>
          </a:stretch>
        </p:blipFill>
        <p:spPr>
          <a:xfrm>
            <a:off x="6712053" y="2088132"/>
            <a:ext cx="3484893" cy="4134427"/>
          </a:xfrm>
          <a:prstGeom prst="rect">
            <a:avLst/>
          </a:prstGeom>
        </p:spPr>
      </p:pic>
      <p:sp>
        <p:nvSpPr>
          <p:cNvPr id="10" name="コンテンツ プレースホルダー 24">
            <a:extLst>
              <a:ext uri="{FF2B5EF4-FFF2-40B4-BE49-F238E27FC236}">
                <a16:creationId xmlns:a16="http://schemas.microsoft.com/office/drawing/2014/main" id="{724AE801-C0AA-CC17-7A11-B505591205CD}"/>
              </a:ext>
            </a:extLst>
          </p:cNvPr>
          <p:cNvSpPr txBox="1">
            <a:spLocks/>
          </p:cNvSpPr>
          <p:nvPr/>
        </p:nvSpPr>
        <p:spPr>
          <a:xfrm>
            <a:off x="577767" y="1009117"/>
            <a:ext cx="11036465" cy="788485"/>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Font typeface="Arial" panose="020B0604020202020204" pitchFamily="34" charset="0"/>
              <a:buNone/>
              <a:defRPr kumimoji="1" sz="2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3600" b="1" u="sng" dirty="0"/>
              <a:t>Reduction of Visibility Based on Background</a:t>
            </a:r>
            <a:endParaRPr lang="ja-JP" altLang="en-US" sz="3600" b="1" u="sng" dirty="0"/>
          </a:p>
        </p:txBody>
      </p:sp>
      <p:sp>
        <p:nvSpPr>
          <p:cNvPr id="11" name="フッター プレースホルダー 4">
            <a:extLst>
              <a:ext uri="{FF2B5EF4-FFF2-40B4-BE49-F238E27FC236}">
                <a16:creationId xmlns:a16="http://schemas.microsoft.com/office/drawing/2014/main" id="{E5FAD172-A396-D303-A03F-DAD2105BB37C}"/>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b="1" dirty="0"/>
              <a:t>[1] T. </a:t>
            </a:r>
            <a:r>
              <a:rPr lang="en-US" b="1" dirty="0" err="1"/>
              <a:t>Fukiage</a:t>
            </a:r>
            <a:r>
              <a:rPr lang="en-US" b="1" dirty="0"/>
              <a:t>, T. Oishi, and K. Ikeuchi, “Visibility-based blending for real-time applications,”</a:t>
            </a:r>
            <a:r>
              <a:rPr lang="ja-JP" altLang="en-US" b="1" dirty="0"/>
              <a:t> </a:t>
            </a:r>
            <a:r>
              <a:rPr lang="en-US" altLang="ja-JP" b="1" dirty="0"/>
              <a:t>2014</a:t>
            </a:r>
          </a:p>
          <a:p>
            <a:r>
              <a:rPr lang="en-US" altLang="ja-JP" b="1" dirty="0"/>
              <a:t>[2] H. Liu, et al. “Saliency difference based objective evaluation method for a superimposed screen of the </a:t>
            </a:r>
            <a:r>
              <a:rPr lang="en-US" altLang="ja-JP" b="1" dirty="0" err="1"/>
              <a:t>hud</a:t>
            </a:r>
            <a:r>
              <a:rPr lang="en-US" altLang="ja-JP" b="1" dirty="0"/>
              <a:t> with various background,” 2019</a:t>
            </a:r>
          </a:p>
        </p:txBody>
      </p:sp>
      <p:sp>
        <p:nvSpPr>
          <p:cNvPr id="12" name="テキスト ボックス 11">
            <a:extLst>
              <a:ext uri="{FF2B5EF4-FFF2-40B4-BE49-F238E27FC236}">
                <a16:creationId xmlns:a16="http://schemas.microsoft.com/office/drawing/2014/main" id="{9A9A467C-ACA3-3D71-18FF-6BDBD327EC07}"/>
              </a:ext>
            </a:extLst>
          </p:cNvPr>
          <p:cNvSpPr txBox="1"/>
          <p:nvPr/>
        </p:nvSpPr>
        <p:spPr>
          <a:xfrm>
            <a:off x="5364550" y="5848883"/>
            <a:ext cx="487634" cy="369332"/>
          </a:xfrm>
          <a:prstGeom prst="rect">
            <a:avLst/>
          </a:prstGeom>
          <a:noFill/>
        </p:spPr>
        <p:txBody>
          <a:bodyPr wrap="none" rtlCol="0">
            <a:spAutoFit/>
          </a:bodyPr>
          <a:lstStyle/>
          <a:p>
            <a:r>
              <a:rPr kumimoji="1" lang="en-US" altLang="ja-JP" b="1" dirty="0"/>
              <a:t>[1]</a:t>
            </a:r>
            <a:endParaRPr kumimoji="1" lang="ja-JP" altLang="en-US" b="1" dirty="0"/>
          </a:p>
        </p:txBody>
      </p:sp>
      <p:sp>
        <p:nvSpPr>
          <p:cNvPr id="13" name="テキスト ボックス 12">
            <a:extLst>
              <a:ext uri="{FF2B5EF4-FFF2-40B4-BE49-F238E27FC236}">
                <a16:creationId xmlns:a16="http://schemas.microsoft.com/office/drawing/2014/main" id="{21269EED-0B54-3D1C-4C12-63E363BAB043}"/>
              </a:ext>
            </a:extLst>
          </p:cNvPr>
          <p:cNvSpPr txBox="1"/>
          <p:nvPr/>
        </p:nvSpPr>
        <p:spPr>
          <a:xfrm>
            <a:off x="10196946" y="5848883"/>
            <a:ext cx="487634" cy="369332"/>
          </a:xfrm>
          <a:prstGeom prst="rect">
            <a:avLst/>
          </a:prstGeom>
          <a:noFill/>
        </p:spPr>
        <p:txBody>
          <a:bodyPr wrap="none" rtlCol="0">
            <a:spAutoFit/>
          </a:bodyPr>
          <a:lstStyle/>
          <a:p>
            <a:r>
              <a:rPr kumimoji="1" lang="en-US" altLang="ja-JP" b="1" dirty="0"/>
              <a:t>[2]</a:t>
            </a:r>
            <a:endParaRPr kumimoji="1" lang="ja-JP" altLang="en-US" b="1" dirty="0"/>
          </a:p>
        </p:txBody>
      </p:sp>
    </p:spTree>
    <p:extLst>
      <p:ext uri="{BB962C8B-B14F-4D97-AF65-F5344CB8AC3E}">
        <p14:creationId xmlns:p14="http://schemas.microsoft.com/office/powerpoint/2010/main" val="3102845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889DD-0F2B-1514-DBFA-818B8FD898F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CDC2DF-6A36-0EE0-41E1-06A12DF6C18C}"/>
              </a:ext>
            </a:extLst>
          </p:cNvPr>
          <p:cNvSpPr>
            <a:spLocks noGrp="1"/>
          </p:cNvSpPr>
          <p:nvPr>
            <p:ph type="title"/>
          </p:nvPr>
        </p:nvSpPr>
        <p:spPr/>
        <p:txBody>
          <a:bodyPr/>
          <a:lstStyle/>
          <a:p>
            <a:r>
              <a:rPr lang="en-US" sz="3600" b="1" dirty="0">
                <a:solidFill>
                  <a:schemeClr val="accent1"/>
                </a:solidFill>
                <a:latin typeface="+mj-lt"/>
                <a:ea typeface="+mj-ea"/>
              </a:rPr>
              <a:t>Index</a:t>
            </a:r>
          </a:p>
        </p:txBody>
      </p:sp>
      <p:sp>
        <p:nvSpPr>
          <p:cNvPr id="3" name="コンテンツ プレースホルダー 2">
            <a:extLst>
              <a:ext uri="{FF2B5EF4-FFF2-40B4-BE49-F238E27FC236}">
                <a16:creationId xmlns:a16="http://schemas.microsoft.com/office/drawing/2014/main" id="{F49D376B-B415-F726-6B14-62CE72328625}"/>
              </a:ext>
            </a:extLst>
          </p:cNvPr>
          <p:cNvSpPr>
            <a:spLocks noGrp="1"/>
          </p:cNvSpPr>
          <p:nvPr>
            <p:ph idx="1"/>
          </p:nvPr>
        </p:nvSpPr>
        <p:spPr>
          <a:xfrm>
            <a:off x="568633" y="994595"/>
            <a:ext cx="11036465" cy="5777442"/>
          </a:xfrm>
        </p:spPr>
        <p:txBody>
          <a:bodyPr>
            <a:normAutofit/>
          </a:bodyPr>
          <a:lstStyle/>
          <a:p>
            <a:pPr marL="457200" indent="-457200">
              <a:buAutoNum type="arabicPeriod"/>
            </a:pPr>
            <a:r>
              <a:rPr lang="en-US" sz="2550" b="1" dirty="0">
                <a:solidFill>
                  <a:schemeClr val="accent1"/>
                </a:solidFill>
              </a:rPr>
              <a:t>Introduction</a:t>
            </a:r>
          </a:p>
          <a:p>
            <a:pPr marL="971550" lvl="1" indent="-514350">
              <a:buFont typeface="+mj-lt"/>
              <a:buAutoNum type="alphaLcPeriod"/>
            </a:pPr>
            <a:r>
              <a:rPr lang="en-US" sz="2550" b="1" dirty="0"/>
              <a:t>What is AR?</a:t>
            </a:r>
          </a:p>
          <a:p>
            <a:pPr marL="971550" lvl="1" indent="-514350">
              <a:buFont typeface="+mj-lt"/>
              <a:buAutoNum type="alphaLcPeriod"/>
            </a:pPr>
            <a:r>
              <a:rPr lang="en-US" sz="2550" b="1" dirty="0"/>
              <a:t>What is “OST”-AR?</a:t>
            </a:r>
          </a:p>
          <a:p>
            <a:pPr marL="971550" lvl="1" indent="-514350">
              <a:buFont typeface="+mj-lt"/>
              <a:buAutoNum type="alphaLcPeriod"/>
            </a:pPr>
            <a:r>
              <a:rPr lang="en-US" sz="2550" b="1" dirty="0">
                <a:solidFill>
                  <a:schemeClr val="accent1"/>
                </a:solidFill>
              </a:rPr>
              <a:t>Background (1): What is “Visibility” </a:t>
            </a:r>
          </a:p>
          <a:p>
            <a:pPr marL="971550" lvl="1" indent="-514350">
              <a:buFont typeface="+mj-lt"/>
              <a:buAutoNum type="alphaLcPeriod"/>
            </a:pPr>
            <a:r>
              <a:rPr lang="en-US" sz="2550" b="1" dirty="0">
                <a:solidFill>
                  <a:schemeClr val="accent1"/>
                </a:solidFill>
              </a:rPr>
              <a:t>Background (2): Application</a:t>
            </a:r>
          </a:p>
          <a:p>
            <a:pPr marL="971550" lvl="1" indent="-514350">
              <a:buFont typeface="+mj-lt"/>
              <a:buAutoNum type="alphaLcPeriod"/>
            </a:pPr>
            <a:r>
              <a:rPr lang="en-US" sz="2550" b="1" dirty="0"/>
              <a:t>Scope of this Survey</a:t>
            </a:r>
          </a:p>
          <a:p>
            <a:pPr marL="457200" indent="-457200">
              <a:buAutoNum type="arabicPeriod"/>
            </a:pPr>
            <a:r>
              <a:rPr lang="en-US" sz="2550" b="1" dirty="0">
                <a:solidFill>
                  <a:schemeClr val="tx1">
                    <a:lumMod val="40000"/>
                    <a:lumOff val="60000"/>
                  </a:schemeClr>
                </a:solidFill>
              </a:rPr>
              <a:t>Studies on the Perceptual Visibility of OST-AR</a:t>
            </a:r>
          </a:p>
          <a:p>
            <a:pPr marL="457200" indent="-457200">
              <a:buFont typeface="Arial" panose="020B0604020202020204" pitchFamily="34" charset="0"/>
              <a:buAutoNum type="arabicPeriod"/>
            </a:pPr>
            <a:r>
              <a:rPr lang="en-US" altLang="ja-JP" sz="2550" b="1" dirty="0">
                <a:solidFill>
                  <a:schemeClr val="tx1">
                    <a:lumMod val="40000"/>
                    <a:lumOff val="60000"/>
                  </a:schemeClr>
                </a:solidFill>
              </a:rPr>
              <a:t>Visibility Predictor</a:t>
            </a:r>
          </a:p>
          <a:p>
            <a:pPr marL="457200" indent="-457200">
              <a:buFont typeface="Arial" panose="020B0604020202020204" pitchFamily="34" charset="0"/>
              <a:buAutoNum type="arabicPeriod"/>
            </a:pPr>
            <a:r>
              <a:rPr lang="en-US" altLang="ja-JP" sz="2550" b="1" dirty="0">
                <a:solidFill>
                  <a:schemeClr val="tx1">
                    <a:lumMod val="40000"/>
                    <a:lumOff val="60000"/>
                  </a:schemeClr>
                </a:solidFill>
              </a:rPr>
              <a:t>Conclusion</a:t>
            </a:r>
          </a:p>
          <a:p>
            <a:endParaRPr lang="en-US" sz="2550" b="1" dirty="0"/>
          </a:p>
          <a:p>
            <a:pPr marL="457200" indent="-457200">
              <a:buAutoNum type="arabicPeriod"/>
            </a:pPr>
            <a:endParaRPr lang="en-US" sz="2550" b="1" dirty="0"/>
          </a:p>
        </p:txBody>
      </p:sp>
      <p:sp>
        <p:nvSpPr>
          <p:cNvPr id="4" name="スライド番号プレースホルダー 3">
            <a:extLst>
              <a:ext uri="{FF2B5EF4-FFF2-40B4-BE49-F238E27FC236}">
                <a16:creationId xmlns:a16="http://schemas.microsoft.com/office/drawing/2014/main" id="{20BF6503-BE05-149A-97DC-9DD01359C50E}"/>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7</a:t>
            </a:fld>
            <a:endParaRPr lang="en-US"/>
          </a:p>
        </p:txBody>
      </p:sp>
    </p:spTree>
    <p:extLst>
      <p:ext uri="{BB962C8B-B14F-4D97-AF65-F5344CB8AC3E}">
        <p14:creationId xmlns:p14="http://schemas.microsoft.com/office/powerpoint/2010/main" val="2287956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53E71-664C-3839-E961-8D7B49A1A24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211BA08-4DFE-B29E-3030-C060D85252AD}"/>
              </a:ext>
            </a:extLst>
          </p:cNvPr>
          <p:cNvSpPr>
            <a:spLocks noGrp="1"/>
          </p:cNvSpPr>
          <p:nvPr>
            <p:ph type="title"/>
          </p:nvPr>
        </p:nvSpPr>
        <p:spPr/>
        <p:txBody>
          <a:bodyPr/>
          <a:lstStyle/>
          <a:p>
            <a:r>
              <a:rPr lang="en-US" altLang="ja-JP" b="1" dirty="0">
                <a:solidFill>
                  <a:schemeClr val="accent1"/>
                </a:solidFill>
                <a:latin typeface="+mn-lt"/>
              </a:rPr>
              <a:t>What is "</a:t>
            </a:r>
            <a:r>
              <a:rPr lang="en-US" b="1" dirty="0">
                <a:solidFill>
                  <a:schemeClr val="accent1"/>
                </a:solidFill>
                <a:latin typeface="+mn-lt"/>
              </a:rPr>
              <a:t>Perceptual </a:t>
            </a:r>
            <a:r>
              <a:rPr lang="en-US" altLang="ja-JP" b="1" dirty="0">
                <a:solidFill>
                  <a:schemeClr val="accent1"/>
                </a:solidFill>
                <a:latin typeface="+mn-lt"/>
              </a:rPr>
              <a:t>Visibility"? (1): Contrast</a:t>
            </a:r>
            <a:endParaRPr kumimoji="1" lang="ja-JP" altLang="en-US" sz="3600"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CC7DC554-48B0-599D-9F7C-66EF0CEA813A}"/>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8</a:t>
            </a:fld>
            <a:endParaRPr lang="en-US"/>
          </a:p>
        </p:txBody>
      </p:sp>
      <p:sp>
        <p:nvSpPr>
          <p:cNvPr id="25" name="コンテンツ プレースホルダー 24">
            <a:extLst>
              <a:ext uri="{FF2B5EF4-FFF2-40B4-BE49-F238E27FC236}">
                <a16:creationId xmlns:a16="http://schemas.microsoft.com/office/drawing/2014/main" id="{5B26F609-66B1-1A56-B23B-77140D4C7E11}"/>
              </a:ext>
            </a:extLst>
          </p:cNvPr>
          <p:cNvSpPr>
            <a:spLocks noGrp="1"/>
          </p:cNvSpPr>
          <p:nvPr>
            <p:ph idx="1"/>
          </p:nvPr>
        </p:nvSpPr>
        <p:spPr>
          <a:xfrm>
            <a:off x="568633" y="1078727"/>
            <a:ext cx="11036465" cy="5056376"/>
          </a:xfrm>
        </p:spPr>
        <p:txBody>
          <a:bodyPr>
            <a:normAutofit/>
          </a:bodyPr>
          <a:lstStyle/>
          <a:p>
            <a:r>
              <a:rPr lang="en-US" altLang="ja-JP" sz="2550" b="1" u="sng" dirty="0"/>
              <a:t>Perceptual Visibility Depends on Contrast</a:t>
            </a:r>
            <a:endParaRPr lang="ja-JP" altLang="en-US" sz="2550" b="1" u="sng" dirty="0"/>
          </a:p>
        </p:txBody>
      </p:sp>
      <p:grpSp>
        <p:nvGrpSpPr>
          <p:cNvPr id="22" name="グループ化 21">
            <a:extLst>
              <a:ext uri="{FF2B5EF4-FFF2-40B4-BE49-F238E27FC236}">
                <a16:creationId xmlns:a16="http://schemas.microsoft.com/office/drawing/2014/main" id="{B027007F-F0ED-CADA-4608-56BFC3A2144D}"/>
              </a:ext>
            </a:extLst>
          </p:cNvPr>
          <p:cNvGrpSpPr/>
          <p:nvPr/>
        </p:nvGrpSpPr>
        <p:grpSpPr>
          <a:xfrm>
            <a:off x="869533" y="2297948"/>
            <a:ext cx="3905607" cy="3871665"/>
            <a:chOff x="1136696" y="2378869"/>
            <a:chExt cx="3905607" cy="3871665"/>
          </a:xfrm>
        </p:grpSpPr>
        <p:pic>
          <p:nvPicPr>
            <p:cNvPr id="7" name="図 6">
              <a:extLst>
                <a:ext uri="{FF2B5EF4-FFF2-40B4-BE49-F238E27FC236}">
                  <a16:creationId xmlns:a16="http://schemas.microsoft.com/office/drawing/2014/main" id="{0217960E-5508-73C4-A2DC-7F7A6B7DF6FD}"/>
                </a:ext>
              </a:extLst>
            </p:cNvPr>
            <p:cNvPicPr>
              <a:picLocks noChangeAspect="1"/>
            </p:cNvPicPr>
            <p:nvPr/>
          </p:nvPicPr>
          <p:blipFill>
            <a:blip r:embed="rId3"/>
            <a:stretch>
              <a:fillRect/>
            </a:stretch>
          </p:blipFill>
          <p:spPr>
            <a:xfrm>
              <a:off x="1681883" y="2378869"/>
              <a:ext cx="3360420" cy="3373737"/>
            </a:xfrm>
            <a:prstGeom prst="rect">
              <a:avLst/>
            </a:prstGeom>
          </p:spPr>
        </p:pic>
        <p:cxnSp>
          <p:nvCxnSpPr>
            <p:cNvPr id="9" name="直線矢印コネクタ 8">
              <a:extLst>
                <a:ext uri="{FF2B5EF4-FFF2-40B4-BE49-F238E27FC236}">
                  <a16:creationId xmlns:a16="http://schemas.microsoft.com/office/drawing/2014/main" id="{F40CBA79-9E69-132A-FE99-A2FEABB8BFA7}"/>
                </a:ext>
              </a:extLst>
            </p:cNvPr>
            <p:cNvCxnSpPr>
              <a:cxnSpLocks/>
            </p:cNvCxnSpPr>
            <p:nvPr/>
          </p:nvCxnSpPr>
          <p:spPr>
            <a:xfrm>
              <a:off x="1567583" y="2378869"/>
              <a:ext cx="0" cy="3373737"/>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 name="テキスト ボックス 9">
              <a:extLst>
                <a:ext uri="{FF2B5EF4-FFF2-40B4-BE49-F238E27FC236}">
                  <a16:creationId xmlns:a16="http://schemas.microsoft.com/office/drawing/2014/main" id="{8E6FACD0-E652-F518-FD0C-C61656EE2E05}"/>
                </a:ext>
              </a:extLst>
            </p:cNvPr>
            <p:cNvSpPr txBox="1"/>
            <p:nvPr/>
          </p:nvSpPr>
          <p:spPr>
            <a:xfrm rot="16200000">
              <a:off x="734920" y="3850293"/>
              <a:ext cx="1234439" cy="430887"/>
            </a:xfrm>
            <a:prstGeom prst="rect">
              <a:avLst/>
            </a:prstGeom>
            <a:noFill/>
          </p:spPr>
          <p:txBody>
            <a:bodyPr wrap="square" rtlCol="0">
              <a:spAutoFit/>
            </a:bodyPr>
            <a:lstStyle/>
            <a:p>
              <a:r>
                <a:rPr kumimoji="1" lang="en-US" altLang="ja-JP" sz="2200" dirty="0"/>
                <a:t>Contrast</a:t>
              </a:r>
              <a:endParaRPr kumimoji="1" lang="ja-JP" altLang="en-US" sz="2200" dirty="0"/>
            </a:p>
          </p:txBody>
        </p:sp>
        <p:cxnSp>
          <p:nvCxnSpPr>
            <p:cNvPr id="11" name="直線矢印コネクタ 10">
              <a:extLst>
                <a:ext uri="{FF2B5EF4-FFF2-40B4-BE49-F238E27FC236}">
                  <a16:creationId xmlns:a16="http://schemas.microsoft.com/office/drawing/2014/main" id="{37EC7051-998E-DBC3-4FDD-2D0247077139}"/>
                </a:ext>
              </a:extLst>
            </p:cNvPr>
            <p:cNvCxnSpPr>
              <a:cxnSpLocks/>
            </p:cNvCxnSpPr>
            <p:nvPr/>
          </p:nvCxnSpPr>
          <p:spPr>
            <a:xfrm>
              <a:off x="1681883" y="5860194"/>
              <a:ext cx="33604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6" name="テキスト ボックス 15">
              <a:extLst>
                <a:ext uri="{FF2B5EF4-FFF2-40B4-BE49-F238E27FC236}">
                  <a16:creationId xmlns:a16="http://schemas.microsoft.com/office/drawing/2014/main" id="{04A3A069-C7E8-A546-8A39-02702948954C}"/>
                </a:ext>
              </a:extLst>
            </p:cNvPr>
            <p:cNvSpPr txBox="1"/>
            <p:nvPr/>
          </p:nvSpPr>
          <p:spPr>
            <a:xfrm>
              <a:off x="2092411" y="5819647"/>
              <a:ext cx="2539364" cy="430887"/>
            </a:xfrm>
            <a:prstGeom prst="rect">
              <a:avLst/>
            </a:prstGeom>
            <a:noFill/>
          </p:spPr>
          <p:txBody>
            <a:bodyPr wrap="square" rtlCol="0">
              <a:spAutoFit/>
            </a:bodyPr>
            <a:lstStyle/>
            <a:p>
              <a:r>
                <a:rPr lang="en-US" altLang="ja-JP" sz="2200" dirty="0"/>
                <a:t>Spatial frequency</a:t>
              </a:r>
              <a:endParaRPr kumimoji="1" lang="ja-JP" altLang="en-US" sz="2200" dirty="0"/>
            </a:p>
          </p:txBody>
        </p:sp>
      </p:grpSp>
      <p:pic>
        <p:nvPicPr>
          <p:cNvPr id="18" name="図 17">
            <a:extLst>
              <a:ext uri="{FF2B5EF4-FFF2-40B4-BE49-F238E27FC236}">
                <a16:creationId xmlns:a16="http://schemas.microsoft.com/office/drawing/2014/main" id="{A27E82E9-3B8C-DC87-5F85-DDFD0B7B4F7E}"/>
              </a:ext>
            </a:extLst>
          </p:cNvPr>
          <p:cNvPicPr>
            <a:picLocks noChangeAspect="1"/>
          </p:cNvPicPr>
          <p:nvPr/>
        </p:nvPicPr>
        <p:blipFill>
          <a:blip r:embed="rId4"/>
          <a:stretch>
            <a:fillRect/>
          </a:stretch>
        </p:blipFill>
        <p:spPr>
          <a:xfrm>
            <a:off x="6659104" y="2279258"/>
            <a:ext cx="3879273" cy="3890355"/>
          </a:xfrm>
          <a:prstGeom prst="rect">
            <a:avLst/>
          </a:prstGeom>
        </p:spPr>
      </p:pic>
      <p:sp>
        <p:nvSpPr>
          <p:cNvPr id="19" name="コンテンツ プレースホルダー 2">
            <a:extLst>
              <a:ext uri="{FF2B5EF4-FFF2-40B4-BE49-F238E27FC236}">
                <a16:creationId xmlns:a16="http://schemas.microsoft.com/office/drawing/2014/main" id="{C5B70AC5-2B8E-2FF4-B327-43B8E1944968}"/>
              </a:ext>
            </a:extLst>
          </p:cNvPr>
          <p:cNvSpPr txBox="1">
            <a:spLocks/>
          </p:cNvSpPr>
          <p:nvPr/>
        </p:nvSpPr>
        <p:spPr>
          <a:xfrm>
            <a:off x="577768" y="1682052"/>
            <a:ext cx="5527367" cy="597206"/>
          </a:xfrm>
          <a:prstGeom prst="rect">
            <a:avLst/>
          </a:prstGeom>
        </p:spPr>
        <p:txBody>
          <a:bodyPr vert="horz" lIns="91440" tIns="45720" rIns="91440" bIns="45720" rtlCol="0">
            <a:noAutofit/>
          </a:bodyPr>
          <a:lstStyle>
            <a:lvl1pPr marL="0" indent="0" algn="l" defTabSz="914400" rtl="0" eaLnBrk="1" latinLnBrk="0" hangingPunct="1">
              <a:lnSpc>
                <a:spcPct val="110000"/>
              </a:lnSpc>
              <a:spcBef>
                <a:spcPts val="1000"/>
              </a:spcBef>
              <a:buFont typeface="Arial" panose="020B0604020202020204" pitchFamily="34" charset="0"/>
              <a:buNone/>
              <a:defRPr kumimoji="1" sz="2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550" dirty="0">
                <a:solidFill>
                  <a:schemeClr val="accent1"/>
                </a:solidFill>
              </a:rPr>
              <a:t>High contrast </a:t>
            </a:r>
            <a:r>
              <a:rPr lang="ja-JP" altLang="en-US" sz="2550" dirty="0">
                <a:solidFill>
                  <a:schemeClr val="accent1"/>
                </a:solidFill>
              </a:rPr>
              <a:t>→ </a:t>
            </a:r>
            <a:r>
              <a:rPr lang="en-US" altLang="ja-JP" sz="2550" dirty="0">
                <a:solidFill>
                  <a:schemeClr val="accent1"/>
                </a:solidFill>
              </a:rPr>
              <a:t>High visibility</a:t>
            </a:r>
          </a:p>
        </p:txBody>
      </p:sp>
      <p:sp>
        <p:nvSpPr>
          <p:cNvPr id="24" name="コンテンツ プレースホルダー 2">
            <a:extLst>
              <a:ext uri="{FF2B5EF4-FFF2-40B4-BE49-F238E27FC236}">
                <a16:creationId xmlns:a16="http://schemas.microsoft.com/office/drawing/2014/main" id="{067C7E11-3725-28DE-8156-56225A77FEE7}"/>
              </a:ext>
            </a:extLst>
          </p:cNvPr>
          <p:cNvSpPr txBox="1">
            <a:spLocks/>
          </p:cNvSpPr>
          <p:nvPr/>
        </p:nvSpPr>
        <p:spPr>
          <a:xfrm>
            <a:off x="5733663" y="1682052"/>
            <a:ext cx="6272853" cy="650947"/>
          </a:xfrm>
          <a:prstGeom prst="rect">
            <a:avLst/>
          </a:prstGeom>
        </p:spPr>
        <p:txBody>
          <a:bodyPr vert="horz" lIns="91440" tIns="45720" rIns="91440" bIns="45720" rtlCol="0">
            <a:noAutofit/>
          </a:bodyPr>
          <a:lstStyle>
            <a:lvl1pPr marL="0" indent="0" algn="l" defTabSz="914400" rtl="0" eaLnBrk="1" latinLnBrk="0" hangingPunct="1">
              <a:lnSpc>
                <a:spcPct val="110000"/>
              </a:lnSpc>
              <a:spcBef>
                <a:spcPts val="1000"/>
              </a:spcBef>
              <a:buFont typeface="Arial" panose="020B0604020202020204" pitchFamily="34" charset="0"/>
              <a:buNone/>
              <a:defRPr kumimoji="1" sz="2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550" dirty="0"/>
              <a:t>Dependence on spatial frequency</a:t>
            </a:r>
          </a:p>
        </p:txBody>
      </p:sp>
      <p:sp>
        <p:nvSpPr>
          <p:cNvPr id="3" name="フッター プレースホルダー 4">
            <a:extLst>
              <a:ext uri="{FF2B5EF4-FFF2-40B4-BE49-F238E27FC236}">
                <a16:creationId xmlns:a16="http://schemas.microsoft.com/office/drawing/2014/main" id="{B581F5E6-1915-052C-C205-06ABAD0CEFDB}"/>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b="1" dirty="0"/>
              <a:t>[1] T. </a:t>
            </a:r>
            <a:r>
              <a:rPr lang="en-US" b="1" dirty="0" err="1"/>
              <a:t>Fukiage</a:t>
            </a:r>
            <a:r>
              <a:rPr lang="en-US" b="1" dirty="0"/>
              <a:t>, T. Oishi, and K. Ikeuchi, “Visibility-based blending for real-time applications,”</a:t>
            </a:r>
            <a:r>
              <a:rPr lang="ja-JP" altLang="en-US" b="1" dirty="0"/>
              <a:t> </a:t>
            </a:r>
            <a:r>
              <a:rPr lang="en-US" altLang="ja-JP" b="1" dirty="0"/>
              <a:t>2014</a:t>
            </a:r>
            <a:endParaRPr lang="en-US" sz="1100" b="1" dirty="0"/>
          </a:p>
        </p:txBody>
      </p:sp>
      <p:sp>
        <p:nvSpPr>
          <p:cNvPr id="8" name="フッター プレースホルダー 4">
            <a:extLst>
              <a:ext uri="{FF2B5EF4-FFF2-40B4-BE49-F238E27FC236}">
                <a16:creationId xmlns:a16="http://schemas.microsoft.com/office/drawing/2014/main" id="{9A9A02E7-EE2F-49E2-AF31-258FB2AA73CA}"/>
              </a:ext>
            </a:extLst>
          </p:cNvPr>
          <p:cNvSpPr txBox="1">
            <a:spLocks/>
          </p:cNvSpPr>
          <p:nvPr/>
        </p:nvSpPr>
        <p:spPr>
          <a:xfrm>
            <a:off x="658466" y="6079606"/>
            <a:ext cx="5268851" cy="351040"/>
          </a:xfrm>
          <a:prstGeom prst="rect">
            <a:avLst/>
          </a:prstGeom>
        </p:spPr>
        <p:txBody>
          <a:bodyPr anchor="b"/>
          <a:lstStyle>
            <a:defPPr>
              <a:defRPr lang="ja-JP"/>
            </a:defPPr>
            <a:lvl1pPr marL="0" algn="l" defTabSz="914400" rtl="0" eaLnBrk="1" latinLnBrk="0" hangingPunct="1">
              <a:defRPr kumimoji="1" sz="11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sz="1200" dirty="0"/>
              <a:t>Contrast sensitivity for a visual stimulus depends on its spatial frequency[1]</a:t>
            </a:r>
          </a:p>
        </p:txBody>
      </p:sp>
      <p:sp>
        <p:nvSpPr>
          <p:cNvPr id="12" name="フッター プレースホルダー 4">
            <a:extLst>
              <a:ext uri="{FF2B5EF4-FFF2-40B4-BE49-F238E27FC236}">
                <a16:creationId xmlns:a16="http://schemas.microsoft.com/office/drawing/2014/main" id="{2D47F977-E0A1-432C-232C-F0C473E0F12A}"/>
              </a:ext>
            </a:extLst>
          </p:cNvPr>
          <p:cNvSpPr txBox="1">
            <a:spLocks/>
          </p:cNvSpPr>
          <p:nvPr/>
        </p:nvSpPr>
        <p:spPr>
          <a:xfrm>
            <a:off x="6659104" y="6074969"/>
            <a:ext cx="4139034" cy="351040"/>
          </a:xfrm>
          <a:prstGeom prst="rect">
            <a:avLst/>
          </a:prstGeom>
        </p:spPr>
        <p:txBody>
          <a:bodyPr anchor="b"/>
          <a:lstStyle>
            <a:defPPr>
              <a:defRPr lang="ja-JP"/>
            </a:defPPr>
            <a:lvl1pPr marL="0" algn="l" defTabSz="914400" rtl="0" eaLnBrk="1" latinLnBrk="0" hangingPunct="1">
              <a:defRPr kumimoji="1" sz="11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sz="1200" dirty="0"/>
              <a:t>Schematic illustration of the contrast sensitivity function[1]</a:t>
            </a:r>
          </a:p>
        </p:txBody>
      </p:sp>
    </p:spTree>
    <p:extLst>
      <p:ext uri="{BB962C8B-B14F-4D97-AF65-F5344CB8AC3E}">
        <p14:creationId xmlns:p14="http://schemas.microsoft.com/office/powerpoint/2010/main" val="5735167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5F68A-2348-8484-5503-EF8F91CDF09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AFC0847-49B6-1FC1-29C7-D46EB7B8CE85}"/>
              </a:ext>
            </a:extLst>
          </p:cNvPr>
          <p:cNvSpPr>
            <a:spLocks noGrp="1"/>
          </p:cNvSpPr>
          <p:nvPr>
            <p:ph type="title"/>
          </p:nvPr>
        </p:nvSpPr>
        <p:spPr/>
        <p:txBody>
          <a:bodyPr/>
          <a:lstStyle/>
          <a:p>
            <a:r>
              <a:rPr lang="en-US" altLang="ja-JP" b="1" dirty="0">
                <a:solidFill>
                  <a:schemeClr val="accent1"/>
                </a:solidFill>
                <a:latin typeface="+mn-lt"/>
              </a:rPr>
              <a:t>What is "</a:t>
            </a:r>
            <a:r>
              <a:rPr lang="en-US" b="1" dirty="0">
                <a:solidFill>
                  <a:schemeClr val="accent1"/>
                </a:solidFill>
                <a:latin typeface="+mn-lt"/>
              </a:rPr>
              <a:t>Perceptual </a:t>
            </a:r>
            <a:r>
              <a:rPr lang="en-US" altLang="ja-JP" b="1" dirty="0">
                <a:solidFill>
                  <a:schemeClr val="accent1"/>
                </a:solidFill>
                <a:latin typeface="+mn-lt"/>
              </a:rPr>
              <a:t>Visibility"?(2): Interpretations</a:t>
            </a:r>
            <a:endParaRPr kumimoji="1" lang="ja-JP" altLang="en-US" sz="3600"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25C425F3-C9B4-5865-8544-0F9873CD0321}"/>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9</a:t>
            </a:fld>
            <a:endParaRPr lang="en-US"/>
          </a:p>
        </p:txBody>
      </p:sp>
      <p:sp>
        <p:nvSpPr>
          <p:cNvPr id="25" name="コンテンツ プレースホルダー 24">
            <a:extLst>
              <a:ext uri="{FF2B5EF4-FFF2-40B4-BE49-F238E27FC236}">
                <a16:creationId xmlns:a16="http://schemas.microsoft.com/office/drawing/2014/main" id="{A62F2A95-FDC2-53FE-CCAE-4E62D14893CF}"/>
              </a:ext>
            </a:extLst>
          </p:cNvPr>
          <p:cNvSpPr>
            <a:spLocks noGrp="1"/>
          </p:cNvSpPr>
          <p:nvPr>
            <p:ph idx="1"/>
          </p:nvPr>
        </p:nvSpPr>
        <p:spPr>
          <a:xfrm>
            <a:off x="577768" y="1077505"/>
            <a:ext cx="11036465" cy="5140507"/>
          </a:xfrm>
        </p:spPr>
        <p:txBody>
          <a:bodyPr>
            <a:normAutofit/>
          </a:bodyPr>
          <a:lstStyle/>
          <a:p>
            <a:r>
              <a:rPr lang="en-US" altLang="ja-JP" sz="2550" b="1" u="sng" dirty="0"/>
              <a:t>Subjectivity in Direct Visibility Assessment </a:t>
            </a:r>
            <a:r>
              <a:rPr lang="ja-JP" altLang="en-US" sz="2550" b="1" u="sng" dirty="0"/>
              <a:t>→ </a:t>
            </a:r>
            <a:r>
              <a:rPr lang="en-US" altLang="ja-JP" sz="2550" b="1" u="sng" dirty="0">
                <a:solidFill>
                  <a:schemeClr val="accent1"/>
                </a:solidFill>
              </a:rPr>
              <a:t>Diverse Interpretations </a:t>
            </a:r>
          </a:p>
          <a:p>
            <a:r>
              <a:rPr lang="en-US" altLang="ja-JP" dirty="0"/>
              <a:t>Depend on : Criteria, Focus factors, Experimental design</a:t>
            </a:r>
          </a:p>
          <a:p>
            <a:endParaRPr lang="en-US" altLang="ja-JP" sz="2550" dirty="0"/>
          </a:p>
        </p:txBody>
      </p:sp>
      <p:graphicFrame>
        <p:nvGraphicFramePr>
          <p:cNvPr id="6" name="表 5">
            <a:extLst>
              <a:ext uri="{FF2B5EF4-FFF2-40B4-BE49-F238E27FC236}">
                <a16:creationId xmlns:a16="http://schemas.microsoft.com/office/drawing/2014/main" id="{C7CAA5ED-2118-8D6C-B151-3A8CE7F57168}"/>
              </a:ext>
            </a:extLst>
          </p:cNvPr>
          <p:cNvGraphicFramePr>
            <a:graphicFrameLocks noGrp="1"/>
          </p:cNvGraphicFramePr>
          <p:nvPr>
            <p:extLst>
              <p:ext uri="{D42A27DB-BD31-4B8C-83A1-F6EECF244321}">
                <p14:modId xmlns:p14="http://schemas.microsoft.com/office/powerpoint/2010/main" val="4125956949"/>
              </p:ext>
            </p:extLst>
          </p:nvPr>
        </p:nvGraphicFramePr>
        <p:xfrm>
          <a:off x="577767" y="2346746"/>
          <a:ext cx="11036463" cy="2988000"/>
        </p:xfrm>
        <a:graphic>
          <a:graphicData uri="http://schemas.openxmlformats.org/drawingml/2006/table">
            <a:tbl>
              <a:tblPr>
                <a:tableStyleId>{5940675A-B579-460E-94D1-54222C63F5DA}</a:tableStyleId>
              </a:tblPr>
              <a:tblGrid>
                <a:gridCol w="3678821">
                  <a:extLst>
                    <a:ext uri="{9D8B030D-6E8A-4147-A177-3AD203B41FA5}">
                      <a16:colId xmlns:a16="http://schemas.microsoft.com/office/drawing/2014/main" val="3275729604"/>
                    </a:ext>
                  </a:extLst>
                </a:gridCol>
                <a:gridCol w="3678821">
                  <a:extLst>
                    <a:ext uri="{9D8B030D-6E8A-4147-A177-3AD203B41FA5}">
                      <a16:colId xmlns:a16="http://schemas.microsoft.com/office/drawing/2014/main" val="2410404512"/>
                    </a:ext>
                  </a:extLst>
                </a:gridCol>
                <a:gridCol w="3678821">
                  <a:extLst>
                    <a:ext uri="{9D8B030D-6E8A-4147-A177-3AD203B41FA5}">
                      <a16:colId xmlns:a16="http://schemas.microsoft.com/office/drawing/2014/main" val="3486643573"/>
                    </a:ext>
                  </a:extLst>
                </a:gridCol>
              </a:tblGrid>
              <a:tr h="504000">
                <a:tc>
                  <a:txBody>
                    <a:bodyPr/>
                    <a:lstStyle/>
                    <a:p>
                      <a:pPr algn="ctr" rtl="0" fontAlgn="b">
                        <a:buNone/>
                      </a:pPr>
                      <a:r>
                        <a:rPr lang="en-US" sz="2200" b="1" dirty="0">
                          <a:effectLst/>
                        </a:rPr>
                        <a:t>Study</a:t>
                      </a:r>
                    </a:p>
                  </a:txBody>
                  <a:tcPr marL="9964" marR="9964" marT="6643" marB="6643" anchor="ctr">
                    <a:solidFill>
                      <a:schemeClr val="accent4">
                        <a:lumMod val="40000"/>
                        <a:lumOff val="60000"/>
                      </a:schemeClr>
                    </a:solidFill>
                  </a:tcPr>
                </a:tc>
                <a:tc>
                  <a:txBody>
                    <a:bodyPr/>
                    <a:lstStyle/>
                    <a:p>
                      <a:pPr algn="ctr" rtl="0" fontAlgn="b">
                        <a:buNone/>
                      </a:pPr>
                      <a:r>
                        <a:rPr lang="en-US" sz="2200" b="1" dirty="0">
                          <a:effectLst/>
                        </a:rPr>
                        <a:t>Focus Factor</a:t>
                      </a:r>
                    </a:p>
                  </a:txBody>
                  <a:tcPr marL="9964" marR="9964" marT="6643" marB="6643" anchor="ctr">
                    <a:solidFill>
                      <a:schemeClr val="accent4">
                        <a:lumMod val="40000"/>
                        <a:lumOff val="60000"/>
                      </a:schemeClr>
                    </a:solidFill>
                  </a:tcPr>
                </a:tc>
                <a:tc>
                  <a:txBody>
                    <a:bodyPr/>
                    <a:lstStyle/>
                    <a:p>
                      <a:pPr algn="ctr" rtl="0" fontAlgn="b">
                        <a:buNone/>
                      </a:pPr>
                      <a:r>
                        <a:rPr lang="en-US" altLang="ja-JP" sz="2400" b="1" dirty="0"/>
                        <a:t>Interpretations</a:t>
                      </a:r>
                      <a:endParaRPr lang="en-US" sz="2200" dirty="0">
                        <a:effectLst/>
                      </a:endParaRPr>
                    </a:p>
                  </a:txBody>
                  <a:tcPr marL="0" marR="0" marT="6643" marB="6643" anchor="ctr">
                    <a:solidFill>
                      <a:schemeClr val="accent4">
                        <a:lumMod val="40000"/>
                        <a:lumOff val="60000"/>
                      </a:schemeClr>
                    </a:solidFill>
                  </a:tcPr>
                </a:tc>
                <a:extLst>
                  <a:ext uri="{0D108BD9-81ED-4DB2-BD59-A6C34878D82A}">
                    <a16:rowId xmlns:a16="http://schemas.microsoft.com/office/drawing/2014/main" val="3920879054"/>
                  </a:ext>
                </a:extLst>
              </a:tr>
              <a:tr h="828000">
                <a:tc>
                  <a:txBody>
                    <a:bodyPr/>
                    <a:lstStyle/>
                    <a:p>
                      <a:pPr algn="ctr" rtl="0" fontAlgn="b">
                        <a:buNone/>
                      </a:pPr>
                      <a:r>
                        <a:rPr lang="da-DK" sz="2200" dirty="0">
                          <a:effectLst/>
                        </a:rPr>
                        <a:t>Yoon et al. [1]</a:t>
                      </a:r>
                    </a:p>
                  </a:txBody>
                  <a:tcPr marL="9964" marR="9964" marT="6643" marB="6643" anchor="ctr"/>
                </a:tc>
                <a:tc>
                  <a:txBody>
                    <a:bodyPr/>
                    <a:lstStyle/>
                    <a:p>
                      <a:pPr algn="ctr" rtl="0" fontAlgn="b">
                        <a:buNone/>
                      </a:pPr>
                      <a:r>
                        <a:rPr lang="en-US" sz="2200" dirty="0">
                          <a:effectLst/>
                        </a:rPr>
                        <a:t>Color (Hue)</a:t>
                      </a:r>
                    </a:p>
                  </a:txBody>
                  <a:tcPr marL="9964" marR="9964" marT="6643" marB="6643" anchor="ctr"/>
                </a:tc>
                <a:tc>
                  <a:txBody>
                    <a:bodyPr/>
                    <a:lstStyle/>
                    <a:p>
                      <a:pPr algn="ctr" rtl="0" fontAlgn="b">
                        <a:buNone/>
                      </a:pPr>
                      <a:r>
                        <a:rPr lang="en-US" altLang="ja-JP" sz="2200" b="1" dirty="0"/>
                        <a:t>Hue difference against background</a:t>
                      </a:r>
                      <a:endParaRPr lang="en-US" sz="2200" b="1" dirty="0">
                        <a:effectLst/>
                      </a:endParaRPr>
                    </a:p>
                  </a:txBody>
                  <a:tcPr marL="0" marR="0" marT="6643" marB="6643" anchor="ctr"/>
                </a:tc>
                <a:extLst>
                  <a:ext uri="{0D108BD9-81ED-4DB2-BD59-A6C34878D82A}">
                    <a16:rowId xmlns:a16="http://schemas.microsoft.com/office/drawing/2014/main" val="3793260545"/>
                  </a:ext>
                </a:extLst>
              </a:tr>
              <a:tr h="828000">
                <a:tc>
                  <a:txBody>
                    <a:bodyPr/>
                    <a:lstStyle/>
                    <a:p>
                      <a:pPr algn="ctr" rtl="0" fontAlgn="b">
                        <a:buNone/>
                      </a:pPr>
                      <a:r>
                        <a:rPr lang="en-US" sz="2200" dirty="0">
                          <a:effectLst/>
                        </a:rPr>
                        <a:t>Kim &amp; Lee [2]</a:t>
                      </a:r>
                    </a:p>
                  </a:txBody>
                  <a:tcPr marL="9964" marR="9964" marT="6643" marB="6643" anchor="ctr"/>
                </a:tc>
                <a:tc>
                  <a:txBody>
                    <a:bodyPr/>
                    <a:lstStyle/>
                    <a:p>
                      <a:pPr algn="ctr" rtl="0" fontAlgn="b">
                        <a:buNone/>
                      </a:pPr>
                      <a:r>
                        <a:rPr lang="en-US" sz="2200" dirty="0">
                          <a:effectLst/>
                        </a:rPr>
                        <a:t>Luminance &amp; Illuminance</a:t>
                      </a:r>
                    </a:p>
                  </a:txBody>
                  <a:tcPr marL="9964" marR="9964" marT="6643" marB="6643"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ja-JP" sz="2200" b="1" dirty="0"/>
                        <a:t>Appropriateness of </a:t>
                      </a:r>
                      <a:br>
                        <a:rPr lang="en-US" altLang="ja-JP" sz="2200" b="1" dirty="0"/>
                      </a:br>
                      <a:r>
                        <a:rPr lang="en-US" altLang="ja-JP" sz="2200" b="1" dirty="0"/>
                        <a:t>brightness</a:t>
                      </a:r>
                      <a:endParaRPr lang="en-US" sz="2200" b="1" dirty="0">
                        <a:effectLst/>
                      </a:endParaRPr>
                    </a:p>
                  </a:txBody>
                  <a:tcPr marL="0" marR="0" marT="6643" marB="6643" anchor="ctr"/>
                </a:tc>
                <a:extLst>
                  <a:ext uri="{0D108BD9-81ED-4DB2-BD59-A6C34878D82A}">
                    <a16:rowId xmlns:a16="http://schemas.microsoft.com/office/drawing/2014/main" val="2492250293"/>
                  </a:ext>
                </a:extLst>
              </a:tr>
              <a:tr h="828000">
                <a:tc>
                  <a:txBody>
                    <a:bodyPr/>
                    <a:lstStyle/>
                    <a:p>
                      <a:pPr algn="ctr" rtl="0" fontAlgn="b">
                        <a:buNone/>
                      </a:pPr>
                      <a:r>
                        <a:rPr lang="en-US" sz="2200" dirty="0">
                          <a:effectLst/>
                        </a:rPr>
                        <a:t>Hussain &amp; Park [3]</a:t>
                      </a:r>
                    </a:p>
                  </a:txBody>
                  <a:tcPr marL="9964" marR="9964" marT="6643" marB="6643" anchor="ctr"/>
                </a:tc>
                <a:tc>
                  <a:txBody>
                    <a:bodyPr/>
                    <a:lstStyle/>
                    <a:p>
                      <a:pPr algn="ctr" rtl="0" fontAlgn="b">
                        <a:buNone/>
                      </a:pPr>
                      <a:r>
                        <a:rPr lang="en-US" sz="2200">
                          <a:effectLst/>
                        </a:rPr>
                        <a:t>User Interface</a:t>
                      </a:r>
                      <a:endParaRPr lang="en-US" sz="2200" dirty="0">
                        <a:effectLst/>
                      </a:endParaRPr>
                    </a:p>
                  </a:txBody>
                  <a:tcPr marL="9964" marR="9964" marT="6643" marB="6643" anchor="ctr"/>
                </a:tc>
                <a:tc>
                  <a:txBody>
                    <a:bodyPr/>
                    <a:lstStyle/>
                    <a:p>
                      <a:pPr algn="ctr" rtl="0" fontAlgn="b">
                        <a:buNone/>
                      </a:pPr>
                      <a:r>
                        <a:rPr lang="en-US" sz="2200" b="1" dirty="0">
                          <a:effectLst/>
                        </a:rPr>
                        <a:t>Task-based visibility</a:t>
                      </a:r>
                    </a:p>
                  </a:txBody>
                  <a:tcPr marL="0" marR="0" marT="6643" marB="6643" anchor="ctr"/>
                </a:tc>
                <a:extLst>
                  <a:ext uri="{0D108BD9-81ED-4DB2-BD59-A6C34878D82A}">
                    <a16:rowId xmlns:a16="http://schemas.microsoft.com/office/drawing/2014/main" val="364716495"/>
                  </a:ext>
                </a:extLst>
              </a:tr>
            </a:tbl>
          </a:graphicData>
        </a:graphic>
      </p:graphicFrame>
      <p:sp>
        <p:nvSpPr>
          <p:cNvPr id="3" name="フッター プレースホルダー 4">
            <a:extLst>
              <a:ext uri="{FF2B5EF4-FFF2-40B4-BE49-F238E27FC236}">
                <a16:creationId xmlns:a16="http://schemas.microsoft.com/office/drawing/2014/main" id="{7ECEE6A4-3EE1-A65D-A603-E0EE38802DE1}"/>
              </a:ext>
            </a:extLst>
          </p:cNvPr>
          <p:cNvSpPr>
            <a:spLocks noGrp="1"/>
          </p:cNvSpPr>
          <p:nvPr>
            <p:ph type="ftr" sz="quarter" idx="3"/>
          </p:nvPr>
        </p:nvSpPr>
        <p:spPr>
          <a:xfrm>
            <a:off x="0" y="6218012"/>
            <a:ext cx="11495999" cy="639988"/>
          </a:xfrm>
          <a:prstGeom prst="rect">
            <a:avLst/>
          </a:prstGeom>
        </p:spPr>
        <p:txBody>
          <a:bodyPr anchor="b"/>
          <a:lstStyle>
            <a:lvl1pPr>
              <a:defRPr sz="1100"/>
            </a:lvl1pPr>
          </a:lstStyle>
          <a:p>
            <a:r>
              <a:rPr lang="en-US" b="1" dirty="0"/>
              <a:t>[1] H. J. Yoon, Y. Park, and H.-Y. Jung, “Background scene dominant color based visibility enhancement of head-up display,” 2017</a:t>
            </a:r>
          </a:p>
          <a:p>
            <a:r>
              <a:rPr lang="en-US" b="1" dirty="0"/>
              <a:t>[2] J.-S. Kim and S.-W. Lee, “Study on how to improve visibility of transparent display for augmented reality under various environment conditions,” 2020</a:t>
            </a:r>
          </a:p>
          <a:p>
            <a:r>
              <a:rPr lang="en-US" sz="1100" b="1" dirty="0"/>
              <a:t>[3] </a:t>
            </a:r>
            <a:r>
              <a:rPr lang="en-US" b="1" dirty="0"/>
              <a:t>M. Hussain and J. Park, “Effect of transparency levels and real-world backgrounds on the user interface in augmented reality environments,” 2024</a:t>
            </a:r>
            <a:endParaRPr lang="en-US" sz="1100" b="1" dirty="0"/>
          </a:p>
        </p:txBody>
      </p:sp>
    </p:spTree>
    <p:extLst>
      <p:ext uri="{BB962C8B-B14F-4D97-AF65-F5344CB8AC3E}">
        <p14:creationId xmlns:p14="http://schemas.microsoft.com/office/powerpoint/2010/main" val="1519267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D73F0-7A89-E8AA-0E24-86878EA8CCB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E28BB51-4663-63F2-D213-ABB1B187A160}"/>
              </a:ext>
            </a:extLst>
          </p:cNvPr>
          <p:cNvSpPr>
            <a:spLocks noGrp="1"/>
          </p:cNvSpPr>
          <p:nvPr>
            <p:ph type="title"/>
          </p:nvPr>
        </p:nvSpPr>
        <p:spPr/>
        <p:txBody>
          <a:bodyPr/>
          <a:lstStyle/>
          <a:p>
            <a:r>
              <a:rPr lang="en-US" altLang="ja-JP" b="1" dirty="0">
                <a:solidFill>
                  <a:schemeClr val="accent1"/>
                </a:solidFill>
                <a:latin typeface="+mn-lt"/>
              </a:rPr>
              <a:t>Applications (1): Image Quality Assessment(IQA)</a:t>
            </a:r>
            <a:endParaRPr kumimoji="1" lang="ja-JP" altLang="en-US" sz="3600"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1DDC1B19-A91E-84C9-9229-C92D3A8C16AA}"/>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10</a:t>
            </a:fld>
            <a:endParaRPr lang="en-US"/>
          </a:p>
        </p:txBody>
      </p:sp>
      <mc:AlternateContent xmlns:mc="http://schemas.openxmlformats.org/markup-compatibility/2006" xmlns:a14="http://schemas.microsoft.com/office/drawing/2010/main">
        <mc:Choice Requires="a14">
          <p:sp>
            <p:nvSpPr>
              <p:cNvPr id="5" name="コンテンツ プレースホルダー 24">
                <a:extLst>
                  <a:ext uri="{FF2B5EF4-FFF2-40B4-BE49-F238E27FC236}">
                    <a16:creationId xmlns:a16="http://schemas.microsoft.com/office/drawing/2014/main" id="{A1DC3A42-8C5A-15CE-7A80-83EE75C418E7}"/>
                  </a:ext>
                </a:extLst>
              </p:cNvPr>
              <p:cNvSpPr txBox="1">
                <a:spLocks/>
              </p:cNvSpPr>
              <p:nvPr/>
            </p:nvSpPr>
            <p:spPr>
              <a:xfrm>
                <a:off x="577768" y="1077504"/>
                <a:ext cx="11036465" cy="597453"/>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Font typeface="Arial" panose="020B0604020202020204" pitchFamily="34" charset="0"/>
                  <a:buNone/>
                  <a:defRPr kumimoji="1" sz="2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en-US" altLang="ja-JP" sz="2550" b="1" u="sng" dirty="0"/>
                  <a:t>Perceptual Visibility </a:t>
                </a:r>
                <a14:m>
                  <m:oMath xmlns:m="http://schemas.openxmlformats.org/officeDocument/2006/math">
                    <m:r>
                      <a:rPr lang="en-US" altLang="ja-JP" sz="2550" b="1" i="1" u="sng" smtClean="0">
                        <a:latin typeface="Cambria Math" panose="02040503050406030204" pitchFamily="18" charset="0"/>
                        <a:ea typeface="Cambria Math" panose="02040503050406030204" pitchFamily="18" charset="0"/>
                      </a:rPr>
                      <m:t>⟺</m:t>
                    </m:r>
                  </m:oMath>
                </a14:m>
                <a:r>
                  <a:rPr lang="en-US" altLang="ja-JP" sz="2550" b="1" u="sng" dirty="0"/>
                  <a:t> Perceptual Image Quality</a:t>
                </a:r>
              </a:p>
              <a:p>
                <a:endParaRPr lang="en-US" altLang="ja-JP" sz="2550" b="1" dirty="0"/>
              </a:p>
            </p:txBody>
          </p:sp>
        </mc:Choice>
        <mc:Fallback xmlns="">
          <p:sp>
            <p:nvSpPr>
              <p:cNvPr id="5" name="コンテンツ プレースホルダー 24">
                <a:extLst>
                  <a:ext uri="{FF2B5EF4-FFF2-40B4-BE49-F238E27FC236}">
                    <a16:creationId xmlns:a16="http://schemas.microsoft.com/office/drawing/2014/main" id="{A1DC3A42-8C5A-15CE-7A80-83EE75C418E7}"/>
                  </a:ext>
                </a:extLst>
              </p:cNvPr>
              <p:cNvSpPr txBox="1">
                <a:spLocks noRot="1" noChangeAspect="1" noMove="1" noResize="1" noEditPoints="1" noAdjustHandles="1" noChangeArrowheads="1" noChangeShapeType="1" noTextEdit="1"/>
              </p:cNvSpPr>
              <p:nvPr/>
            </p:nvSpPr>
            <p:spPr>
              <a:xfrm>
                <a:off x="577768" y="1077504"/>
                <a:ext cx="11036465" cy="597453"/>
              </a:xfrm>
              <a:prstGeom prst="rect">
                <a:avLst/>
              </a:prstGeom>
              <a:blipFill>
                <a:blip r:embed="rId3"/>
                <a:stretch>
                  <a:fillRect t="-8163" b="-7143"/>
                </a:stretch>
              </a:blipFill>
            </p:spPr>
            <p:txBody>
              <a:bodyPr/>
              <a:lstStyle/>
              <a:p>
                <a:r>
                  <a:rPr lang="ja-JP" altLang="en-US">
                    <a:noFill/>
                  </a:rPr>
                  <a:t> </a:t>
                </a:r>
              </a:p>
            </p:txBody>
          </p:sp>
        </mc:Fallback>
      </mc:AlternateContent>
      <p:sp>
        <p:nvSpPr>
          <p:cNvPr id="13" name="コンテンツ プレースホルダー 2">
            <a:extLst>
              <a:ext uri="{FF2B5EF4-FFF2-40B4-BE49-F238E27FC236}">
                <a16:creationId xmlns:a16="http://schemas.microsoft.com/office/drawing/2014/main" id="{C94C97F2-7216-03A4-697C-0091981D265F}"/>
              </a:ext>
            </a:extLst>
          </p:cNvPr>
          <p:cNvSpPr>
            <a:spLocks noGrp="1"/>
          </p:cNvSpPr>
          <p:nvPr>
            <p:ph idx="1"/>
          </p:nvPr>
        </p:nvSpPr>
        <p:spPr>
          <a:xfrm>
            <a:off x="568633" y="1697122"/>
            <a:ext cx="5527367" cy="597453"/>
          </a:xfrm>
        </p:spPr>
        <p:txBody>
          <a:bodyPr>
            <a:noAutofit/>
          </a:bodyPr>
          <a:lstStyle/>
          <a:p>
            <a:r>
              <a:rPr lang="en-US" altLang="ja-JP" sz="2550" dirty="0"/>
              <a:t>Visibility prediction by IQA Model[1]</a:t>
            </a:r>
          </a:p>
        </p:txBody>
      </p:sp>
      <p:sp>
        <p:nvSpPr>
          <p:cNvPr id="14" name="コンテンツ プレースホルダー 2">
            <a:extLst>
              <a:ext uri="{FF2B5EF4-FFF2-40B4-BE49-F238E27FC236}">
                <a16:creationId xmlns:a16="http://schemas.microsoft.com/office/drawing/2014/main" id="{FAA46BC0-4EC5-01EC-1E47-FCFAB695548C}"/>
              </a:ext>
            </a:extLst>
          </p:cNvPr>
          <p:cNvSpPr txBox="1">
            <a:spLocks/>
          </p:cNvSpPr>
          <p:nvPr/>
        </p:nvSpPr>
        <p:spPr>
          <a:xfrm>
            <a:off x="6364252" y="1726467"/>
            <a:ext cx="5527367" cy="568108"/>
          </a:xfrm>
          <a:prstGeom prst="rect">
            <a:avLst/>
          </a:prstGeom>
        </p:spPr>
        <p:txBody>
          <a:bodyPr vert="horz" lIns="91440" tIns="45720" rIns="91440" bIns="45720" rtlCol="0">
            <a:noAutofit/>
          </a:bodyPr>
          <a:lstStyle>
            <a:lvl1pPr marL="0" indent="0" algn="l" defTabSz="914400" rtl="0" eaLnBrk="1" latinLnBrk="0" hangingPunct="1">
              <a:lnSpc>
                <a:spcPct val="110000"/>
              </a:lnSpc>
              <a:spcBef>
                <a:spcPts val="1000"/>
              </a:spcBef>
              <a:buFont typeface="Arial" panose="020B0604020202020204" pitchFamily="34" charset="0"/>
              <a:buNone/>
              <a:defRPr kumimoji="1" sz="2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550" dirty="0"/>
              <a:t>OST-AR IQA[2]</a:t>
            </a:r>
          </a:p>
        </p:txBody>
      </p:sp>
      <p:pic>
        <p:nvPicPr>
          <p:cNvPr id="16" name="図 15">
            <a:extLst>
              <a:ext uri="{FF2B5EF4-FFF2-40B4-BE49-F238E27FC236}">
                <a16:creationId xmlns:a16="http://schemas.microsoft.com/office/drawing/2014/main" id="{96F98665-59DF-0EAE-E5BA-DBF67221BEC4}"/>
              </a:ext>
            </a:extLst>
          </p:cNvPr>
          <p:cNvPicPr>
            <a:picLocks noChangeAspect="1"/>
          </p:cNvPicPr>
          <p:nvPr/>
        </p:nvPicPr>
        <p:blipFill>
          <a:blip r:embed="rId4"/>
          <a:stretch>
            <a:fillRect/>
          </a:stretch>
        </p:blipFill>
        <p:spPr>
          <a:xfrm>
            <a:off x="1729888" y="2395812"/>
            <a:ext cx="3204855" cy="3076042"/>
          </a:xfrm>
          <a:prstGeom prst="rect">
            <a:avLst/>
          </a:prstGeom>
        </p:spPr>
      </p:pic>
      <p:grpSp>
        <p:nvGrpSpPr>
          <p:cNvPr id="22" name="グループ化 21">
            <a:extLst>
              <a:ext uri="{FF2B5EF4-FFF2-40B4-BE49-F238E27FC236}">
                <a16:creationId xmlns:a16="http://schemas.microsoft.com/office/drawing/2014/main" id="{49411101-52CE-A4A3-8164-B8B3C5D25E1C}"/>
              </a:ext>
            </a:extLst>
          </p:cNvPr>
          <p:cNvGrpSpPr/>
          <p:nvPr/>
        </p:nvGrpSpPr>
        <p:grpSpPr>
          <a:xfrm>
            <a:off x="6364252" y="2395812"/>
            <a:ext cx="4309513" cy="3076042"/>
            <a:chOff x="6138746" y="2697195"/>
            <a:chExt cx="4731912" cy="3118516"/>
          </a:xfrm>
        </p:grpSpPr>
        <p:pic>
          <p:nvPicPr>
            <p:cNvPr id="18" name="図 17">
              <a:extLst>
                <a:ext uri="{FF2B5EF4-FFF2-40B4-BE49-F238E27FC236}">
                  <a16:creationId xmlns:a16="http://schemas.microsoft.com/office/drawing/2014/main" id="{9A19AEBA-7BFE-46BC-8766-68611AC17303}"/>
                </a:ext>
              </a:extLst>
            </p:cNvPr>
            <p:cNvPicPr>
              <a:picLocks noChangeAspect="1"/>
            </p:cNvPicPr>
            <p:nvPr/>
          </p:nvPicPr>
          <p:blipFill>
            <a:blip r:embed="rId5"/>
            <a:srcRect t="72641"/>
            <a:stretch>
              <a:fillRect/>
            </a:stretch>
          </p:blipFill>
          <p:spPr>
            <a:xfrm>
              <a:off x="6138746" y="4092161"/>
              <a:ext cx="4731912" cy="1723550"/>
            </a:xfrm>
            <a:prstGeom prst="rect">
              <a:avLst/>
            </a:prstGeom>
          </p:spPr>
        </p:pic>
        <p:pic>
          <p:nvPicPr>
            <p:cNvPr id="19" name="図 18">
              <a:extLst>
                <a:ext uri="{FF2B5EF4-FFF2-40B4-BE49-F238E27FC236}">
                  <a16:creationId xmlns:a16="http://schemas.microsoft.com/office/drawing/2014/main" id="{741C9B9B-993E-EEDC-088F-9A18E1983DD7}"/>
                </a:ext>
              </a:extLst>
            </p:cNvPr>
            <p:cNvPicPr>
              <a:picLocks noChangeAspect="1"/>
            </p:cNvPicPr>
            <p:nvPr/>
          </p:nvPicPr>
          <p:blipFill>
            <a:blip r:embed="rId5"/>
            <a:srcRect b="78279"/>
            <a:stretch>
              <a:fillRect/>
            </a:stretch>
          </p:blipFill>
          <p:spPr>
            <a:xfrm>
              <a:off x="6138746" y="2697195"/>
              <a:ext cx="4731912" cy="1368331"/>
            </a:xfrm>
            <a:prstGeom prst="rect">
              <a:avLst/>
            </a:prstGeom>
          </p:spPr>
        </p:pic>
        <p:sp>
          <p:nvSpPr>
            <p:cNvPr id="21" name="小波 20">
              <a:extLst>
                <a:ext uri="{FF2B5EF4-FFF2-40B4-BE49-F238E27FC236}">
                  <a16:creationId xmlns:a16="http://schemas.microsoft.com/office/drawing/2014/main" id="{D34299B0-20FF-B27D-9E41-F5E520F5038C}"/>
                </a:ext>
              </a:extLst>
            </p:cNvPr>
            <p:cNvSpPr/>
            <p:nvPr/>
          </p:nvSpPr>
          <p:spPr>
            <a:xfrm>
              <a:off x="6138746" y="4065526"/>
              <a:ext cx="4731912" cy="104900"/>
            </a:xfrm>
            <a:prstGeom prst="doubleWave">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ボックス 23">
            <a:extLst>
              <a:ext uri="{FF2B5EF4-FFF2-40B4-BE49-F238E27FC236}">
                <a16:creationId xmlns:a16="http://schemas.microsoft.com/office/drawing/2014/main" id="{80ECA701-7892-5508-6D8A-E15E56765837}"/>
              </a:ext>
            </a:extLst>
          </p:cNvPr>
          <p:cNvSpPr txBox="1"/>
          <p:nvPr/>
        </p:nvSpPr>
        <p:spPr>
          <a:xfrm>
            <a:off x="2037232" y="5798544"/>
            <a:ext cx="8117536" cy="484748"/>
          </a:xfrm>
          <a:prstGeom prst="rect">
            <a:avLst/>
          </a:prstGeom>
          <a:noFill/>
        </p:spPr>
        <p:txBody>
          <a:bodyPr wrap="square">
            <a:spAutoFit/>
          </a:bodyPr>
          <a:lstStyle/>
          <a:p>
            <a:r>
              <a:rPr lang="ja-JP" altLang="en-US" sz="2550" b="1" dirty="0"/>
              <a:t>→</a:t>
            </a:r>
            <a:r>
              <a:rPr lang="en-US" altLang="ja-JP" sz="2550" b="1" dirty="0"/>
              <a:t>Limitations of existing IQA Model in OST-AR[2][3]</a:t>
            </a:r>
          </a:p>
        </p:txBody>
      </p:sp>
      <p:sp>
        <p:nvSpPr>
          <p:cNvPr id="3" name="フッター プレースホルダー 4">
            <a:extLst>
              <a:ext uri="{FF2B5EF4-FFF2-40B4-BE49-F238E27FC236}">
                <a16:creationId xmlns:a16="http://schemas.microsoft.com/office/drawing/2014/main" id="{52BE2B26-47AC-A6B3-3EF9-926A613696FE}"/>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b="1" dirty="0"/>
              <a:t>[1] T. </a:t>
            </a:r>
            <a:r>
              <a:rPr lang="en-US" b="1" dirty="0" err="1"/>
              <a:t>Fukiage</a:t>
            </a:r>
            <a:r>
              <a:rPr lang="en-US" b="1" dirty="0"/>
              <a:t>, T. Oishi, and K. Ikeuchi, “Visibility-based blending for real-time applications,”</a:t>
            </a:r>
            <a:r>
              <a:rPr lang="ja-JP" altLang="en-US" b="1" dirty="0"/>
              <a:t> </a:t>
            </a:r>
            <a:r>
              <a:rPr lang="en-US" altLang="ja-JP" b="1" dirty="0"/>
              <a:t>2014</a:t>
            </a:r>
          </a:p>
          <a:p>
            <a:r>
              <a:rPr lang="en-US" sz="1100" b="1" dirty="0"/>
              <a:t>[2] </a:t>
            </a:r>
            <a:r>
              <a:rPr lang="en-US" b="1" dirty="0"/>
              <a:t>A. Chapiro, D. Kim, Y. Asano, and R. K. </a:t>
            </a:r>
            <a:r>
              <a:rPr lang="en-US" b="1" dirty="0" err="1"/>
              <a:t>Mantiuk</a:t>
            </a:r>
            <a:r>
              <a:rPr lang="en-US" b="1" dirty="0"/>
              <a:t>, “</a:t>
            </a:r>
            <a:r>
              <a:rPr lang="en-US" b="1" dirty="0" err="1"/>
              <a:t>Ar-david</a:t>
            </a:r>
            <a:r>
              <a:rPr lang="en-US" b="1" dirty="0"/>
              <a:t>: Augmented reality display artifact video dataset,” 2024</a:t>
            </a:r>
          </a:p>
          <a:p>
            <a:r>
              <a:rPr lang="en-US" sz="1100" b="1" dirty="0"/>
              <a:t>[3] </a:t>
            </a:r>
            <a:r>
              <a:rPr lang="en-US" b="1" dirty="0"/>
              <a:t>T. </a:t>
            </a:r>
            <a:r>
              <a:rPr lang="en-US" b="1" dirty="0" err="1"/>
              <a:t>Fukiage</a:t>
            </a:r>
            <a:r>
              <a:rPr lang="en-US" b="1" dirty="0"/>
              <a:t> and T. Oishi, “A content-adaptive visibility predictor for perceptually optimized image blending,” 2023</a:t>
            </a:r>
            <a:endParaRPr lang="en-US" sz="1100" b="1" dirty="0"/>
          </a:p>
        </p:txBody>
      </p:sp>
      <p:sp>
        <p:nvSpPr>
          <p:cNvPr id="6" name="フッター プレースホルダー 4">
            <a:extLst>
              <a:ext uri="{FF2B5EF4-FFF2-40B4-BE49-F238E27FC236}">
                <a16:creationId xmlns:a16="http://schemas.microsoft.com/office/drawing/2014/main" id="{5DA2C678-EC9A-01EA-BA2D-EF412B3CDE85}"/>
              </a:ext>
            </a:extLst>
          </p:cNvPr>
          <p:cNvSpPr txBox="1">
            <a:spLocks/>
          </p:cNvSpPr>
          <p:nvPr/>
        </p:nvSpPr>
        <p:spPr>
          <a:xfrm>
            <a:off x="2061023" y="5372230"/>
            <a:ext cx="2542584" cy="351040"/>
          </a:xfrm>
          <a:prstGeom prst="rect">
            <a:avLst/>
          </a:prstGeom>
        </p:spPr>
        <p:txBody>
          <a:bodyPr anchor="b"/>
          <a:lstStyle>
            <a:defPPr>
              <a:defRPr lang="ja-JP"/>
            </a:defPPr>
            <a:lvl1pPr marL="0" algn="l" defTabSz="914400" rtl="0" eaLnBrk="1" latinLnBrk="0" hangingPunct="1">
              <a:defRPr kumimoji="1" sz="11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sz="1200" dirty="0"/>
              <a:t>Schematic of the visibility model[1]</a:t>
            </a:r>
          </a:p>
        </p:txBody>
      </p:sp>
      <p:sp>
        <p:nvSpPr>
          <p:cNvPr id="7" name="フッター プレースホルダー 4">
            <a:extLst>
              <a:ext uri="{FF2B5EF4-FFF2-40B4-BE49-F238E27FC236}">
                <a16:creationId xmlns:a16="http://schemas.microsoft.com/office/drawing/2014/main" id="{BCFE3368-EF1D-93E0-2D8E-5C1BC1D581AC}"/>
              </a:ext>
            </a:extLst>
          </p:cNvPr>
          <p:cNvSpPr txBox="1">
            <a:spLocks/>
          </p:cNvSpPr>
          <p:nvPr/>
        </p:nvSpPr>
        <p:spPr>
          <a:xfrm>
            <a:off x="6730119" y="5372230"/>
            <a:ext cx="3577777" cy="351040"/>
          </a:xfrm>
          <a:prstGeom prst="rect">
            <a:avLst/>
          </a:prstGeom>
        </p:spPr>
        <p:txBody>
          <a:bodyPr anchor="b"/>
          <a:lstStyle>
            <a:defPPr>
              <a:defRPr lang="ja-JP"/>
            </a:defPPr>
            <a:lvl1pPr marL="0" algn="l" defTabSz="914400" rtl="0" eaLnBrk="1" latinLnBrk="0" hangingPunct="1">
              <a:defRPr kumimoji="1" sz="11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sz="1200" dirty="0"/>
              <a:t>Performance of the image/video quality metric[2]</a:t>
            </a:r>
          </a:p>
        </p:txBody>
      </p:sp>
    </p:spTree>
    <p:extLst>
      <p:ext uri="{BB962C8B-B14F-4D97-AF65-F5344CB8AC3E}">
        <p14:creationId xmlns:p14="http://schemas.microsoft.com/office/powerpoint/2010/main" val="2622975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05046-E687-13C3-0546-8D80A02A4FF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674E879-1A8E-7C62-4B04-E9263AD1938E}"/>
              </a:ext>
            </a:extLst>
          </p:cNvPr>
          <p:cNvSpPr>
            <a:spLocks noGrp="1"/>
          </p:cNvSpPr>
          <p:nvPr>
            <p:ph type="title"/>
          </p:nvPr>
        </p:nvSpPr>
        <p:spPr/>
        <p:txBody>
          <a:bodyPr/>
          <a:lstStyle/>
          <a:p>
            <a:r>
              <a:rPr lang="en-US" altLang="ja-JP" b="1" dirty="0">
                <a:solidFill>
                  <a:schemeClr val="accent1"/>
                </a:solidFill>
                <a:latin typeface="+mn-lt"/>
              </a:rPr>
              <a:t>Applications (2): UX &amp; Safety</a:t>
            </a:r>
            <a:endParaRPr kumimoji="1" lang="ja-JP" altLang="en-US" sz="3600"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CC80831C-606E-E9B3-D16F-5256D11AC0EF}"/>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11</a:t>
            </a:fld>
            <a:endParaRPr lang="en-US"/>
          </a:p>
        </p:txBody>
      </p:sp>
      <p:sp>
        <p:nvSpPr>
          <p:cNvPr id="3" name="コンテンツ プレースホルダー 2">
            <a:extLst>
              <a:ext uri="{FF2B5EF4-FFF2-40B4-BE49-F238E27FC236}">
                <a16:creationId xmlns:a16="http://schemas.microsoft.com/office/drawing/2014/main" id="{47C5DB72-35C5-1294-1758-992A8C413E97}"/>
              </a:ext>
            </a:extLst>
          </p:cNvPr>
          <p:cNvSpPr txBox="1">
            <a:spLocks/>
          </p:cNvSpPr>
          <p:nvPr/>
        </p:nvSpPr>
        <p:spPr>
          <a:xfrm>
            <a:off x="577767" y="1129014"/>
            <a:ext cx="10918231" cy="597453"/>
          </a:xfrm>
          <a:prstGeom prst="rect">
            <a:avLst/>
          </a:prstGeom>
        </p:spPr>
        <p:txBody>
          <a:bodyPr vert="horz" lIns="91440" tIns="45720" rIns="91440" bIns="45720" rtlCol="0">
            <a:noAutofit/>
          </a:bodyPr>
          <a:lstStyle>
            <a:lvl1pPr marL="0" indent="0" algn="l" defTabSz="914400" rtl="0" eaLnBrk="1" latinLnBrk="0" hangingPunct="1">
              <a:lnSpc>
                <a:spcPct val="110000"/>
              </a:lnSpc>
              <a:spcBef>
                <a:spcPts val="1000"/>
              </a:spcBef>
              <a:buFont typeface="Arial" panose="020B0604020202020204" pitchFamily="34" charset="0"/>
              <a:buNone/>
              <a:defRPr kumimoji="1" sz="2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550" b="1" u="sng" dirty="0"/>
              <a:t>UX: Dark Mode Achieves High Visibility and Preference in OST-AR[1]</a:t>
            </a:r>
          </a:p>
        </p:txBody>
      </p:sp>
      <p:sp>
        <p:nvSpPr>
          <p:cNvPr id="5" name="コンテンツ プレースホルダー 2">
            <a:extLst>
              <a:ext uri="{FF2B5EF4-FFF2-40B4-BE49-F238E27FC236}">
                <a16:creationId xmlns:a16="http://schemas.microsoft.com/office/drawing/2014/main" id="{5380CBDA-A75F-EFAA-D882-4B121812BCD1}"/>
              </a:ext>
            </a:extLst>
          </p:cNvPr>
          <p:cNvSpPr txBox="1">
            <a:spLocks/>
          </p:cNvSpPr>
          <p:nvPr/>
        </p:nvSpPr>
        <p:spPr>
          <a:xfrm>
            <a:off x="577768" y="3524522"/>
            <a:ext cx="7674981" cy="568108"/>
          </a:xfrm>
          <a:prstGeom prst="rect">
            <a:avLst/>
          </a:prstGeom>
        </p:spPr>
        <p:txBody>
          <a:bodyPr vert="horz" lIns="91440" tIns="45720" rIns="91440" bIns="45720" rtlCol="0">
            <a:noAutofit/>
          </a:bodyPr>
          <a:lstStyle>
            <a:lvl1pPr marL="0" indent="0" algn="l" defTabSz="914400" rtl="0" eaLnBrk="1" latinLnBrk="0" hangingPunct="1">
              <a:lnSpc>
                <a:spcPct val="110000"/>
              </a:lnSpc>
              <a:spcBef>
                <a:spcPts val="1000"/>
              </a:spcBef>
              <a:buFont typeface="Arial" panose="020B0604020202020204" pitchFamily="34" charset="0"/>
              <a:buNone/>
              <a:defRPr kumimoji="1" sz="2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550" b="1" u="sng" dirty="0"/>
              <a:t>Safety: Color Interference Reduces Contrast[2]</a:t>
            </a:r>
          </a:p>
        </p:txBody>
      </p:sp>
      <p:sp>
        <p:nvSpPr>
          <p:cNvPr id="6" name="テキスト ボックス 5">
            <a:extLst>
              <a:ext uri="{FF2B5EF4-FFF2-40B4-BE49-F238E27FC236}">
                <a16:creationId xmlns:a16="http://schemas.microsoft.com/office/drawing/2014/main" id="{468EA148-2E30-0622-39C1-E79BF51ED529}"/>
              </a:ext>
            </a:extLst>
          </p:cNvPr>
          <p:cNvSpPr txBox="1"/>
          <p:nvPr/>
        </p:nvSpPr>
        <p:spPr>
          <a:xfrm>
            <a:off x="2337511" y="2642981"/>
            <a:ext cx="2485617" cy="430887"/>
          </a:xfrm>
          <a:prstGeom prst="rect">
            <a:avLst/>
          </a:prstGeom>
          <a:noFill/>
        </p:spPr>
        <p:txBody>
          <a:bodyPr wrap="none" rtlCol="0">
            <a:spAutoFit/>
          </a:bodyPr>
          <a:lstStyle/>
          <a:p>
            <a:r>
              <a:rPr lang="en-US" altLang="ja-JP" sz="2200" dirty="0"/>
              <a:t>Traditional screens</a:t>
            </a:r>
            <a:endParaRPr kumimoji="1" lang="ja-JP" altLang="en-US" sz="2200" dirty="0"/>
          </a:p>
        </p:txBody>
      </p:sp>
      <p:sp>
        <p:nvSpPr>
          <p:cNvPr id="7" name="テキスト ボックス 6">
            <a:extLst>
              <a:ext uri="{FF2B5EF4-FFF2-40B4-BE49-F238E27FC236}">
                <a16:creationId xmlns:a16="http://schemas.microsoft.com/office/drawing/2014/main" id="{4651AA01-AC98-1AB8-FE55-7348CED4B228}"/>
              </a:ext>
            </a:extLst>
          </p:cNvPr>
          <p:cNvSpPr txBox="1"/>
          <p:nvPr/>
        </p:nvSpPr>
        <p:spPr>
          <a:xfrm>
            <a:off x="577768" y="1779602"/>
            <a:ext cx="6475362" cy="430887"/>
          </a:xfrm>
          <a:prstGeom prst="rect">
            <a:avLst/>
          </a:prstGeom>
          <a:noFill/>
        </p:spPr>
        <p:txBody>
          <a:bodyPr wrap="none" rtlCol="0">
            <a:spAutoFit/>
          </a:bodyPr>
          <a:lstStyle/>
          <a:p>
            <a:r>
              <a:rPr lang="en-US" altLang="ja-JP" sz="2200" dirty="0"/>
              <a:t>Dark Mode achieves high visibility and </a:t>
            </a:r>
            <a:r>
              <a:rPr lang="en-US" sz="2200" dirty="0"/>
              <a:t>preferences</a:t>
            </a:r>
            <a:endParaRPr lang="en-US" altLang="ja-JP" sz="2200" dirty="0"/>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77C512FE-DE1E-2DCA-3F35-75BF8A90DB44}"/>
                  </a:ext>
                </a:extLst>
              </p:cNvPr>
              <p:cNvSpPr txBox="1"/>
              <p:nvPr/>
            </p:nvSpPr>
            <p:spPr>
              <a:xfrm rot="5400000">
                <a:off x="3246472" y="2270687"/>
                <a:ext cx="667695" cy="39241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ja-JP" altLang="en-US" sz="2550" b="1" i="1" smtClean="0">
                          <a:latin typeface="Cambria Math" panose="02040503050406030204" pitchFamily="18" charset="0"/>
                        </a:rPr>
                        <m:t>⟺</m:t>
                      </m:r>
                    </m:oMath>
                  </m:oMathPara>
                </a14:m>
                <a:endParaRPr kumimoji="1" lang="ja-JP" altLang="en-US" sz="2550" b="1" dirty="0"/>
              </a:p>
            </p:txBody>
          </p:sp>
        </mc:Choice>
        <mc:Fallback xmlns="">
          <p:sp>
            <p:nvSpPr>
              <p:cNvPr id="8" name="テキスト ボックス 7">
                <a:extLst>
                  <a:ext uri="{FF2B5EF4-FFF2-40B4-BE49-F238E27FC236}">
                    <a16:creationId xmlns:a16="http://schemas.microsoft.com/office/drawing/2014/main" id="{77C512FE-DE1E-2DCA-3F35-75BF8A90DB44}"/>
                  </a:ext>
                </a:extLst>
              </p:cNvPr>
              <p:cNvSpPr txBox="1">
                <a:spLocks noRot="1" noChangeAspect="1" noMove="1" noResize="1" noEditPoints="1" noAdjustHandles="1" noChangeArrowheads="1" noChangeShapeType="1" noTextEdit="1"/>
              </p:cNvSpPr>
              <p:nvPr/>
            </p:nvSpPr>
            <p:spPr>
              <a:xfrm rot="5400000">
                <a:off x="3246472" y="2270687"/>
                <a:ext cx="667695" cy="392415"/>
              </a:xfrm>
              <a:prstGeom prst="rect">
                <a:avLst/>
              </a:prstGeom>
              <a:blipFill>
                <a:blip r:embed="rId3"/>
                <a:stretch>
                  <a:fillRect/>
                </a:stretch>
              </a:blipFill>
            </p:spPr>
            <p:txBody>
              <a:bodyPr/>
              <a:lstStyle/>
              <a:p>
                <a:r>
                  <a:rPr lang="ja-JP" altLang="en-US">
                    <a:noFill/>
                  </a:rPr>
                  <a:t> </a:t>
                </a:r>
              </a:p>
            </p:txBody>
          </p:sp>
        </mc:Fallback>
      </mc:AlternateContent>
      <p:pic>
        <p:nvPicPr>
          <p:cNvPr id="10" name="図 9">
            <a:extLst>
              <a:ext uri="{FF2B5EF4-FFF2-40B4-BE49-F238E27FC236}">
                <a16:creationId xmlns:a16="http://schemas.microsoft.com/office/drawing/2014/main" id="{48020565-05DA-5BBA-EED5-6FBCB858A018}"/>
              </a:ext>
            </a:extLst>
          </p:cNvPr>
          <p:cNvPicPr>
            <a:picLocks noChangeAspect="1"/>
          </p:cNvPicPr>
          <p:nvPr/>
        </p:nvPicPr>
        <p:blipFill>
          <a:blip r:embed="rId4"/>
          <a:stretch>
            <a:fillRect/>
          </a:stretch>
        </p:blipFill>
        <p:spPr>
          <a:xfrm>
            <a:off x="7525411" y="1779602"/>
            <a:ext cx="4325197" cy="1374587"/>
          </a:xfrm>
          <a:prstGeom prst="rect">
            <a:avLst/>
          </a:prstGeom>
        </p:spPr>
      </p:pic>
      <p:sp>
        <p:nvSpPr>
          <p:cNvPr id="11" name="テキスト ボックス 10">
            <a:extLst>
              <a:ext uri="{FF2B5EF4-FFF2-40B4-BE49-F238E27FC236}">
                <a16:creationId xmlns:a16="http://schemas.microsoft.com/office/drawing/2014/main" id="{0CEF535D-BBF2-5DE4-77E9-8A1EE5045593}"/>
              </a:ext>
            </a:extLst>
          </p:cNvPr>
          <p:cNvSpPr txBox="1"/>
          <p:nvPr/>
        </p:nvSpPr>
        <p:spPr>
          <a:xfrm>
            <a:off x="577768" y="4133566"/>
            <a:ext cx="6680034" cy="1107996"/>
          </a:xfrm>
          <a:prstGeom prst="rect">
            <a:avLst/>
          </a:prstGeom>
          <a:noFill/>
        </p:spPr>
        <p:txBody>
          <a:bodyPr wrap="none" rtlCol="0">
            <a:spAutoFit/>
          </a:bodyPr>
          <a:lstStyle/>
          <a:p>
            <a:pPr algn="ctr"/>
            <a:r>
              <a:rPr lang="en-US" altLang="ja-JP" sz="2200" dirty="0"/>
              <a:t>Many warm light sources in the driving environment</a:t>
            </a:r>
          </a:p>
          <a:p>
            <a:pPr algn="ctr"/>
            <a:r>
              <a:rPr lang="ja-JP" altLang="en-US" sz="2200" dirty="0"/>
              <a:t>⇓</a:t>
            </a:r>
            <a:endParaRPr lang="en-US" altLang="ja-JP" sz="2200" dirty="0"/>
          </a:p>
          <a:p>
            <a:pPr algn="ctr"/>
            <a:r>
              <a:rPr lang="en-US" altLang="ja-JP" sz="2200" dirty="0"/>
              <a:t>Visibility of Red color is often reduced</a:t>
            </a:r>
            <a:endParaRPr kumimoji="1" lang="ja-JP" altLang="en-US" sz="2200" dirty="0"/>
          </a:p>
        </p:txBody>
      </p:sp>
      <p:pic>
        <p:nvPicPr>
          <p:cNvPr id="13" name="図 12">
            <a:extLst>
              <a:ext uri="{FF2B5EF4-FFF2-40B4-BE49-F238E27FC236}">
                <a16:creationId xmlns:a16="http://schemas.microsoft.com/office/drawing/2014/main" id="{72934384-B4D2-B8C5-F4FE-F0BE1DFA60BF}"/>
              </a:ext>
            </a:extLst>
          </p:cNvPr>
          <p:cNvPicPr>
            <a:picLocks noChangeAspect="1"/>
          </p:cNvPicPr>
          <p:nvPr/>
        </p:nvPicPr>
        <p:blipFill>
          <a:blip r:embed="rId5"/>
          <a:stretch>
            <a:fillRect/>
          </a:stretch>
        </p:blipFill>
        <p:spPr>
          <a:xfrm>
            <a:off x="7525411" y="4133566"/>
            <a:ext cx="4302086" cy="1588924"/>
          </a:xfrm>
          <a:prstGeom prst="rect">
            <a:avLst/>
          </a:prstGeom>
        </p:spPr>
      </p:pic>
      <p:sp>
        <p:nvSpPr>
          <p:cNvPr id="9" name="フッター プレースホルダー 4">
            <a:extLst>
              <a:ext uri="{FF2B5EF4-FFF2-40B4-BE49-F238E27FC236}">
                <a16:creationId xmlns:a16="http://schemas.microsoft.com/office/drawing/2014/main" id="{FE22308B-6B9D-6447-2EE4-6FCE204ACC32}"/>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b="1" dirty="0"/>
              <a:t>[1] A. Erickson et al., “An extended analysis on the benefits of dark mode user interfaces in optical see through head-mounted displays,” 2021</a:t>
            </a:r>
          </a:p>
          <a:p>
            <a:r>
              <a:rPr lang="en-US" sz="1100" b="1" dirty="0"/>
              <a:t>[2] </a:t>
            </a:r>
            <a:r>
              <a:rPr lang="en-US" b="1" dirty="0"/>
              <a:t>H. Liu, et al. “Saliency difference based objective evaluation method for a superimposed screen of the </a:t>
            </a:r>
            <a:r>
              <a:rPr lang="en-US" b="1" dirty="0" err="1"/>
              <a:t>hud</a:t>
            </a:r>
            <a:r>
              <a:rPr lang="en-US" b="1" dirty="0"/>
              <a:t> with various background,” 2019</a:t>
            </a:r>
            <a:endParaRPr lang="en-US" sz="1100" b="1" dirty="0"/>
          </a:p>
        </p:txBody>
      </p:sp>
      <p:sp>
        <p:nvSpPr>
          <p:cNvPr id="12" name="フッター プレースホルダー 4">
            <a:extLst>
              <a:ext uri="{FF2B5EF4-FFF2-40B4-BE49-F238E27FC236}">
                <a16:creationId xmlns:a16="http://schemas.microsoft.com/office/drawing/2014/main" id="{E088011A-AEAE-0D0C-B74A-1082555F5D20}"/>
              </a:ext>
            </a:extLst>
          </p:cNvPr>
          <p:cNvSpPr txBox="1">
            <a:spLocks/>
          </p:cNvSpPr>
          <p:nvPr/>
        </p:nvSpPr>
        <p:spPr>
          <a:xfrm>
            <a:off x="7887565" y="3069933"/>
            <a:ext cx="3577777" cy="351040"/>
          </a:xfrm>
          <a:prstGeom prst="rect">
            <a:avLst/>
          </a:prstGeom>
        </p:spPr>
        <p:txBody>
          <a:bodyPr anchor="b"/>
          <a:lstStyle>
            <a:defPPr>
              <a:defRPr lang="ja-JP"/>
            </a:defPPr>
            <a:lvl1pPr marL="0" algn="l" defTabSz="914400" rtl="0" eaLnBrk="1" latinLnBrk="0" hangingPunct="1">
              <a:defRPr kumimoji="1" sz="11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sz="1200" dirty="0"/>
              <a:t>Light mode and dark mode in OST-AR[1]</a:t>
            </a:r>
          </a:p>
        </p:txBody>
      </p:sp>
      <p:sp>
        <p:nvSpPr>
          <p:cNvPr id="14" name="フッター プレースホルダー 4">
            <a:extLst>
              <a:ext uri="{FF2B5EF4-FFF2-40B4-BE49-F238E27FC236}">
                <a16:creationId xmlns:a16="http://schemas.microsoft.com/office/drawing/2014/main" id="{49C9B0AB-F9FE-B06B-B0E6-B75756B5B6D6}"/>
              </a:ext>
            </a:extLst>
          </p:cNvPr>
          <p:cNvSpPr txBox="1">
            <a:spLocks/>
          </p:cNvSpPr>
          <p:nvPr/>
        </p:nvSpPr>
        <p:spPr>
          <a:xfrm>
            <a:off x="7887564" y="5794367"/>
            <a:ext cx="3577777" cy="351040"/>
          </a:xfrm>
          <a:prstGeom prst="rect">
            <a:avLst/>
          </a:prstGeom>
        </p:spPr>
        <p:txBody>
          <a:bodyPr anchor="b"/>
          <a:lstStyle>
            <a:defPPr>
              <a:defRPr lang="ja-JP"/>
            </a:defPPr>
            <a:lvl1pPr marL="0" algn="l" defTabSz="914400" rtl="0" eaLnBrk="1" latinLnBrk="0" hangingPunct="1">
              <a:defRPr kumimoji="1" sz="11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sz="1200" dirty="0"/>
              <a:t>The ambient light attenuated the saliency of the projected information on the HUD[2]</a:t>
            </a:r>
          </a:p>
        </p:txBody>
      </p:sp>
    </p:spTree>
    <p:extLst>
      <p:ext uri="{BB962C8B-B14F-4D97-AF65-F5344CB8AC3E}">
        <p14:creationId xmlns:p14="http://schemas.microsoft.com/office/powerpoint/2010/main" val="2411656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F9B1F-1C28-ACDE-A79B-9E38947AB2E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5F61E01-B876-CB26-7868-BBE68C19F099}"/>
              </a:ext>
            </a:extLst>
          </p:cNvPr>
          <p:cNvSpPr>
            <a:spLocks noGrp="1"/>
          </p:cNvSpPr>
          <p:nvPr>
            <p:ph type="title"/>
          </p:nvPr>
        </p:nvSpPr>
        <p:spPr/>
        <p:txBody>
          <a:bodyPr/>
          <a:lstStyle/>
          <a:p>
            <a:r>
              <a:rPr lang="en-US" sz="3600" b="1" dirty="0">
                <a:solidFill>
                  <a:schemeClr val="accent1"/>
                </a:solidFill>
                <a:latin typeface="+mj-lt"/>
                <a:ea typeface="+mj-ea"/>
              </a:rPr>
              <a:t>Index</a:t>
            </a:r>
          </a:p>
        </p:txBody>
      </p:sp>
      <p:sp>
        <p:nvSpPr>
          <p:cNvPr id="3" name="コンテンツ プレースホルダー 2">
            <a:extLst>
              <a:ext uri="{FF2B5EF4-FFF2-40B4-BE49-F238E27FC236}">
                <a16:creationId xmlns:a16="http://schemas.microsoft.com/office/drawing/2014/main" id="{EE170907-9F7B-7FF9-4567-591394D6AEBD}"/>
              </a:ext>
            </a:extLst>
          </p:cNvPr>
          <p:cNvSpPr>
            <a:spLocks noGrp="1"/>
          </p:cNvSpPr>
          <p:nvPr>
            <p:ph idx="1"/>
          </p:nvPr>
        </p:nvSpPr>
        <p:spPr>
          <a:xfrm>
            <a:off x="568633" y="994595"/>
            <a:ext cx="11036465" cy="5777442"/>
          </a:xfrm>
        </p:spPr>
        <p:txBody>
          <a:bodyPr>
            <a:normAutofit/>
          </a:bodyPr>
          <a:lstStyle/>
          <a:p>
            <a:pPr marL="457200" indent="-457200">
              <a:buAutoNum type="arabicPeriod"/>
            </a:pPr>
            <a:r>
              <a:rPr lang="en-US" sz="2550" b="1" dirty="0">
                <a:solidFill>
                  <a:schemeClr val="accent1"/>
                </a:solidFill>
              </a:rPr>
              <a:t>Introduction</a:t>
            </a:r>
          </a:p>
          <a:p>
            <a:pPr marL="971550" lvl="1" indent="-514350">
              <a:buFont typeface="+mj-lt"/>
              <a:buAutoNum type="alphaLcPeriod"/>
            </a:pPr>
            <a:r>
              <a:rPr lang="en-US" sz="2550" b="1" dirty="0"/>
              <a:t>What is AR?</a:t>
            </a:r>
          </a:p>
          <a:p>
            <a:pPr marL="971550" lvl="1" indent="-514350">
              <a:buFont typeface="+mj-lt"/>
              <a:buAutoNum type="alphaLcPeriod"/>
            </a:pPr>
            <a:r>
              <a:rPr lang="en-US" sz="2550" b="1" dirty="0"/>
              <a:t>What is “OST”-AR?</a:t>
            </a:r>
          </a:p>
          <a:p>
            <a:pPr marL="971550" lvl="1" indent="-514350">
              <a:buFont typeface="+mj-lt"/>
              <a:buAutoNum type="alphaLcPeriod"/>
            </a:pPr>
            <a:r>
              <a:rPr lang="en-US" sz="2550" b="1" dirty="0"/>
              <a:t>Background (1): What is “Visibility” </a:t>
            </a:r>
          </a:p>
          <a:p>
            <a:pPr marL="971550" lvl="1" indent="-514350">
              <a:buFont typeface="+mj-lt"/>
              <a:buAutoNum type="alphaLcPeriod"/>
            </a:pPr>
            <a:r>
              <a:rPr lang="en-US" sz="2550" b="1" dirty="0"/>
              <a:t>Background (2): Application</a:t>
            </a:r>
          </a:p>
          <a:p>
            <a:pPr marL="971550" lvl="1" indent="-514350">
              <a:buFont typeface="+mj-lt"/>
              <a:buAutoNum type="alphaLcPeriod"/>
            </a:pPr>
            <a:r>
              <a:rPr lang="en-US" sz="2550" b="1" dirty="0">
                <a:solidFill>
                  <a:schemeClr val="accent1"/>
                </a:solidFill>
              </a:rPr>
              <a:t>Scope of this Survey</a:t>
            </a:r>
          </a:p>
          <a:p>
            <a:pPr marL="457200" indent="-457200">
              <a:buAutoNum type="arabicPeriod"/>
            </a:pPr>
            <a:r>
              <a:rPr lang="en-US" sz="2550" b="1" dirty="0">
                <a:solidFill>
                  <a:schemeClr val="tx1">
                    <a:lumMod val="40000"/>
                    <a:lumOff val="60000"/>
                  </a:schemeClr>
                </a:solidFill>
              </a:rPr>
              <a:t>Studies on the Perceptual Visibility of OST-AR</a:t>
            </a:r>
          </a:p>
          <a:p>
            <a:pPr marL="457200" indent="-457200">
              <a:buFont typeface="Arial" panose="020B0604020202020204" pitchFamily="34" charset="0"/>
              <a:buAutoNum type="arabicPeriod"/>
            </a:pPr>
            <a:r>
              <a:rPr lang="en-US" altLang="ja-JP" sz="2550" b="1" dirty="0">
                <a:solidFill>
                  <a:schemeClr val="tx1">
                    <a:lumMod val="40000"/>
                    <a:lumOff val="60000"/>
                  </a:schemeClr>
                </a:solidFill>
              </a:rPr>
              <a:t>Visibility Predictor</a:t>
            </a:r>
          </a:p>
          <a:p>
            <a:pPr marL="457200" indent="-457200">
              <a:buFont typeface="Arial" panose="020B0604020202020204" pitchFamily="34" charset="0"/>
              <a:buAutoNum type="arabicPeriod"/>
            </a:pPr>
            <a:r>
              <a:rPr lang="en-US" altLang="ja-JP" sz="2550" b="1" dirty="0">
                <a:solidFill>
                  <a:schemeClr val="tx1">
                    <a:lumMod val="40000"/>
                    <a:lumOff val="60000"/>
                  </a:schemeClr>
                </a:solidFill>
              </a:rPr>
              <a:t>Conclusion</a:t>
            </a:r>
          </a:p>
          <a:p>
            <a:endParaRPr lang="en-US" sz="2550" b="1" dirty="0"/>
          </a:p>
          <a:p>
            <a:pPr marL="457200" indent="-457200">
              <a:buAutoNum type="arabicPeriod"/>
            </a:pPr>
            <a:endParaRPr lang="en-US" sz="2550" b="1" dirty="0"/>
          </a:p>
        </p:txBody>
      </p:sp>
      <p:sp>
        <p:nvSpPr>
          <p:cNvPr id="4" name="スライド番号プレースホルダー 3">
            <a:extLst>
              <a:ext uri="{FF2B5EF4-FFF2-40B4-BE49-F238E27FC236}">
                <a16:creationId xmlns:a16="http://schemas.microsoft.com/office/drawing/2014/main" id="{EF81402C-D419-2263-0457-97A9FBF469CF}"/>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12</a:t>
            </a:fld>
            <a:endParaRPr lang="en-US"/>
          </a:p>
        </p:txBody>
      </p:sp>
    </p:spTree>
    <p:extLst>
      <p:ext uri="{BB962C8B-B14F-4D97-AF65-F5344CB8AC3E}">
        <p14:creationId xmlns:p14="http://schemas.microsoft.com/office/powerpoint/2010/main" val="10515397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ABA73-FE44-344C-7D02-6610C11E629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3123F5F-F8EB-9720-E0D9-1FED4E84B4AF}"/>
              </a:ext>
            </a:extLst>
          </p:cNvPr>
          <p:cNvSpPr>
            <a:spLocks noGrp="1"/>
          </p:cNvSpPr>
          <p:nvPr>
            <p:ph type="title"/>
          </p:nvPr>
        </p:nvSpPr>
        <p:spPr/>
        <p:txBody>
          <a:bodyPr/>
          <a:lstStyle/>
          <a:p>
            <a:r>
              <a:rPr lang="en-US" altLang="ja-JP" b="1" dirty="0">
                <a:solidFill>
                  <a:schemeClr val="accent1"/>
                </a:solidFill>
                <a:latin typeface="+mn-lt"/>
              </a:rPr>
              <a:t>Scope of this Survey</a:t>
            </a:r>
            <a:endParaRPr kumimoji="1" lang="ja-JP" altLang="en-US" sz="3600"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D9D7503C-C938-3E20-A29A-B483FDA2E363}"/>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13</a:t>
            </a:fld>
            <a:endParaRPr lang="en-US"/>
          </a:p>
        </p:txBody>
      </p:sp>
      <p:sp>
        <p:nvSpPr>
          <p:cNvPr id="25" name="コンテンツ プレースホルダー 24">
            <a:extLst>
              <a:ext uri="{FF2B5EF4-FFF2-40B4-BE49-F238E27FC236}">
                <a16:creationId xmlns:a16="http://schemas.microsoft.com/office/drawing/2014/main" id="{B1204CC0-CEB8-70FB-2C2B-3AC3161645CB}"/>
              </a:ext>
            </a:extLst>
          </p:cNvPr>
          <p:cNvSpPr>
            <a:spLocks noGrp="1"/>
          </p:cNvSpPr>
          <p:nvPr>
            <p:ph idx="1"/>
          </p:nvPr>
        </p:nvSpPr>
        <p:spPr>
          <a:xfrm>
            <a:off x="577767" y="1009117"/>
            <a:ext cx="11036465" cy="788485"/>
          </a:xfrm>
        </p:spPr>
        <p:txBody>
          <a:bodyPr>
            <a:normAutofit/>
          </a:bodyPr>
          <a:lstStyle/>
          <a:p>
            <a:pPr algn="ctr"/>
            <a:r>
              <a:rPr lang="en-US" altLang="ja-JP" sz="3600" b="1" u="sng" dirty="0"/>
              <a:t>Perceptual Visibility of Virtual Content on OST-AR</a:t>
            </a:r>
            <a:endParaRPr lang="ja-JP" altLang="en-US" sz="3600" b="1" u="sng" dirty="0"/>
          </a:p>
        </p:txBody>
      </p:sp>
      <p:sp>
        <p:nvSpPr>
          <p:cNvPr id="26" name="コンテンツ プレースホルダー 24">
            <a:extLst>
              <a:ext uri="{FF2B5EF4-FFF2-40B4-BE49-F238E27FC236}">
                <a16:creationId xmlns:a16="http://schemas.microsoft.com/office/drawing/2014/main" id="{794AF684-37F6-F638-85EC-184501C4023B}"/>
              </a:ext>
            </a:extLst>
          </p:cNvPr>
          <p:cNvSpPr txBox="1">
            <a:spLocks/>
          </p:cNvSpPr>
          <p:nvPr/>
        </p:nvSpPr>
        <p:spPr>
          <a:xfrm>
            <a:off x="577768" y="1783080"/>
            <a:ext cx="11036465" cy="4560570"/>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Font typeface="Arial" panose="020B0604020202020204" pitchFamily="34" charset="0"/>
              <a:buNone/>
              <a:defRPr kumimoji="1" sz="2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550" dirty="0"/>
              <a:t>Topic Factors :</a:t>
            </a:r>
          </a:p>
          <a:p>
            <a:pPr algn="ctr"/>
            <a:r>
              <a:rPr lang="en-US" altLang="ja-JP" sz="2800" b="1" dirty="0"/>
              <a:t>	</a:t>
            </a:r>
          </a:p>
          <a:p>
            <a:r>
              <a:rPr lang="en-US" altLang="ja-JP" sz="2550" dirty="0"/>
              <a:t>Review Structure :</a:t>
            </a:r>
          </a:p>
          <a:p>
            <a:endParaRPr lang="en-US" altLang="ja-JP" sz="2550" dirty="0"/>
          </a:p>
          <a:p>
            <a:endParaRPr lang="en-US" altLang="ja-JP" sz="2550" dirty="0"/>
          </a:p>
          <a:p>
            <a:endParaRPr lang="en-US" altLang="ja-JP" sz="2550" dirty="0"/>
          </a:p>
          <a:p>
            <a:endParaRPr lang="en-US" altLang="ja-JP" sz="2550" dirty="0"/>
          </a:p>
          <a:p>
            <a:r>
              <a:rPr lang="en-US" altLang="ja-JP" sz="2550" dirty="0"/>
              <a:t>Additional Focus : </a:t>
            </a:r>
            <a:r>
              <a:rPr lang="en-US" altLang="ja-JP" sz="2550" b="1" dirty="0"/>
              <a:t>Visibility Predictor</a:t>
            </a:r>
          </a:p>
          <a:p>
            <a:endParaRPr lang="ja-JP" altLang="en-US" sz="3600" b="1" dirty="0"/>
          </a:p>
        </p:txBody>
      </p:sp>
      <p:graphicFrame>
        <p:nvGraphicFramePr>
          <p:cNvPr id="27" name="表 26">
            <a:extLst>
              <a:ext uri="{FF2B5EF4-FFF2-40B4-BE49-F238E27FC236}">
                <a16:creationId xmlns:a16="http://schemas.microsoft.com/office/drawing/2014/main" id="{B13FAE62-4039-6A0A-3931-12B780C70499}"/>
              </a:ext>
            </a:extLst>
          </p:cNvPr>
          <p:cNvGraphicFramePr>
            <a:graphicFrameLocks noGrp="1"/>
          </p:cNvGraphicFramePr>
          <p:nvPr>
            <p:extLst>
              <p:ext uri="{D42A27DB-BD31-4B8C-83A1-F6EECF244321}">
                <p14:modId xmlns:p14="http://schemas.microsoft.com/office/powerpoint/2010/main" val="3826209100"/>
              </p:ext>
            </p:extLst>
          </p:nvPr>
        </p:nvGraphicFramePr>
        <p:xfrm>
          <a:off x="1701165" y="3600450"/>
          <a:ext cx="8789670" cy="1691640"/>
        </p:xfrm>
        <a:graphic>
          <a:graphicData uri="http://schemas.openxmlformats.org/drawingml/2006/table">
            <a:tbl>
              <a:tblPr firstRow="1" bandRow="1">
                <a:tableStyleId>{5940675A-B579-460E-94D1-54222C63F5DA}</a:tableStyleId>
              </a:tblPr>
              <a:tblGrid>
                <a:gridCol w="4394835">
                  <a:extLst>
                    <a:ext uri="{9D8B030D-6E8A-4147-A177-3AD203B41FA5}">
                      <a16:colId xmlns:a16="http://schemas.microsoft.com/office/drawing/2014/main" val="889872127"/>
                    </a:ext>
                  </a:extLst>
                </a:gridCol>
                <a:gridCol w="4394835">
                  <a:extLst>
                    <a:ext uri="{9D8B030D-6E8A-4147-A177-3AD203B41FA5}">
                      <a16:colId xmlns:a16="http://schemas.microsoft.com/office/drawing/2014/main" val="1163382700"/>
                    </a:ext>
                  </a:extLst>
                </a:gridCol>
              </a:tblGrid>
              <a:tr h="604797">
                <a:tc>
                  <a:txBody>
                    <a:bodyPr/>
                    <a:lstStyle/>
                    <a:p>
                      <a:pPr algn="ctr"/>
                      <a:r>
                        <a:rPr kumimoji="1" lang="en-US" altLang="ja-JP" sz="2550" b="1" dirty="0"/>
                        <a:t>Basic Research</a:t>
                      </a:r>
                      <a:endParaRPr kumimoji="1" lang="ja-JP" altLang="en-US" sz="2550" b="1" dirty="0"/>
                    </a:p>
                  </a:txBody>
                  <a:tcPr anchor="ctr">
                    <a:solidFill>
                      <a:schemeClr val="accent4">
                        <a:lumMod val="40000"/>
                        <a:lumOff val="60000"/>
                      </a:schemeClr>
                    </a:solidFill>
                  </a:tcPr>
                </a:tc>
                <a:tc>
                  <a:txBody>
                    <a:bodyPr/>
                    <a:lstStyle/>
                    <a:p>
                      <a:pPr algn="ctr"/>
                      <a:r>
                        <a:rPr kumimoji="1" lang="en-US" altLang="ja-JP" sz="2550" b="1" dirty="0"/>
                        <a:t>Applied Research</a:t>
                      </a:r>
                      <a:endParaRPr kumimoji="1" lang="ja-JP" altLang="en-US" sz="2550" b="1" dirty="0"/>
                    </a:p>
                  </a:txBody>
                  <a:tcPr anchor="ctr">
                    <a:solidFill>
                      <a:schemeClr val="accent6">
                        <a:lumMod val="40000"/>
                        <a:lumOff val="60000"/>
                      </a:schemeClr>
                    </a:solidFill>
                  </a:tcPr>
                </a:tc>
                <a:extLst>
                  <a:ext uri="{0D108BD9-81ED-4DB2-BD59-A6C34878D82A}">
                    <a16:rowId xmlns:a16="http://schemas.microsoft.com/office/drawing/2014/main" val="1438578709"/>
                  </a:ext>
                </a:extLst>
              </a:tr>
              <a:tr h="1086843">
                <a:tc>
                  <a:txBody>
                    <a:bodyPr/>
                    <a:lstStyle/>
                    <a:p>
                      <a:pPr algn="ctr"/>
                      <a:r>
                        <a:rPr lang="en-US" altLang="ja-JP" sz="2200" b="0" dirty="0"/>
                        <a:t>Effect on perceptual visibility</a:t>
                      </a:r>
                      <a:endParaRPr kumimoji="1" lang="ja-JP" altLang="en-US" sz="2200" b="0" dirty="0"/>
                    </a:p>
                  </a:txBody>
                  <a:tcPr anchor="ctr">
                    <a:noFill/>
                  </a:tcPr>
                </a:tc>
                <a:tc>
                  <a:txBody>
                    <a:bodyPr/>
                    <a:lstStyle/>
                    <a:p>
                      <a:pPr algn="ctr"/>
                      <a:r>
                        <a:rPr kumimoji="1" lang="en-US" altLang="ja-JP" sz="2200" b="0" dirty="0"/>
                        <a:t>Visibility prediction </a:t>
                      </a:r>
                      <a:br>
                        <a:rPr kumimoji="1" lang="en-US" altLang="ja-JP" sz="2200" b="0" dirty="0"/>
                      </a:br>
                      <a:r>
                        <a:rPr kumimoji="1" lang="en-US" altLang="ja-JP" sz="2200" b="0" dirty="0"/>
                        <a:t>&amp; enhancement</a:t>
                      </a:r>
                      <a:endParaRPr kumimoji="1" lang="ja-JP" altLang="en-US" sz="2200" b="0" dirty="0"/>
                    </a:p>
                  </a:txBody>
                  <a:tcPr anchor="ctr">
                    <a:noFill/>
                  </a:tcPr>
                </a:tc>
                <a:extLst>
                  <a:ext uri="{0D108BD9-81ED-4DB2-BD59-A6C34878D82A}">
                    <a16:rowId xmlns:a16="http://schemas.microsoft.com/office/drawing/2014/main" val="498928487"/>
                  </a:ext>
                </a:extLst>
              </a:tr>
            </a:tbl>
          </a:graphicData>
        </a:graphic>
      </p:graphicFrame>
      <p:sp>
        <p:nvSpPr>
          <p:cNvPr id="28" name="正方形/長方形 27">
            <a:extLst>
              <a:ext uri="{FF2B5EF4-FFF2-40B4-BE49-F238E27FC236}">
                <a16:creationId xmlns:a16="http://schemas.microsoft.com/office/drawing/2014/main" id="{3BCBB455-3DCE-CAD1-FCBA-C04596EFC631}"/>
              </a:ext>
            </a:extLst>
          </p:cNvPr>
          <p:cNvSpPr/>
          <p:nvPr/>
        </p:nvSpPr>
        <p:spPr>
          <a:xfrm>
            <a:off x="1598295" y="2183137"/>
            <a:ext cx="1547828" cy="7200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550" b="1" dirty="0">
                <a:solidFill>
                  <a:schemeClr val="tx1"/>
                </a:solidFill>
              </a:rPr>
              <a:t>(1)</a:t>
            </a:r>
            <a:r>
              <a:rPr kumimoji="1" lang="ja-JP" altLang="en-US" sz="2550" b="1" dirty="0">
                <a:solidFill>
                  <a:schemeClr val="tx1"/>
                </a:solidFill>
              </a:rPr>
              <a:t> </a:t>
            </a:r>
            <a:r>
              <a:rPr kumimoji="1" lang="en-US" altLang="ja-JP" sz="2550" b="1" dirty="0">
                <a:solidFill>
                  <a:schemeClr val="tx1"/>
                </a:solidFill>
              </a:rPr>
              <a:t>Color</a:t>
            </a:r>
            <a:endParaRPr kumimoji="1" lang="ja-JP" altLang="en-US" sz="2550" b="1" dirty="0">
              <a:solidFill>
                <a:schemeClr val="tx1"/>
              </a:solidFill>
            </a:endParaRPr>
          </a:p>
        </p:txBody>
      </p:sp>
      <p:sp>
        <p:nvSpPr>
          <p:cNvPr id="29" name="正方形/長方形 28">
            <a:extLst>
              <a:ext uri="{FF2B5EF4-FFF2-40B4-BE49-F238E27FC236}">
                <a16:creationId xmlns:a16="http://schemas.microsoft.com/office/drawing/2014/main" id="{D7F68584-394A-BB44-BB41-5833448D6AB6}"/>
              </a:ext>
            </a:extLst>
          </p:cNvPr>
          <p:cNvSpPr/>
          <p:nvPr/>
        </p:nvSpPr>
        <p:spPr>
          <a:xfrm>
            <a:off x="3277157" y="2183137"/>
            <a:ext cx="2402474" cy="7200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550" b="1" dirty="0">
                <a:solidFill>
                  <a:schemeClr val="tx1"/>
                </a:solidFill>
              </a:rPr>
              <a:t>(2)</a:t>
            </a:r>
            <a:r>
              <a:rPr lang="ja-JP" altLang="en-US" sz="2550" b="1" dirty="0">
                <a:solidFill>
                  <a:schemeClr val="tx1"/>
                </a:solidFill>
              </a:rPr>
              <a:t> </a:t>
            </a:r>
            <a:r>
              <a:rPr lang="en-US" altLang="ja-JP" sz="2550" b="1" dirty="0">
                <a:solidFill>
                  <a:schemeClr val="tx1"/>
                </a:solidFill>
              </a:rPr>
              <a:t>Brightness</a:t>
            </a:r>
            <a:endParaRPr kumimoji="1" lang="ja-JP" altLang="en-US" sz="2550" b="1" dirty="0">
              <a:solidFill>
                <a:schemeClr val="tx1"/>
              </a:solidFill>
            </a:endParaRPr>
          </a:p>
        </p:txBody>
      </p:sp>
      <p:sp>
        <p:nvSpPr>
          <p:cNvPr id="30" name="正方形/長方形 29">
            <a:extLst>
              <a:ext uri="{FF2B5EF4-FFF2-40B4-BE49-F238E27FC236}">
                <a16:creationId xmlns:a16="http://schemas.microsoft.com/office/drawing/2014/main" id="{0B531CA7-BB2A-D470-8EDE-10F086C5909E}"/>
              </a:ext>
            </a:extLst>
          </p:cNvPr>
          <p:cNvSpPr/>
          <p:nvPr/>
        </p:nvSpPr>
        <p:spPr>
          <a:xfrm>
            <a:off x="5810665" y="2183137"/>
            <a:ext cx="2853690" cy="7200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550" b="1" dirty="0">
                <a:solidFill>
                  <a:schemeClr val="tx1"/>
                </a:solidFill>
              </a:rPr>
              <a:t>(3)</a:t>
            </a:r>
            <a:r>
              <a:rPr lang="ja-JP" altLang="en-US" sz="2550" b="1" dirty="0">
                <a:solidFill>
                  <a:schemeClr val="tx1"/>
                </a:solidFill>
              </a:rPr>
              <a:t> </a:t>
            </a:r>
            <a:r>
              <a:rPr lang="en-US" altLang="ja-JP" sz="2550" b="1" dirty="0">
                <a:solidFill>
                  <a:schemeClr val="tx1"/>
                </a:solidFill>
              </a:rPr>
              <a:t>Transparency</a:t>
            </a:r>
            <a:endParaRPr kumimoji="1" lang="ja-JP" altLang="en-US" sz="2550" b="1" dirty="0">
              <a:solidFill>
                <a:schemeClr val="tx1"/>
              </a:solidFill>
            </a:endParaRPr>
          </a:p>
        </p:txBody>
      </p:sp>
    </p:spTree>
    <p:extLst>
      <p:ext uri="{BB962C8B-B14F-4D97-AF65-F5344CB8AC3E}">
        <p14:creationId xmlns:p14="http://schemas.microsoft.com/office/powerpoint/2010/main" val="3863258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529FA-E388-1DCA-6A3E-A7E54483055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6D5063F-7286-2DF4-894B-7CC872E828D9}"/>
              </a:ext>
            </a:extLst>
          </p:cNvPr>
          <p:cNvSpPr>
            <a:spLocks noGrp="1"/>
          </p:cNvSpPr>
          <p:nvPr>
            <p:ph type="title"/>
          </p:nvPr>
        </p:nvSpPr>
        <p:spPr/>
        <p:txBody>
          <a:bodyPr/>
          <a:lstStyle/>
          <a:p>
            <a:r>
              <a:rPr lang="en-US" sz="3600" b="1" dirty="0">
                <a:solidFill>
                  <a:schemeClr val="accent1"/>
                </a:solidFill>
                <a:latin typeface="+mj-lt"/>
                <a:ea typeface="+mj-ea"/>
              </a:rPr>
              <a:t>Index</a:t>
            </a:r>
          </a:p>
        </p:txBody>
      </p:sp>
      <p:sp>
        <p:nvSpPr>
          <p:cNvPr id="3" name="コンテンツ プレースホルダー 2">
            <a:extLst>
              <a:ext uri="{FF2B5EF4-FFF2-40B4-BE49-F238E27FC236}">
                <a16:creationId xmlns:a16="http://schemas.microsoft.com/office/drawing/2014/main" id="{82B706AD-91B2-5293-A7CD-7FF40F7B55C7}"/>
              </a:ext>
            </a:extLst>
          </p:cNvPr>
          <p:cNvSpPr>
            <a:spLocks noGrp="1"/>
          </p:cNvSpPr>
          <p:nvPr>
            <p:ph idx="1"/>
          </p:nvPr>
        </p:nvSpPr>
        <p:spPr>
          <a:xfrm>
            <a:off x="568633" y="994595"/>
            <a:ext cx="11036465" cy="5777442"/>
          </a:xfrm>
        </p:spPr>
        <p:txBody>
          <a:bodyPr>
            <a:normAutofit/>
          </a:bodyPr>
          <a:lstStyle/>
          <a:p>
            <a:pPr marL="457200" indent="-457200">
              <a:buAutoNum type="arabicPeriod"/>
            </a:pPr>
            <a:r>
              <a:rPr lang="en-US" sz="2550" b="1" dirty="0">
                <a:solidFill>
                  <a:schemeClr val="tx1">
                    <a:lumMod val="40000"/>
                    <a:lumOff val="60000"/>
                  </a:schemeClr>
                </a:solidFill>
              </a:rPr>
              <a:t>Introduction</a:t>
            </a:r>
          </a:p>
          <a:p>
            <a:pPr marL="457200" indent="-457200">
              <a:buAutoNum type="arabicPeriod"/>
            </a:pPr>
            <a:r>
              <a:rPr lang="en-US" sz="2550" b="1" dirty="0">
                <a:solidFill>
                  <a:schemeClr val="tx1">
                    <a:lumMod val="40000"/>
                    <a:lumOff val="60000"/>
                  </a:schemeClr>
                </a:solidFill>
              </a:rPr>
              <a:t>Background</a:t>
            </a:r>
          </a:p>
          <a:p>
            <a:pPr marL="457200" indent="-457200">
              <a:buAutoNum type="arabicPeriod"/>
            </a:pPr>
            <a:r>
              <a:rPr lang="en-US" sz="2550" b="1" dirty="0">
                <a:solidFill>
                  <a:schemeClr val="accent1"/>
                </a:solidFill>
              </a:rPr>
              <a:t>Studies on the Perceptual Visibility of OST-AR</a:t>
            </a:r>
          </a:p>
          <a:p>
            <a:pPr marL="971550" lvl="1" indent="-514350">
              <a:buFont typeface="+mj-lt"/>
              <a:buAutoNum type="alphaLcPeriod"/>
            </a:pPr>
            <a:r>
              <a:rPr lang="en-US" sz="2550" b="1" dirty="0">
                <a:solidFill>
                  <a:schemeClr val="accent1"/>
                </a:solidFill>
              </a:rPr>
              <a:t>Color</a:t>
            </a:r>
          </a:p>
          <a:p>
            <a:pPr marL="971550" lvl="1" indent="-514350">
              <a:buFont typeface="+mj-lt"/>
              <a:buAutoNum type="alphaLcPeriod"/>
            </a:pPr>
            <a:r>
              <a:rPr lang="en-US" sz="2550" b="1" dirty="0"/>
              <a:t>Brightness</a:t>
            </a:r>
          </a:p>
          <a:p>
            <a:pPr marL="971550" lvl="1" indent="-514350">
              <a:buFont typeface="+mj-lt"/>
              <a:buAutoNum type="alphaLcPeriod"/>
            </a:pPr>
            <a:r>
              <a:rPr lang="en-US" sz="2550" b="1" dirty="0"/>
              <a:t>Transparency</a:t>
            </a:r>
          </a:p>
          <a:p>
            <a:pPr marL="457200" indent="-457200">
              <a:buFont typeface="Arial" panose="020B0604020202020204" pitchFamily="34" charset="0"/>
              <a:buAutoNum type="arabicPeriod"/>
            </a:pPr>
            <a:r>
              <a:rPr lang="en-US" altLang="ja-JP" sz="2550" b="1" dirty="0">
                <a:solidFill>
                  <a:schemeClr val="tx1">
                    <a:lumMod val="40000"/>
                    <a:lumOff val="60000"/>
                  </a:schemeClr>
                </a:solidFill>
              </a:rPr>
              <a:t>Visibility Predictor</a:t>
            </a:r>
          </a:p>
          <a:p>
            <a:pPr marL="457200" indent="-457200">
              <a:buFont typeface="Arial" panose="020B0604020202020204" pitchFamily="34" charset="0"/>
              <a:buAutoNum type="arabicPeriod"/>
            </a:pPr>
            <a:r>
              <a:rPr lang="en-US" altLang="ja-JP" sz="2550" b="1" dirty="0">
                <a:solidFill>
                  <a:schemeClr val="tx1">
                    <a:lumMod val="40000"/>
                    <a:lumOff val="60000"/>
                  </a:schemeClr>
                </a:solidFill>
              </a:rPr>
              <a:t>Conclusion</a:t>
            </a:r>
          </a:p>
          <a:p>
            <a:endParaRPr lang="en-US" sz="2550" b="1" dirty="0"/>
          </a:p>
          <a:p>
            <a:pPr marL="457200" indent="-457200">
              <a:buAutoNum type="arabicPeriod"/>
            </a:pPr>
            <a:endParaRPr lang="en-US" sz="2550" b="1" dirty="0"/>
          </a:p>
        </p:txBody>
      </p:sp>
      <p:sp>
        <p:nvSpPr>
          <p:cNvPr id="4" name="スライド番号プレースホルダー 3">
            <a:extLst>
              <a:ext uri="{FF2B5EF4-FFF2-40B4-BE49-F238E27FC236}">
                <a16:creationId xmlns:a16="http://schemas.microsoft.com/office/drawing/2014/main" id="{18A7764E-FDEA-7ED7-C09A-9987F0816EC5}"/>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14</a:t>
            </a:fld>
            <a:endParaRPr lang="en-US"/>
          </a:p>
        </p:txBody>
      </p:sp>
    </p:spTree>
    <p:extLst>
      <p:ext uri="{BB962C8B-B14F-4D97-AF65-F5344CB8AC3E}">
        <p14:creationId xmlns:p14="http://schemas.microsoft.com/office/powerpoint/2010/main" val="13421657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2FFC8-4F71-B308-C6B5-2FC667926D2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4A73FE5-1F7A-54A7-64F3-2F9716F79F17}"/>
              </a:ext>
            </a:extLst>
          </p:cNvPr>
          <p:cNvSpPr>
            <a:spLocks noGrp="1"/>
          </p:cNvSpPr>
          <p:nvPr>
            <p:ph type="title"/>
          </p:nvPr>
        </p:nvSpPr>
        <p:spPr/>
        <p:txBody>
          <a:bodyPr/>
          <a:lstStyle/>
          <a:p>
            <a:r>
              <a:rPr lang="en-US" altLang="ja-JP" b="1" dirty="0">
                <a:solidFill>
                  <a:schemeClr val="accent1"/>
                </a:solidFill>
                <a:latin typeface="+mn-lt"/>
              </a:rPr>
              <a:t>Color Blending and Visibility</a:t>
            </a:r>
            <a:endParaRPr kumimoji="1" lang="ja-JP" altLang="en-US" sz="3600"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7CD54A71-E16A-67F8-83E8-7E840787257C}"/>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15</a:t>
            </a:fld>
            <a:endParaRPr lang="en-US"/>
          </a:p>
        </p:txBody>
      </p:sp>
      <p:sp>
        <p:nvSpPr>
          <p:cNvPr id="25" name="コンテンツ プレースホルダー 24">
            <a:extLst>
              <a:ext uri="{FF2B5EF4-FFF2-40B4-BE49-F238E27FC236}">
                <a16:creationId xmlns:a16="http://schemas.microsoft.com/office/drawing/2014/main" id="{F44516F8-AA37-8496-150C-07EE896083E3}"/>
              </a:ext>
            </a:extLst>
          </p:cNvPr>
          <p:cNvSpPr>
            <a:spLocks noGrp="1"/>
          </p:cNvSpPr>
          <p:nvPr>
            <p:ph idx="1"/>
          </p:nvPr>
        </p:nvSpPr>
        <p:spPr/>
        <p:txBody>
          <a:bodyPr>
            <a:normAutofit/>
          </a:bodyPr>
          <a:lstStyle/>
          <a:p>
            <a:r>
              <a:rPr lang="en-US" altLang="ja-JP" sz="2550" b="1" u="sng" dirty="0"/>
              <a:t>Perceived Color in OST-AR = </a:t>
            </a:r>
            <a:r>
              <a:rPr lang="en-US" altLang="ja-JP" sz="2550" b="1" u="sng" dirty="0">
                <a:solidFill>
                  <a:schemeClr val="accent1"/>
                </a:solidFill>
              </a:rPr>
              <a:t>Additive Mixture</a:t>
            </a:r>
          </a:p>
          <a:p>
            <a:endParaRPr lang="en-US" altLang="ja-JP" sz="2550" b="1" u="sng" dirty="0"/>
          </a:p>
          <a:p>
            <a:endParaRPr lang="en-US" altLang="ja-JP" sz="2550" b="1" u="sng" dirty="0"/>
          </a:p>
          <a:p>
            <a:r>
              <a:rPr lang="en-US" altLang="ja-JP" sz="2550" b="1" dirty="0"/>
              <a:t>Challenges due to color blending</a:t>
            </a:r>
          </a:p>
          <a:p>
            <a:pPr marL="342900" indent="-342900">
              <a:buFont typeface="Arial" panose="020B0604020202020204" pitchFamily="34" charset="0"/>
              <a:buChar char="•"/>
            </a:pPr>
            <a:r>
              <a:rPr lang="en-US" altLang="ja-JP" sz="2550" dirty="0"/>
              <a:t>Inaccurate color perception</a:t>
            </a:r>
            <a:endParaRPr lang="en-US" altLang="ja-JP" sz="2550" b="1" dirty="0"/>
          </a:p>
          <a:p>
            <a:pPr marL="342900" indent="-342900">
              <a:buFont typeface="Arial" panose="020B0604020202020204" pitchFamily="34" charset="0"/>
              <a:buChar char="•"/>
            </a:pPr>
            <a:r>
              <a:rPr lang="en-US" altLang="ja-JP" sz="2550" dirty="0"/>
              <a:t>Reduction in visibility</a:t>
            </a:r>
          </a:p>
          <a:p>
            <a:endParaRPr lang="en-US" altLang="ja-JP" b="1" u="sng" dirty="0"/>
          </a:p>
          <a:p>
            <a:endParaRPr lang="en-US" altLang="ja-JP" b="1" dirty="0"/>
          </a:p>
        </p:txBody>
      </p:sp>
      <p:pic>
        <p:nvPicPr>
          <p:cNvPr id="3074" name="Picture 2">
            <a:extLst>
              <a:ext uri="{FF2B5EF4-FFF2-40B4-BE49-F238E27FC236}">
                <a16:creationId xmlns:a16="http://schemas.microsoft.com/office/drawing/2014/main" id="{1E9ECFD0-145F-0076-2836-F9B8899DA4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8421" y="1770510"/>
            <a:ext cx="3479077" cy="3394736"/>
          </a:xfrm>
          <a:prstGeom prst="rect">
            <a:avLst/>
          </a:prstGeom>
          <a:noFill/>
          <a:extLst>
            <a:ext uri="{909E8E84-426E-40DD-AFC4-6F175D3DCCD1}">
              <a14:hiddenFill xmlns:a14="http://schemas.microsoft.com/office/drawing/2010/main">
                <a:solidFill>
                  <a:srgbClr val="FFFFFF"/>
                </a:solidFill>
              </a14:hiddenFill>
            </a:ext>
          </a:extLst>
        </p:spPr>
      </p:pic>
      <p:sp>
        <p:nvSpPr>
          <p:cNvPr id="3" name="テキスト ボックス 2">
            <a:extLst>
              <a:ext uri="{FF2B5EF4-FFF2-40B4-BE49-F238E27FC236}">
                <a16:creationId xmlns:a16="http://schemas.microsoft.com/office/drawing/2014/main" id="{B75CE72D-39CE-6F1C-7A9B-208EDD8347CB}"/>
              </a:ext>
            </a:extLst>
          </p:cNvPr>
          <p:cNvSpPr txBox="1"/>
          <p:nvPr/>
        </p:nvSpPr>
        <p:spPr>
          <a:xfrm>
            <a:off x="8679234" y="5165246"/>
            <a:ext cx="2068451" cy="276999"/>
          </a:xfrm>
          <a:prstGeom prst="rect">
            <a:avLst/>
          </a:prstGeom>
          <a:noFill/>
        </p:spPr>
        <p:txBody>
          <a:bodyPr wrap="none" rtlCol="0">
            <a:spAutoFit/>
          </a:bodyPr>
          <a:lstStyle/>
          <a:p>
            <a:r>
              <a:rPr kumimoji="1" lang="en-US" altLang="ja-JP" sz="1200" dirty="0"/>
              <a:t>Additive Mixture(Wikipedia)</a:t>
            </a:r>
            <a:endParaRPr kumimoji="1" lang="ja-JP" altLang="en-US" sz="1200" dirty="0"/>
          </a:p>
        </p:txBody>
      </p:sp>
    </p:spTree>
    <p:extLst>
      <p:ext uri="{BB962C8B-B14F-4D97-AF65-F5344CB8AC3E}">
        <p14:creationId xmlns:p14="http://schemas.microsoft.com/office/powerpoint/2010/main" val="26397724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14E27-7B71-4D78-7A87-22361C1D97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BD757FC-1C77-9A51-51E8-4706D62C368E}"/>
              </a:ext>
            </a:extLst>
          </p:cNvPr>
          <p:cNvSpPr>
            <a:spLocks noGrp="1"/>
          </p:cNvSpPr>
          <p:nvPr>
            <p:ph type="title"/>
          </p:nvPr>
        </p:nvSpPr>
        <p:spPr/>
        <p:txBody>
          <a:bodyPr/>
          <a:lstStyle/>
          <a:p>
            <a:r>
              <a:rPr lang="en-US" altLang="ja-JP" b="1" dirty="0">
                <a:solidFill>
                  <a:schemeClr val="accent1"/>
                </a:solidFill>
                <a:latin typeface="+mn-lt"/>
              </a:rPr>
              <a:t>Research Outline</a:t>
            </a:r>
            <a:endParaRPr kumimoji="1" lang="ja-JP" altLang="en-US" sz="3600"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CBD899DC-3F22-614F-55EE-45DDF70F1F38}"/>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16</a:t>
            </a:fld>
            <a:endParaRPr lang="en-US"/>
          </a:p>
        </p:txBody>
      </p:sp>
      <p:sp>
        <p:nvSpPr>
          <p:cNvPr id="25" name="コンテンツ プレースホルダー 24">
            <a:extLst>
              <a:ext uri="{FF2B5EF4-FFF2-40B4-BE49-F238E27FC236}">
                <a16:creationId xmlns:a16="http://schemas.microsoft.com/office/drawing/2014/main" id="{EE4263C9-9863-00C9-5571-A28C314E0DFE}"/>
              </a:ext>
            </a:extLst>
          </p:cNvPr>
          <p:cNvSpPr>
            <a:spLocks noGrp="1"/>
          </p:cNvSpPr>
          <p:nvPr>
            <p:ph idx="1"/>
          </p:nvPr>
        </p:nvSpPr>
        <p:spPr/>
        <p:txBody>
          <a:bodyPr>
            <a:normAutofit/>
          </a:bodyPr>
          <a:lstStyle/>
          <a:p>
            <a:r>
              <a:rPr lang="en-US" altLang="ja-JP" sz="2550" b="1" u="sng" dirty="0"/>
              <a:t>Paper1: Engineering Study of Color Blending in OST-AR</a:t>
            </a:r>
          </a:p>
          <a:p>
            <a:r>
              <a:rPr lang="ja-JP" altLang="en-US" sz="2550" dirty="0"/>
              <a:t>→</a:t>
            </a:r>
            <a:r>
              <a:rPr lang="en-US" altLang="ja-JP" sz="2550" dirty="0"/>
              <a:t>Understanding about Color Blending in OST-AR</a:t>
            </a:r>
          </a:p>
          <a:p>
            <a:endParaRPr lang="en-US" altLang="ja-JP" sz="2550" dirty="0"/>
          </a:p>
          <a:p>
            <a:r>
              <a:rPr lang="en-US" altLang="ja-JP" sz="2550" b="1" u="sng" dirty="0"/>
              <a:t>Paper2: Effects of Color Blending on OST-AR</a:t>
            </a:r>
          </a:p>
          <a:p>
            <a:r>
              <a:rPr lang="ja-JP" altLang="en-US" sz="2550" dirty="0"/>
              <a:t>→</a:t>
            </a:r>
            <a:r>
              <a:rPr lang="en-US" altLang="ja-JP" sz="2550" dirty="0"/>
              <a:t>Understanding about effect on Perceptual Visibility</a:t>
            </a:r>
          </a:p>
          <a:p>
            <a:endParaRPr lang="en-US" altLang="ja-JP" sz="2550" dirty="0"/>
          </a:p>
          <a:p>
            <a:r>
              <a:rPr lang="en-US" altLang="ja-JP" sz="2550" b="1" u="sng" dirty="0"/>
              <a:t>Paper3:  Visibility Enhanced Rendering based on Color Contrast</a:t>
            </a:r>
          </a:p>
          <a:p>
            <a:r>
              <a:rPr lang="ja-JP" altLang="en-US" sz="2550" dirty="0"/>
              <a:t>→</a:t>
            </a:r>
            <a:r>
              <a:rPr lang="en-US" altLang="ja-JP" sz="2550" dirty="0"/>
              <a:t>Introducing Visibility Enhancing Method in this Topic</a:t>
            </a:r>
            <a:endParaRPr lang="ja-JP" altLang="en-US" sz="2550" u="sng" dirty="0"/>
          </a:p>
        </p:txBody>
      </p:sp>
    </p:spTree>
    <p:extLst>
      <p:ext uri="{BB962C8B-B14F-4D97-AF65-F5344CB8AC3E}">
        <p14:creationId xmlns:p14="http://schemas.microsoft.com/office/powerpoint/2010/main" val="2690363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E0895-4EB1-A824-BE46-9F6742BE780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C63DA66-472C-CF67-54BC-E50A5F0F5CA5}"/>
              </a:ext>
            </a:extLst>
          </p:cNvPr>
          <p:cNvSpPr>
            <a:spLocks noGrp="1"/>
          </p:cNvSpPr>
          <p:nvPr>
            <p:ph type="title"/>
          </p:nvPr>
        </p:nvSpPr>
        <p:spPr/>
        <p:txBody>
          <a:bodyPr/>
          <a:lstStyle/>
          <a:p>
            <a:r>
              <a:rPr lang="en-US" altLang="ja-JP" b="1" dirty="0">
                <a:solidFill>
                  <a:schemeClr val="accent1"/>
                </a:solidFill>
                <a:latin typeface="+mn-lt"/>
              </a:rPr>
              <a:t>Paper3-1: Objective and Method</a:t>
            </a:r>
            <a:endParaRPr kumimoji="1" lang="ja-JP" altLang="en-US" sz="3600"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2E3A010D-AEEE-E625-875C-B7C1A40A1601}"/>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17</a:t>
            </a:fld>
            <a:endParaRPr lang="en-US"/>
          </a:p>
        </p:txBody>
      </p:sp>
      <p:sp>
        <p:nvSpPr>
          <p:cNvPr id="25" name="コンテンツ プレースホルダー 24">
            <a:extLst>
              <a:ext uri="{FF2B5EF4-FFF2-40B4-BE49-F238E27FC236}">
                <a16:creationId xmlns:a16="http://schemas.microsoft.com/office/drawing/2014/main" id="{CEC6B602-F586-BEAA-19B6-2AF41C6F93DD}"/>
              </a:ext>
            </a:extLst>
          </p:cNvPr>
          <p:cNvSpPr>
            <a:spLocks noGrp="1"/>
          </p:cNvSpPr>
          <p:nvPr>
            <p:ph idx="1"/>
          </p:nvPr>
        </p:nvSpPr>
        <p:spPr>
          <a:xfrm>
            <a:off x="568633" y="994595"/>
            <a:ext cx="11036465" cy="722445"/>
          </a:xfrm>
        </p:spPr>
        <p:txBody>
          <a:bodyPr>
            <a:normAutofit/>
          </a:bodyPr>
          <a:lstStyle/>
          <a:p>
            <a:r>
              <a:rPr lang="en-US" altLang="ja-JP" sz="2550" b="1" u="sng" dirty="0"/>
              <a:t>Objective: Understanding and Quantifying Color Blending in OST-AR</a:t>
            </a:r>
            <a:endParaRPr lang="ja-JP" altLang="en-US" sz="2550" b="1" u="sng" dirty="0"/>
          </a:p>
        </p:txBody>
      </p:sp>
      <p:sp>
        <p:nvSpPr>
          <p:cNvPr id="3" name="コンテンツ プレースホルダー 24">
            <a:extLst>
              <a:ext uri="{FF2B5EF4-FFF2-40B4-BE49-F238E27FC236}">
                <a16:creationId xmlns:a16="http://schemas.microsoft.com/office/drawing/2014/main" id="{9DF5340A-7ADC-EDAC-B2F4-11E4D2A156A6}"/>
              </a:ext>
            </a:extLst>
          </p:cNvPr>
          <p:cNvSpPr txBox="1">
            <a:spLocks/>
          </p:cNvSpPr>
          <p:nvPr/>
        </p:nvSpPr>
        <p:spPr>
          <a:xfrm>
            <a:off x="577768" y="1875628"/>
            <a:ext cx="11036465" cy="4559455"/>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Font typeface="Arial" panose="020B0604020202020204" pitchFamily="34" charset="0"/>
              <a:buNone/>
              <a:defRPr kumimoji="1" sz="2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550" b="1" u="sng" dirty="0"/>
              <a:t>Method: Construction of an Optical Testbed Emulating Color Blending</a:t>
            </a:r>
            <a:endParaRPr lang="en-US" altLang="ja-JP" u="sng" dirty="0"/>
          </a:p>
          <a:p>
            <a:r>
              <a:rPr lang="en-US" altLang="ja-JP" b="1" dirty="0"/>
              <a:t>Testbed specifications</a:t>
            </a:r>
          </a:p>
          <a:p>
            <a:r>
              <a:rPr lang="en-US" altLang="ja-JP" dirty="0"/>
              <a:t>Lighting: D65 (Standard Daylight), 800-1000 lux</a:t>
            </a:r>
          </a:p>
          <a:p>
            <a:r>
              <a:rPr lang="en-US" altLang="ja-JP" dirty="0"/>
              <a:t>Sensor: Colorimeter</a:t>
            </a:r>
          </a:p>
          <a:p>
            <a:r>
              <a:rPr lang="en-US" altLang="ja-JP" dirty="0"/>
              <a:t>Backgrounds: 6 types (4 textures and White, None)</a:t>
            </a:r>
          </a:p>
          <a:p>
            <a:r>
              <a:rPr lang="en-US" altLang="ja-JP" dirty="0"/>
              <a:t>Virtual Stimuli: 27 RGB Combinations</a:t>
            </a:r>
          </a:p>
          <a:p>
            <a:endParaRPr lang="en-US" altLang="ja-JP" dirty="0"/>
          </a:p>
          <a:p>
            <a:r>
              <a:rPr lang="en-US" altLang="ja-JP" b="1" dirty="0"/>
              <a:t>Analysis of color shift</a:t>
            </a:r>
          </a:p>
          <a:p>
            <a:r>
              <a:rPr lang="en-US" altLang="ja-JP" dirty="0"/>
              <a:t>in CIE1976L*u*v*</a:t>
            </a:r>
            <a:r>
              <a:rPr lang="ja-JP" altLang="en-US" dirty="0"/>
              <a:t> </a:t>
            </a:r>
            <a:r>
              <a:rPr lang="en-US" altLang="ja-JP" dirty="0"/>
              <a:t>space</a:t>
            </a:r>
          </a:p>
          <a:p>
            <a:endParaRPr lang="en-US" altLang="ja-JP" sz="2400" dirty="0"/>
          </a:p>
          <a:p>
            <a:endParaRPr lang="ja-JP" altLang="en-US" b="1" u="sng" dirty="0"/>
          </a:p>
        </p:txBody>
      </p:sp>
      <p:pic>
        <p:nvPicPr>
          <p:cNvPr id="6" name="図 5">
            <a:extLst>
              <a:ext uri="{FF2B5EF4-FFF2-40B4-BE49-F238E27FC236}">
                <a16:creationId xmlns:a16="http://schemas.microsoft.com/office/drawing/2014/main" id="{208881A2-2856-FDE0-834F-A26A91560B2E}"/>
              </a:ext>
            </a:extLst>
          </p:cNvPr>
          <p:cNvPicPr>
            <a:picLocks noChangeAspect="1"/>
          </p:cNvPicPr>
          <p:nvPr/>
        </p:nvPicPr>
        <p:blipFill>
          <a:blip r:embed="rId3"/>
          <a:stretch>
            <a:fillRect/>
          </a:stretch>
        </p:blipFill>
        <p:spPr>
          <a:xfrm>
            <a:off x="7209202" y="2485059"/>
            <a:ext cx="3761163" cy="2208862"/>
          </a:xfrm>
          <a:prstGeom prst="rect">
            <a:avLst/>
          </a:prstGeom>
        </p:spPr>
      </p:pic>
      <p:pic>
        <p:nvPicPr>
          <p:cNvPr id="8" name="図 7">
            <a:extLst>
              <a:ext uri="{FF2B5EF4-FFF2-40B4-BE49-F238E27FC236}">
                <a16:creationId xmlns:a16="http://schemas.microsoft.com/office/drawing/2014/main" id="{85C952E9-0FE5-8E91-C2D5-275C6429844A}"/>
              </a:ext>
            </a:extLst>
          </p:cNvPr>
          <p:cNvPicPr>
            <a:picLocks noChangeAspect="1"/>
          </p:cNvPicPr>
          <p:nvPr/>
        </p:nvPicPr>
        <p:blipFill>
          <a:blip r:embed="rId4"/>
          <a:stretch>
            <a:fillRect/>
          </a:stretch>
        </p:blipFill>
        <p:spPr>
          <a:xfrm>
            <a:off x="7209200" y="4966255"/>
            <a:ext cx="3761163" cy="1468828"/>
          </a:xfrm>
          <a:prstGeom prst="rect">
            <a:avLst/>
          </a:prstGeom>
        </p:spPr>
      </p:pic>
      <p:sp>
        <p:nvSpPr>
          <p:cNvPr id="5" name="フッター プレースホルダー 4">
            <a:extLst>
              <a:ext uri="{FF2B5EF4-FFF2-40B4-BE49-F238E27FC236}">
                <a16:creationId xmlns:a16="http://schemas.microsoft.com/office/drawing/2014/main" id="{CC7142B1-180B-61A0-7D18-CCEDC69BDA09}"/>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b="1" dirty="0"/>
              <a:t>J. L. Gabbard et al.  “More than meets the eye: An engineering study to empirically examine the blending of real and virtual color spaces,” 2010</a:t>
            </a:r>
            <a:endParaRPr lang="en-US" sz="1100" b="1" dirty="0"/>
          </a:p>
        </p:txBody>
      </p:sp>
      <p:sp>
        <p:nvSpPr>
          <p:cNvPr id="7" name="フッター プレースホルダー 4">
            <a:extLst>
              <a:ext uri="{FF2B5EF4-FFF2-40B4-BE49-F238E27FC236}">
                <a16:creationId xmlns:a16="http://schemas.microsoft.com/office/drawing/2014/main" id="{9E775061-4346-6883-FE3D-90AF9A3538BA}"/>
              </a:ext>
            </a:extLst>
          </p:cNvPr>
          <p:cNvSpPr txBox="1">
            <a:spLocks/>
          </p:cNvSpPr>
          <p:nvPr/>
        </p:nvSpPr>
        <p:spPr>
          <a:xfrm>
            <a:off x="7300894" y="4590278"/>
            <a:ext cx="3577777" cy="351040"/>
          </a:xfrm>
          <a:prstGeom prst="rect">
            <a:avLst/>
          </a:prstGeom>
        </p:spPr>
        <p:txBody>
          <a:bodyPr anchor="b"/>
          <a:lstStyle>
            <a:defPPr>
              <a:defRPr lang="ja-JP"/>
            </a:defPPr>
            <a:lvl1pPr marL="0" algn="l" defTabSz="914400" rtl="0" eaLnBrk="1" latinLnBrk="0" hangingPunct="1">
              <a:defRPr kumimoji="1" sz="11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sz="1200" dirty="0"/>
              <a:t>Schematic of experimental testbed</a:t>
            </a:r>
          </a:p>
        </p:txBody>
      </p:sp>
      <p:sp>
        <p:nvSpPr>
          <p:cNvPr id="9" name="フッター プレースホルダー 4">
            <a:extLst>
              <a:ext uri="{FF2B5EF4-FFF2-40B4-BE49-F238E27FC236}">
                <a16:creationId xmlns:a16="http://schemas.microsoft.com/office/drawing/2014/main" id="{1528E4C4-B514-5B00-23B4-D7150C2F7E8D}"/>
              </a:ext>
            </a:extLst>
          </p:cNvPr>
          <p:cNvSpPr txBox="1">
            <a:spLocks/>
          </p:cNvSpPr>
          <p:nvPr/>
        </p:nvSpPr>
        <p:spPr>
          <a:xfrm>
            <a:off x="7300892" y="6280828"/>
            <a:ext cx="3577777" cy="351040"/>
          </a:xfrm>
          <a:prstGeom prst="rect">
            <a:avLst/>
          </a:prstGeom>
        </p:spPr>
        <p:txBody>
          <a:bodyPr anchor="b"/>
          <a:lstStyle>
            <a:defPPr>
              <a:defRPr lang="ja-JP"/>
            </a:defPPr>
            <a:lvl1pPr marL="0" algn="l" defTabSz="914400" rtl="0" eaLnBrk="1" latinLnBrk="0" hangingPunct="1">
              <a:defRPr kumimoji="1" sz="11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sz="1200" dirty="0"/>
              <a:t>Color-matched sample</a:t>
            </a:r>
          </a:p>
        </p:txBody>
      </p:sp>
    </p:spTree>
    <p:extLst>
      <p:ext uri="{BB962C8B-B14F-4D97-AF65-F5344CB8AC3E}">
        <p14:creationId xmlns:p14="http://schemas.microsoft.com/office/powerpoint/2010/main" val="3050516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C85C4-59EE-2F3F-6ADB-885CF589C76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96C92F5-EB2F-DB60-0B75-868CE597FB0F}"/>
              </a:ext>
            </a:extLst>
          </p:cNvPr>
          <p:cNvSpPr>
            <a:spLocks noGrp="1"/>
          </p:cNvSpPr>
          <p:nvPr>
            <p:ph type="title"/>
          </p:nvPr>
        </p:nvSpPr>
        <p:spPr/>
        <p:txBody>
          <a:bodyPr/>
          <a:lstStyle/>
          <a:p>
            <a:r>
              <a:rPr lang="en-US" altLang="ja-JP" b="1" dirty="0">
                <a:solidFill>
                  <a:schemeClr val="accent1"/>
                </a:solidFill>
                <a:latin typeface="+mn-lt"/>
              </a:rPr>
              <a:t>Paper3-1: Results and Future Work</a:t>
            </a:r>
            <a:endParaRPr kumimoji="1" lang="ja-JP" altLang="en-US" sz="3600"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A71DF2AB-E100-C03C-487C-775CC983629A}"/>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18</a:t>
            </a:fld>
            <a:endParaRPr lang="en-US"/>
          </a:p>
        </p:txBody>
      </p:sp>
      <p:sp>
        <p:nvSpPr>
          <p:cNvPr id="25" name="コンテンツ プレースホルダー 24">
            <a:extLst>
              <a:ext uri="{FF2B5EF4-FFF2-40B4-BE49-F238E27FC236}">
                <a16:creationId xmlns:a16="http://schemas.microsoft.com/office/drawing/2014/main" id="{23D910A7-6097-C009-D890-9071ABC1B4C0}"/>
              </a:ext>
            </a:extLst>
          </p:cNvPr>
          <p:cNvSpPr>
            <a:spLocks noGrp="1"/>
          </p:cNvSpPr>
          <p:nvPr>
            <p:ph idx="1"/>
          </p:nvPr>
        </p:nvSpPr>
        <p:spPr>
          <a:xfrm>
            <a:off x="568633" y="994595"/>
            <a:ext cx="11036465" cy="722445"/>
          </a:xfrm>
        </p:spPr>
        <p:txBody>
          <a:bodyPr>
            <a:normAutofit/>
          </a:bodyPr>
          <a:lstStyle/>
          <a:p>
            <a:r>
              <a:rPr lang="en-US" altLang="ja-JP" sz="2550" b="1" u="sng" dirty="0"/>
              <a:t>Results: Convergence to the White Point and Linear Hue Shift</a:t>
            </a:r>
            <a:endParaRPr lang="ja-JP" altLang="en-US" sz="2550" b="1" u="sng" dirty="0"/>
          </a:p>
        </p:txBody>
      </p:sp>
      <p:pic>
        <p:nvPicPr>
          <p:cNvPr id="7" name="図 6">
            <a:extLst>
              <a:ext uri="{FF2B5EF4-FFF2-40B4-BE49-F238E27FC236}">
                <a16:creationId xmlns:a16="http://schemas.microsoft.com/office/drawing/2014/main" id="{C80E6D35-C77D-EC6D-A536-32BAC08A1479}"/>
              </a:ext>
            </a:extLst>
          </p:cNvPr>
          <p:cNvPicPr>
            <a:picLocks noChangeAspect="1"/>
          </p:cNvPicPr>
          <p:nvPr/>
        </p:nvPicPr>
        <p:blipFill>
          <a:blip r:embed="rId3"/>
          <a:stretch>
            <a:fillRect/>
          </a:stretch>
        </p:blipFill>
        <p:spPr>
          <a:xfrm>
            <a:off x="5423793" y="1616040"/>
            <a:ext cx="3086617" cy="2650860"/>
          </a:xfrm>
          <a:prstGeom prst="rect">
            <a:avLst/>
          </a:prstGeom>
        </p:spPr>
      </p:pic>
      <p:pic>
        <p:nvPicPr>
          <p:cNvPr id="10" name="図 9">
            <a:extLst>
              <a:ext uri="{FF2B5EF4-FFF2-40B4-BE49-F238E27FC236}">
                <a16:creationId xmlns:a16="http://schemas.microsoft.com/office/drawing/2014/main" id="{22E8A026-BBE6-9274-4D20-85A7EFB6A958}"/>
              </a:ext>
            </a:extLst>
          </p:cNvPr>
          <p:cNvPicPr>
            <a:picLocks noChangeAspect="1"/>
          </p:cNvPicPr>
          <p:nvPr/>
        </p:nvPicPr>
        <p:blipFill>
          <a:blip r:embed="rId4"/>
          <a:stretch>
            <a:fillRect/>
          </a:stretch>
        </p:blipFill>
        <p:spPr>
          <a:xfrm>
            <a:off x="8745467" y="1616040"/>
            <a:ext cx="3094688" cy="2650860"/>
          </a:xfrm>
          <a:prstGeom prst="rect">
            <a:avLst/>
          </a:prstGeom>
        </p:spPr>
      </p:pic>
      <p:sp>
        <p:nvSpPr>
          <p:cNvPr id="11" name="コンテンツ プレースホルダー 24">
            <a:extLst>
              <a:ext uri="{FF2B5EF4-FFF2-40B4-BE49-F238E27FC236}">
                <a16:creationId xmlns:a16="http://schemas.microsoft.com/office/drawing/2014/main" id="{D72FA46F-CB41-128B-B908-69784AD8BB86}"/>
              </a:ext>
            </a:extLst>
          </p:cNvPr>
          <p:cNvSpPr txBox="1">
            <a:spLocks/>
          </p:cNvSpPr>
          <p:nvPr/>
        </p:nvSpPr>
        <p:spPr>
          <a:xfrm>
            <a:off x="586902" y="1616040"/>
            <a:ext cx="4869018" cy="2650860"/>
          </a:xfrm>
          <a:prstGeom prst="rect">
            <a:avLst/>
          </a:prstGeom>
        </p:spPr>
        <p:txBody>
          <a:bodyPr vert="horz" lIns="91440" tIns="45720" rIns="91440" bIns="45720" rtlCol="0">
            <a:noAutofit/>
          </a:bodyPr>
          <a:lstStyle>
            <a:lvl1pPr marL="0" indent="0" algn="l" defTabSz="914400" rtl="0" eaLnBrk="1" latinLnBrk="0" hangingPunct="1">
              <a:lnSpc>
                <a:spcPct val="110000"/>
              </a:lnSpc>
              <a:spcBef>
                <a:spcPts val="1000"/>
              </a:spcBef>
              <a:buFont typeface="Arial" panose="020B0604020202020204" pitchFamily="34" charset="0"/>
              <a:buNone/>
              <a:defRPr kumimoji="1" sz="2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b="1" dirty="0">
                <a:ea typeface="+mj-ea"/>
              </a:rPr>
              <a:t>No BG</a:t>
            </a:r>
            <a:r>
              <a:rPr lang="ja-JP" altLang="en-US" b="1" dirty="0">
                <a:ea typeface="+mj-ea"/>
              </a:rPr>
              <a:t>→</a:t>
            </a:r>
            <a:r>
              <a:rPr lang="en-US" altLang="ja-JP" b="1" dirty="0">
                <a:ea typeface="+mj-ea"/>
              </a:rPr>
              <a:t>White BG: Lightness effect</a:t>
            </a:r>
          </a:p>
          <a:p>
            <a:r>
              <a:rPr lang="en-US" altLang="ja-JP" dirty="0">
                <a:ea typeface="+mj-ea"/>
              </a:rPr>
              <a:t>Shift toward white point (wash out)</a:t>
            </a:r>
          </a:p>
          <a:p>
            <a:endParaRPr lang="en-US" altLang="ja-JP" dirty="0">
              <a:ea typeface="+mj-ea"/>
            </a:endParaRPr>
          </a:p>
          <a:p>
            <a:r>
              <a:rPr lang="en-US" altLang="ja-JP" b="1" dirty="0"/>
              <a:t>Brick</a:t>
            </a:r>
            <a:r>
              <a:rPr lang="ja-JP" altLang="en-US" b="1" dirty="0"/>
              <a:t>→</a:t>
            </a:r>
            <a:r>
              <a:rPr lang="en-US" altLang="ja-JP" b="1" dirty="0"/>
              <a:t>Foliage: Color effect</a:t>
            </a:r>
          </a:p>
          <a:p>
            <a:r>
              <a:rPr lang="en-US" altLang="ja-JP" dirty="0"/>
              <a:t>Linear shift toward different hue</a:t>
            </a:r>
            <a:endParaRPr lang="ja-JP" altLang="en-US" dirty="0"/>
          </a:p>
        </p:txBody>
      </p:sp>
      <p:sp>
        <p:nvSpPr>
          <p:cNvPr id="13" name="コンテンツ プレースホルダー 24">
            <a:extLst>
              <a:ext uri="{FF2B5EF4-FFF2-40B4-BE49-F238E27FC236}">
                <a16:creationId xmlns:a16="http://schemas.microsoft.com/office/drawing/2014/main" id="{5D7C7B7E-3C20-7FBB-3B7B-3B8451BE7BA0}"/>
              </a:ext>
            </a:extLst>
          </p:cNvPr>
          <p:cNvSpPr txBox="1">
            <a:spLocks/>
          </p:cNvSpPr>
          <p:nvPr/>
        </p:nvSpPr>
        <p:spPr>
          <a:xfrm>
            <a:off x="586902" y="4761693"/>
            <a:ext cx="11018196" cy="2427141"/>
          </a:xfrm>
          <a:prstGeom prst="rect">
            <a:avLst/>
          </a:prstGeom>
        </p:spPr>
        <p:txBody>
          <a:bodyPr vert="horz" lIns="91440" tIns="45720" rIns="91440" bIns="45720" rtlCol="0">
            <a:noAutofit/>
          </a:bodyPr>
          <a:lstStyle>
            <a:lvl1pPr marL="0" indent="0" algn="l" defTabSz="914400" rtl="0" eaLnBrk="1" latinLnBrk="0" hangingPunct="1">
              <a:lnSpc>
                <a:spcPct val="110000"/>
              </a:lnSpc>
              <a:spcBef>
                <a:spcPts val="1000"/>
              </a:spcBef>
              <a:buFont typeface="Arial" panose="020B0604020202020204" pitchFamily="34" charset="0"/>
              <a:buNone/>
              <a:defRPr kumimoji="1" sz="2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400" b="1" u="sng" dirty="0"/>
              <a:t>Future Work: </a:t>
            </a:r>
            <a:r>
              <a:rPr lang="en-US" altLang="ja-JP" sz="2550" b="1" u="sng" dirty="0"/>
              <a:t>Application and Refinement of Findings</a:t>
            </a:r>
          </a:p>
          <a:p>
            <a:r>
              <a:rPr lang="en-US" altLang="ja-JP" dirty="0"/>
              <a:t>Additional data analysis, User-based perceptual study, Testbed expansion</a:t>
            </a:r>
          </a:p>
          <a:p>
            <a:r>
              <a:rPr lang="ja-JP" altLang="en-US" dirty="0"/>
              <a:t>→</a:t>
            </a:r>
            <a:r>
              <a:rPr lang="en-US" altLang="ja-JP" dirty="0"/>
              <a:t>Adaptive model construction</a:t>
            </a:r>
          </a:p>
          <a:p>
            <a:endParaRPr lang="ja-JP" altLang="en-US" dirty="0">
              <a:latin typeface="+mj-ea"/>
              <a:ea typeface="+mj-ea"/>
            </a:endParaRPr>
          </a:p>
        </p:txBody>
      </p:sp>
      <p:sp>
        <p:nvSpPr>
          <p:cNvPr id="3" name="フッター プレースホルダー 4">
            <a:extLst>
              <a:ext uri="{FF2B5EF4-FFF2-40B4-BE49-F238E27FC236}">
                <a16:creationId xmlns:a16="http://schemas.microsoft.com/office/drawing/2014/main" id="{278EC284-98F5-E556-CA12-EB40019E05D9}"/>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b="1" dirty="0"/>
              <a:t>J. L. Gabbard et al.  “More than meets the eye: An engineering study to empirically examine the blending of real and virtual color spaces,” 2010</a:t>
            </a:r>
            <a:endParaRPr lang="en-US" sz="1100" b="1" dirty="0"/>
          </a:p>
        </p:txBody>
      </p:sp>
      <p:sp>
        <p:nvSpPr>
          <p:cNvPr id="5" name="フッター プレースホルダー 4">
            <a:extLst>
              <a:ext uri="{FF2B5EF4-FFF2-40B4-BE49-F238E27FC236}">
                <a16:creationId xmlns:a16="http://schemas.microsoft.com/office/drawing/2014/main" id="{B3DB4450-05B7-FE51-67AA-FAC90ED43309}"/>
              </a:ext>
            </a:extLst>
          </p:cNvPr>
          <p:cNvSpPr txBox="1">
            <a:spLocks/>
          </p:cNvSpPr>
          <p:nvPr/>
        </p:nvSpPr>
        <p:spPr>
          <a:xfrm>
            <a:off x="5115991" y="4357249"/>
            <a:ext cx="3577777" cy="351040"/>
          </a:xfrm>
          <a:prstGeom prst="rect">
            <a:avLst/>
          </a:prstGeom>
        </p:spPr>
        <p:txBody>
          <a:bodyPr anchor="b"/>
          <a:lstStyle>
            <a:defPPr>
              <a:defRPr lang="ja-JP"/>
            </a:defPPr>
            <a:lvl1pPr marL="0" algn="l" defTabSz="914400" rtl="0" eaLnBrk="1" latinLnBrk="0" hangingPunct="1">
              <a:defRPr kumimoji="1" sz="11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sz="1200" dirty="0"/>
              <a:t>Chromatic changes between the no-background condition and the white background </a:t>
            </a:r>
          </a:p>
        </p:txBody>
      </p:sp>
      <p:sp>
        <p:nvSpPr>
          <p:cNvPr id="6" name="フッター プレースホルダー 4">
            <a:extLst>
              <a:ext uri="{FF2B5EF4-FFF2-40B4-BE49-F238E27FC236}">
                <a16:creationId xmlns:a16="http://schemas.microsoft.com/office/drawing/2014/main" id="{6656023F-6CEC-C1FA-EB10-794550E6C302}"/>
              </a:ext>
            </a:extLst>
          </p:cNvPr>
          <p:cNvSpPr txBox="1">
            <a:spLocks/>
          </p:cNvSpPr>
          <p:nvPr/>
        </p:nvSpPr>
        <p:spPr>
          <a:xfrm>
            <a:off x="8510410" y="4357249"/>
            <a:ext cx="3577777" cy="351040"/>
          </a:xfrm>
          <a:prstGeom prst="rect">
            <a:avLst/>
          </a:prstGeom>
        </p:spPr>
        <p:txBody>
          <a:bodyPr anchor="b"/>
          <a:lstStyle>
            <a:defPPr>
              <a:defRPr lang="ja-JP"/>
            </a:defPPr>
            <a:lvl1pPr marL="0" algn="l" defTabSz="914400" rtl="0" eaLnBrk="1" latinLnBrk="0" hangingPunct="1">
              <a:defRPr kumimoji="1" sz="11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sz="1200" dirty="0"/>
              <a:t>Chromatic changes between the brick background and the foliage background</a:t>
            </a:r>
          </a:p>
        </p:txBody>
      </p:sp>
    </p:spTree>
    <p:extLst>
      <p:ext uri="{BB962C8B-B14F-4D97-AF65-F5344CB8AC3E}">
        <p14:creationId xmlns:p14="http://schemas.microsoft.com/office/powerpoint/2010/main" val="2769020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8B0C1-EDCC-5D92-C327-16C9DF217A4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28AC20-0C67-F6F1-1FEB-C1CA710800BB}"/>
              </a:ext>
            </a:extLst>
          </p:cNvPr>
          <p:cNvSpPr>
            <a:spLocks noGrp="1"/>
          </p:cNvSpPr>
          <p:nvPr>
            <p:ph type="title"/>
          </p:nvPr>
        </p:nvSpPr>
        <p:spPr/>
        <p:txBody>
          <a:bodyPr/>
          <a:lstStyle/>
          <a:p>
            <a:r>
              <a:rPr lang="en-US" altLang="ja-JP" b="1" dirty="0">
                <a:solidFill>
                  <a:schemeClr val="accent1"/>
                </a:solidFill>
                <a:latin typeface="+mn-lt"/>
              </a:rPr>
              <a:t>Paper3-2: Objective and Method </a:t>
            </a:r>
            <a:endParaRPr kumimoji="1" lang="ja-JP" altLang="en-US" sz="3600"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4D7E531D-3B75-9F6E-14BD-71A4F01C7022}"/>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19</a:t>
            </a:fld>
            <a:endParaRPr lang="en-US"/>
          </a:p>
        </p:txBody>
      </p:sp>
      <p:sp>
        <p:nvSpPr>
          <p:cNvPr id="3" name="コンテンツ プレースホルダー 24">
            <a:extLst>
              <a:ext uri="{FF2B5EF4-FFF2-40B4-BE49-F238E27FC236}">
                <a16:creationId xmlns:a16="http://schemas.microsoft.com/office/drawing/2014/main" id="{EC49E6C4-880D-9756-D658-0025B00B7D95}"/>
              </a:ext>
            </a:extLst>
          </p:cNvPr>
          <p:cNvSpPr>
            <a:spLocks noGrp="1"/>
          </p:cNvSpPr>
          <p:nvPr>
            <p:ph idx="1"/>
          </p:nvPr>
        </p:nvSpPr>
        <p:spPr>
          <a:xfrm>
            <a:off x="568633" y="994596"/>
            <a:ext cx="11623367" cy="1737030"/>
          </a:xfrm>
        </p:spPr>
        <p:txBody>
          <a:bodyPr>
            <a:noAutofit/>
          </a:bodyPr>
          <a:lstStyle/>
          <a:p>
            <a:r>
              <a:rPr lang="en-US" altLang="ja-JP" sz="2550" b="1" u="sng" dirty="0"/>
              <a:t>Objective: </a:t>
            </a:r>
          </a:p>
          <a:p>
            <a:r>
              <a:rPr lang="en-US" altLang="ja-JP" sz="2550" b="1" u="sng" dirty="0"/>
              <a:t>Investigation of Robust Colors for OST-HUDs in Driving Environment</a:t>
            </a:r>
          </a:p>
          <a:p>
            <a:r>
              <a:rPr lang="en-US" altLang="ja-JP" dirty="0"/>
              <a:t>Robustness: (1) low performance variability  (2) retained color semantics</a:t>
            </a:r>
            <a:endParaRPr lang="ja-JP" altLang="en-US" sz="2550" u="sng" dirty="0"/>
          </a:p>
        </p:txBody>
      </p:sp>
      <p:sp>
        <p:nvSpPr>
          <p:cNvPr id="5" name="コンテンツ プレースホルダー 24">
            <a:extLst>
              <a:ext uri="{FF2B5EF4-FFF2-40B4-BE49-F238E27FC236}">
                <a16:creationId xmlns:a16="http://schemas.microsoft.com/office/drawing/2014/main" id="{1A894CB1-BD24-EC29-DE4A-4E2F1C7E0DEA}"/>
              </a:ext>
            </a:extLst>
          </p:cNvPr>
          <p:cNvSpPr txBox="1">
            <a:spLocks/>
          </p:cNvSpPr>
          <p:nvPr/>
        </p:nvSpPr>
        <p:spPr>
          <a:xfrm>
            <a:off x="577768" y="2731625"/>
            <a:ext cx="11036465" cy="3703458"/>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Font typeface="Arial" panose="020B0604020202020204" pitchFamily="34" charset="0"/>
              <a:buNone/>
              <a:defRPr kumimoji="1" sz="2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550" b="1" u="sng" dirty="0"/>
              <a:t>Method: 1. Visual Search Tasks </a:t>
            </a:r>
            <a:r>
              <a:rPr lang="ja-JP" altLang="en-US" sz="2550" b="1" u="sng" dirty="0"/>
              <a:t>→ </a:t>
            </a:r>
            <a:r>
              <a:rPr lang="en-US" altLang="ja-JP" sz="2550" b="1" u="sng" dirty="0"/>
              <a:t>2. Color Recognition Tasks </a:t>
            </a:r>
          </a:p>
          <a:p>
            <a:r>
              <a:rPr lang="en-US" altLang="ja-JP" dirty="0"/>
              <a:t>Visual Search: Text and symbol search </a:t>
            </a:r>
          </a:p>
          <a:p>
            <a:r>
              <a:rPr lang="en-US" altLang="ja-JP" dirty="0"/>
              <a:t>Color Recognition: Color matching and naming</a:t>
            </a:r>
          </a:p>
          <a:p>
            <a:endParaRPr lang="en-US" altLang="ja-JP" dirty="0"/>
          </a:p>
          <a:p>
            <a:r>
              <a:rPr lang="en-US" altLang="ja-JP" dirty="0"/>
              <a:t>Location: Outdoor (500-2000 lux)</a:t>
            </a:r>
          </a:p>
          <a:p>
            <a:r>
              <a:rPr lang="en-US" altLang="ja-JP" dirty="0"/>
              <a:t>Background: 3 types (Grass, Brick, Pavement)</a:t>
            </a:r>
          </a:p>
          <a:p>
            <a:r>
              <a:rPr lang="en-US" altLang="ja-JP" dirty="0"/>
              <a:t>UI color: 8 types</a:t>
            </a:r>
          </a:p>
          <a:p>
            <a:endParaRPr lang="en-US" altLang="ja-JP" dirty="0"/>
          </a:p>
          <a:p>
            <a:endParaRPr lang="en-US" altLang="ja-JP" dirty="0"/>
          </a:p>
          <a:p>
            <a:endParaRPr lang="en-US" altLang="ja-JP" sz="2400" dirty="0"/>
          </a:p>
          <a:p>
            <a:endParaRPr lang="ja-JP" altLang="en-US" b="1" u="sng" dirty="0"/>
          </a:p>
        </p:txBody>
      </p:sp>
      <p:pic>
        <p:nvPicPr>
          <p:cNvPr id="9" name="図 8">
            <a:extLst>
              <a:ext uri="{FF2B5EF4-FFF2-40B4-BE49-F238E27FC236}">
                <a16:creationId xmlns:a16="http://schemas.microsoft.com/office/drawing/2014/main" id="{1E3708FD-3552-1B02-ACBE-81814AAE5201}"/>
              </a:ext>
            </a:extLst>
          </p:cNvPr>
          <p:cNvPicPr>
            <a:picLocks noChangeAspect="1"/>
          </p:cNvPicPr>
          <p:nvPr/>
        </p:nvPicPr>
        <p:blipFill>
          <a:blip r:embed="rId3"/>
          <a:stretch>
            <a:fillRect/>
          </a:stretch>
        </p:blipFill>
        <p:spPr>
          <a:xfrm>
            <a:off x="6715683" y="4999539"/>
            <a:ext cx="4288532" cy="1098590"/>
          </a:xfrm>
          <a:prstGeom prst="rect">
            <a:avLst/>
          </a:prstGeom>
        </p:spPr>
      </p:pic>
      <p:pic>
        <p:nvPicPr>
          <p:cNvPr id="11" name="図 10">
            <a:extLst>
              <a:ext uri="{FF2B5EF4-FFF2-40B4-BE49-F238E27FC236}">
                <a16:creationId xmlns:a16="http://schemas.microsoft.com/office/drawing/2014/main" id="{611468E7-EC91-0C13-DDD9-B965E5F6F9C1}"/>
              </a:ext>
            </a:extLst>
          </p:cNvPr>
          <p:cNvPicPr>
            <a:picLocks noChangeAspect="1"/>
          </p:cNvPicPr>
          <p:nvPr/>
        </p:nvPicPr>
        <p:blipFill>
          <a:blip r:embed="rId4"/>
          <a:srcRect l="13268" r="16387"/>
          <a:stretch>
            <a:fillRect/>
          </a:stretch>
        </p:blipFill>
        <p:spPr>
          <a:xfrm>
            <a:off x="6736949" y="3387895"/>
            <a:ext cx="1861918" cy="1195459"/>
          </a:xfrm>
          <a:prstGeom prst="rect">
            <a:avLst/>
          </a:prstGeom>
        </p:spPr>
      </p:pic>
      <p:pic>
        <p:nvPicPr>
          <p:cNvPr id="13" name="図 12">
            <a:extLst>
              <a:ext uri="{FF2B5EF4-FFF2-40B4-BE49-F238E27FC236}">
                <a16:creationId xmlns:a16="http://schemas.microsoft.com/office/drawing/2014/main" id="{853BBA96-BCD9-CE26-D891-358F1B9A4B44}"/>
              </a:ext>
            </a:extLst>
          </p:cNvPr>
          <p:cNvPicPr>
            <a:picLocks noChangeAspect="1"/>
          </p:cNvPicPr>
          <p:nvPr/>
        </p:nvPicPr>
        <p:blipFill>
          <a:blip r:embed="rId5"/>
          <a:stretch>
            <a:fillRect/>
          </a:stretch>
        </p:blipFill>
        <p:spPr>
          <a:xfrm>
            <a:off x="8598866" y="3387896"/>
            <a:ext cx="3015366" cy="1195458"/>
          </a:xfrm>
          <a:prstGeom prst="rect">
            <a:avLst/>
          </a:prstGeom>
        </p:spPr>
      </p:pic>
      <p:sp>
        <p:nvSpPr>
          <p:cNvPr id="6" name="フッター プレースホルダー 4">
            <a:extLst>
              <a:ext uri="{FF2B5EF4-FFF2-40B4-BE49-F238E27FC236}">
                <a16:creationId xmlns:a16="http://schemas.microsoft.com/office/drawing/2014/main" id="{80CC72A9-D82B-57FB-DF02-D302A7B5D3F3}"/>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b="1" dirty="0"/>
              <a:t>C. Merenda, M. Smith, J. Gabbard, G. Burnett, and D. Large, “Effects of real-world backgrounds on user interface color naming and matching in automotive </a:t>
            </a:r>
            <a:r>
              <a:rPr lang="en-US" b="1" dirty="0" err="1"/>
              <a:t>ar</a:t>
            </a:r>
            <a:r>
              <a:rPr lang="en-US" b="1" dirty="0"/>
              <a:t> </a:t>
            </a:r>
            <a:r>
              <a:rPr lang="en-US" b="1" dirty="0" err="1"/>
              <a:t>huds</a:t>
            </a:r>
            <a:r>
              <a:rPr lang="en-US" b="1" dirty="0"/>
              <a:t>,”  2016</a:t>
            </a:r>
            <a:endParaRPr lang="en-US" sz="1100" b="1" dirty="0"/>
          </a:p>
        </p:txBody>
      </p:sp>
      <p:sp>
        <p:nvSpPr>
          <p:cNvPr id="7" name="フッター プレースホルダー 4">
            <a:extLst>
              <a:ext uri="{FF2B5EF4-FFF2-40B4-BE49-F238E27FC236}">
                <a16:creationId xmlns:a16="http://schemas.microsoft.com/office/drawing/2014/main" id="{2CE2D63A-7374-B6F1-7842-0A349EF20D91}"/>
              </a:ext>
            </a:extLst>
          </p:cNvPr>
          <p:cNvSpPr txBox="1">
            <a:spLocks/>
          </p:cNvSpPr>
          <p:nvPr/>
        </p:nvSpPr>
        <p:spPr>
          <a:xfrm>
            <a:off x="7517445" y="4460249"/>
            <a:ext cx="3577777" cy="351040"/>
          </a:xfrm>
          <a:prstGeom prst="rect">
            <a:avLst/>
          </a:prstGeom>
        </p:spPr>
        <p:txBody>
          <a:bodyPr anchor="b"/>
          <a:lstStyle>
            <a:defPPr>
              <a:defRPr lang="ja-JP"/>
            </a:defPPr>
            <a:lvl1pPr marL="0" algn="l" defTabSz="914400" rtl="0" eaLnBrk="1" latinLnBrk="0" hangingPunct="1">
              <a:defRPr kumimoji="1" sz="11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sz="1200" dirty="0"/>
              <a:t>Example of  symbols and texts for visual search</a:t>
            </a:r>
          </a:p>
        </p:txBody>
      </p:sp>
      <p:sp>
        <p:nvSpPr>
          <p:cNvPr id="8" name="フッター プレースホルダー 4">
            <a:extLst>
              <a:ext uri="{FF2B5EF4-FFF2-40B4-BE49-F238E27FC236}">
                <a16:creationId xmlns:a16="http://schemas.microsoft.com/office/drawing/2014/main" id="{C3366C67-9A92-3FB7-1EB4-13B307CD3EE0}"/>
              </a:ext>
            </a:extLst>
          </p:cNvPr>
          <p:cNvSpPr txBox="1">
            <a:spLocks/>
          </p:cNvSpPr>
          <p:nvPr/>
        </p:nvSpPr>
        <p:spPr>
          <a:xfrm>
            <a:off x="7071060" y="5998080"/>
            <a:ext cx="3577777" cy="351040"/>
          </a:xfrm>
          <a:prstGeom prst="rect">
            <a:avLst/>
          </a:prstGeom>
        </p:spPr>
        <p:txBody>
          <a:bodyPr anchor="b"/>
          <a:lstStyle>
            <a:defPPr>
              <a:defRPr lang="ja-JP"/>
            </a:defPPr>
            <a:lvl1pPr marL="0" algn="l" defTabSz="914400" rtl="0" eaLnBrk="1" latinLnBrk="0" hangingPunct="1">
              <a:defRPr kumimoji="1" sz="11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sz="1200" dirty="0"/>
              <a:t>Backgrounds</a:t>
            </a:r>
          </a:p>
        </p:txBody>
      </p:sp>
    </p:spTree>
    <p:extLst>
      <p:ext uri="{BB962C8B-B14F-4D97-AF65-F5344CB8AC3E}">
        <p14:creationId xmlns:p14="http://schemas.microsoft.com/office/powerpoint/2010/main" val="15714730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B2727-A319-C4D7-4ADD-3DFF10CE9A7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2A3E20F-CB8A-9786-2A2C-93854F30550F}"/>
              </a:ext>
            </a:extLst>
          </p:cNvPr>
          <p:cNvSpPr>
            <a:spLocks noGrp="1"/>
          </p:cNvSpPr>
          <p:nvPr>
            <p:ph type="title"/>
          </p:nvPr>
        </p:nvSpPr>
        <p:spPr/>
        <p:txBody>
          <a:bodyPr/>
          <a:lstStyle/>
          <a:p>
            <a:r>
              <a:rPr lang="en-US" altLang="ja-JP" b="1" dirty="0">
                <a:solidFill>
                  <a:schemeClr val="accent1"/>
                </a:solidFill>
                <a:latin typeface="+mn-lt"/>
              </a:rPr>
              <a:t>Paper3-2: Results and Discussion</a:t>
            </a:r>
            <a:endParaRPr kumimoji="1" lang="ja-JP" altLang="en-US" sz="3600"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7629A982-D4EE-7EFF-3DCC-601474610377}"/>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20</a:t>
            </a:fld>
            <a:endParaRPr lang="en-US"/>
          </a:p>
        </p:txBody>
      </p:sp>
      <p:sp>
        <p:nvSpPr>
          <p:cNvPr id="3" name="コンテンツ プレースホルダー 24">
            <a:extLst>
              <a:ext uri="{FF2B5EF4-FFF2-40B4-BE49-F238E27FC236}">
                <a16:creationId xmlns:a16="http://schemas.microsoft.com/office/drawing/2014/main" id="{884DADC7-BD97-9885-8D2F-5EC72B2B2821}"/>
              </a:ext>
            </a:extLst>
          </p:cNvPr>
          <p:cNvSpPr>
            <a:spLocks noGrp="1"/>
          </p:cNvSpPr>
          <p:nvPr>
            <p:ph idx="1"/>
          </p:nvPr>
        </p:nvSpPr>
        <p:spPr>
          <a:xfrm>
            <a:off x="568634" y="994595"/>
            <a:ext cx="10872000" cy="3569297"/>
          </a:xfrm>
        </p:spPr>
        <p:txBody>
          <a:bodyPr>
            <a:noAutofit/>
          </a:bodyPr>
          <a:lstStyle/>
          <a:p>
            <a:r>
              <a:rPr lang="en-US" altLang="ja-JP" sz="2550" b="1" u="sng" dirty="0"/>
              <a:t>Results: Blue, Green, and Yellow are the Most Robust Colors</a:t>
            </a:r>
          </a:p>
          <a:p>
            <a:r>
              <a:rPr lang="en-US" altLang="ja-JP" b="1" dirty="0"/>
              <a:t>Color matching</a:t>
            </a:r>
          </a:p>
          <a:p>
            <a:pPr marL="342900" indent="-342900">
              <a:buFont typeface="Arial" panose="020B0604020202020204" pitchFamily="34" charset="0"/>
              <a:buChar char="•"/>
            </a:pPr>
            <a:r>
              <a:rPr lang="en-US" altLang="ja-JP" dirty="0"/>
              <a:t>All color </a:t>
            </a:r>
            <a:r>
              <a:rPr lang="ja-JP" altLang="en-US" dirty="0"/>
              <a:t>→</a:t>
            </a:r>
            <a:r>
              <a:rPr lang="en-US" altLang="ja-JP" dirty="0"/>
              <a:t> Brighter shift</a:t>
            </a:r>
          </a:p>
          <a:p>
            <a:pPr marL="342900" indent="-342900">
              <a:buFont typeface="Arial" panose="020B0604020202020204" pitchFamily="34" charset="0"/>
              <a:buChar char="•"/>
            </a:pPr>
            <a:r>
              <a:rPr lang="en-US" altLang="ja-JP" dirty="0"/>
              <a:t>Blue, Green, Yellow </a:t>
            </a:r>
            <a:r>
              <a:rPr lang="ja-JP" altLang="en-US" dirty="0"/>
              <a:t>→ </a:t>
            </a:r>
            <a:r>
              <a:rPr lang="en-US" altLang="ja-JP" dirty="0"/>
              <a:t>Very little hue shift</a:t>
            </a:r>
          </a:p>
          <a:p>
            <a:r>
              <a:rPr lang="en-US" altLang="ja-JP" b="1" dirty="0"/>
              <a:t>Color naming</a:t>
            </a:r>
          </a:p>
          <a:p>
            <a:pPr marL="342900" indent="-342900">
              <a:buFont typeface="Arial" panose="020B0604020202020204" pitchFamily="34" charset="0"/>
              <a:buChar char="•"/>
            </a:pPr>
            <a:r>
              <a:rPr lang="en-US" altLang="ja-JP" dirty="0"/>
              <a:t>Blue, Green, Yellow </a:t>
            </a:r>
            <a:r>
              <a:rPr lang="ja-JP" altLang="en-US" dirty="0"/>
              <a:t>→ </a:t>
            </a:r>
            <a:r>
              <a:rPr lang="en-US" altLang="ja-JP" dirty="0"/>
              <a:t>High accuracy</a:t>
            </a:r>
          </a:p>
          <a:p>
            <a:pPr marL="342900" indent="-342900">
              <a:buFont typeface="Arial" panose="020B0604020202020204" pitchFamily="34" charset="0"/>
              <a:buChar char="•"/>
            </a:pPr>
            <a:r>
              <a:rPr lang="en-US" altLang="ja-JP" dirty="0"/>
              <a:t>Brown </a:t>
            </a:r>
            <a:r>
              <a:rPr lang="ja-JP" altLang="en-US" dirty="0"/>
              <a:t>→ </a:t>
            </a:r>
            <a:r>
              <a:rPr lang="en-US" altLang="ja-JP" dirty="0"/>
              <a:t>Poorly performed</a:t>
            </a:r>
            <a:endParaRPr lang="en-US" altLang="ja-JP" b="1" u="sng" dirty="0"/>
          </a:p>
        </p:txBody>
      </p:sp>
      <p:pic>
        <p:nvPicPr>
          <p:cNvPr id="10" name="図 9">
            <a:extLst>
              <a:ext uri="{FF2B5EF4-FFF2-40B4-BE49-F238E27FC236}">
                <a16:creationId xmlns:a16="http://schemas.microsoft.com/office/drawing/2014/main" id="{3685B93E-D3D4-9F0D-5529-67E90711215B}"/>
              </a:ext>
            </a:extLst>
          </p:cNvPr>
          <p:cNvPicPr>
            <a:picLocks noChangeAspect="1"/>
          </p:cNvPicPr>
          <p:nvPr/>
        </p:nvPicPr>
        <p:blipFill>
          <a:blip r:embed="rId3"/>
          <a:stretch>
            <a:fillRect/>
          </a:stretch>
        </p:blipFill>
        <p:spPr>
          <a:xfrm>
            <a:off x="6821567" y="1775588"/>
            <a:ext cx="4297534" cy="2565020"/>
          </a:xfrm>
          <a:prstGeom prst="rect">
            <a:avLst/>
          </a:prstGeom>
        </p:spPr>
      </p:pic>
      <p:sp>
        <p:nvSpPr>
          <p:cNvPr id="12" name="コンテンツ プレースホルダー 24">
            <a:extLst>
              <a:ext uri="{FF2B5EF4-FFF2-40B4-BE49-F238E27FC236}">
                <a16:creationId xmlns:a16="http://schemas.microsoft.com/office/drawing/2014/main" id="{7D73BAAC-573B-5A8B-180E-226A78DA6E04}"/>
              </a:ext>
            </a:extLst>
          </p:cNvPr>
          <p:cNvSpPr txBox="1">
            <a:spLocks/>
          </p:cNvSpPr>
          <p:nvPr/>
        </p:nvSpPr>
        <p:spPr>
          <a:xfrm>
            <a:off x="564099" y="4698052"/>
            <a:ext cx="10872000" cy="2300245"/>
          </a:xfrm>
          <a:prstGeom prst="rect">
            <a:avLst/>
          </a:prstGeom>
        </p:spPr>
        <p:txBody>
          <a:bodyPr vert="horz" lIns="91440" tIns="45720" rIns="91440" bIns="45720" rtlCol="0">
            <a:noAutofit/>
          </a:bodyPr>
          <a:lstStyle>
            <a:lvl1pPr marL="0" indent="0" algn="l" defTabSz="914400" rtl="0" eaLnBrk="1" latinLnBrk="0" hangingPunct="1">
              <a:lnSpc>
                <a:spcPct val="110000"/>
              </a:lnSpc>
              <a:spcBef>
                <a:spcPts val="1000"/>
              </a:spcBef>
              <a:buFont typeface="Arial" panose="020B0604020202020204" pitchFamily="34" charset="0"/>
              <a:buNone/>
              <a:defRPr kumimoji="1" sz="2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550" b="1" u="sng" dirty="0"/>
              <a:t>Discussion: Color Robustness Depends on Chromaticity Consistency</a:t>
            </a:r>
          </a:p>
          <a:p>
            <a:r>
              <a:rPr lang="en-US" altLang="ja-JP" b="1" dirty="0"/>
              <a:t>Luminance dispersion:</a:t>
            </a:r>
            <a:r>
              <a:rPr lang="en-US" altLang="ja-JP" dirty="0"/>
              <a:t> Little to no effect on user recognition</a:t>
            </a:r>
          </a:p>
          <a:p>
            <a:r>
              <a:rPr lang="en-US" altLang="ja-JP" b="1" dirty="0"/>
              <a:t>Chromaticity dispersion:</a:t>
            </a:r>
            <a:r>
              <a:rPr lang="en-US" altLang="ja-JP" dirty="0"/>
              <a:t> Strong negative correlation with naming accuracy </a:t>
            </a:r>
          </a:p>
        </p:txBody>
      </p:sp>
      <p:sp>
        <p:nvSpPr>
          <p:cNvPr id="5" name="フッター プレースホルダー 4">
            <a:extLst>
              <a:ext uri="{FF2B5EF4-FFF2-40B4-BE49-F238E27FC236}">
                <a16:creationId xmlns:a16="http://schemas.microsoft.com/office/drawing/2014/main" id="{C2532CE2-20E1-D6A5-78C5-BE1AD3E85391}"/>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b="1" dirty="0"/>
              <a:t>C. Merenda, M. Smith, J. Gabbard, G. Burnett, and D. Large, “Effects of real-world backgrounds on user interface color naming and matching in automotive </a:t>
            </a:r>
            <a:r>
              <a:rPr lang="en-US" b="1" dirty="0" err="1"/>
              <a:t>ar</a:t>
            </a:r>
            <a:r>
              <a:rPr lang="en-US" b="1" dirty="0"/>
              <a:t> </a:t>
            </a:r>
            <a:r>
              <a:rPr lang="en-US" b="1" dirty="0" err="1"/>
              <a:t>huds</a:t>
            </a:r>
            <a:r>
              <a:rPr lang="en-US" b="1" dirty="0"/>
              <a:t>,”  2016</a:t>
            </a:r>
            <a:endParaRPr lang="en-US" sz="1100" b="1" dirty="0"/>
          </a:p>
        </p:txBody>
      </p:sp>
      <p:sp>
        <p:nvSpPr>
          <p:cNvPr id="6" name="フッター プレースホルダー 4">
            <a:extLst>
              <a:ext uri="{FF2B5EF4-FFF2-40B4-BE49-F238E27FC236}">
                <a16:creationId xmlns:a16="http://schemas.microsoft.com/office/drawing/2014/main" id="{E91A48BA-1B18-4414-3BAD-E5DC832233DF}"/>
              </a:ext>
            </a:extLst>
          </p:cNvPr>
          <p:cNvSpPr txBox="1">
            <a:spLocks/>
          </p:cNvSpPr>
          <p:nvPr/>
        </p:nvSpPr>
        <p:spPr>
          <a:xfrm>
            <a:off x="7181445" y="4232168"/>
            <a:ext cx="3577777" cy="351040"/>
          </a:xfrm>
          <a:prstGeom prst="rect">
            <a:avLst/>
          </a:prstGeom>
        </p:spPr>
        <p:txBody>
          <a:bodyPr anchor="b"/>
          <a:lstStyle>
            <a:defPPr>
              <a:defRPr lang="ja-JP"/>
            </a:defPPr>
            <a:lvl1pPr marL="0" algn="l" defTabSz="914400" rtl="0" eaLnBrk="1" latinLnBrk="0" hangingPunct="1">
              <a:defRPr kumimoji="1" sz="11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sz="1200" dirty="0"/>
              <a:t>Naming accuracy of each color</a:t>
            </a:r>
          </a:p>
        </p:txBody>
      </p:sp>
    </p:spTree>
    <p:extLst>
      <p:ext uri="{BB962C8B-B14F-4D97-AF65-F5344CB8AC3E}">
        <p14:creationId xmlns:p14="http://schemas.microsoft.com/office/powerpoint/2010/main" val="5519199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636D1-C1C6-E314-7F8B-3E22AD3308B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CDB2A10-C989-6D3D-3648-E5B8FD4EBE81}"/>
              </a:ext>
            </a:extLst>
          </p:cNvPr>
          <p:cNvSpPr>
            <a:spLocks noGrp="1"/>
          </p:cNvSpPr>
          <p:nvPr>
            <p:ph type="title"/>
          </p:nvPr>
        </p:nvSpPr>
        <p:spPr/>
        <p:txBody>
          <a:bodyPr/>
          <a:lstStyle/>
          <a:p>
            <a:r>
              <a:rPr lang="en-US" altLang="ja-JP" b="1" dirty="0">
                <a:solidFill>
                  <a:schemeClr val="accent1"/>
                </a:solidFill>
                <a:latin typeface="+mn-lt"/>
              </a:rPr>
              <a:t>Paper 3-3: Objective and Method </a:t>
            </a:r>
            <a:endParaRPr kumimoji="1" lang="ja-JP" altLang="en-US" sz="3600"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EE7BE643-57F9-ED29-996F-C241CB68FF50}"/>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21</a:t>
            </a:fld>
            <a:endParaRPr lang="en-US"/>
          </a:p>
        </p:txBody>
      </p:sp>
      <p:sp>
        <p:nvSpPr>
          <p:cNvPr id="25" name="コンテンツ プレースホルダー 24">
            <a:extLst>
              <a:ext uri="{FF2B5EF4-FFF2-40B4-BE49-F238E27FC236}">
                <a16:creationId xmlns:a16="http://schemas.microsoft.com/office/drawing/2014/main" id="{8F1EEE25-FAE1-B8B7-22F5-FAB6FA03F61C}"/>
              </a:ext>
            </a:extLst>
          </p:cNvPr>
          <p:cNvSpPr>
            <a:spLocks noGrp="1"/>
          </p:cNvSpPr>
          <p:nvPr>
            <p:ph idx="1"/>
          </p:nvPr>
        </p:nvSpPr>
        <p:spPr>
          <a:xfrm>
            <a:off x="568633" y="994595"/>
            <a:ext cx="11036465" cy="1142549"/>
          </a:xfrm>
        </p:spPr>
        <p:txBody>
          <a:bodyPr>
            <a:normAutofit/>
          </a:bodyPr>
          <a:lstStyle/>
          <a:p>
            <a:r>
              <a:rPr lang="en-US" altLang="ja-JP" sz="2550" b="1" u="sng" dirty="0"/>
              <a:t>Objective: </a:t>
            </a:r>
          </a:p>
          <a:p>
            <a:r>
              <a:rPr lang="en-US" altLang="ja-JP" sz="2550" b="1" u="sng" dirty="0"/>
              <a:t>Proposal of a Real-time Rendering Scheme to Enhance Color Contrast</a:t>
            </a:r>
            <a:endParaRPr lang="ja-JP" altLang="en-US" sz="2550" b="1" u="sng" dirty="0"/>
          </a:p>
        </p:txBody>
      </p:sp>
      <p:sp>
        <p:nvSpPr>
          <p:cNvPr id="3" name="コンテンツ プレースホルダー 24">
            <a:extLst>
              <a:ext uri="{FF2B5EF4-FFF2-40B4-BE49-F238E27FC236}">
                <a16:creationId xmlns:a16="http://schemas.microsoft.com/office/drawing/2014/main" id="{5772AFB5-9ECA-C735-9A30-309735C7D049}"/>
              </a:ext>
            </a:extLst>
          </p:cNvPr>
          <p:cNvSpPr txBox="1">
            <a:spLocks/>
          </p:cNvSpPr>
          <p:nvPr/>
        </p:nvSpPr>
        <p:spPr>
          <a:xfrm>
            <a:off x="568632" y="2611546"/>
            <a:ext cx="11036465" cy="4873775"/>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Font typeface="Arial" panose="020B0604020202020204" pitchFamily="34" charset="0"/>
              <a:buNone/>
              <a:defRPr kumimoji="1" sz="2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550" b="1" u="sng" dirty="0"/>
              <a:t>Method: </a:t>
            </a:r>
          </a:p>
          <a:p>
            <a:r>
              <a:rPr lang="en-US" altLang="ja-JP" sz="2550" b="1" u="sng" dirty="0"/>
              <a:t>Enhancement of Color Difference Using the Complementary Color</a:t>
            </a:r>
          </a:p>
          <a:p>
            <a:r>
              <a:rPr lang="en-US" altLang="ja-JP" b="1" dirty="0"/>
              <a:t>Color difference</a:t>
            </a:r>
            <a:r>
              <a:rPr lang="en-US" altLang="ja-JP" dirty="0"/>
              <a:t>: Defined in CIE L*a*b space</a:t>
            </a:r>
          </a:p>
          <a:p>
            <a:endParaRPr lang="en-US" altLang="ja-JP" dirty="0"/>
          </a:p>
          <a:p>
            <a:endParaRPr lang="en-US" altLang="ja-JP" dirty="0"/>
          </a:p>
          <a:p>
            <a:r>
              <a:rPr lang="en-US" altLang="ja-JP" b="1" dirty="0"/>
              <a:t>Considering color semantics</a:t>
            </a:r>
          </a:p>
          <a:p>
            <a:r>
              <a:rPr lang="en-US" altLang="ja-JP" dirty="0"/>
              <a:t>4 constraints: Color Difference,  Chroma, Luminance, Just Noticeable Difference (JND) </a:t>
            </a:r>
            <a:endParaRPr lang="ja-JP" altLang="en-US"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7A99BECE-F417-79DE-A3CA-8C9269865DEF}"/>
                  </a:ext>
                </a:extLst>
              </p:cNvPr>
              <p:cNvSpPr txBox="1"/>
              <p:nvPr/>
            </p:nvSpPr>
            <p:spPr>
              <a:xfrm>
                <a:off x="2590585" y="4316779"/>
                <a:ext cx="7010830" cy="9659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ja-JP" sz="2200" b="1" i="0" smtClean="0">
                          <a:latin typeface="Cambria Math" panose="02040503050406030204" pitchFamily="18" charset="0"/>
                        </a:rPr>
                        <m:t>𝚫</m:t>
                      </m:r>
                      <m:sSubSup>
                        <m:sSubSupPr>
                          <m:ctrlPr>
                            <a:rPr lang="en-US" altLang="ja-JP" sz="2200" b="1" i="1">
                              <a:latin typeface="Cambria Math" panose="02040503050406030204" pitchFamily="18" charset="0"/>
                            </a:rPr>
                          </m:ctrlPr>
                        </m:sSubSupPr>
                        <m:e>
                          <m:r>
                            <a:rPr lang="en-US" altLang="ja-JP" sz="2200" b="1" i="1">
                              <a:latin typeface="Cambria Math" panose="02040503050406030204" pitchFamily="18" charset="0"/>
                            </a:rPr>
                            <m:t>𝑬</m:t>
                          </m:r>
                        </m:e>
                        <m:sub>
                          <m:r>
                            <a:rPr lang="en-US" altLang="ja-JP" sz="2200" b="1" i="1">
                              <a:latin typeface="Cambria Math" panose="02040503050406030204" pitchFamily="18" charset="0"/>
                            </a:rPr>
                            <m:t>𝒂𝒃</m:t>
                          </m:r>
                        </m:sub>
                        <m:sup>
                          <m:r>
                            <a:rPr lang="en-US" altLang="ja-JP" sz="2200" b="1" i="1">
                              <a:latin typeface="Cambria Math" panose="02040503050406030204" pitchFamily="18" charset="0"/>
                            </a:rPr>
                            <m:t>∗</m:t>
                          </m:r>
                        </m:sup>
                      </m:sSubSup>
                      <m:d>
                        <m:dPr>
                          <m:ctrlPr>
                            <a:rPr lang="en-US" altLang="ja-JP" sz="2200" b="1" i="1">
                              <a:latin typeface="Cambria Math" panose="02040503050406030204" pitchFamily="18" charset="0"/>
                            </a:rPr>
                          </m:ctrlPr>
                        </m:dPr>
                        <m:e>
                          <m:r>
                            <a:rPr lang="en-US" altLang="ja-JP" sz="2200" b="1" i="1">
                              <a:latin typeface="Cambria Math" panose="02040503050406030204" pitchFamily="18" charset="0"/>
                            </a:rPr>
                            <m:t>𝒙</m:t>
                          </m:r>
                          <m:r>
                            <a:rPr lang="en-US" altLang="ja-JP" sz="2200" b="1" i="1">
                              <a:latin typeface="Cambria Math" panose="02040503050406030204" pitchFamily="18" charset="0"/>
                            </a:rPr>
                            <m:t>,</m:t>
                          </m:r>
                          <m:r>
                            <a:rPr lang="en-US" altLang="ja-JP" sz="2200" b="1" i="1">
                              <a:latin typeface="Cambria Math" panose="02040503050406030204" pitchFamily="18" charset="0"/>
                            </a:rPr>
                            <m:t>𝒚</m:t>
                          </m:r>
                        </m:e>
                      </m:d>
                      <m:r>
                        <a:rPr lang="en-US" altLang="ja-JP" sz="2200" b="1" i="1">
                          <a:latin typeface="Cambria Math" panose="02040503050406030204" pitchFamily="18" charset="0"/>
                        </a:rPr>
                        <m:t>=</m:t>
                      </m:r>
                      <m:rad>
                        <m:radPr>
                          <m:degHide m:val="on"/>
                          <m:ctrlPr>
                            <a:rPr lang="en-US" altLang="ja-JP" sz="2200" b="1" i="1">
                              <a:latin typeface="Cambria Math" panose="02040503050406030204" pitchFamily="18" charset="0"/>
                            </a:rPr>
                          </m:ctrlPr>
                        </m:radPr>
                        <m:deg/>
                        <m:e>
                          <m:sSup>
                            <m:sSupPr>
                              <m:ctrlPr>
                                <a:rPr lang="en-US" altLang="ja-JP" sz="2200" b="1" i="1">
                                  <a:latin typeface="Cambria Math" panose="02040503050406030204" pitchFamily="18" charset="0"/>
                                </a:rPr>
                              </m:ctrlPr>
                            </m:sSupPr>
                            <m:e>
                              <m:d>
                                <m:dPr>
                                  <m:ctrlPr>
                                    <a:rPr lang="en-US" altLang="ja-JP" sz="2200" b="1" i="1">
                                      <a:latin typeface="Cambria Math" panose="02040503050406030204" pitchFamily="18" charset="0"/>
                                    </a:rPr>
                                  </m:ctrlPr>
                                </m:dPr>
                                <m:e>
                                  <m:sSubSup>
                                    <m:sSubSupPr>
                                      <m:ctrlPr>
                                        <a:rPr lang="en-US" altLang="ja-JP" sz="2200" b="1" i="1">
                                          <a:latin typeface="Cambria Math" panose="02040503050406030204" pitchFamily="18" charset="0"/>
                                        </a:rPr>
                                      </m:ctrlPr>
                                    </m:sSubSupPr>
                                    <m:e>
                                      <m:r>
                                        <a:rPr lang="en-US" altLang="ja-JP" sz="2200" b="1" i="1">
                                          <a:latin typeface="Cambria Math" panose="02040503050406030204" pitchFamily="18" charset="0"/>
                                        </a:rPr>
                                        <m:t>𝑳</m:t>
                                      </m:r>
                                    </m:e>
                                    <m:sub>
                                      <m:r>
                                        <a:rPr lang="en-US" altLang="ja-JP" sz="2200" b="1" i="1">
                                          <a:latin typeface="Cambria Math" panose="02040503050406030204" pitchFamily="18" charset="0"/>
                                        </a:rPr>
                                        <m:t>𝒙</m:t>
                                      </m:r>
                                    </m:sub>
                                    <m:sup>
                                      <m:r>
                                        <a:rPr lang="en-US" altLang="ja-JP" sz="2200" b="1" i="1">
                                          <a:latin typeface="Cambria Math" panose="02040503050406030204" pitchFamily="18" charset="0"/>
                                        </a:rPr>
                                        <m:t>∗</m:t>
                                      </m:r>
                                    </m:sup>
                                  </m:sSubSup>
                                  <m:r>
                                    <a:rPr lang="en-US" altLang="ja-JP" sz="2200" b="1" i="1">
                                      <a:latin typeface="Cambria Math" panose="02040503050406030204" pitchFamily="18" charset="0"/>
                                    </a:rPr>
                                    <m:t>−</m:t>
                                  </m:r>
                                  <m:sSubSup>
                                    <m:sSubSupPr>
                                      <m:ctrlPr>
                                        <a:rPr lang="en-US" altLang="ja-JP" sz="2200" b="1" i="1">
                                          <a:latin typeface="Cambria Math" panose="02040503050406030204" pitchFamily="18" charset="0"/>
                                        </a:rPr>
                                      </m:ctrlPr>
                                    </m:sSubSupPr>
                                    <m:e>
                                      <m:r>
                                        <a:rPr lang="en-US" altLang="ja-JP" sz="2200" b="1" i="1">
                                          <a:latin typeface="Cambria Math" panose="02040503050406030204" pitchFamily="18" charset="0"/>
                                        </a:rPr>
                                        <m:t>𝑳</m:t>
                                      </m:r>
                                    </m:e>
                                    <m:sub>
                                      <m:r>
                                        <a:rPr lang="en-US" altLang="ja-JP" sz="2200" b="1" i="1">
                                          <a:latin typeface="Cambria Math" panose="02040503050406030204" pitchFamily="18" charset="0"/>
                                        </a:rPr>
                                        <m:t>𝒚</m:t>
                                      </m:r>
                                    </m:sub>
                                    <m:sup>
                                      <m:r>
                                        <a:rPr lang="en-US" altLang="ja-JP" sz="2200" b="1" i="1">
                                          <a:latin typeface="Cambria Math" panose="02040503050406030204" pitchFamily="18" charset="0"/>
                                        </a:rPr>
                                        <m:t>∗</m:t>
                                      </m:r>
                                    </m:sup>
                                  </m:sSubSup>
                                </m:e>
                              </m:d>
                            </m:e>
                            <m:sup>
                              <m:r>
                                <a:rPr lang="en-US" altLang="ja-JP" sz="2200" b="1" i="1">
                                  <a:latin typeface="Cambria Math" panose="02040503050406030204" pitchFamily="18" charset="0"/>
                                </a:rPr>
                                <m:t>𝟐</m:t>
                              </m:r>
                            </m:sup>
                          </m:sSup>
                          <m:r>
                            <a:rPr lang="en-US" altLang="ja-JP" sz="2200" b="1" i="1">
                              <a:latin typeface="Cambria Math" panose="02040503050406030204" pitchFamily="18" charset="0"/>
                            </a:rPr>
                            <m:t>+</m:t>
                          </m:r>
                          <m:sSup>
                            <m:sSupPr>
                              <m:ctrlPr>
                                <a:rPr lang="en-US" altLang="ja-JP" sz="2200" b="1" i="1">
                                  <a:latin typeface="Cambria Math" panose="02040503050406030204" pitchFamily="18" charset="0"/>
                                </a:rPr>
                              </m:ctrlPr>
                            </m:sSupPr>
                            <m:e>
                              <m:d>
                                <m:dPr>
                                  <m:ctrlPr>
                                    <a:rPr lang="en-US" altLang="ja-JP" sz="2200" b="1" i="1">
                                      <a:latin typeface="Cambria Math" panose="02040503050406030204" pitchFamily="18" charset="0"/>
                                    </a:rPr>
                                  </m:ctrlPr>
                                </m:dPr>
                                <m:e>
                                  <m:sSubSup>
                                    <m:sSubSupPr>
                                      <m:ctrlPr>
                                        <a:rPr lang="en-US" altLang="ja-JP" sz="2200" b="1" i="1">
                                          <a:latin typeface="Cambria Math" panose="02040503050406030204" pitchFamily="18" charset="0"/>
                                        </a:rPr>
                                      </m:ctrlPr>
                                    </m:sSubSupPr>
                                    <m:e>
                                      <m:r>
                                        <a:rPr lang="en-US" altLang="ja-JP" sz="2200" b="1" i="1">
                                          <a:latin typeface="Cambria Math" panose="02040503050406030204" pitchFamily="18" charset="0"/>
                                        </a:rPr>
                                        <m:t>𝒂</m:t>
                                      </m:r>
                                    </m:e>
                                    <m:sub>
                                      <m:r>
                                        <a:rPr lang="en-US" altLang="ja-JP" sz="2200" b="1" i="1">
                                          <a:latin typeface="Cambria Math" panose="02040503050406030204" pitchFamily="18" charset="0"/>
                                        </a:rPr>
                                        <m:t>𝒙</m:t>
                                      </m:r>
                                    </m:sub>
                                    <m:sup>
                                      <m:r>
                                        <a:rPr lang="en-US" altLang="ja-JP" sz="2200" b="1" i="1">
                                          <a:latin typeface="Cambria Math" panose="02040503050406030204" pitchFamily="18" charset="0"/>
                                        </a:rPr>
                                        <m:t>∗</m:t>
                                      </m:r>
                                    </m:sup>
                                  </m:sSubSup>
                                  <m:r>
                                    <a:rPr lang="en-US" altLang="ja-JP" sz="2200" b="1" i="1">
                                      <a:latin typeface="Cambria Math" panose="02040503050406030204" pitchFamily="18" charset="0"/>
                                    </a:rPr>
                                    <m:t>−</m:t>
                                  </m:r>
                                  <m:sSubSup>
                                    <m:sSubSupPr>
                                      <m:ctrlPr>
                                        <a:rPr lang="en-US" altLang="ja-JP" sz="2200" b="1" i="1">
                                          <a:latin typeface="Cambria Math" panose="02040503050406030204" pitchFamily="18" charset="0"/>
                                        </a:rPr>
                                      </m:ctrlPr>
                                    </m:sSubSupPr>
                                    <m:e>
                                      <m:r>
                                        <a:rPr lang="en-US" altLang="ja-JP" sz="2200" b="1" i="1">
                                          <a:latin typeface="Cambria Math" panose="02040503050406030204" pitchFamily="18" charset="0"/>
                                        </a:rPr>
                                        <m:t>𝒂</m:t>
                                      </m:r>
                                    </m:e>
                                    <m:sub>
                                      <m:r>
                                        <a:rPr lang="en-US" altLang="ja-JP" sz="2200" b="1" i="1">
                                          <a:latin typeface="Cambria Math" panose="02040503050406030204" pitchFamily="18" charset="0"/>
                                        </a:rPr>
                                        <m:t>𝒚</m:t>
                                      </m:r>
                                    </m:sub>
                                    <m:sup>
                                      <m:r>
                                        <a:rPr lang="en-US" altLang="ja-JP" sz="2200" b="1" i="1">
                                          <a:latin typeface="Cambria Math" panose="02040503050406030204" pitchFamily="18" charset="0"/>
                                        </a:rPr>
                                        <m:t>∗</m:t>
                                      </m:r>
                                    </m:sup>
                                  </m:sSubSup>
                                </m:e>
                              </m:d>
                            </m:e>
                            <m:sup>
                              <m:r>
                                <a:rPr lang="en-US" altLang="ja-JP" sz="2200" b="1" i="1">
                                  <a:latin typeface="Cambria Math" panose="02040503050406030204" pitchFamily="18" charset="0"/>
                                </a:rPr>
                                <m:t>𝟐</m:t>
                              </m:r>
                            </m:sup>
                          </m:sSup>
                          <m:r>
                            <a:rPr lang="en-US" altLang="ja-JP" sz="2200" b="1" i="1">
                              <a:latin typeface="Cambria Math" panose="02040503050406030204" pitchFamily="18" charset="0"/>
                            </a:rPr>
                            <m:t>+</m:t>
                          </m:r>
                          <m:sSup>
                            <m:sSupPr>
                              <m:ctrlPr>
                                <a:rPr lang="en-US" altLang="ja-JP" sz="2200" b="1" i="1">
                                  <a:latin typeface="Cambria Math" panose="02040503050406030204" pitchFamily="18" charset="0"/>
                                </a:rPr>
                              </m:ctrlPr>
                            </m:sSupPr>
                            <m:e>
                              <m:d>
                                <m:dPr>
                                  <m:ctrlPr>
                                    <a:rPr lang="en-US" altLang="ja-JP" sz="2200" b="1" i="1">
                                      <a:latin typeface="Cambria Math" panose="02040503050406030204" pitchFamily="18" charset="0"/>
                                    </a:rPr>
                                  </m:ctrlPr>
                                </m:dPr>
                                <m:e>
                                  <m:sSubSup>
                                    <m:sSubSupPr>
                                      <m:ctrlPr>
                                        <a:rPr lang="en-US" altLang="ja-JP" sz="2200" b="1" i="1">
                                          <a:latin typeface="Cambria Math" panose="02040503050406030204" pitchFamily="18" charset="0"/>
                                        </a:rPr>
                                      </m:ctrlPr>
                                    </m:sSubSupPr>
                                    <m:e>
                                      <m:r>
                                        <a:rPr lang="en-US" altLang="ja-JP" sz="2200" b="1" i="1">
                                          <a:latin typeface="Cambria Math" panose="02040503050406030204" pitchFamily="18" charset="0"/>
                                        </a:rPr>
                                        <m:t>𝒃</m:t>
                                      </m:r>
                                    </m:e>
                                    <m:sub>
                                      <m:r>
                                        <a:rPr lang="en-US" altLang="ja-JP" sz="2200" b="1" i="1">
                                          <a:latin typeface="Cambria Math" panose="02040503050406030204" pitchFamily="18" charset="0"/>
                                        </a:rPr>
                                        <m:t>𝒙</m:t>
                                      </m:r>
                                    </m:sub>
                                    <m:sup>
                                      <m:r>
                                        <a:rPr lang="en-US" altLang="ja-JP" sz="2200" b="1" i="1">
                                          <a:latin typeface="Cambria Math" panose="02040503050406030204" pitchFamily="18" charset="0"/>
                                        </a:rPr>
                                        <m:t>∗</m:t>
                                      </m:r>
                                    </m:sup>
                                  </m:sSubSup>
                                  <m:r>
                                    <a:rPr lang="en-US" altLang="ja-JP" sz="2200" b="1" i="1">
                                      <a:latin typeface="Cambria Math" panose="02040503050406030204" pitchFamily="18" charset="0"/>
                                    </a:rPr>
                                    <m:t>−</m:t>
                                  </m:r>
                                  <m:sSubSup>
                                    <m:sSubSupPr>
                                      <m:ctrlPr>
                                        <a:rPr lang="en-US" altLang="ja-JP" sz="2200" b="1" i="1">
                                          <a:latin typeface="Cambria Math" panose="02040503050406030204" pitchFamily="18" charset="0"/>
                                        </a:rPr>
                                      </m:ctrlPr>
                                    </m:sSubSupPr>
                                    <m:e>
                                      <m:r>
                                        <a:rPr lang="en-US" altLang="ja-JP" sz="2200" b="1" i="1">
                                          <a:latin typeface="Cambria Math" panose="02040503050406030204" pitchFamily="18" charset="0"/>
                                        </a:rPr>
                                        <m:t>𝒃</m:t>
                                      </m:r>
                                    </m:e>
                                    <m:sub>
                                      <m:r>
                                        <a:rPr lang="en-US" altLang="ja-JP" sz="2200" b="1" i="1">
                                          <a:latin typeface="Cambria Math" panose="02040503050406030204" pitchFamily="18" charset="0"/>
                                        </a:rPr>
                                        <m:t>𝒚</m:t>
                                      </m:r>
                                    </m:sub>
                                    <m:sup>
                                      <m:r>
                                        <a:rPr lang="en-US" altLang="ja-JP" sz="2200" b="1" i="1">
                                          <a:latin typeface="Cambria Math" panose="02040503050406030204" pitchFamily="18" charset="0"/>
                                        </a:rPr>
                                        <m:t>∗</m:t>
                                      </m:r>
                                    </m:sup>
                                  </m:sSubSup>
                                </m:e>
                              </m:d>
                            </m:e>
                            <m:sup>
                              <m:r>
                                <a:rPr lang="en-US" altLang="ja-JP" sz="2200" b="1" i="1">
                                  <a:latin typeface="Cambria Math" panose="02040503050406030204" pitchFamily="18" charset="0"/>
                                </a:rPr>
                                <m:t>𝟐</m:t>
                              </m:r>
                            </m:sup>
                          </m:sSup>
                        </m:e>
                      </m:rad>
                    </m:oMath>
                  </m:oMathPara>
                </a14:m>
                <a:endParaRPr lang="en-US" altLang="ja-JP" sz="2200" b="1" dirty="0"/>
              </a:p>
              <a:p>
                <a:endParaRPr kumimoji="1" lang="ja-JP" altLang="en-US" b="1" dirty="0"/>
              </a:p>
            </p:txBody>
          </p:sp>
        </mc:Choice>
        <mc:Fallback xmlns="">
          <p:sp>
            <p:nvSpPr>
              <p:cNvPr id="6" name="テキスト ボックス 5">
                <a:extLst>
                  <a:ext uri="{FF2B5EF4-FFF2-40B4-BE49-F238E27FC236}">
                    <a16:creationId xmlns:a16="http://schemas.microsoft.com/office/drawing/2014/main" id="{7A99BECE-F417-79DE-A3CA-8C9269865DEF}"/>
                  </a:ext>
                </a:extLst>
              </p:cNvPr>
              <p:cNvSpPr txBox="1">
                <a:spLocks noRot="1" noChangeAspect="1" noMove="1" noResize="1" noEditPoints="1" noAdjustHandles="1" noChangeArrowheads="1" noChangeShapeType="1" noTextEdit="1"/>
              </p:cNvSpPr>
              <p:nvPr/>
            </p:nvSpPr>
            <p:spPr>
              <a:xfrm>
                <a:off x="2590585" y="4316779"/>
                <a:ext cx="7010830" cy="965970"/>
              </a:xfrm>
              <a:prstGeom prst="rect">
                <a:avLst/>
              </a:prstGeom>
              <a:blipFill>
                <a:blip r:embed="rId3"/>
                <a:stretch>
                  <a:fillRect/>
                </a:stretch>
              </a:blipFill>
            </p:spPr>
            <p:txBody>
              <a:bodyPr/>
              <a:lstStyle/>
              <a:p>
                <a:r>
                  <a:rPr lang="ja-JP" altLang="en-US">
                    <a:noFill/>
                  </a:rPr>
                  <a:t> </a:t>
                </a:r>
              </a:p>
            </p:txBody>
          </p:sp>
        </mc:Fallback>
      </mc:AlternateContent>
      <p:sp>
        <p:nvSpPr>
          <p:cNvPr id="5" name="フッター プレースホルダー 4">
            <a:extLst>
              <a:ext uri="{FF2B5EF4-FFF2-40B4-BE49-F238E27FC236}">
                <a16:creationId xmlns:a16="http://schemas.microsoft.com/office/drawing/2014/main" id="{0994C955-7F58-58E5-90EC-A673807C10BD}"/>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b="1" dirty="0"/>
              <a:t>Y. Zhang, R. Wang, Y. Peng, W. Hua, and H. Bao, “ Color Contrast Enhanced Rendering for Optical See Through Head-Mounted Displays ,” 2022</a:t>
            </a:r>
            <a:endParaRPr lang="en-US" sz="1100" b="1" dirty="0"/>
          </a:p>
        </p:txBody>
      </p:sp>
    </p:spTree>
    <p:extLst>
      <p:ext uri="{BB962C8B-B14F-4D97-AF65-F5344CB8AC3E}">
        <p14:creationId xmlns:p14="http://schemas.microsoft.com/office/powerpoint/2010/main" val="31497580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4FE76-27CB-14F8-2064-FECA7C22BF8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77F0572-0C9F-4168-FFA2-CB2E7EE3693C}"/>
              </a:ext>
            </a:extLst>
          </p:cNvPr>
          <p:cNvSpPr>
            <a:spLocks noGrp="1"/>
          </p:cNvSpPr>
          <p:nvPr>
            <p:ph type="title"/>
          </p:nvPr>
        </p:nvSpPr>
        <p:spPr/>
        <p:txBody>
          <a:bodyPr/>
          <a:lstStyle/>
          <a:p>
            <a:r>
              <a:rPr lang="en-US" altLang="ja-JP" b="1" dirty="0">
                <a:solidFill>
                  <a:schemeClr val="accent1"/>
                </a:solidFill>
                <a:latin typeface="+mn-lt"/>
              </a:rPr>
              <a:t>Paper 3-3: Algorithm</a:t>
            </a:r>
            <a:endParaRPr kumimoji="1" lang="ja-JP" altLang="en-US" sz="3600"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19EB6023-8D8F-21B7-8667-DC90D75A0BF7}"/>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22</a:t>
            </a:fld>
            <a:endParaRPr lang="en-US"/>
          </a:p>
        </p:txBody>
      </p:sp>
      <p:sp>
        <p:nvSpPr>
          <p:cNvPr id="25" name="コンテンツ プレースホルダー 24">
            <a:extLst>
              <a:ext uri="{FF2B5EF4-FFF2-40B4-BE49-F238E27FC236}">
                <a16:creationId xmlns:a16="http://schemas.microsoft.com/office/drawing/2014/main" id="{F3B5A374-46CB-BB2F-4766-4C0AA8BD2115}"/>
              </a:ext>
            </a:extLst>
          </p:cNvPr>
          <p:cNvSpPr>
            <a:spLocks noGrp="1"/>
          </p:cNvSpPr>
          <p:nvPr>
            <p:ph idx="1"/>
          </p:nvPr>
        </p:nvSpPr>
        <p:spPr>
          <a:xfrm>
            <a:off x="568633" y="994595"/>
            <a:ext cx="11036465" cy="597453"/>
          </a:xfrm>
        </p:spPr>
        <p:txBody>
          <a:bodyPr/>
          <a:lstStyle/>
          <a:p>
            <a:r>
              <a:rPr lang="en-US" altLang="ja-JP" b="1" dirty="0"/>
              <a:t>Preprocessing (blur, </a:t>
            </a:r>
            <a:r>
              <a:rPr lang="en-US" altLang="ja-JP" b="1" dirty="0" err="1"/>
              <a:t>FoV</a:t>
            </a:r>
            <a:r>
              <a:rPr lang="en-US" altLang="ja-JP" b="1" dirty="0"/>
              <a:t> Calibration)</a:t>
            </a:r>
            <a:r>
              <a:rPr lang="ja-JP" altLang="en-US" b="1" dirty="0"/>
              <a:t>→</a:t>
            </a:r>
            <a:r>
              <a:rPr lang="en-US" altLang="ja-JP" b="1" dirty="0"/>
              <a:t>Conversion(RGB</a:t>
            </a:r>
            <a:r>
              <a:rPr lang="ja-JP" altLang="en-US" b="1" dirty="0"/>
              <a:t> </a:t>
            </a:r>
            <a:r>
              <a:rPr lang="en-US" altLang="ja-JP" b="1" dirty="0"/>
              <a:t>to</a:t>
            </a:r>
            <a:r>
              <a:rPr lang="ja-JP" altLang="en-US" b="1" dirty="0"/>
              <a:t> </a:t>
            </a:r>
            <a:r>
              <a:rPr lang="en-US" altLang="ja-JP" b="1" dirty="0"/>
              <a:t>LAB)</a:t>
            </a:r>
            <a:r>
              <a:rPr lang="ja-JP" altLang="en-US" b="1" dirty="0"/>
              <a:t>→</a:t>
            </a:r>
            <a:r>
              <a:rPr lang="en-US" altLang="ja-JP" b="1" dirty="0"/>
              <a:t>Optimization</a:t>
            </a:r>
            <a:endParaRPr lang="ja-JP" altLang="en-US" b="1" dirty="0"/>
          </a:p>
        </p:txBody>
      </p:sp>
      <p:pic>
        <p:nvPicPr>
          <p:cNvPr id="5" name="図 4">
            <a:extLst>
              <a:ext uri="{FF2B5EF4-FFF2-40B4-BE49-F238E27FC236}">
                <a16:creationId xmlns:a16="http://schemas.microsoft.com/office/drawing/2014/main" id="{233BFCAE-02E8-135F-62B0-391B74026DEC}"/>
              </a:ext>
            </a:extLst>
          </p:cNvPr>
          <p:cNvPicPr>
            <a:picLocks noChangeAspect="1"/>
          </p:cNvPicPr>
          <p:nvPr/>
        </p:nvPicPr>
        <p:blipFill>
          <a:blip r:embed="rId3"/>
          <a:stretch>
            <a:fillRect/>
          </a:stretch>
        </p:blipFill>
        <p:spPr>
          <a:xfrm>
            <a:off x="1221363" y="1455602"/>
            <a:ext cx="9749274" cy="2077588"/>
          </a:xfrm>
          <a:prstGeom prst="rect">
            <a:avLst/>
          </a:prstGeom>
        </p:spPr>
      </p:pic>
      <p:pic>
        <p:nvPicPr>
          <p:cNvPr id="7" name="図 6">
            <a:extLst>
              <a:ext uri="{FF2B5EF4-FFF2-40B4-BE49-F238E27FC236}">
                <a16:creationId xmlns:a16="http://schemas.microsoft.com/office/drawing/2014/main" id="{4DBA1EAC-CF5B-E60C-485E-3DC245DF1771}"/>
              </a:ext>
            </a:extLst>
          </p:cNvPr>
          <p:cNvPicPr>
            <a:picLocks noChangeAspect="1"/>
          </p:cNvPicPr>
          <p:nvPr/>
        </p:nvPicPr>
        <p:blipFill>
          <a:blip r:embed="rId4"/>
          <a:stretch>
            <a:fillRect/>
          </a:stretch>
        </p:blipFill>
        <p:spPr>
          <a:xfrm>
            <a:off x="1221363" y="4359781"/>
            <a:ext cx="9749274" cy="2075302"/>
          </a:xfrm>
          <a:prstGeom prst="rect">
            <a:avLst/>
          </a:prstGeom>
        </p:spPr>
      </p:pic>
      <p:sp>
        <p:nvSpPr>
          <p:cNvPr id="8" name="コンテンツ プレースホルダー 24">
            <a:extLst>
              <a:ext uri="{FF2B5EF4-FFF2-40B4-BE49-F238E27FC236}">
                <a16:creationId xmlns:a16="http://schemas.microsoft.com/office/drawing/2014/main" id="{7DBD05F3-4313-9E78-D284-0242D6CC582D}"/>
              </a:ext>
            </a:extLst>
          </p:cNvPr>
          <p:cNvSpPr txBox="1">
            <a:spLocks/>
          </p:cNvSpPr>
          <p:nvPr/>
        </p:nvSpPr>
        <p:spPr>
          <a:xfrm>
            <a:off x="577768" y="3533190"/>
            <a:ext cx="11036465" cy="597453"/>
          </a:xfrm>
          <a:prstGeom prst="rect">
            <a:avLst/>
          </a:prstGeom>
        </p:spPr>
        <p:txBody>
          <a:bodyPr vert="horz" lIns="91440" tIns="45720" rIns="91440" bIns="45720" rtlCol="0">
            <a:noAutofit/>
          </a:bodyPr>
          <a:lstStyle>
            <a:lvl1pPr marL="0" indent="0" algn="l" defTabSz="914400" rtl="0" eaLnBrk="1" latinLnBrk="0" hangingPunct="1">
              <a:lnSpc>
                <a:spcPct val="110000"/>
              </a:lnSpc>
              <a:spcBef>
                <a:spcPts val="1000"/>
              </a:spcBef>
              <a:buFont typeface="Arial" panose="020B0604020202020204" pitchFamily="34" charset="0"/>
              <a:buNone/>
              <a:defRPr kumimoji="1" sz="2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b="1" dirty="0"/>
              <a:t>Optimization with constraints : </a:t>
            </a:r>
            <a:br>
              <a:rPr lang="en-US" altLang="ja-JP" b="1" dirty="0"/>
            </a:br>
            <a:r>
              <a:rPr lang="en-US" altLang="ja-JP" b="1" dirty="0"/>
              <a:t>(a)Color Difference (b)Chroma (c)Luminance (d)JND</a:t>
            </a:r>
            <a:endParaRPr lang="ja-JP" altLang="en-US" b="1" dirty="0"/>
          </a:p>
        </p:txBody>
      </p:sp>
      <p:sp>
        <p:nvSpPr>
          <p:cNvPr id="3" name="フッター プレースホルダー 4">
            <a:extLst>
              <a:ext uri="{FF2B5EF4-FFF2-40B4-BE49-F238E27FC236}">
                <a16:creationId xmlns:a16="http://schemas.microsoft.com/office/drawing/2014/main" id="{1F0E348C-FACF-FE2F-1FB6-866E241D769B}"/>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b="1" dirty="0"/>
              <a:t>Y. Zhang, R. Wang, Y. Peng, W. Hua, and H. Bao, “ Color Contrast Enhanced Rendering for Optical See</a:t>
            </a:r>
            <a:r>
              <a:rPr lang="ja-JP" altLang="en-US" b="1" dirty="0"/>
              <a:t> </a:t>
            </a:r>
            <a:r>
              <a:rPr lang="en-US" b="1" dirty="0"/>
              <a:t>Through Head-Mounted Displays ,” 2022</a:t>
            </a:r>
            <a:endParaRPr lang="en-US" sz="1100" b="1" dirty="0"/>
          </a:p>
        </p:txBody>
      </p:sp>
      <p:sp>
        <p:nvSpPr>
          <p:cNvPr id="6" name="フッター プレースホルダー 4">
            <a:extLst>
              <a:ext uri="{FF2B5EF4-FFF2-40B4-BE49-F238E27FC236}">
                <a16:creationId xmlns:a16="http://schemas.microsoft.com/office/drawing/2014/main" id="{D7F5C5C7-ED81-FE2D-6140-20810145AA62}"/>
              </a:ext>
            </a:extLst>
          </p:cNvPr>
          <p:cNvSpPr txBox="1">
            <a:spLocks/>
          </p:cNvSpPr>
          <p:nvPr/>
        </p:nvSpPr>
        <p:spPr>
          <a:xfrm>
            <a:off x="8465300" y="3461313"/>
            <a:ext cx="3577777" cy="351040"/>
          </a:xfrm>
          <a:prstGeom prst="rect">
            <a:avLst/>
          </a:prstGeom>
        </p:spPr>
        <p:txBody>
          <a:bodyPr anchor="b"/>
          <a:lstStyle>
            <a:defPPr>
              <a:defRPr lang="ja-JP"/>
            </a:defPPr>
            <a:lvl1pPr marL="0" algn="l" defTabSz="914400" rtl="0" eaLnBrk="1" latinLnBrk="0" hangingPunct="1">
              <a:defRPr kumimoji="1" sz="11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sz="1200" dirty="0"/>
              <a:t>Algorithm Overview </a:t>
            </a:r>
          </a:p>
        </p:txBody>
      </p:sp>
      <p:sp>
        <p:nvSpPr>
          <p:cNvPr id="9" name="フッター プレースホルダー 4">
            <a:extLst>
              <a:ext uri="{FF2B5EF4-FFF2-40B4-BE49-F238E27FC236}">
                <a16:creationId xmlns:a16="http://schemas.microsoft.com/office/drawing/2014/main" id="{539035AE-A424-022F-FB97-F83D5C9BAA3A}"/>
              </a:ext>
            </a:extLst>
          </p:cNvPr>
          <p:cNvSpPr txBox="1">
            <a:spLocks/>
          </p:cNvSpPr>
          <p:nvPr/>
        </p:nvSpPr>
        <p:spPr>
          <a:xfrm>
            <a:off x="5255492" y="6313181"/>
            <a:ext cx="5924632" cy="351040"/>
          </a:xfrm>
          <a:prstGeom prst="rect">
            <a:avLst/>
          </a:prstGeom>
        </p:spPr>
        <p:txBody>
          <a:bodyPr anchor="b"/>
          <a:lstStyle>
            <a:defPPr>
              <a:defRPr lang="ja-JP"/>
            </a:defPPr>
            <a:lvl1pPr marL="0" algn="l" defTabSz="914400" rtl="0" eaLnBrk="1" latinLnBrk="0" hangingPunct="1">
              <a:defRPr kumimoji="1" sz="11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sz="1200" dirty="0"/>
              <a:t> Algorithm on the 2D plane formed by two of the three axes of the LAB color space</a:t>
            </a:r>
          </a:p>
        </p:txBody>
      </p:sp>
    </p:spTree>
    <p:extLst>
      <p:ext uri="{BB962C8B-B14F-4D97-AF65-F5344CB8AC3E}">
        <p14:creationId xmlns:p14="http://schemas.microsoft.com/office/powerpoint/2010/main" val="26083086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FD635-47D6-2050-9DFC-F5B6C5BC3E9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FEA77C8-4B64-710D-9DEB-D09A72B88EC7}"/>
              </a:ext>
            </a:extLst>
          </p:cNvPr>
          <p:cNvSpPr>
            <a:spLocks noGrp="1"/>
          </p:cNvSpPr>
          <p:nvPr>
            <p:ph type="title"/>
          </p:nvPr>
        </p:nvSpPr>
        <p:spPr/>
        <p:txBody>
          <a:bodyPr/>
          <a:lstStyle/>
          <a:p>
            <a:r>
              <a:rPr lang="en-US" altLang="ja-JP" b="1" dirty="0">
                <a:solidFill>
                  <a:schemeClr val="accent1"/>
                </a:solidFill>
                <a:latin typeface="+mn-lt"/>
              </a:rPr>
              <a:t>Paper 3-3: Evaluation</a:t>
            </a:r>
            <a:endParaRPr kumimoji="1" lang="ja-JP" altLang="en-US" sz="3600"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8D89BE81-BBFE-3146-CB5A-8978411951BA}"/>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23</a:t>
            </a:fld>
            <a:endParaRPr lang="en-US"/>
          </a:p>
        </p:txBody>
      </p:sp>
      <p:sp>
        <p:nvSpPr>
          <p:cNvPr id="25" name="コンテンツ プレースホルダー 24">
            <a:extLst>
              <a:ext uri="{FF2B5EF4-FFF2-40B4-BE49-F238E27FC236}">
                <a16:creationId xmlns:a16="http://schemas.microsoft.com/office/drawing/2014/main" id="{F17A5696-16E7-1F4C-07AE-D4F9CEBB17AD}"/>
              </a:ext>
            </a:extLst>
          </p:cNvPr>
          <p:cNvSpPr>
            <a:spLocks noGrp="1"/>
          </p:cNvSpPr>
          <p:nvPr>
            <p:ph idx="1"/>
          </p:nvPr>
        </p:nvSpPr>
        <p:spPr>
          <a:xfrm>
            <a:off x="568633" y="994595"/>
            <a:ext cx="11036465" cy="597453"/>
          </a:xfrm>
        </p:spPr>
        <p:txBody>
          <a:bodyPr>
            <a:normAutofit/>
          </a:bodyPr>
          <a:lstStyle/>
          <a:p>
            <a:r>
              <a:rPr lang="en-US" altLang="ja-JP" sz="2550" b="1" u="sng" dirty="0"/>
              <a:t>One Objective Evaluation and Three Subjective User Studies</a:t>
            </a:r>
            <a:endParaRPr lang="ja-JP" altLang="en-US" sz="2550" b="1" u="sng" dirty="0"/>
          </a:p>
        </p:txBody>
      </p:sp>
      <p:graphicFrame>
        <p:nvGraphicFramePr>
          <p:cNvPr id="3" name="表 2">
            <a:extLst>
              <a:ext uri="{FF2B5EF4-FFF2-40B4-BE49-F238E27FC236}">
                <a16:creationId xmlns:a16="http://schemas.microsoft.com/office/drawing/2014/main" id="{6BA806DC-683A-132E-4162-C7349F074CF7}"/>
              </a:ext>
            </a:extLst>
          </p:cNvPr>
          <p:cNvGraphicFramePr>
            <a:graphicFrameLocks noGrp="1"/>
          </p:cNvGraphicFramePr>
          <p:nvPr>
            <p:extLst>
              <p:ext uri="{D42A27DB-BD31-4B8C-83A1-F6EECF244321}">
                <p14:modId xmlns:p14="http://schemas.microsoft.com/office/powerpoint/2010/main" val="35148039"/>
              </p:ext>
            </p:extLst>
          </p:nvPr>
        </p:nvGraphicFramePr>
        <p:xfrm>
          <a:off x="586901" y="1592047"/>
          <a:ext cx="11036466" cy="4843036"/>
        </p:xfrm>
        <a:graphic>
          <a:graphicData uri="http://schemas.openxmlformats.org/drawingml/2006/table">
            <a:tbl>
              <a:tblPr firstRow="1" bandRow="1">
                <a:tableStyleId>{5940675A-B579-460E-94D1-54222C63F5DA}</a:tableStyleId>
              </a:tblPr>
              <a:tblGrid>
                <a:gridCol w="5518233">
                  <a:extLst>
                    <a:ext uri="{9D8B030D-6E8A-4147-A177-3AD203B41FA5}">
                      <a16:colId xmlns:a16="http://schemas.microsoft.com/office/drawing/2014/main" val="2919214897"/>
                    </a:ext>
                  </a:extLst>
                </a:gridCol>
                <a:gridCol w="5518233">
                  <a:extLst>
                    <a:ext uri="{9D8B030D-6E8A-4147-A177-3AD203B41FA5}">
                      <a16:colId xmlns:a16="http://schemas.microsoft.com/office/drawing/2014/main" val="434395855"/>
                    </a:ext>
                  </a:extLst>
                </a:gridCol>
              </a:tblGrid>
              <a:tr h="2421518">
                <a:tc>
                  <a:txBody>
                    <a:bodyPr/>
                    <a:lstStyle/>
                    <a:p>
                      <a:r>
                        <a:rPr lang="en-US" altLang="ja-JP" sz="2200" dirty="0"/>
                        <a:t>Objective Evaluation in Simulation</a:t>
                      </a:r>
                    </a:p>
                    <a:p>
                      <a:endParaRPr kumimoji="1" lang="en-US" altLang="ja-JP" sz="2200" dirty="0"/>
                    </a:p>
                    <a:p>
                      <a:r>
                        <a:rPr kumimoji="1" lang="en-US" altLang="ja-JP" sz="2200" dirty="0"/>
                        <a:t>    Cyan pixel</a:t>
                      </a:r>
                    </a:p>
                    <a:p>
                      <a:endParaRPr kumimoji="1" lang="en-US" altLang="ja-JP" sz="2200" dirty="0"/>
                    </a:p>
                    <a:p>
                      <a:r>
                        <a:rPr kumimoji="1" lang="en-US" altLang="ja-JP" sz="2200" dirty="0"/>
                        <a:t>  </a:t>
                      </a:r>
                      <a:r>
                        <a:rPr lang="en-US" altLang="ja-JP" sz="2400" dirty="0"/>
                        <a:t>exceeds</a:t>
                      </a:r>
                      <a:r>
                        <a:rPr kumimoji="1" lang="en-US" altLang="ja-JP" sz="2200" dirty="0"/>
                        <a:t> JND </a:t>
                      </a:r>
                      <a:endParaRPr kumimoji="1" lang="ja-JP" altLang="en-US" sz="2200" dirty="0"/>
                    </a:p>
                  </a:txBody>
                  <a:tcPr/>
                </a:tc>
                <a:tc>
                  <a:txBody>
                    <a:bodyPr/>
                    <a:lstStyle/>
                    <a:p>
                      <a:r>
                        <a:rPr lang="en-US" altLang="ja-JP" sz="2200" dirty="0"/>
                        <a:t>User Study1: Color Threshold Preference</a:t>
                      </a:r>
                      <a:endParaRPr kumimoji="1" lang="ja-JP" altLang="en-US" sz="2200" dirty="0"/>
                    </a:p>
                  </a:txBody>
                  <a:tcPr/>
                </a:tc>
                <a:extLst>
                  <a:ext uri="{0D108BD9-81ED-4DB2-BD59-A6C34878D82A}">
                    <a16:rowId xmlns:a16="http://schemas.microsoft.com/office/drawing/2014/main" val="1712747391"/>
                  </a:ext>
                </a:extLst>
              </a:tr>
              <a:tr h="2421518">
                <a:tc>
                  <a:txBody>
                    <a:bodyPr/>
                    <a:lstStyle/>
                    <a:p>
                      <a:r>
                        <a:rPr lang="en-US" altLang="ja-JP" sz="2200" dirty="0"/>
                        <a:t>User Study2: Hue Evaluation</a:t>
                      </a:r>
                    </a:p>
                  </a:txBody>
                  <a:tcPr/>
                </a:tc>
                <a:tc>
                  <a:txBody>
                    <a:bodyPr/>
                    <a:lstStyle/>
                    <a:p>
                      <a:r>
                        <a:rPr lang="en-US" altLang="ja-JP" sz="2200" dirty="0"/>
                        <a:t>User Study3: Method Comparison</a:t>
                      </a:r>
                      <a:endParaRPr kumimoji="1" lang="ja-JP" altLang="en-US" sz="2200" dirty="0"/>
                    </a:p>
                  </a:txBody>
                  <a:tcPr/>
                </a:tc>
                <a:extLst>
                  <a:ext uri="{0D108BD9-81ED-4DB2-BD59-A6C34878D82A}">
                    <a16:rowId xmlns:a16="http://schemas.microsoft.com/office/drawing/2014/main" val="853845399"/>
                  </a:ext>
                </a:extLst>
              </a:tr>
            </a:tbl>
          </a:graphicData>
        </a:graphic>
      </p:graphicFrame>
      <p:pic>
        <p:nvPicPr>
          <p:cNvPr id="9" name="図 8">
            <a:extLst>
              <a:ext uri="{FF2B5EF4-FFF2-40B4-BE49-F238E27FC236}">
                <a16:creationId xmlns:a16="http://schemas.microsoft.com/office/drawing/2014/main" id="{654CE7AC-8D14-2B2B-2725-656C264DC27E}"/>
              </a:ext>
            </a:extLst>
          </p:cNvPr>
          <p:cNvPicPr>
            <a:picLocks noChangeAspect="1"/>
          </p:cNvPicPr>
          <p:nvPr/>
        </p:nvPicPr>
        <p:blipFill>
          <a:blip r:embed="rId3"/>
          <a:stretch>
            <a:fillRect/>
          </a:stretch>
        </p:blipFill>
        <p:spPr>
          <a:xfrm>
            <a:off x="2638095" y="2020545"/>
            <a:ext cx="3342045" cy="1897419"/>
          </a:xfrm>
          <a:prstGeom prst="rect">
            <a:avLst/>
          </a:prstGeom>
        </p:spPr>
      </p:pic>
      <p:sp>
        <p:nvSpPr>
          <p:cNvPr id="10" name="テキスト ボックス 9">
            <a:extLst>
              <a:ext uri="{FF2B5EF4-FFF2-40B4-BE49-F238E27FC236}">
                <a16:creationId xmlns:a16="http://schemas.microsoft.com/office/drawing/2014/main" id="{7391BBD2-7507-88B1-7A05-F6B2822BE810}"/>
              </a:ext>
            </a:extLst>
          </p:cNvPr>
          <p:cNvSpPr txBox="1"/>
          <p:nvPr/>
        </p:nvSpPr>
        <p:spPr>
          <a:xfrm rot="5400000">
            <a:off x="1414548" y="2582402"/>
            <a:ext cx="437940" cy="523220"/>
          </a:xfrm>
          <a:prstGeom prst="rect">
            <a:avLst/>
          </a:prstGeom>
          <a:noFill/>
        </p:spPr>
        <p:txBody>
          <a:bodyPr wrap="none" rtlCol="0">
            <a:spAutoFit/>
          </a:bodyPr>
          <a:lstStyle/>
          <a:p>
            <a:r>
              <a:rPr kumimoji="1" lang="en-US" altLang="ja-JP" sz="2800" b="1" dirty="0"/>
              <a:t>=</a:t>
            </a:r>
            <a:endParaRPr kumimoji="1" lang="ja-JP" altLang="en-US" sz="2800" b="1" dirty="0"/>
          </a:p>
        </p:txBody>
      </p:sp>
      <p:pic>
        <p:nvPicPr>
          <p:cNvPr id="15" name="図 14">
            <a:extLst>
              <a:ext uri="{FF2B5EF4-FFF2-40B4-BE49-F238E27FC236}">
                <a16:creationId xmlns:a16="http://schemas.microsoft.com/office/drawing/2014/main" id="{2D9C0EAD-F19B-1458-BB8E-6D40E32A6394}"/>
              </a:ext>
            </a:extLst>
          </p:cNvPr>
          <p:cNvPicPr>
            <a:picLocks noChangeAspect="1"/>
          </p:cNvPicPr>
          <p:nvPr/>
        </p:nvPicPr>
        <p:blipFill>
          <a:blip r:embed="rId4"/>
          <a:stretch>
            <a:fillRect/>
          </a:stretch>
        </p:blipFill>
        <p:spPr>
          <a:xfrm>
            <a:off x="6723107" y="2020544"/>
            <a:ext cx="4388212" cy="1897419"/>
          </a:xfrm>
          <a:prstGeom prst="rect">
            <a:avLst/>
          </a:prstGeom>
        </p:spPr>
      </p:pic>
      <p:sp>
        <p:nvSpPr>
          <p:cNvPr id="16" name="正方形/長方形 15">
            <a:extLst>
              <a:ext uri="{FF2B5EF4-FFF2-40B4-BE49-F238E27FC236}">
                <a16:creationId xmlns:a16="http://schemas.microsoft.com/office/drawing/2014/main" id="{2434D80A-4C88-9055-8267-8A32862D9EBD}"/>
              </a:ext>
            </a:extLst>
          </p:cNvPr>
          <p:cNvSpPr/>
          <p:nvPr/>
        </p:nvSpPr>
        <p:spPr>
          <a:xfrm>
            <a:off x="8031334" y="2323659"/>
            <a:ext cx="818376" cy="1594303"/>
          </a:xfrm>
          <a:prstGeom prst="rect">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0" name="図 19">
            <a:extLst>
              <a:ext uri="{FF2B5EF4-FFF2-40B4-BE49-F238E27FC236}">
                <a16:creationId xmlns:a16="http://schemas.microsoft.com/office/drawing/2014/main" id="{07667474-7307-22D0-FC9A-CFE0D37C0927}"/>
              </a:ext>
            </a:extLst>
          </p:cNvPr>
          <p:cNvPicPr>
            <a:picLocks noChangeAspect="1"/>
          </p:cNvPicPr>
          <p:nvPr/>
        </p:nvPicPr>
        <p:blipFill>
          <a:blip r:embed="rId5"/>
          <a:stretch>
            <a:fillRect/>
          </a:stretch>
        </p:blipFill>
        <p:spPr>
          <a:xfrm>
            <a:off x="1371908" y="4437922"/>
            <a:ext cx="4006375" cy="1897419"/>
          </a:xfrm>
          <a:prstGeom prst="rect">
            <a:avLst/>
          </a:prstGeom>
        </p:spPr>
      </p:pic>
      <p:pic>
        <p:nvPicPr>
          <p:cNvPr id="22" name="図 21">
            <a:extLst>
              <a:ext uri="{FF2B5EF4-FFF2-40B4-BE49-F238E27FC236}">
                <a16:creationId xmlns:a16="http://schemas.microsoft.com/office/drawing/2014/main" id="{FB5E7421-19E3-DC59-3C01-643116902EFC}"/>
              </a:ext>
            </a:extLst>
          </p:cNvPr>
          <p:cNvPicPr>
            <a:picLocks noChangeAspect="1"/>
          </p:cNvPicPr>
          <p:nvPr/>
        </p:nvPicPr>
        <p:blipFill>
          <a:blip r:embed="rId6"/>
          <a:stretch>
            <a:fillRect/>
          </a:stretch>
        </p:blipFill>
        <p:spPr>
          <a:xfrm>
            <a:off x="7136363" y="4443721"/>
            <a:ext cx="3561699" cy="1891620"/>
          </a:xfrm>
          <a:prstGeom prst="rect">
            <a:avLst/>
          </a:prstGeom>
        </p:spPr>
      </p:pic>
      <p:sp>
        <p:nvSpPr>
          <p:cNvPr id="5" name="フッター プレースホルダー 4">
            <a:extLst>
              <a:ext uri="{FF2B5EF4-FFF2-40B4-BE49-F238E27FC236}">
                <a16:creationId xmlns:a16="http://schemas.microsoft.com/office/drawing/2014/main" id="{1621DDB7-3734-03DC-46B2-29082E607C7A}"/>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b="1" dirty="0"/>
              <a:t>Y. Zhang, R. Wang, Y. Peng, W. Hua, and H. Bao, “ Color Contrast Enhanced Rendering for Optical See Through Head-Mounted Displays ,” 2022</a:t>
            </a:r>
            <a:endParaRPr lang="en-US" sz="1100" b="1" dirty="0"/>
          </a:p>
        </p:txBody>
      </p:sp>
    </p:spTree>
    <p:extLst>
      <p:ext uri="{BB962C8B-B14F-4D97-AF65-F5344CB8AC3E}">
        <p14:creationId xmlns:p14="http://schemas.microsoft.com/office/powerpoint/2010/main" val="31514935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2C208-6F45-42FB-8236-FF23BB3D3E8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216BB07-C5FC-428C-C50F-4474DFBBEE6C}"/>
              </a:ext>
            </a:extLst>
          </p:cNvPr>
          <p:cNvSpPr>
            <a:spLocks noGrp="1"/>
          </p:cNvSpPr>
          <p:nvPr>
            <p:ph type="title"/>
          </p:nvPr>
        </p:nvSpPr>
        <p:spPr/>
        <p:txBody>
          <a:bodyPr/>
          <a:lstStyle/>
          <a:p>
            <a:r>
              <a:rPr lang="en-US" altLang="ja-JP" b="1" dirty="0">
                <a:solidFill>
                  <a:schemeClr val="accent1"/>
                </a:solidFill>
                <a:latin typeface="+mn-lt"/>
              </a:rPr>
              <a:t>Paper 3-3: Discussion and Conclusion</a:t>
            </a:r>
            <a:endParaRPr kumimoji="1" lang="ja-JP" altLang="en-US" sz="3600"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BBD3A4CD-AE1C-3802-2313-D9BB1BAE106D}"/>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24</a:t>
            </a:fld>
            <a:endParaRPr lang="en-US"/>
          </a:p>
        </p:txBody>
      </p:sp>
      <p:sp>
        <p:nvSpPr>
          <p:cNvPr id="25" name="コンテンツ プレースホルダー 24">
            <a:extLst>
              <a:ext uri="{FF2B5EF4-FFF2-40B4-BE49-F238E27FC236}">
                <a16:creationId xmlns:a16="http://schemas.microsoft.com/office/drawing/2014/main" id="{5EF3C777-FF53-EC15-0754-EC1DB77EFA9C}"/>
              </a:ext>
            </a:extLst>
          </p:cNvPr>
          <p:cNvSpPr>
            <a:spLocks noGrp="1"/>
          </p:cNvSpPr>
          <p:nvPr>
            <p:ph idx="1"/>
          </p:nvPr>
        </p:nvSpPr>
        <p:spPr>
          <a:xfrm>
            <a:off x="568633" y="994595"/>
            <a:ext cx="11036465" cy="2599943"/>
          </a:xfrm>
        </p:spPr>
        <p:txBody>
          <a:bodyPr>
            <a:normAutofit/>
          </a:bodyPr>
          <a:lstStyle/>
          <a:p>
            <a:r>
              <a:rPr lang="en-US" altLang="ja-JP" sz="2550" b="1" u="sng" dirty="0"/>
              <a:t>Discussion: Some Limitations of Proposed Method </a:t>
            </a:r>
          </a:p>
          <a:p>
            <a:pPr marL="342900" indent="-342900">
              <a:buFont typeface="Arial" panose="020B0604020202020204" pitchFamily="34" charset="0"/>
              <a:buChar char="•"/>
            </a:pPr>
            <a:r>
              <a:rPr lang="en-US" altLang="ja-JP" dirty="0"/>
              <a:t>Need for adaptive threshold</a:t>
            </a:r>
          </a:p>
          <a:p>
            <a:pPr marL="342900" indent="-342900">
              <a:buFont typeface="Arial" panose="020B0604020202020204" pitchFamily="34" charset="0"/>
              <a:buChar char="•"/>
            </a:pPr>
            <a:r>
              <a:rPr lang="en-US" altLang="ja-JP" dirty="0"/>
              <a:t>Ineffectiveness on achromatic</a:t>
            </a:r>
          </a:p>
          <a:p>
            <a:pPr marL="342900" indent="-342900">
              <a:buFont typeface="Arial" panose="020B0604020202020204" pitchFamily="34" charset="0"/>
              <a:buChar char="•"/>
            </a:pPr>
            <a:r>
              <a:rPr lang="en-US" altLang="ja-JP" dirty="0"/>
              <a:t>Increase in power consumption </a:t>
            </a:r>
          </a:p>
          <a:p>
            <a:pPr marL="342900" indent="-342900">
              <a:buFont typeface="Arial" panose="020B0604020202020204" pitchFamily="34" charset="0"/>
              <a:buChar char="•"/>
            </a:pPr>
            <a:r>
              <a:rPr lang="en-US" altLang="ja-JP" dirty="0"/>
              <a:t>Unsuitability for geometry</a:t>
            </a:r>
          </a:p>
        </p:txBody>
      </p:sp>
      <p:sp>
        <p:nvSpPr>
          <p:cNvPr id="5" name="コンテンツ プレースホルダー 24">
            <a:extLst>
              <a:ext uri="{FF2B5EF4-FFF2-40B4-BE49-F238E27FC236}">
                <a16:creationId xmlns:a16="http://schemas.microsoft.com/office/drawing/2014/main" id="{2A430462-0AFE-BBBE-0E13-B8ECCA170D68}"/>
              </a:ext>
            </a:extLst>
          </p:cNvPr>
          <p:cNvSpPr txBox="1">
            <a:spLocks/>
          </p:cNvSpPr>
          <p:nvPr/>
        </p:nvSpPr>
        <p:spPr>
          <a:xfrm>
            <a:off x="568632" y="3728698"/>
            <a:ext cx="11036465" cy="2599943"/>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Font typeface="Arial" panose="020B0604020202020204" pitchFamily="34" charset="0"/>
              <a:buNone/>
              <a:defRPr kumimoji="1" sz="2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550" b="1" u="sng" dirty="0"/>
              <a:t>Conclusion: Summary of Contributions</a:t>
            </a:r>
          </a:p>
          <a:p>
            <a:pPr marL="342900" indent="-342900">
              <a:buFont typeface="Arial" panose="020B0604020202020204" pitchFamily="34" charset="0"/>
              <a:buChar char="•"/>
            </a:pPr>
            <a:r>
              <a:rPr lang="en-US" altLang="ja-JP" dirty="0"/>
              <a:t>Real-time rendering scheme </a:t>
            </a:r>
          </a:p>
          <a:p>
            <a:pPr marL="342900" indent="-342900">
              <a:buFont typeface="Arial" panose="020B0604020202020204" pitchFamily="34" charset="0"/>
              <a:buChar char="•"/>
            </a:pPr>
            <a:r>
              <a:rPr lang="en-US" altLang="ja-JP" dirty="0"/>
              <a:t>End-to-end algorithm </a:t>
            </a:r>
          </a:p>
          <a:p>
            <a:pPr marL="342900" indent="-342900">
              <a:buFont typeface="Arial" panose="020B0604020202020204" pitchFamily="34" charset="0"/>
              <a:buChar char="•"/>
            </a:pPr>
            <a:r>
              <a:rPr lang="en-US" altLang="ja-JP" dirty="0"/>
              <a:t>Consistency with original color </a:t>
            </a:r>
          </a:p>
          <a:p>
            <a:pPr marL="342900" indent="-342900">
              <a:buFont typeface="Arial" panose="020B0604020202020204" pitchFamily="34" charset="0"/>
              <a:buChar char="•"/>
            </a:pPr>
            <a:r>
              <a:rPr lang="en-US" altLang="ja-JP" dirty="0"/>
              <a:t>Enhance visibility</a:t>
            </a:r>
          </a:p>
        </p:txBody>
      </p:sp>
      <p:sp>
        <p:nvSpPr>
          <p:cNvPr id="3" name="フッター プレースホルダー 4">
            <a:extLst>
              <a:ext uri="{FF2B5EF4-FFF2-40B4-BE49-F238E27FC236}">
                <a16:creationId xmlns:a16="http://schemas.microsoft.com/office/drawing/2014/main" id="{44758349-2E76-C26A-7667-77EFFC7C492F}"/>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b="1" dirty="0"/>
              <a:t>Y. Zhang, R. Wang, Y. Peng, W. Hua, and H. Bao, “ Color Contrast Enhanced Rendering for Optical See Through Head-Mounted Displays ,” 2022</a:t>
            </a:r>
            <a:endParaRPr lang="en-US" sz="1100" b="1" dirty="0"/>
          </a:p>
        </p:txBody>
      </p:sp>
    </p:spTree>
    <p:extLst>
      <p:ext uri="{BB962C8B-B14F-4D97-AF65-F5344CB8AC3E}">
        <p14:creationId xmlns:p14="http://schemas.microsoft.com/office/powerpoint/2010/main" val="13268308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A0A94-0564-484F-F3E3-94766216086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414605B-DFEF-E704-BC57-11685A39066A}"/>
              </a:ext>
            </a:extLst>
          </p:cNvPr>
          <p:cNvSpPr>
            <a:spLocks noGrp="1"/>
          </p:cNvSpPr>
          <p:nvPr>
            <p:ph type="title"/>
          </p:nvPr>
        </p:nvSpPr>
        <p:spPr/>
        <p:txBody>
          <a:bodyPr/>
          <a:lstStyle/>
          <a:p>
            <a:r>
              <a:rPr lang="en-US" sz="3600" b="1" dirty="0">
                <a:solidFill>
                  <a:schemeClr val="accent1"/>
                </a:solidFill>
                <a:latin typeface="+mj-lt"/>
                <a:ea typeface="+mj-ea"/>
              </a:rPr>
              <a:t>Index</a:t>
            </a:r>
          </a:p>
        </p:txBody>
      </p:sp>
      <p:sp>
        <p:nvSpPr>
          <p:cNvPr id="3" name="コンテンツ プレースホルダー 2">
            <a:extLst>
              <a:ext uri="{FF2B5EF4-FFF2-40B4-BE49-F238E27FC236}">
                <a16:creationId xmlns:a16="http://schemas.microsoft.com/office/drawing/2014/main" id="{E4E32F7C-9F5C-6A84-D222-7154BBF49CA6}"/>
              </a:ext>
            </a:extLst>
          </p:cNvPr>
          <p:cNvSpPr>
            <a:spLocks noGrp="1"/>
          </p:cNvSpPr>
          <p:nvPr>
            <p:ph idx="1"/>
          </p:nvPr>
        </p:nvSpPr>
        <p:spPr>
          <a:xfrm>
            <a:off x="568633" y="994595"/>
            <a:ext cx="11036465" cy="5777442"/>
          </a:xfrm>
        </p:spPr>
        <p:txBody>
          <a:bodyPr>
            <a:normAutofit/>
          </a:bodyPr>
          <a:lstStyle/>
          <a:p>
            <a:pPr marL="457200" indent="-457200">
              <a:buAutoNum type="arabicPeriod"/>
            </a:pPr>
            <a:r>
              <a:rPr lang="en-US" sz="2550" b="1" dirty="0">
                <a:solidFill>
                  <a:schemeClr val="tx1">
                    <a:lumMod val="40000"/>
                    <a:lumOff val="60000"/>
                  </a:schemeClr>
                </a:solidFill>
              </a:rPr>
              <a:t>Introduction</a:t>
            </a:r>
          </a:p>
          <a:p>
            <a:pPr marL="457200" indent="-457200">
              <a:buAutoNum type="arabicPeriod"/>
            </a:pPr>
            <a:r>
              <a:rPr lang="en-US" sz="2550" b="1" dirty="0">
                <a:solidFill>
                  <a:schemeClr val="tx1">
                    <a:lumMod val="40000"/>
                    <a:lumOff val="60000"/>
                  </a:schemeClr>
                </a:solidFill>
              </a:rPr>
              <a:t>Background</a:t>
            </a:r>
          </a:p>
          <a:p>
            <a:pPr marL="457200" indent="-457200">
              <a:buAutoNum type="arabicPeriod"/>
            </a:pPr>
            <a:r>
              <a:rPr lang="en-US" sz="2550" b="1" dirty="0">
                <a:solidFill>
                  <a:schemeClr val="accent1"/>
                </a:solidFill>
              </a:rPr>
              <a:t>Studies on the Perceptual Visibility of OST-AR</a:t>
            </a:r>
          </a:p>
          <a:p>
            <a:pPr marL="971550" lvl="1" indent="-514350">
              <a:buFont typeface="+mj-lt"/>
              <a:buAutoNum type="alphaLcPeriod"/>
            </a:pPr>
            <a:r>
              <a:rPr lang="en-US" sz="2550" b="1" dirty="0"/>
              <a:t>Color</a:t>
            </a:r>
          </a:p>
          <a:p>
            <a:pPr marL="971550" lvl="1" indent="-514350">
              <a:buFont typeface="+mj-lt"/>
              <a:buAutoNum type="alphaLcPeriod"/>
            </a:pPr>
            <a:r>
              <a:rPr lang="en-US" sz="2550" b="1" dirty="0">
                <a:solidFill>
                  <a:schemeClr val="accent1"/>
                </a:solidFill>
              </a:rPr>
              <a:t>Brightness</a:t>
            </a:r>
          </a:p>
          <a:p>
            <a:pPr marL="971550" lvl="1" indent="-514350">
              <a:buFont typeface="+mj-lt"/>
              <a:buAutoNum type="alphaLcPeriod"/>
            </a:pPr>
            <a:r>
              <a:rPr lang="en-US" sz="2550" b="1" dirty="0"/>
              <a:t>Transparency</a:t>
            </a:r>
          </a:p>
          <a:p>
            <a:pPr marL="457200" indent="-457200">
              <a:buFont typeface="Arial" panose="020B0604020202020204" pitchFamily="34" charset="0"/>
              <a:buAutoNum type="arabicPeriod"/>
            </a:pPr>
            <a:r>
              <a:rPr lang="en-US" altLang="ja-JP" sz="2550" b="1" dirty="0">
                <a:solidFill>
                  <a:schemeClr val="tx1">
                    <a:lumMod val="40000"/>
                    <a:lumOff val="60000"/>
                  </a:schemeClr>
                </a:solidFill>
              </a:rPr>
              <a:t>Visibility Predictor</a:t>
            </a:r>
          </a:p>
          <a:p>
            <a:pPr marL="457200" indent="-457200">
              <a:buFont typeface="Arial" panose="020B0604020202020204" pitchFamily="34" charset="0"/>
              <a:buAutoNum type="arabicPeriod"/>
            </a:pPr>
            <a:r>
              <a:rPr lang="en-US" altLang="ja-JP" sz="2550" b="1" dirty="0">
                <a:solidFill>
                  <a:schemeClr val="tx1">
                    <a:lumMod val="40000"/>
                    <a:lumOff val="60000"/>
                  </a:schemeClr>
                </a:solidFill>
              </a:rPr>
              <a:t>Conclusion</a:t>
            </a:r>
          </a:p>
          <a:p>
            <a:endParaRPr lang="en-US" sz="2550" b="1" dirty="0"/>
          </a:p>
          <a:p>
            <a:pPr marL="457200" indent="-457200">
              <a:buAutoNum type="arabicPeriod"/>
            </a:pPr>
            <a:endParaRPr lang="en-US" sz="2550" b="1" dirty="0"/>
          </a:p>
        </p:txBody>
      </p:sp>
      <p:sp>
        <p:nvSpPr>
          <p:cNvPr id="4" name="スライド番号プレースホルダー 3">
            <a:extLst>
              <a:ext uri="{FF2B5EF4-FFF2-40B4-BE49-F238E27FC236}">
                <a16:creationId xmlns:a16="http://schemas.microsoft.com/office/drawing/2014/main" id="{69447DE2-E499-5168-3250-6D0E309A5BAE}"/>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25</a:t>
            </a:fld>
            <a:endParaRPr lang="en-US"/>
          </a:p>
        </p:txBody>
      </p:sp>
    </p:spTree>
    <p:extLst>
      <p:ext uri="{BB962C8B-B14F-4D97-AF65-F5344CB8AC3E}">
        <p14:creationId xmlns:p14="http://schemas.microsoft.com/office/powerpoint/2010/main" val="13459682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9ECED-9BFA-9B13-F5F4-71001FEC860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B380CDF-0A5D-326A-5BD7-71C2A9950C12}"/>
              </a:ext>
            </a:extLst>
          </p:cNvPr>
          <p:cNvSpPr>
            <a:spLocks noGrp="1"/>
          </p:cNvSpPr>
          <p:nvPr>
            <p:ph type="title"/>
          </p:nvPr>
        </p:nvSpPr>
        <p:spPr/>
        <p:txBody>
          <a:bodyPr/>
          <a:lstStyle/>
          <a:p>
            <a:r>
              <a:rPr lang="en-US" altLang="ja-JP" b="1" dirty="0">
                <a:solidFill>
                  <a:schemeClr val="accent1"/>
                </a:solidFill>
                <a:latin typeface="+mn-lt"/>
              </a:rPr>
              <a:t>Brightness and Visibility</a:t>
            </a:r>
            <a:endParaRPr kumimoji="1" lang="ja-JP" altLang="en-US" sz="3600"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A1C09A4A-ACA5-EEF9-0442-AC2DA006A6E9}"/>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26</a:t>
            </a:fld>
            <a:endParaRPr lang="en-US"/>
          </a:p>
        </p:txBody>
      </p:sp>
      <p:sp>
        <p:nvSpPr>
          <p:cNvPr id="25" name="コンテンツ プレースホルダー 24">
            <a:extLst>
              <a:ext uri="{FF2B5EF4-FFF2-40B4-BE49-F238E27FC236}">
                <a16:creationId xmlns:a16="http://schemas.microsoft.com/office/drawing/2014/main" id="{385D0F5F-EDDF-6866-B797-7687900BB3B2}"/>
              </a:ext>
            </a:extLst>
          </p:cNvPr>
          <p:cNvSpPr>
            <a:spLocks noGrp="1"/>
          </p:cNvSpPr>
          <p:nvPr>
            <p:ph idx="1"/>
          </p:nvPr>
        </p:nvSpPr>
        <p:spPr/>
        <p:txBody>
          <a:bodyPr>
            <a:normAutofit/>
          </a:bodyPr>
          <a:lstStyle/>
          <a:p>
            <a:r>
              <a:rPr lang="en-US" altLang="ja-JP" sz="2550" b="1" u="sng" dirty="0"/>
              <a:t>Contrast Perception: 2 Color Channel and Luminance Channel </a:t>
            </a:r>
            <a:endParaRPr lang="en-US" altLang="ja-JP" sz="2550" b="1" u="sng" dirty="0">
              <a:solidFill>
                <a:schemeClr val="accent1"/>
              </a:solidFill>
            </a:endParaRPr>
          </a:p>
          <a:p>
            <a:r>
              <a:rPr lang="en-US" altLang="ja-JP" b="1" u="sng" dirty="0"/>
              <a:t> </a:t>
            </a:r>
          </a:p>
          <a:p>
            <a:r>
              <a:rPr lang="en-US" altLang="ja-JP" b="1" dirty="0"/>
              <a:t>Brightness Factors</a:t>
            </a:r>
          </a:p>
          <a:p>
            <a:r>
              <a:rPr lang="ja-JP" altLang="en-US" dirty="0"/>
              <a:t>・</a:t>
            </a:r>
            <a:r>
              <a:rPr lang="en-US" altLang="ja-JP" dirty="0"/>
              <a:t>Display luminance</a:t>
            </a:r>
          </a:p>
          <a:p>
            <a:r>
              <a:rPr lang="ja-JP" altLang="en-US" dirty="0"/>
              <a:t>・</a:t>
            </a:r>
            <a:r>
              <a:rPr lang="en-US" altLang="ja-JP" dirty="0"/>
              <a:t>Ambient illuminance</a:t>
            </a:r>
          </a:p>
          <a:p>
            <a:endParaRPr lang="en-US" altLang="ja-JP" b="1" u="sng" dirty="0"/>
          </a:p>
          <a:p>
            <a:r>
              <a:rPr lang="en-US" altLang="ja-JP" b="1" dirty="0"/>
              <a:t>Research outline</a:t>
            </a:r>
          </a:p>
          <a:p>
            <a:pPr lvl="0" eaLnBrk="0" fontAlgn="base" hangingPunct="0">
              <a:lnSpc>
                <a:spcPct val="100000"/>
              </a:lnSpc>
              <a:spcBef>
                <a:spcPct val="0"/>
              </a:spcBef>
              <a:spcAft>
                <a:spcPct val="0"/>
              </a:spcAft>
            </a:pPr>
            <a:r>
              <a:rPr kumimoji="0" lang="en-US" altLang="ja-JP" dirty="0"/>
              <a:t>Paper4-1: Ill</a:t>
            </a:r>
            <a:r>
              <a:rPr lang="en-US" altLang="ja-JP" dirty="0"/>
              <a:t>uminance and Contrast</a:t>
            </a:r>
            <a:endParaRPr kumimoji="0" lang="en-US" altLang="ja-JP" dirty="0"/>
          </a:p>
          <a:p>
            <a:pPr lvl="0" eaLnBrk="0" fontAlgn="base" hangingPunct="0">
              <a:lnSpc>
                <a:spcPct val="100000"/>
              </a:lnSpc>
              <a:spcBef>
                <a:spcPct val="0"/>
              </a:spcBef>
              <a:spcAft>
                <a:spcPct val="0"/>
              </a:spcAft>
            </a:pPr>
            <a:r>
              <a:rPr kumimoji="0" lang="en-US" altLang="ja-JP" dirty="0"/>
              <a:t>Paper4-2: </a:t>
            </a:r>
            <a:r>
              <a:rPr lang="en-US" altLang="ja-JP" dirty="0"/>
              <a:t>Luminance and Layer Separation</a:t>
            </a:r>
          </a:p>
          <a:p>
            <a:pPr lvl="0" eaLnBrk="0" fontAlgn="base" hangingPunct="0">
              <a:lnSpc>
                <a:spcPct val="100000"/>
              </a:lnSpc>
              <a:spcBef>
                <a:spcPct val="0"/>
              </a:spcBef>
              <a:spcAft>
                <a:spcPct val="0"/>
              </a:spcAft>
            </a:pPr>
            <a:r>
              <a:rPr kumimoji="0" lang="en-US" altLang="ja-JP" dirty="0"/>
              <a:t>Paper4-3: </a:t>
            </a:r>
            <a:r>
              <a:rPr lang="en-US" altLang="ja-JP" dirty="0"/>
              <a:t>Luminance Prediction for Perceived Opacity</a:t>
            </a:r>
            <a:endParaRPr kumimoji="0" lang="ja-JP" altLang="ja-JP" dirty="0"/>
          </a:p>
          <a:p>
            <a:endParaRPr lang="ja-JP" altLang="en-US" u="sng" dirty="0"/>
          </a:p>
        </p:txBody>
      </p:sp>
      <p:pic>
        <p:nvPicPr>
          <p:cNvPr id="6" name="グラフィックス 5" descr="街灯 枠線">
            <a:extLst>
              <a:ext uri="{FF2B5EF4-FFF2-40B4-BE49-F238E27FC236}">
                <a16:creationId xmlns:a16="http://schemas.microsoft.com/office/drawing/2014/main" id="{D7B3C638-4823-98E7-7393-F3E42C538D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23479" y="2075945"/>
            <a:ext cx="2430518" cy="2430518"/>
          </a:xfrm>
          <a:prstGeom prst="rect">
            <a:avLst/>
          </a:prstGeom>
        </p:spPr>
      </p:pic>
      <p:pic>
        <p:nvPicPr>
          <p:cNvPr id="8" name="グラフィックス 7" descr="目 単色塗りつぶし">
            <a:extLst>
              <a:ext uri="{FF2B5EF4-FFF2-40B4-BE49-F238E27FC236}">
                <a16:creationId xmlns:a16="http://schemas.microsoft.com/office/drawing/2014/main" id="{24E45A47-B3D2-39A3-254C-A0DCACC100D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363200" y="2276159"/>
            <a:ext cx="914400" cy="914400"/>
          </a:xfrm>
          <a:prstGeom prst="rect">
            <a:avLst/>
          </a:prstGeom>
        </p:spPr>
      </p:pic>
      <p:sp>
        <p:nvSpPr>
          <p:cNvPr id="9" name="楕円 8">
            <a:extLst>
              <a:ext uri="{FF2B5EF4-FFF2-40B4-BE49-F238E27FC236}">
                <a16:creationId xmlns:a16="http://schemas.microsoft.com/office/drawing/2014/main" id="{C7CE14C0-7171-F15E-AD26-3FFF352D7918}"/>
              </a:ext>
            </a:extLst>
          </p:cNvPr>
          <p:cNvSpPr/>
          <p:nvPr/>
        </p:nvSpPr>
        <p:spPr>
          <a:xfrm>
            <a:off x="8353969" y="4041598"/>
            <a:ext cx="2175642" cy="409904"/>
          </a:xfrm>
          <a:prstGeom prst="ellipse">
            <a:avLst/>
          </a:prstGeom>
          <a:solidFill>
            <a:schemeClr val="accent3">
              <a:lumMod val="20000"/>
              <a:lumOff val="80000"/>
            </a:schemeClr>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矢印: 下 9">
            <a:extLst>
              <a:ext uri="{FF2B5EF4-FFF2-40B4-BE49-F238E27FC236}">
                <a16:creationId xmlns:a16="http://schemas.microsoft.com/office/drawing/2014/main" id="{D236E376-A586-9952-FD0E-17AE9CDD65F8}"/>
              </a:ext>
            </a:extLst>
          </p:cNvPr>
          <p:cNvSpPr/>
          <p:nvPr/>
        </p:nvSpPr>
        <p:spPr>
          <a:xfrm rot="20389292">
            <a:off x="8507845" y="2904251"/>
            <a:ext cx="484632" cy="978408"/>
          </a:xfrm>
          <a:prstGeom prst="downArrow">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下 10">
            <a:extLst>
              <a:ext uri="{FF2B5EF4-FFF2-40B4-BE49-F238E27FC236}">
                <a16:creationId xmlns:a16="http://schemas.microsoft.com/office/drawing/2014/main" id="{CAC4E3F8-8EF8-8944-F262-10C2788B7789}"/>
              </a:ext>
            </a:extLst>
          </p:cNvPr>
          <p:cNvSpPr/>
          <p:nvPr/>
        </p:nvSpPr>
        <p:spPr>
          <a:xfrm rot="12507736">
            <a:off x="10287294" y="2997597"/>
            <a:ext cx="484632" cy="978408"/>
          </a:xfrm>
          <a:prstGeom prst="downArrow">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7CB29AE2-C2CE-255B-67EC-5C8E3BE8295F}"/>
              </a:ext>
            </a:extLst>
          </p:cNvPr>
          <p:cNvSpPr txBox="1"/>
          <p:nvPr/>
        </p:nvSpPr>
        <p:spPr>
          <a:xfrm>
            <a:off x="8870731" y="4455957"/>
            <a:ext cx="1436612" cy="369332"/>
          </a:xfrm>
          <a:prstGeom prst="rect">
            <a:avLst/>
          </a:prstGeom>
          <a:noFill/>
        </p:spPr>
        <p:txBody>
          <a:bodyPr wrap="none" rtlCol="0">
            <a:spAutoFit/>
          </a:bodyPr>
          <a:lstStyle/>
          <a:p>
            <a:r>
              <a:rPr kumimoji="1" lang="en-US" altLang="ja-JP" b="1" dirty="0"/>
              <a:t>illuminance</a:t>
            </a:r>
            <a:endParaRPr kumimoji="1" lang="ja-JP" altLang="en-US" b="1" dirty="0"/>
          </a:p>
        </p:txBody>
      </p:sp>
      <p:sp>
        <p:nvSpPr>
          <p:cNvPr id="13" name="テキスト ボックス 12">
            <a:extLst>
              <a:ext uri="{FF2B5EF4-FFF2-40B4-BE49-F238E27FC236}">
                <a16:creationId xmlns:a16="http://schemas.microsoft.com/office/drawing/2014/main" id="{CDEFA429-71E0-9E61-94BC-D7F792202774}"/>
              </a:ext>
            </a:extLst>
          </p:cNvPr>
          <p:cNvSpPr txBox="1"/>
          <p:nvPr/>
        </p:nvSpPr>
        <p:spPr>
          <a:xfrm>
            <a:off x="10529610" y="3628352"/>
            <a:ext cx="1305165" cy="369332"/>
          </a:xfrm>
          <a:prstGeom prst="rect">
            <a:avLst/>
          </a:prstGeom>
          <a:noFill/>
        </p:spPr>
        <p:txBody>
          <a:bodyPr wrap="none" rtlCol="0">
            <a:spAutoFit/>
          </a:bodyPr>
          <a:lstStyle/>
          <a:p>
            <a:r>
              <a:rPr kumimoji="1" lang="en-US" altLang="ja-JP" b="1" dirty="0"/>
              <a:t>luminance</a:t>
            </a:r>
            <a:endParaRPr kumimoji="1" lang="ja-JP" altLang="en-US" b="1" dirty="0"/>
          </a:p>
        </p:txBody>
      </p:sp>
    </p:spTree>
    <p:extLst>
      <p:ext uri="{BB962C8B-B14F-4D97-AF65-F5344CB8AC3E}">
        <p14:creationId xmlns:p14="http://schemas.microsoft.com/office/powerpoint/2010/main" val="37931623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B1953-DBF5-C1D5-0972-4C133B7B6F6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1C6F61C-5A83-BE3C-CF92-A8D5875345EE}"/>
              </a:ext>
            </a:extLst>
          </p:cNvPr>
          <p:cNvSpPr>
            <a:spLocks noGrp="1"/>
          </p:cNvSpPr>
          <p:nvPr>
            <p:ph type="title"/>
          </p:nvPr>
        </p:nvSpPr>
        <p:spPr/>
        <p:txBody>
          <a:bodyPr/>
          <a:lstStyle/>
          <a:p>
            <a:r>
              <a:rPr lang="en-US" altLang="ja-JP" b="1" dirty="0">
                <a:solidFill>
                  <a:schemeClr val="accent1"/>
                </a:solidFill>
                <a:latin typeface="+mn-lt"/>
              </a:rPr>
              <a:t>Paper4-1: Objective and Method</a:t>
            </a:r>
            <a:endParaRPr kumimoji="1" lang="ja-JP" altLang="en-US" sz="3600"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969D6828-299F-5D9C-22A3-3A11959A31EF}"/>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27</a:t>
            </a:fld>
            <a:endParaRPr lang="en-US"/>
          </a:p>
        </p:txBody>
      </p:sp>
      <p:sp>
        <p:nvSpPr>
          <p:cNvPr id="6" name="コンテンツ プレースホルダー 24">
            <a:extLst>
              <a:ext uri="{FF2B5EF4-FFF2-40B4-BE49-F238E27FC236}">
                <a16:creationId xmlns:a16="http://schemas.microsoft.com/office/drawing/2014/main" id="{A40091F1-0A02-8CE4-2764-AE6DD2C4E857}"/>
              </a:ext>
            </a:extLst>
          </p:cNvPr>
          <p:cNvSpPr>
            <a:spLocks noGrp="1"/>
          </p:cNvSpPr>
          <p:nvPr>
            <p:ph idx="1"/>
          </p:nvPr>
        </p:nvSpPr>
        <p:spPr>
          <a:xfrm>
            <a:off x="568633" y="994595"/>
            <a:ext cx="11036465" cy="1653389"/>
          </a:xfrm>
        </p:spPr>
        <p:txBody>
          <a:bodyPr>
            <a:noAutofit/>
          </a:bodyPr>
          <a:lstStyle/>
          <a:p>
            <a:r>
              <a:rPr lang="en-US" altLang="ja-JP" sz="2550" b="1" u="sng" dirty="0"/>
              <a:t>Objective: </a:t>
            </a:r>
          </a:p>
          <a:p>
            <a:r>
              <a:rPr lang="en-US" altLang="ja-JP" sz="2550" b="1" u="sng" dirty="0"/>
              <a:t>Investigation of the Effect of Illuminance on Contrast in OST-AR</a:t>
            </a:r>
          </a:p>
          <a:p>
            <a:r>
              <a:rPr lang="ja-JP" altLang="en-US" dirty="0"/>
              <a:t>　</a:t>
            </a:r>
            <a:r>
              <a:rPr lang="en-US" altLang="ja-JP" dirty="0"/>
              <a:t>Subjective user study</a:t>
            </a:r>
            <a:r>
              <a:rPr lang="ja-JP" altLang="en-US" dirty="0"/>
              <a:t>　　</a:t>
            </a:r>
            <a:r>
              <a:rPr lang="en-US" altLang="ja-JP" dirty="0"/>
              <a:t>Engineering measurements</a:t>
            </a:r>
          </a:p>
          <a:p>
            <a:endParaRPr lang="ja-JP" altLang="en-US" sz="2550" b="1" u="sng" dirty="0"/>
          </a:p>
        </p:txBody>
      </p:sp>
      <p:sp>
        <p:nvSpPr>
          <p:cNvPr id="7" name="コンテンツ プレースホルダー 24">
            <a:extLst>
              <a:ext uri="{FF2B5EF4-FFF2-40B4-BE49-F238E27FC236}">
                <a16:creationId xmlns:a16="http://schemas.microsoft.com/office/drawing/2014/main" id="{9C66E0F8-65AE-1683-F670-772C1ED006CB}"/>
              </a:ext>
            </a:extLst>
          </p:cNvPr>
          <p:cNvSpPr txBox="1">
            <a:spLocks/>
          </p:cNvSpPr>
          <p:nvPr/>
        </p:nvSpPr>
        <p:spPr>
          <a:xfrm>
            <a:off x="568633" y="3205655"/>
            <a:ext cx="11288411" cy="3652345"/>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Font typeface="Arial" panose="020B0604020202020204" pitchFamily="34" charset="0"/>
              <a:buNone/>
              <a:defRPr kumimoji="1" sz="2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550" b="1" u="sng" dirty="0"/>
              <a:t>Method: </a:t>
            </a:r>
          </a:p>
          <a:p>
            <a:r>
              <a:rPr lang="en-US" altLang="ja-JP" sz="2550" b="1" u="sng" dirty="0"/>
              <a:t>Measure Eye Illuminance under Various Ambient Illuminance Levels </a:t>
            </a:r>
          </a:p>
          <a:p>
            <a:r>
              <a:rPr lang="en-US" altLang="ja-JP" dirty="0"/>
              <a:t>Target illuminance levels: 0, 10, 100, 1,000, 10,000, and 20,000 lux</a:t>
            </a:r>
          </a:p>
          <a:p>
            <a:r>
              <a:rPr lang="en-US" altLang="ja-JP" dirty="0"/>
              <a:t>Sensor: Light meter</a:t>
            </a:r>
          </a:p>
          <a:p>
            <a:r>
              <a:rPr lang="en-US" altLang="ja-JP" dirty="0"/>
              <a:t>Device: Hololens1, Hololens2 (HL1, HL2)</a:t>
            </a:r>
          </a:p>
          <a:p>
            <a:r>
              <a:rPr lang="en-US" altLang="ja-JP" dirty="0"/>
              <a:t>Device mode: Without the HMD, Display Off, Display On (rendering black/white image)</a:t>
            </a:r>
          </a:p>
          <a:p>
            <a:endParaRPr lang="en-US" altLang="ja-JP" sz="2400" dirty="0"/>
          </a:p>
          <a:p>
            <a:endParaRPr lang="en-US" altLang="ja-JP" sz="2400" dirty="0"/>
          </a:p>
          <a:p>
            <a:endParaRPr lang="en-US" altLang="ja-JP" sz="2400" dirty="0"/>
          </a:p>
          <a:p>
            <a:endParaRPr lang="en-US" altLang="ja-JP" sz="2400" dirty="0"/>
          </a:p>
        </p:txBody>
      </p:sp>
      <p:pic>
        <p:nvPicPr>
          <p:cNvPr id="8" name="グラフィックス 7" descr="ハーベイ ボール 0% 単色塗りつぶし">
            <a:extLst>
              <a:ext uri="{FF2B5EF4-FFF2-40B4-BE49-F238E27FC236}">
                <a16:creationId xmlns:a16="http://schemas.microsoft.com/office/drawing/2014/main" id="{63B41345-972E-F253-4E55-0BAA520BE5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29577" y="2131555"/>
            <a:ext cx="360000" cy="360000"/>
          </a:xfrm>
          <a:prstGeom prst="rect">
            <a:avLst/>
          </a:prstGeom>
        </p:spPr>
      </p:pic>
      <p:pic>
        <p:nvPicPr>
          <p:cNvPr id="9" name="グラフィックス 8" descr="閉じる 単色塗りつぶし">
            <a:extLst>
              <a:ext uri="{FF2B5EF4-FFF2-40B4-BE49-F238E27FC236}">
                <a16:creationId xmlns:a16="http://schemas.microsoft.com/office/drawing/2014/main" id="{45D76129-E5D6-F2C6-CB98-04288EF582B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6983" y="2148028"/>
            <a:ext cx="360000" cy="360000"/>
          </a:xfrm>
          <a:prstGeom prst="rect">
            <a:avLst/>
          </a:prstGeom>
        </p:spPr>
      </p:pic>
      <p:pic>
        <p:nvPicPr>
          <p:cNvPr id="11" name="図 10">
            <a:extLst>
              <a:ext uri="{FF2B5EF4-FFF2-40B4-BE49-F238E27FC236}">
                <a16:creationId xmlns:a16="http://schemas.microsoft.com/office/drawing/2014/main" id="{35363D83-1D2F-8AF7-058C-21BAAE619194}"/>
              </a:ext>
            </a:extLst>
          </p:cNvPr>
          <p:cNvPicPr>
            <a:picLocks noChangeAspect="1"/>
          </p:cNvPicPr>
          <p:nvPr/>
        </p:nvPicPr>
        <p:blipFill>
          <a:blip r:embed="rId5"/>
          <a:stretch>
            <a:fillRect/>
          </a:stretch>
        </p:blipFill>
        <p:spPr>
          <a:xfrm>
            <a:off x="8387255" y="2006251"/>
            <a:ext cx="2632841" cy="1422912"/>
          </a:xfrm>
          <a:prstGeom prst="rect">
            <a:avLst/>
          </a:prstGeom>
        </p:spPr>
      </p:pic>
      <p:sp>
        <p:nvSpPr>
          <p:cNvPr id="3" name="フッター プレースホルダー 4">
            <a:extLst>
              <a:ext uri="{FF2B5EF4-FFF2-40B4-BE49-F238E27FC236}">
                <a16:creationId xmlns:a16="http://schemas.microsoft.com/office/drawing/2014/main" id="{DE44F106-6366-8B5C-7194-5AE1BDE288B0}"/>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b="1" dirty="0"/>
              <a:t>A. Erickson, K. Kim, G. Bruder, and G. F. Welch, “Exploring the limitations of environment lighting on optical see-through head-mounted displays,” 2020</a:t>
            </a:r>
            <a:endParaRPr lang="en-US" sz="1100" b="1" dirty="0"/>
          </a:p>
        </p:txBody>
      </p:sp>
      <p:sp>
        <p:nvSpPr>
          <p:cNvPr id="5" name="フッター プレースホルダー 4">
            <a:extLst>
              <a:ext uri="{FF2B5EF4-FFF2-40B4-BE49-F238E27FC236}">
                <a16:creationId xmlns:a16="http://schemas.microsoft.com/office/drawing/2014/main" id="{5529F504-01D0-F49E-066D-8247322E6BDC}"/>
              </a:ext>
            </a:extLst>
          </p:cNvPr>
          <p:cNvSpPr txBox="1">
            <a:spLocks/>
          </p:cNvSpPr>
          <p:nvPr/>
        </p:nvSpPr>
        <p:spPr>
          <a:xfrm>
            <a:off x="7918222" y="3484120"/>
            <a:ext cx="3577777" cy="351040"/>
          </a:xfrm>
          <a:prstGeom prst="rect">
            <a:avLst/>
          </a:prstGeom>
        </p:spPr>
        <p:txBody>
          <a:bodyPr anchor="b"/>
          <a:lstStyle>
            <a:defPPr>
              <a:defRPr lang="ja-JP"/>
            </a:defPPr>
            <a:lvl1pPr marL="0" algn="l" defTabSz="914400" rtl="0" eaLnBrk="1" latinLnBrk="0" hangingPunct="1">
              <a:defRPr kumimoji="1" sz="11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sz="1200" dirty="0"/>
              <a:t>Four different contrast levels in varying environment illuminance</a:t>
            </a:r>
          </a:p>
        </p:txBody>
      </p:sp>
    </p:spTree>
    <p:extLst>
      <p:ext uri="{BB962C8B-B14F-4D97-AF65-F5344CB8AC3E}">
        <p14:creationId xmlns:p14="http://schemas.microsoft.com/office/powerpoint/2010/main" val="13187234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33B0A-C843-9138-7430-3D74A576A13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4069300-E5B5-7E0B-0E4F-B7D0B501FEBD}"/>
              </a:ext>
            </a:extLst>
          </p:cNvPr>
          <p:cNvSpPr>
            <a:spLocks noGrp="1"/>
          </p:cNvSpPr>
          <p:nvPr>
            <p:ph type="title"/>
          </p:nvPr>
        </p:nvSpPr>
        <p:spPr>
          <a:xfrm>
            <a:off x="577769" y="263576"/>
            <a:ext cx="11036464" cy="597453"/>
          </a:xfrm>
        </p:spPr>
        <p:txBody>
          <a:bodyPr/>
          <a:lstStyle/>
          <a:p>
            <a:r>
              <a:rPr lang="en-US" altLang="ja-JP" b="1" dirty="0">
                <a:solidFill>
                  <a:schemeClr val="accent1"/>
                </a:solidFill>
                <a:latin typeface="+mn-lt"/>
              </a:rPr>
              <a:t>Paper4-1: Results and Discussion</a:t>
            </a:r>
            <a:endParaRPr kumimoji="1" lang="ja-JP" altLang="en-US" sz="3600"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2DB62BEC-0CDA-CD2C-2330-1200173A0A44}"/>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28</a:t>
            </a:fld>
            <a:endParaRPr lang="en-US"/>
          </a:p>
        </p:txBody>
      </p:sp>
      <p:sp>
        <p:nvSpPr>
          <p:cNvPr id="6" name="コンテンツ プレースホルダー 24">
            <a:extLst>
              <a:ext uri="{FF2B5EF4-FFF2-40B4-BE49-F238E27FC236}">
                <a16:creationId xmlns:a16="http://schemas.microsoft.com/office/drawing/2014/main" id="{C1281034-73EF-1E61-5C7D-CC0CAB528F80}"/>
              </a:ext>
            </a:extLst>
          </p:cNvPr>
          <p:cNvSpPr>
            <a:spLocks noGrp="1"/>
          </p:cNvSpPr>
          <p:nvPr>
            <p:ph idx="1"/>
          </p:nvPr>
        </p:nvSpPr>
        <p:spPr>
          <a:xfrm>
            <a:off x="568633" y="994595"/>
            <a:ext cx="11036465" cy="5301102"/>
          </a:xfrm>
        </p:spPr>
        <p:txBody>
          <a:bodyPr>
            <a:noAutofit/>
          </a:bodyPr>
          <a:lstStyle/>
          <a:p>
            <a:r>
              <a:rPr lang="en-US" altLang="ja-JP" sz="2800" b="1" u="sng" dirty="0"/>
              <a:t>Reduction in Contrast as Environment Lighting Increased</a:t>
            </a:r>
          </a:p>
          <a:p>
            <a:r>
              <a:rPr kumimoji="0" lang="en-US" altLang="ja-JP" b="1" dirty="0"/>
              <a:t>Dim Lighting (&lt;100 lux):</a:t>
            </a:r>
          </a:p>
          <a:p>
            <a:r>
              <a:rPr kumimoji="0" lang="en-US" altLang="ja-JP" dirty="0"/>
              <a:t>Contrast </a:t>
            </a:r>
            <a:r>
              <a:rPr kumimoji="0" lang="ja-JP" altLang="en-US" dirty="0"/>
              <a:t>≈</a:t>
            </a:r>
            <a:r>
              <a:rPr kumimoji="0" lang="en-US" altLang="ja-JP" dirty="0"/>
              <a:t> 1 </a:t>
            </a:r>
          </a:p>
          <a:p>
            <a:endParaRPr kumimoji="0" lang="en-US" altLang="ja-JP" dirty="0"/>
          </a:p>
          <a:p>
            <a:r>
              <a:rPr kumimoji="0" lang="en-US" altLang="ja-JP" b="1" dirty="0"/>
              <a:t>Mid-Range Lighting </a:t>
            </a:r>
          </a:p>
          <a:p>
            <a:r>
              <a:rPr kumimoji="0" lang="en-US" altLang="ja-JP" dirty="0"/>
              <a:t>100 lux: HL2 dropped to ~70% </a:t>
            </a:r>
          </a:p>
          <a:p>
            <a:r>
              <a:rPr kumimoji="0" lang="en-US" altLang="ja-JP" dirty="0"/>
              <a:t>1,000 lux: HL2 dropped to ~25% </a:t>
            </a:r>
          </a:p>
          <a:p>
            <a:endParaRPr kumimoji="0" lang="en-US" altLang="ja-JP" dirty="0"/>
          </a:p>
          <a:p>
            <a:r>
              <a:rPr kumimoji="0" lang="en-US" altLang="ja-JP" b="1" dirty="0"/>
              <a:t>Bright Outdoor Lighting (&gt;10,000 lux)</a:t>
            </a:r>
          </a:p>
          <a:p>
            <a:r>
              <a:rPr kumimoji="0" lang="en-US" altLang="ja-JP" dirty="0"/>
              <a:t>Fell to 2–3% </a:t>
            </a:r>
            <a:r>
              <a:rPr kumimoji="0" lang="ja-JP" altLang="en-US" dirty="0"/>
              <a:t>→ </a:t>
            </a:r>
            <a:r>
              <a:rPr kumimoji="0" lang="en-US" altLang="ja-JP" dirty="0"/>
              <a:t>Difficult to accurately distinguish virtual image</a:t>
            </a:r>
            <a:endParaRPr kumimoji="0" lang="ja-JP" altLang="ja-JP" dirty="0"/>
          </a:p>
          <a:p>
            <a:endParaRPr lang="en-US" altLang="ja-JP" sz="2800" b="1" u="sng" dirty="0"/>
          </a:p>
          <a:p>
            <a:endParaRPr lang="en-US" altLang="ja-JP" sz="2800" b="1" u="sng" dirty="0"/>
          </a:p>
          <a:p>
            <a:endParaRPr lang="ja-JP" altLang="en-US" sz="2550" b="1" u="sng" dirty="0"/>
          </a:p>
        </p:txBody>
      </p:sp>
      <p:pic>
        <p:nvPicPr>
          <p:cNvPr id="5" name="図 4">
            <a:extLst>
              <a:ext uri="{FF2B5EF4-FFF2-40B4-BE49-F238E27FC236}">
                <a16:creationId xmlns:a16="http://schemas.microsoft.com/office/drawing/2014/main" id="{04B632EB-E945-6ACF-E997-EEDC2D0B67A5}"/>
              </a:ext>
            </a:extLst>
          </p:cNvPr>
          <p:cNvPicPr>
            <a:picLocks noChangeAspect="1"/>
          </p:cNvPicPr>
          <p:nvPr/>
        </p:nvPicPr>
        <p:blipFill>
          <a:blip r:embed="rId3"/>
          <a:stretch>
            <a:fillRect/>
          </a:stretch>
        </p:blipFill>
        <p:spPr>
          <a:xfrm>
            <a:off x="6503760" y="1663569"/>
            <a:ext cx="4687806" cy="3420621"/>
          </a:xfrm>
          <a:prstGeom prst="rect">
            <a:avLst/>
          </a:prstGeom>
        </p:spPr>
      </p:pic>
      <p:sp>
        <p:nvSpPr>
          <p:cNvPr id="3" name="フッター プレースホルダー 4">
            <a:extLst>
              <a:ext uri="{FF2B5EF4-FFF2-40B4-BE49-F238E27FC236}">
                <a16:creationId xmlns:a16="http://schemas.microsoft.com/office/drawing/2014/main" id="{4F34A1D2-02D6-391D-E0C4-66EC196F74DB}"/>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b="1" dirty="0"/>
              <a:t>A. Erickson, K. Kim, G. Bruder, and G. F. Welch, “Exploring the limitations of environment lighting on optical see-through head-mounted displays,” 2020</a:t>
            </a:r>
            <a:endParaRPr lang="en-US" sz="1100" b="1" dirty="0"/>
          </a:p>
        </p:txBody>
      </p:sp>
      <p:sp>
        <p:nvSpPr>
          <p:cNvPr id="7" name="フッター プレースホルダー 4">
            <a:extLst>
              <a:ext uri="{FF2B5EF4-FFF2-40B4-BE49-F238E27FC236}">
                <a16:creationId xmlns:a16="http://schemas.microsoft.com/office/drawing/2014/main" id="{BFA7E469-97A8-BBEB-C8D9-4D8A4580A8EE}"/>
              </a:ext>
            </a:extLst>
          </p:cNvPr>
          <p:cNvSpPr txBox="1">
            <a:spLocks/>
          </p:cNvSpPr>
          <p:nvPr/>
        </p:nvSpPr>
        <p:spPr>
          <a:xfrm>
            <a:off x="7058774" y="5163383"/>
            <a:ext cx="3577777" cy="351040"/>
          </a:xfrm>
          <a:prstGeom prst="rect">
            <a:avLst/>
          </a:prstGeom>
        </p:spPr>
        <p:txBody>
          <a:bodyPr anchor="b"/>
          <a:lstStyle>
            <a:defPPr>
              <a:defRPr lang="ja-JP"/>
            </a:defPPr>
            <a:lvl1pPr marL="0" algn="l" defTabSz="914400" rtl="0" eaLnBrk="1" latinLnBrk="0" hangingPunct="1">
              <a:defRPr kumimoji="1" sz="11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sz="1200" dirty="0"/>
              <a:t>Depiction of the contrast ratios in relation to the environment illuminance levels for each HMD</a:t>
            </a:r>
          </a:p>
        </p:txBody>
      </p:sp>
    </p:spTree>
    <p:extLst>
      <p:ext uri="{BB962C8B-B14F-4D97-AF65-F5344CB8AC3E}">
        <p14:creationId xmlns:p14="http://schemas.microsoft.com/office/powerpoint/2010/main" val="30332458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26264-331B-4D03-99EA-C58CFCDC165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24BE334-72D3-2FD3-6FD3-FD26D96EABDA}"/>
              </a:ext>
            </a:extLst>
          </p:cNvPr>
          <p:cNvSpPr>
            <a:spLocks noGrp="1"/>
          </p:cNvSpPr>
          <p:nvPr>
            <p:ph type="title"/>
          </p:nvPr>
        </p:nvSpPr>
        <p:spPr/>
        <p:txBody>
          <a:bodyPr/>
          <a:lstStyle/>
          <a:p>
            <a:r>
              <a:rPr lang="en-US" altLang="ja-JP" b="1" dirty="0">
                <a:solidFill>
                  <a:schemeClr val="accent1"/>
                </a:solidFill>
                <a:latin typeface="+mn-lt"/>
              </a:rPr>
              <a:t>Paper4-2: Objective and Method</a:t>
            </a:r>
            <a:endParaRPr kumimoji="1" lang="ja-JP" altLang="en-US" sz="3600"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02266F93-7353-1267-694C-E495F37F8927}"/>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29</a:t>
            </a:fld>
            <a:endParaRPr lang="en-US"/>
          </a:p>
        </p:txBody>
      </p:sp>
      <p:sp>
        <p:nvSpPr>
          <p:cNvPr id="6" name="コンテンツ プレースホルダー 24">
            <a:extLst>
              <a:ext uri="{FF2B5EF4-FFF2-40B4-BE49-F238E27FC236}">
                <a16:creationId xmlns:a16="http://schemas.microsoft.com/office/drawing/2014/main" id="{C640D8F5-2573-806C-C8EC-19E75B4D4250}"/>
              </a:ext>
            </a:extLst>
          </p:cNvPr>
          <p:cNvSpPr>
            <a:spLocks noGrp="1"/>
          </p:cNvSpPr>
          <p:nvPr>
            <p:ph idx="1"/>
          </p:nvPr>
        </p:nvSpPr>
        <p:spPr>
          <a:xfrm>
            <a:off x="568633" y="994596"/>
            <a:ext cx="11036465" cy="1096964"/>
          </a:xfrm>
        </p:spPr>
        <p:txBody>
          <a:bodyPr>
            <a:noAutofit/>
          </a:bodyPr>
          <a:lstStyle/>
          <a:p>
            <a:r>
              <a:rPr lang="en-US" altLang="ja-JP" sz="2550" b="1" u="sng" dirty="0"/>
              <a:t>Objective: Investigation of the Layer Separation Effect in OST-AR</a:t>
            </a:r>
          </a:p>
          <a:p>
            <a:r>
              <a:rPr lang="en-US" altLang="ja-JP" dirty="0"/>
              <a:t>Layer Separation Effect:</a:t>
            </a:r>
            <a:r>
              <a:rPr lang="ja-JP" altLang="en-US" dirty="0"/>
              <a:t> </a:t>
            </a:r>
            <a:r>
              <a:rPr lang="en-US" altLang="ja-JP" dirty="0"/>
              <a:t>Independent perception of BG and FG enabling constancy</a:t>
            </a:r>
            <a:endParaRPr lang="ja-JP" altLang="en-US" dirty="0"/>
          </a:p>
        </p:txBody>
      </p:sp>
      <p:sp>
        <p:nvSpPr>
          <p:cNvPr id="7" name="コンテンツ プレースホルダー 24">
            <a:extLst>
              <a:ext uri="{FF2B5EF4-FFF2-40B4-BE49-F238E27FC236}">
                <a16:creationId xmlns:a16="http://schemas.microsoft.com/office/drawing/2014/main" id="{1D583BF8-4F2E-E547-9BF5-4D47276BD09B}"/>
              </a:ext>
            </a:extLst>
          </p:cNvPr>
          <p:cNvSpPr txBox="1">
            <a:spLocks/>
          </p:cNvSpPr>
          <p:nvPr/>
        </p:nvSpPr>
        <p:spPr>
          <a:xfrm>
            <a:off x="568633" y="2225721"/>
            <a:ext cx="11288411" cy="4632280"/>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Font typeface="Arial" panose="020B0604020202020204" pitchFamily="34" charset="0"/>
              <a:buNone/>
              <a:defRPr kumimoji="1" sz="2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550" b="1" u="sng" dirty="0"/>
              <a:t>Method: Brightness-Matching Task</a:t>
            </a:r>
          </a:p>
          <a:p>
            <a:r>
              <a:rPr lang="en-US" altLang="ja-JP" dirty="0"/>
              <a:t>Adjusted the intensity of the AR overlay </a:t>
            </a:r>
          </a:p>
          <a:p>
            <a:r>
              <a:rPr lang="ja-JP" altLang="en-US" dirty="0"/>
              <a:t>→</a:t>
            </a:r>
            <a:r>
              <a:rPr lang="en-US" altLang="ja-JP" dirty="0"/>
              <a:t>Match the brightness of the real-world cube</a:t>
            </a:r>
          </a:p>
          <a:p>
            <a:endParaRPr lang="en-US" altLang="ja-JP" sz="2400" dirty="0"/>
          </a:p>
          <a:p>
            <a:r>
              <a:rPr lang="en-US" altLang="ja-JP" sz="2400" dirty="0"/>
              <a:t>Stimuli: </a:t>
            </a:r>
          </a:p>
          <a:p>
            <a:r>
              <a:rPr lang="en-US" altLang="ja-JP" sz="2400" dirty="0"/>
              <a:t>6 types of AR overlay</a:t>
            </a:r>
          </a:p>
          <a:p>
            <a:endParaRPr lang="en-US" altLang="ja-JP" sz="2400" dirty="0"/>
          </a:p>
          <a:p>
            <a:endParaRPr lang="en-US" altLang="ja-JP" sz="2400" dirty="0"/>
          </a:p>
          <a:p>
            <a:endParaRPr lang="en-US" altLang="ja-JP" sz="2400" dirty="0"/>
          </a:p>
        </p:txBody>
      </p:sp>
      <p:pic>
        <p:nvPicPr>
          <p:cNvPr id="5" name="図 4">
            <a:extLst>
              <a:ext uri="{FF2B5EF4-FFF2-40B4-BE49-F238E27FC236}">
                <a16:creationId xmlns:a16="http://schemas.microsoft.com/office/drawing/2014/main" id="{95104D32-F40D-3635-81FF-165B5E0662E5}"/>
              </a:ext>
            </a:extLst>
          </p:cNvPr>
          <p:cNvPicPr>
            <a:picLocks noChangeAspect="1"/>
          </p:cNvPicPr>
          <p:nvPr/>
        </p:nvPicPr>
        <p:blipFill>
          <a:blip r:embed="rId3"/>
          <a:stretch>
            <a:fillRect/>
          </a:stretch>
        </p:blipFill>
        <p:spPr>
          <a:xfrm>
            <a:off x="4184493" y="3863358"/>
            <a:ext cx="4351282" cy="2226895"/>
          </a:xfrm>
          <a:prstGeom prst="rect">
            <a:avLst/>
          </a:prstGeom>
        </p:spPr>
      </p:pic>
      <p:pic>
        <p:nvPicPr>
          <p:cNvPr id="12" name="図 11">
            <a:extLst>
              <a:ext uri="{FF2B5EF4-FFF2-40B4-BE49-F238E27FC236}">
                <a16:creationId xmlns:a16="http://schemas.microsoft.com/office/drawing/2014/main" id="{F78BCCA8-60EA-1191-7E18-208A8C5C34A5}"/>
              </a:ext>
            </a:extLst>
          </p:cNvPr>
          <p:cNvPicPr>
            <a:picLocks noChangeAspect="1"/>
          </p:cNvPicPr>
          <p:nvPr/>
        </p:nvPicPr>
        <p:blipFill>
          <a:blip r:embed="rId4"/>
          <a:stretch>
            <a:fillRect/>
          </a:stretch>
        </p:blipFill>
        <p:spPr>
          <a:xfrm>
            <a:off x="8755118" y="2335553"/>
            <a:ext cx="2314455" cy="3754700"/>
          </a:xfrm>
          <a:prstGeom prst="rect">
            <a:avLst/>
          </a:prstGeom>
        </p:spPr>
      </p:pic>
      <p:cxnSp>
        <p:nvCxnSpPr>
          <p:cNvPr id="14" name="直線矢印コネクタ 13">
            <a:extLst>
              <a:ext uri="{FF2B5EF4-FFF2-40B4-BE49-F238E27FC236}">
                <a16:creationId xmlns:a16="http://schemas.microsoft.com/office/drawing/2014/main" id="{F67CF004-CC6A-37A1-B5FC-DA333F1C6058}"/>
              </a:ext>
            </a:extLst>
          </p:cNvPr>
          <p:cNvCxnSpPr>
            <a:cxnSpLocks/>
          </p:cNvCxnSpPr>
          <p:nvPr/>
        </p:nvCxnSpPr>
        <p:spPr>
          <a:xfrm>
            <a:off x="6623967" y="4635060"/>
            <a:ext cx="911950" cy="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3" name="フッター プレースホルダー 4">
            <a:extLst>
              <a:ext uri="{FF2B5EF4-FFF2-40B4-BE49-F238E27FC236}">
                <a16:creationId xmlns:a16="http://schemas.microsoft.com/office/drawing/2014/main" id="{09EFB391-4BF1-8D44-2C58-529BB0DD2EA1}"/>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b="1" dirty="0"/>
              <a:t>M. J. Murdoch, “Brightness matching in optical see through augmented reality,” 2020</a:t>
            </a:r>
            <a:endParaRPr lang="en-US" sz="1100" b="1" dirty="0"/>
          </a:p>
        </p:txBody>
      </p:sp>
      <p:sp>
        <p:nvSpPr>
          <p:cNvPr id="8" name="フッター プレースホルダー 4">
            <a:extLst>
              <a:ext uri="{FF2B5EF4-FFF2-40B4-BE49-F238E27FC236}">
                <a16:creationId xmlns:a16="http://schemas.microsoft.com/office/drawing/2014/main" id="{C78FA5DD-2392-3D6B-4729-12016903FEE0}"/>
              </a:ext>
            </a:extLst>
          </p:cNvPr>
          <p:cNvSpPr txBox="1">
            <a:spLocks/>
          </p:cNvSpPr>
          <p:nvPr/>
        </p:nvSpPr>
        <p:spPr>
          <a:xfrm>
            <a:off x="4571245" y="6162130"/>
            <a:ext cx="3577777" cy="351040"/>
          </a:xfrm>
          <a:prstGeom prst="rect">
            <a:avLst/>
          </a:prstGeom>
        </p:spPr>
        <p:txBody>
          <a:bodyPr anchor="b"/>
          <a:lstStyle>
            <a:defPPr>
              <a:defRPr lang="ja-JP"/>
            </a:defPPr>
            <a:lvl1pPr marL="0" algn="l" defTabSz="914400" rtl="0" eaLnBrk="1" latinLnBrk="0" hangingPunct="1">
              <a:defRPr kumimoji="1" sz="11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sz="1200" dirty="0"/>
              <a:t>Photograph of the observer’s field of view showing the instructions</a:t>
            </a:r>
          </a:p>
        </p:txBody>
      </p:sp>
      <p:sp>
        <p:nvSpPr>
          <p:cNvPr id="9" name="フッター プレースホルダー 4">
            <a:extLst>
              <a:ext uri="{FF2B5EF4-FFF2-40B4-BE49-F238E27FC236}">
                <a16:creationId xmlns:a16="http://schemas.microsoft.com/office/drawing/2014/main" id="{AE848DA2-B34C-3D88-56EE-21C414421B50}"/>
              </a:ext>
            </a:extLst>
          </p:cNvPr>
          <p:cNvSpPr txBox="1">
            <a:spLocks/>
          </p:cNvSpPr>
          <p:nvPr/>
        </p:nvSpPr>
        <p:spPr>
          <a:xfrm>
            <a:off x="8123456" y="5983505"/>
            <a:ext cx="3577777" cy="351040"/>
          </a:xfrm>
          <a:prstGeom prst="rect">
            <a:avLst/>
          </a:prstGeom>
        </p:spPr>
        <p:txBody>
          <a:bodyPr anchor="b"/>
          <a:lstStyle>
            <a:defPPr>
              <a:defRPr lang="ja-JP"/>
            </a:defPPr>
            <a:lvl1pPr marL="0" algn="l" defTabSz="914400" rtl="0" eaLnBrk="1" latinLnBrk="0" hangingPunct="1">
              <a:defRPr kumimoji="1" sz="11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sz="1200" dirty="0"/>
              <a:t>Overlays</a:t>
            </a:r>
          </a:p>
        </p:txBody>
      </p:sp>
    </p:spTree>
    <p:extLst>
      <p:ext uri="{BB962C8B-B14F-4D97-AF65-F5344CB8AC3E}">
        <p14:creationId xmlns:p14="http://schemas.microsoft.com/office/powerpoint/2010/main" val="11878505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043CB-74A3-6C7B-2012-70FB6FAF768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09AE6D4-A28C-38C0-7D15-AB055F1082F5}"/>
              </a:ext>
            </a:extLst>
          </p:cNvPr>
          <p:cNvSpPr>
            <a:spLocks noGrp="1"/>
          </p:cNvSpPr>
          <p:nvPr>
            <p:ph type="title"/>
          </p:nvPr>
        </p:nvSpPr>
        <p:spPr/>
        <p:txBody>
          <a:bodyPr/>
          <a:lstStyle/>
          <a:p>
            <a:r>
              <a:rPr lang="en-US" altLang="ja-JP" b="1" dirty="0">
                <a:solidFill>
                  <a:schemeClr val="accent1"/>
                </a:solidFill>
                <a:latin typeface="+mn-lt"/>
                <a:ea typeface="+mj-ea"/>
              </a:rPr>
              <a:t>Paper4-2: Results</a:t>
            </a:r>
            <a:endParaRPr kumimoji="1" lang="ja-JP" altLang="en-US" sz="3600" b="1" dirty="0">
              <a:solidFill>
                <a:schemeClr val="accent1"/>
              </a:solidFill>
              <a:latin typeface="+mn-lt"/>
              <a:ea typeface="+mj-ea"/>
            </a:endParaRPr>
          </a:p>
        </p:txBody>
      </p:sp>
      <p:sp>
        <p:nvSpPr>
          <p:cNvPr id="4" name="スライド番号プレースホルダー 3">
            <a:extLst>
              <a:ext uri="{FF2B5EF4-FFF2-40B4-BE49-F238E27FC236}">
                <a16:creationId xmlns:a16="http://schemas.microsoft.com/office/drawing/2014/main" id="{14ED7193-925C-EFA9-5BC3-04069B0C4FCC}"/>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30</a:t>
            </a:fld>
            <a:endParaRPr lang="en-US"/>
          </a:p>
        </p:txBody>
      </p:sp>
      <p:sp>
        <p:nvSpPr>
          <p:cNvPr id="6" name="コンテンツ プレースホルダー 24">
            <a:extLst>
              <a:ext uri="{FF2B5EF4-FFF2-40B4-BE49-F238E27FC236}">
                <a16:creationId xmlns:a16="http://schemas.microsoft.com/office/drawing/2014/main" id="{DD824C69-B1EE-A427-81B8-2C97ADA91399}"/>
              </a:ext>
            </a:extLst>
          </p:cNvPr>
          <p:cNvSpPr>
            <a:spLocks noGrp="1"/>
          </p:cNvSpPr>
          <p:nvPr>
            <p:ph idx="1"/>
          </p:nvPr>
        </p:nvSpPr>
        <p:spPr>
          <a:xfrm>
            <a:off x="568633" y="994596"/>
            <a:ext cx="11036465" cy="4933238"/>
          </a:xfrm>
        </p:spPr>
        <p:txBody>
          <a:bodyPr>
            <a:noAutofit/>
          </a:bodyPr>
          <a:lstStyle/>
          <a:p>
            <a:r>
              <a:rPr lang="en-US" altLang="ja-JP" sz="2550" b="1" u="sng" dirty="0"/>
              <a:t>Results: Oversizing Increases Required Luminance</a:t>
            </a:r>
          </a:p>
          <a:p>
            <a:endParaRPr lang="en-US" altLang="ja-JP" sz="2550" b="1" u="sng" dirty="0"/>
          </a:p>
          <a:p>
            <a:pPr marL="342900" indent="-342900">
              <a:buFont typeface="Arial" panose="020B0604020202020204" pitchFamily="34" charset="0"/>
              <a:buChar char="•"/>
            </a:pPr>
            <a:r>
              <a:rPr lang="en-US" altLang="ja-JP" dirty="0"/>
              <a:t>Oversized overlays require more luminance</a:t>
            </a:r>
          </a:p>
          <a:p>
            <a:pPr marL="342900" indent="-342900">
              <a:buFont typeface="Arial" panose="020B0604020202020204" pitchFamily="34" charset="0"/>
              <a:buChar char="•"/>
            </a:pPr>
            <a:r>
              <a:rPr lang="en-US" altLang="ja-JP" dirty="0"/>
              <a:t>Required luminance increases with overlay size</a:t>
            </a:r>
          </a:p>
          <a:p>
            <a:endParaRPr lang="en-US" altLang="ja-JP" dirty="0"/>
          </a:p>
          <a:p>
            <a:r>
              <a:rPr lang="en-US" altLang="ja-JP" b="1" dirty="0"/>
              <a:t>Hypothesis Supported</a:t>
            </a:r>
          </a:p>
          <a:p>
            <a:r>
              <a:rPr lang="en-US" altLang="ja-JP" dirty="0"/>
              <a:t>Oversized overlay</a:t>
            </a:r>
          </a:p>
          <a:p>
            <a:r>
              <a:rPr lang="ja-JP" altLang="en-US" dirty="0"/>
              <a:t>→ </a:t>
            </a:r>
            <a:r>
              <a:rPr lang="en-US" altLang="ja-JP" dirty="0"/>
              <a:t>More obviously perceived as a transparent layer</a:t>
            </a:r>
          </a:p>
          <a:p>
            <a:r>
              <a:rPr lang="ja-JP" altLang="en-US" dirty="0"/>
              <a:t>→</a:t>
            </a:r>
            <a:r>
              <a:rPr lang="en-US" altLang="ja-JP" dirty="0"/>
              <a:t> Stronger foreground discounting</a:t>
            </a:r>
          </a:p>
          <a:p>
            <a:r>
              <a:rPr lang="ja-JP" altLang="en-US" dirty="0"/>
              <a:t>→ </a:t>
            </a:r>
            <a:r>
              <a:rPr lang="en-US" altLang="ja-JP" dirty="0"/>
              <a:t>More luminance is required</a:t>
            </a:r>
          </a:p>
          <a:p>
            <a:r>
              <a:rPr lang="en-US" altLang="ja-JP" dirty="0"/>
              <a:t> </a:t>
            </a:r>
          </a:p>
          <a:p>
            <a:endParaRPr lang="en-US" altLang="ja-JP" dirty="0"/>
          </a:p>
          <a:p>
            <a:endParaRPr lang="en-US" altLang="ja-JP" dirty="0"/>
          </a:p>
          <a:p>
            <a:endParaRPr lang="en-US" altLang="ja-JP" sz="2550" b="1" u="sng" dirty="0"/>
          </a:p>
          <a:p>
            <a:endParaRPr lang="ja-JP" altLang="en-US" dirty="0"/>
          </a:p>
        </p:txBody>
      </p:sp>
      <p:pic>
        <p:nvPicPr>
          <p:cNvPr id="8" name="図 7">
            <a:extLst>
              <a:ext uri="{FF2B5EF4-FFF2-40B4-BE49-F238E27FC236}">
                <a16:creationId xmlns:a16="http://schemas.microsoft.com/office/drawing/2014/main" id="{917BB313-1009-AAFF-7BB0-221F37355AAD}"/>
              </a:ext>
            </a:extLst>
          </p:cNvPr>
          <p:cNvPicPr>
            <a:picLocks noChangeAspect="1"/>
          </p:cNvPicPr>
          <p:nvPr/>
        </p:nvPicPr>
        <p:blipFill>
          <a:blip r:embed="rId3"/>
          <a:stretch>
            <a:fillRect/>
          </a:stretch>
        </p:blipFill>
        <p:spPr>
          <a:xfrm>
            <a:off x="7173775" y="1938540"/>
            <a:ext cx="4550049" cy="2980920"/>
          </a:xfrm>
          <a:prstGeom prst="rect">
            <a:avLst/>
          </a:prstGeom>
        </p:spPr>
      </p:pic>
      <p:sp>
        <p:nvSpPr>
          <p:cNvPr id="3" name="フッター プレースホルダー 4">
            <a:extLst>
              <a:ext uri="{FF2B5EF4-FFF2-40B4-BE49-F238E27FC236}">
                <a16:creationId xmlns:a16="http://schemas.microsoft.com/office/drawing/2014/main" id="{CDD82CAC-4516-2A6B-9E47-EBCF28D9FF9F}"/>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b="1" dirty="0"/>
              <a:t>M. J. Murdoch, “Brightness matching in optical see through augmented reality,” 2020</a:t>
            </a:r>
            <a:endParaRPr lang="en-US" sz="1100" b="1" dirty="0"/>
          </a:p>
        </p:txBody>
      </p:sp>
      <p:sp>
        <p:nvSpPr>
          <p:cNvPr id="5" name="フッター プレースホルダー 4">
            <a:extLst>
              <a:ext uri="{FF2B5EF4-FFF2-40B4-BE49-F238E27FC236}">
                <a16:creationId xmlns:a16="http://schemas.microsoft.com/office/drawing/2014/main" id="{B4D651BA-1673-5F1E-76FF-F9C0751C2A7B}"/>
              </a:ext>
            </a:extLst>
          </p:cNvPr>
          <p:cNvSpPr txBox="1">
            <a:spLocks/>
          </p:cNvSpPr>
          <p:nvPr/>
        </p:nvSpPr>
        <p:spPr>
          <a:xfrm>
            <a:off x="7918222" y="4815817"/>
            <a:ext cx="3577777" cy="351040"/>
          </a:xfrm>
          <a:prstGeom prst="rect">
            <a:avLst/>
          </a:prstGeom>
        </p:spPr>
        <p:txBody>
          <a:bodyPr anchor="b"/>
          <a:lstStyle>
            <a:defPPr>
              <a:defRPr lang="ja-JP"/>
            </a:defPPr>
            <a:lvl1pPr marL="0" algn="l" defTabSz="914400" rtl="0" eaLnBrk="1" latinLnBrk="0" hangingPunct="1">
              <a:defRPr kumimoji="1" sz="11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sz="1200" dirty="0"/>
              <a:t>Overall results shown in a split-violin plot</a:t>
            </a:r>
          </a:p>
        </p:txBody>
      </p:sp>
    </p:spTree>
    <p:extLst>
      <p:ext uri="{BB962C8B-B14F-4D97-AF65-F5344CB8AC3E}">
        <p14:creationId xmlns:p14="http://schemas.microsoft.com/office/powerpoint/2010/main" val="31274130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F0C10-1D18-9617-A950-DFE8260D3B9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F92DE11-CAC6-5BB1-9733-5A9E0A36B998}"/>
              </a:ext>
            </a:extLst>
          </p:cNvPr>
          <p:cNvSpPr>
            <a:spLocks noGrp="1"/>
          </p:cNvSpPr>
          <p:nvPr>
            <p:ph type="title"/>
          </p:nvPr>
        </p:nvSpPr>
        <p:spPr/>
        <p:txBody>
          <a:bodyPr/>
          <a:lstStyle/>
          <a:p>
            <a:r>
              <a:rPr lang="en-US" altLang="ja-JP" b="1" dirty="0">
                <a:solidFill>
                  <a:schemeClr val="accent1"/>
                </a:solidFill>
                <a:latin typeface="+mn-lt"/>
              </a:rPr>
              <a:t>Paper 4-3: Objective and Method </a:t>
            </a:r>
            <a:endParaRPr kumimoji="1" lang="ja-JP" altLang="en-US" sz="3600"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0E42CA07-735B-278F-DD4A-02E5E4C832B6}"/>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31</a:t>
            </a:fld>
            <a:endParaRPr lang="en-US"/>
          </a:p>
        </p:txBody>
      </p:sp>
      <p:sp>
        <p:nvSpPr>
          <p:cNvPr id="25" name="コンテンツ プレースホルダー 24">
            <a:extLst>
              <a:ext uri="{FF2B5EF4-FFF2-40B4-BE49-F238E27FC236}">
                <a16:creationId xmlns:a16="http://schemas.microsoft.com/office/drawing/2014/main" id="{61D46A13-FEAD-989E-AC04-085DA14713EB}"/>
              </a:ext>
            </a:extLst>
          </p:cNvPr>
          <p:cNvSpPr>
            <a:spLocks noGrp="1"/>
          </p:cNvSpPr>
          <p:nvPr>
            <p:ph idx="1"/>
          </p:nvPr>
        </p:nvSpPr>
        <p:spPr>
          <a:xfrm>
            <a:off x="568633" y="994595"/>
            <a:ext cx="11036465" cy="1142549"/>
          </a:xfrm>
        </p:spPr>
        <p:txBody>
          <a:bodyPr>
            <a:normAutofit/>
          </a:bodyPr>
          <a:lstStyle/>
          <a:p>
            <a:r>
              <a:rPr lang="en-US" altLang="ja-JP" sz="2550" b="1" u="sng" dirty="0"/>
              <a:t>Objective: Prediction of Luminance Required for Opaque Perception</a:t>
            </a:r>
          </a:p>
          <a:p>
            <a:r>
              <a:rPr lang="en-US" altLang="ja-JP" dirty="0"/>
              <a:t>(1) Determine required luminance  (2) Propose a prediction model</a:t>
            </a:r>
            <a:endParaRPr lang="ja-JP" altLang="en-US" dirty="0"/>
          </a:p>
        </p:txBody>
      </p:sp>
      <p:sp>
        <p:nvSpPr>
          <p:cNvPr id="3" name="コンテンツ プレースホルダー 24">
            <a:extLst>
              <a:ext uri="{FF2B5EF4-FFF2-40B4-BE49-F238E27FC236}">
                <a16:creationId xmlns:a16="http://schemas.microsoft.com/office/drawing/2014/main" id="{25390267-35A4-40C8-DC69-A15ACF6B0DD9}"/>
              </a:ext>
            </a:extLst>
          </p:cNvPr>
          <p:cNvSpPr txBox="1">
            <a:spLocks/>
          </p:cNvSpPr>
          <p:nvPr/>
        </p:nvSpPr>
        <p:spPr>
          <a:xfrm>
            <a:off x="568632" y="2271304"/>
            <a:ext cx="11036465" cy="4163779"/>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Font typeface="Arial" panose="020B0604020202020204" pitchFamily="34" charset="0"/>
              <a:buNone/>
              <a:defRPr kumimoji="1" sz="2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550" b="1" u="sng" dirty="0"/>
              <a:t>Method: Luminance Adjustment for Opaque Perception</a:t>
            </a:r>
          </a:p>
          <a:p>
            <a:r>
              <a:rPr lang="en-US" altLang="ja-JP" b="1" dirty="0"/>
              <a:t>Using custom HDR multi-focal display</a:t>
            </a:r>
          </a:p>
          <a:p>
            <a:r>
              <a:rPr lang="en-US" altLang="ja-JP" dirty="0"/>
              <a:t>~4000 cd/m</a:t>
            </a:r>
            <a:r>
              <a:rPr lang="en-US" altLang="ja-JP" baseline="30000" dirty="0"/>
              <a:t>2</a:t>
            </a:r>
          </a:p>
          <a:p>
            <a:r>
              <a:rPr lang="en-US" altLang="ja-JP" b="1" dirty="0"/>
              <a:t>Stimuli</a:t>
            </a:r>
          </a:p>
          <a:p>
            <a:r>
              <a:rPr lang="en-US" altLang="ja-JP" dirty="0"/>
              <a:t>Background luminance: 2, 20 cd/m</a:t>
            </a:r>
            <a:r>
              <a:rPr lang="en-US" altLang="ja-JP" baseline="30000" dirty="0"/>
              <a:t>2</a:t>
            </a:r>
            <a:endParaRPr lang="en-US" altLang="ja-JP" b="0" baseline="30000" dirty="0"/>
          </a:p>
          <a:p>
            <a:r>
              <a:rPr lang="en-US" altLang="ja-JP" dirty="0"/>
              <a:t>Contrast of the virtual object: 0.1, 0.5</a:t>
            </a:r>
          </a:p>
          <a:p>
            <a:r>
              <a:rPr lang="en-US" altLang="ja-JP" dirty="0"/>
              <a:t>Frequency of the virtual object: 1,6 </a:t>
            </a:r>
            <a:r>
              <a:rPr lang="en-US" altLang="ja-JP" dirty="0" err="1"/>
              <a:t>cpd</a:t>
            </a:r>
            <a:endParaRPr lang="en-US" altLang="ja-JP" dirty="0"/>
          </a:p>
          <a:p>
            <a:r>
              <a:rPr lang="en-US" altLang="ja-JP" dirty="0"/>
              <a:t>Depth of the virtual object: 1.93, 1.23 D</a:t>
            </a:r>
          </a:p>
          <a:p>
            <a:endParaRPr lang="en-US" altLang="ja-JP" dirty="0"/>
          </a:p>
          <a:p>
            <a:endParaRPr lang="en-US" altLang="ja-JP" dirty="0"/>
          </a:p>
        </p:txBody>
      </p:sp>
      <p:pic>
        <p:nvPicPr>
          <p:cNvPr id="7" name="図 6">
            <a:extLst>
              <a:ext uri="{FF2B5EF4-FFF2-40B4-BE49-F238E27FC236}">
                <a16:creationId xmlns:a16="http://schemas.microsoft.com/office/drawing/2014/main" id="{77DFCA94-D22D-DB2D-BCC4-78DFAE5F22F5}"/>
              </a:ext>
            </a:extLst>
          </p:cNvPr>
          <p:cNvPicPr>
            <a:picLocks noChangeAspect="1"/>
          </p:cNvPicPr>
          <p:nvPr/>
        </p:nvPicPr>
        <p:blipFill>
          <a:blip r:embed="rId3"/>
          <a:stretch>
            <a:fillRect/>
          </a:stretch>
        </p:blipFill>
        <p:spPr>
          <a:xfrm>
            <a:off x="6504482" y="3088658"/>
            <a:ext cx="4483557" cy="2789987"/>
          </a:xfrm>
          <a:prstGeom prst="rect">
            <a:avLst/>
          </a:prstGeom>
        </p:spPr>
      </p:pic>
      <p:sp>
        <p:nvSpPr>
          <p:cNvPr id="5" name="フッター プレースホルダー 4">
            <a:extLst>
              <a:ext uri="{FF2B5EF4-FFF2-40B4-BE49-F238E27FC236}">
                <a16:creationId xmlns:a16="http://schemas.microsoft.com/office/drawing/2014/main" id="{4D026396-49FC-5FC2-D4AF-F8EABC377A98}"/>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b="1" dirty="0"/>
              <a:t>J. Liu, A. Jindal, C. Mantel, S. Forchhammer, and R. K. </a:t>
            </a:r>
            <a:r>
              <a:rPr lang="en-US" b="1" dirty="0" err="1"/>
              <a:t>Mantiuk</a:t>
            </a:r>
            <a:r>
              <a:rPr lang="en-US" b="1" dirty="0"/>
              <a:t>, “How bright should a virtual object be to appear opaque in optical see-through </a:t>
            </a:r>
            <a:r>
              <a:rPr lang="en-US" b="1" dirty="0" err="1"/>
              <a:t>ar</a:t>
            </a:r>
            <a:r>
              <a:rPr lang="en-US" b="1" dirty="0"/>
              <a:t>?” 2022</a:t>
            </a:r>
            <a:endParaRPr lang="en-US" sz="1100" b="1" dirty="0"/>
          </a:p>
        </p:txBody>
      </p:sp>
      <p:sp>
        <p:nvSpPr>
          <p:cNvPr id="6" name="フッター プレースホルダー 4">
            <a:extLst>
              <a:ext uri="{FF2B5EF4-FFF2-40B4-BE49-F238E27FC236}">
                <a16:creationId xmlns:a16="http://schemas.microsoft.com/office/drawing/2014/main" id="{2E4B0B94-68D8-425F-378D-45929292A6FA}"/>
              </a:ext>
            </a:extLst>
          </p:cNvPr>
          <p:cNvSpPr txBox="1">
            <a:spLocks/>
          </p:cNvSpPr>
          <p:nvPr/>
        </p:nvSpPr>
        <p:spPr>
          <a:xfrm>
            <a:off x="6957371" y="5922609"/>
            <a:ext cx="3577777" cy="351040"/>
          </a:xfrm>
          <a:prstGeom prst="rect">
            <a:avLst/>
          </a:prstGeom>
        </p:spPr>
        <p:txBody>
          <a:bodyPr anchor="b"/>
          <a:lstStyle>
            <a:defPPr>
              <a:defRPr lang="ja-JP"/>
            </a:defPPr>
            <a:lvl1pPr marL="0" algn="l" defTabSz="914400" rtl="0" eaLnBrk="1" latinLnBrk="0" hangingPunct="1">
              <a:defRPr kumimoji="1" sz="11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sz="1200" dirty="0"/>
              <a:t>The schematic of the high-dynamic-range stereo multifocal display</a:t>
            </a:r>
          </a:p>
        </p:txBody>
      </p:sp>
    </p:spTree>
    <p:extLst>
      <p:ext uri="{BB962C8B-B14F-4D97-AF65-F5344CB8AC3E}">
        <p14:creationId xmlns:p14="http://schemas.microsoft.com/office/powerpoint/2010/main" val="10202609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37F6E-C423-5551-CBC2-81733EE93A0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6C612DE-83EC-C894-BC11-F0E049D0D5E6}"/>
              </a:ext>
            </a:extLst>
          </p:cNvPr>
          <p:cNvSpPr>
            <a:spLocks noGrp="1"/>
          </p:cNvSpPr>
          <p:nvPr>
            <p:ph type="title"/>
          </p:nvPr>
        </p:nvSpPr>
        <p:spPr/>
        <p:txBody>
          <a:bodyPr/>
          <a:lstStyle/>
          <a:p>
            <a:r>
              <a:rPr lang="en-US" altLang="ja-JP" b="1" dirty="0">
                <a:solidFill>
                  <a:schemeClr val="accent1"/>
                </a:solidFill>
                <a:latin typeface="+mn-lt"/>
              </a:rPr>
              <a:t>Paper 4-3: Results</a:t>
            </a:r>
            <a:endParaRPr kumimoji="1" lang="ja-JP" altLang="en-US" sz="3600"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0A4A4F2A-6D05-1CCC-7411-F20DFBE1B7AC}"/>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32</a:t>
            </a:fld>
            <a:endParaRPr lang="en-US"/>
          </a:p>
        </p:txBody>
      </p:sp>
      <p:sp>
        <p:nvSpPr>
          <p:cNvPr id="25" name="コンテンツ プレースホルダー 24">
            <a:extLst>
              <a:ext uri="{FF2B5EF4-FFF2-40B4-BE49-F238E27FC236}">
                <a16:creationId xmlns:a16="http://schemas.microsoft.com/office/drawing/2014/main" id="{6E1F3E2B-6466-C78F-0614-A08F5E953614}"/>
              </a:ext>
            </a:extLst>
          </p:cNvPr>
          <p:cNvSpPr>
            <a:spLocks noGrp="1"/>
          </p:cNvSpPr>
          <p:nvPr>
            <p:ph idx="1"/>
          </p:nvPr>
        </p:nvSpPr>
        <p:spPr>
          <a:xfrm>
            <a:off x="568633" y="994595"/>
            <a:ext cx="11036465" cy="5777442"/>
          </a:xfrm>
        </p:spPr>
        <p:txBody>
          <a:bodyPr>
            <a:normAutofit/>
          </a:bodyPr>
          <a:lstStyle/>
          <a:p>
            <a:r>
              <a:rPr lang="en-US" altLang="ja-JP" sz="2550" b="1" u="sng" dirty="0"/>
              <a:t>Required Luminance: ~60x Background Level</a:t>
            </a:r>
          </a:p>
          <a:p>
            <a:r>
              <a:rPr lang="en-US" altLang="ja-JP" b="1" dirty="0"/>
              <a:t>Influencing factors</a:t>
            </a:r>
          </a:p>
          <a:p>
            <a:r>
              <a:rPr lang="en-US" altLang="ja-JP" dirty="0"/>
              <a:t>BG luminance: Dominant(~10x </a:t>
            </a:r>
            <a:r>
              <a:rPr lang="ja-JP" altLang="en-US" dirty="0"/>
              <a:t>→</a:t>
            </a:r>
            <a:r>
              <a:rPr lang="en-US" altLang="ja-JP" dirty="0"/>
              <a:t>~10x threshold)</a:t>
            </a:r>
          </a:p>
          <a:p>
            <a:r>
              <a:rPr lang="en-US" altLang="ja-JP" dirty="0"/>
              <a:t>Contrast: High contrast </a:t>
            </a:r>
            <a:r>
              <a:rPr lang="ja-JP" altLang="en-US" dirty="0"/>
              <a:t>→ </a:t>
            </a:r>
            <a:r>
              <a:rPr lang="en-US" altLang="ja-JP" dirty="0"/>
              <a:t>less luminance</a:t>
            </a:r>
          </a:p>
          <a:p>
            <a:r>
              <a:rPr lang="en-US" altLang="ja-JP" dirty="0"/>
              <a:t>Depth: More blur </a:t>
            </a:r>
            <a:r>
              <a:rPr lang="ja-JP" altLang="en-US" dirty="0"/>
              <a:t>→ </a:t>
            </a:r>
            <a:r>
              <a:rPr lang="en-US" altLang="ja-JP" dirty="0"/>
              <a:t>less luminance</a:t>
            </a:r>
          </a:p>
          <a:p>
            <a:r>
              <a:rPr lang="en-US" altLang="ja-JP" dirty="0"/>
              <a:t>Frequency: Negligible impact</a:t>
            </a:r>
          </a:p>
          <a:p>
            <a:endParaRPr lang="en-US" altLang="ja-JP" dirty="0"/>
          </a:p>
          <a:p>
            <a:r>
              <a:rPr lang="en-US" altLang="ja-JP" b="1" dirty="0"/>
              <a:t>Required luminance</a:t>
            </a:r>
          </a:p>
          <a:p>
            <a:r>
              <a:rPr lang="en-US" altLang="ja-JP" dirty="0"/>
              <a:t>Average: 60 times brighter than background</a:t>
            </a:r>
          </a:p>
          <a:p>
            <a:r>
              <a:rPr lang="en-US" altLang="ja-JP" dirty="0"/>
              <a:t>Mitigating Effect: reduce to 40 times (with high contrast and defocus)</a:t>
            </a:r>
          </a:p>
          <a:p>
            <a:endParaRPr lang="en-US" altLang="ja-JP" b="1" dirty="0"/>
          </a:p>
        </p:txBody>
      </p:sp>
      <p:pic>
        <p:nvPicPr>
          <p:cNvPr id="6" name="図 5">
            <a:extLst>
              <a:ext uri="{FF2B5EF4-FFF2-40B4-BE49-F238E27FC236}">
                <a16:creationId xmlns:a16="http://schemas.microsoft.com/office/drawing/2014/main" id="{A0026ADB-5615-5D9F-6A86-3E1C85EA398B}"/>
              </a:ext>
            </a:extLst>
          </p:cNvPr>
          <p:cNvPicPr>
            <a:picLocks noChangeAspect="1"/>
          </p:cNvPicPr>
          <p:nvPr/>
        </p:nvPicPr>
        <p:blipFill>
          <a:blip r:embed="rId3"/>
          <a:stretch>
            <a:fillRect/>
          </a:stretch>
        </p:blipFill>
        <p:spPr>
          <a:xfrm>
            <a:off x="7097548" y="1621211"/>
            <a:ext cx="4525819" cy="3136972"/>
          </a:xfrm>
          <a:prstGeom prst="rect">
            <a:avLst/>
          </a:prstGeom>
        </p:spPr>
      </p:pic>
      <p:sp>
        <p:nvSpPr>
          <p:cNvPr id="3" name="フッター プレースホルダー 4">
            <a:extLst>
              <a:ext uri="{FF2B5EF4-FFF2-40B4-BE49-F238E27FC236}">
                <a16:creationId xmlns:a16="http://schemas.microsoft.com/office/drawing/2014/main" id="{C202BD0B-69B2-7514-D248-EF8A1612CA9A}"/>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b="1" dirty="0"/>
              <a:t>J. Liu, A. Jindal, C. Mantel, S. Forchhammer, and R. K. </a:t>
            </a:r>
            <a:r>
              <a:rPr lang="en-US" b="1" dirty="0" err="1"/>
              <a:t>Mantiuk</a:t>
            </a:r>
            <a:r>
              <a:rPr lang="en-US" b="1" dirty="0"/>
              <a:t>, “How bright should a virtual object be to appear opaque in optical see-through </a:t>
            </a:r>
            <a:r>
              <a:rPr lang="en-US" b="1" dirty="0" err="1"/>
              <a:t>ar</a:t>
            </a:r>
            <a:r>
              <a:rPr lang="en-US" b="1" dirty="0"/>
              <a:t>?” 2022</a:t>
            </a:r>
            <a:endParaRPr lang="en-US" sz="1100" b="1" dirty="0"/>
          </a:p>
        </p:txBody>
      </p:sp>
      <p:sp>
        <p:nvSpPr>
          <p:cNvPr id="5" name="フッター プレースホルダー 4">
            <a:extLst>
              <a:ext uri="{FF2B5EF4-FFF2-40B4-BE49-F238E27FC236}">
                <a16:creationId xmlns:a16="http://schemas.microsoft.com/office/drawing/2014/main" id="{F20EC391-64B3-1741-E67B-109BF791B829}"/>
              </a:ext>
            </a:extLst>
          </p:cNvPr>
          <p:cNvSpPr txBox="1">
            <a:spLocks/>
          </p:cNvSpPr>
          <p:nvPr/>
        </p:nvSpPr>
        <p:spPr>
          <a:xfrm>
            <a:off x="7379855" y="4654540"/>
            <a:ext cx="4116144" cy="351040"/>
          </a:xfrm>
          <a:prstGeom prst="rect">
            <a:avLst/>
          </a:prstGeom>
        </p:spPr>
        <p:txBody>
          <a:bodyPr anchor="b"/>
          <a:lstStyle>
            <a:defPPr>
              <a:defRPr lang="ja-JP"/>
            </a:defPPr>
            <a:lvl1pPr marL="0" algn="l" defTabSz="914400" rtl="0" eaLnBrk="1" latinLnBrk="0" hangingPunct="1">
              <a:defRPr kumimoji="1" sz="11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sz="1200" dirty="0"/>
              <a:t>The luminance threshold of opacity for the virtual object</a:t>
            </a:r>
          </a:p>
        </p:txBody>
      </p:sp>
    </p:spTree>
    <p:extLst>
      <p:ext uri="{BB962C8B-B14F-4D97-AF65-F5344CB8AC3E}">
        <p14:creationId xmlns:p14="http://schemas.microsoft.com/office/powerpoint/2010/main" val="3853230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113F8-81B2-5082-3B25-8B7142F987D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BD6B01F-6C95-EAA3-B00F-F4E5A8B3CE8B}"/>
              </a:ext>
            </a:extLst>
          </p:cNvPr>
          <p:cNvSpPr>
            <a:spLocks noGrp="1"/>
          </p:cNvSpPr>
          <p:nvPr>
            <p:ph type="title"/>
          </p:nvPr>
        </p:nvSpPr>
        <p:spPr/>
        <p:txBody>
          <a:bodyPr/>
          <a:lstStyle/>
          <a:p>
            <a:r>
              <a:rPr lang="en-US" altLang="ja-JP" b="1" dirty="0">
                <a:solidFill>
                  <a:schemeClr val="accent1"/>
                </a:solidFill>
                <a:latin typeface="+mn-lt"/>
              </a:rPr>
              <a:t>Paper 4-3: Model</a:t>
            </a:r>
            <a:endParaRPr kumimoji="1" lang="ja-JP" altLang="en-US" sz="3600"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6E4E83E6-55A5-63C0-4077-2868959FCDB4}"/>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33</a:t>
            </a:fld>
            <a:endParaRPr lang="en-US"/>
          </a:p>
        </p:txBody>
      </p:sp>
      <p:sp>
        <p:nvSpPr>
          <p:cNvPr id="25" name="コンテンツ プレースホルダー 24">
            <a:extLst>
              <a:ext uri="{FF2B5EF4-FFF2-40B4-BE49-F238E27FC236}">
                <a16:creationId xmlns:a16="http://schemas.microsoft.com/office/drawing/2014/main" id="{12475845-7F17-B8FE-04FF-52AA1AEAB18F}"/>
              </a:ext>
            </a:extLst>
          </p:cNvPr>
          <p:cNvSpPr>
            <a:spLocks noGrp="1"/>
          </p:cNvSpPr>
          <p:nvPr>
            <p:ph idx="1"/>
          </p:nvPr>
        </p:nvSpPr>
        <p:spPr>
          <a:xfrm>
            <a:off x="577768" y="951813"/>
            <a:ext cx="11623367" cy="597454"/>
          </a:xfrm>
        </p:spPr>
        <p:txBody>
          <a:bodyPr>
            <a:noAutofit/>
          </a:bodyPr>
          <a:lstStyle/>
          <a:p>
            <a:r>
              <a:rPr lang="en-US" altLang="ja-JP" sz="2550" b="1" u="sng" dirty="0"/>
              <a:t>Model: Signal to Noise Ratio (Using Weber’s Definition of Contrast) </a:t>
            </a:r>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9477EC11-C375-322A-6B97-37F0A9C2580F}"/>
                  </a:ext>
                </a:extLst>
              </p:cNvPr>
              <p:cNvSpPr txBox="1"/>
              <p:nvPr/>
            </p:nvSpPr>
            <p:spPr>
              <a:xfrm>
                <a:off x="577768" y="1627610"/>
                <a:ext cx="5688993" cy="2765501"/>
              </a:xfrm>
              <a:prstGeom prst="rect">
                <a:avLst/>
              </a:prstGeom>
              <a:noFill/>
            </p:spPr>
            <p:txBody>
              <a:bodyPr wrap="none" rtlCol="0">
                <a:spAutoFit/>
              </a:bodyPr>
              <a:lstStyle/>
              <a:p>
                <a:r>
                  <a:rPr kumimoji="1" lang="en-US" altLang="ja-JP" sz="2200" b="1" dirty="0"/>
                  <a:t>Calculate BG contrast </a:t>
                </a:r>
                <a:r>
                  <a:rPr lang="en-US" altLang="ja-JP" sz="2200" b="1" dirty="0"/>
                  <a:t>(</a:t>
                </a:r>
                <a:r>
                  <a:rPr kumimoji="1" lang="en-US" altLang="ja-JP" sz="2200" b="1" dirty="0"/>
                  <a:t>weber’s definition)</a:t>
                </a:r>
                <a:endParaRPr lang="en-US" altLang="ja-JP" sz="2200" b="1" dirty="0"/>
              </a:p>
              <a:p>
                <a:endParaRPr kumimoji="1" lang="en-US" altLang="ja-JP" sz="2200" b="0" i="1" dirty="0"/>
              </a:p>
              <a:p>
                <a:pPr/>
                <a14:m>
                  <m:oMathPara xmlns:m="http://schemas.openxmlformats.org/officeDocument/2006/math">
                    <m:oMathParaPr>
                      <m:jc m:val="centerGroup"/>
                    </m:oMathParaPr>
                    <m:oMath xmlns:m="http://schemas.openxmlformats.org/officeDocument/2006/math">
                      <m:sSub>
                        <m:sSubPr>
                          <m:ctrlPr>
                            <a:rPr kumimoji="1" lang="en-US" altLang="ja-JP" sz="2200" b="0" i="1" smtClean="0">
                              <a:latin typeface="Cambria Math" panose="02040503050406030204" pitchFamily="18" charset="0"/>
                              <a:ea typeface="Cambria Math" panose="02040503050406030204" pitchFamily="18" charset="0"/>
                            </a:rPr>
                          </m:ctrlPr>
                        </m:sSubPr>
                        <m:e>
                          <m:r>
                            <a:rPr kumimoji="1" lang="en-US" altLang="ja-JP" sz="2200" b="0" i="1" smtClean="0">
                              <a:latin typeface="Cambria Math" panose="02040503050406030204" pitchFamily="18" charset="0"/>
                              <a:ea typeface="Cambria Math" panose="02040503050406030204" pitchFamily="18" charset="0"/>
                            </a:rPr>
                            <m:t>𝑐</m:t>
                          </m:r>
                        </m:e>
                        <m:sub>
                          <m:r>
                            <a:rPr kumimoji="1" lang="en-US" altLang="ja-JP" sz="2200" b="0" i="1" smtClean="0">
                              <a:latin typeface="Cambria Math" panose="02040503050406030204" pitchFamily="18" charset="0"/>
                              <a:ea typeface="Cambria Math" panose="02040503050406030204" pitchFamily="18" charset="0"/>
                            </a:rPr>
                            <m:t>𝑏</m:t>
                          </m:r>
                        </m:sub>
                      </m:sSub>
                      <m:r>
                        <a:rPr kumimoji="1" lang="en-US" altLang="ja-JP" sz="2200" b="0" i="1" smtClean="0">
                          <a:latin typeface="Cambria Math" panose="02040503050406030204" pitchFamily="18" charset="0"/>
                          <a:ea typeface="Cambria Math" panose="02040503050406030204" pitchFamily="18" charset="0"/>
                        </a:rPr>
                        <m:t>=</m:t>
                      </m:r>
                      <m:f>
                        <m:fPr>
                          <m:ctrlPr>
                            <a:rPr kumimoji="1" lang="en-US" altLang="ja-JP" sz="2200" b="0" i="1" smtClean="0">
                              <a:latin typeface="Cambria Math" panose="02040503050406030204" pitchFamily="18" charset="0"/>
                              <a:ea typeface="Cambria Math" panose="02040503050406030204" pitchFamily="18" charset="0"/>
                            </a:rPr>
                          </m:ctrlPr>
                        </m:fPr>
                        <m:num>
                          <m:sSub>
                            <m:sSubPr>
                              <m:ctrlPr>
                                <a:rPr kumimoji="1" lang="en-US" altLang="ja-JP" sz="2200" b="0" i="1" smtClean="0">
                                  <a:latin typeface="Cambria Math" panose="02040503050406030204" pitchFamily="18" charset="0"/>
                                  <a:ea typeface="Cambria Math" panose="02040503050406030204" pitchFamily="18" charset="0"/>
                                </a:rPr>
                              </m:ctrlPr>
                            </m:sSubPr>
                            <m:e>
                              <m:r>
                                <a:rPr kumimoji="1" lang="en-US" altLang="ja-JP" sz="2200" b="0" i="1" smtClean="0">
                                  <a:latin typeface="Cambria Math" panose="02040503050406030204" pitchFamily="18" charset="0"/>
                                  <a:ea typeface="Cambria Math" panose="02040503050406030204" pitchFamily="18" charset="0"/>
                                </a:rPr>
                                <m:t>𝑚</m:t>
                              </m:r>
                            </m:e>
                            <m:sub>
                              <m:r>
                                <a:rPr kumimoji="1" lang="en-US" altLang="ja-JP" sz="2200" b="0" i="1" smtClean="0">
                                  <a:latin typeface="Cambria Math" panose="02040503050406030204" pitchFamily="18" charset="0"/>
                                  <a:ea typeface="Cambria Math" panose="02040503050406030204" pitchFamily="18" charset="0"/>
                                </a:rPr>
                                <m:t>𝑏</m:t>
                              </m:r>
                            </m:sub>
                          </m:sSub>
                        </m:num>
                        <m:den>
                          <m:sSub>
                            <m:sSubPr>
                              <m:ctrlPr>
                                <a:rPr kumimoji="1" lang="en-US" altLang="ja-JP" sz="2200" b="0" i="1" smtClean="0">
                                  <a:latin typeface="Cambria Math" panose="02040503050406030204" pitchFamily="18" charset="0"/>
                                  <a:ea typeface="Cambria Math" panose="02040503050406030204" pitchFamily="18" charset="0"/>
                                </a:rPr>
                              </m:ctrlPr>
                            </m:sSubPr>
                            <m:e>
                              <m:r>
                                <a:rPr kumimoji="1" lang="en-US" altLang="ja-JP" sz="2200" b="0" i="1" smtClean="0">
                                  <a:latin typeface="Cambria Math" panose="02040503050406030204" pitchFamily="18" charset="0"/>
                                  <a:ea typeface="Cambria Math" panose="02040503050406030204" pitchFamily="18" charset="0"/>
                                </a:rPr>
                                <m:t>𝐿</m:t>
                              </m:r>
                            </m:e>
                            <m:sub>
                              <m:r>
                                <a:rPr kumimoji="1" lang="en-US" altLang="ja-JP" sz="2200" b="0" i="1" smtClean="0">
                                  <a:latin typeface="Cambria Math" panose="02040503050406030204" pitchFamily="18" charset="0"/>
                                  <a:ea typeface="Cambria Math" panose="02040503050406030204" pitchFamily="18" charset="0"/>
                                </a:rPr>
                                <m:t>𝑏</m:t>
                              </m:r>
                            </m:sub>
                          </m:sSub>
                          <m:r>
                            <a:rPr kumimoji="1" lang="en-US" altLang="ja-JP" sz="2200" b="0" i="1" smtClean="0">
                              <a:latin typeface="Cambria Math" panose="02040503050406030204" pitchFamily="18" charset="0"/>
                              <a:ea typeface="Cambria Math" panose="02040503050406030204" pitchFamily="18" charset="0"/>
                            </a:rPr>
                            <m:t>+</m:t>
                          </m:r>
                          <m:sSub>
                            <m:sSubPr>
                              <m:ctrlPr>
                                <a:rPr kumimoji="1" lang="en-US" altLang="ja-JP" sz="2200" b="0" i="1" smtClean="0">
                                  <a:latin typeface="Cambria Math" panose="02040503050406030204" pitchFamily="18" charset="0"/>
                                  <a:ea typeface="Cambria Math" panose="02040503050406030204" pitchFamily="18" charset="0"/>
                                </a:rPr>
                              </m:ctrlPr>
                            </m:sSubPr>
                            <m:e>
                              <m:r>
                                <a:rPr kumimoji="1" lang="en-US" altLang="ja-JP" sz="2200" b="0" i="1" smtClean="0">
                                  <a:latin typeface="Cambria Math" panose="02040503050406030204" pitchFamily="18" charset="0"/>
                                  <a:ea typeface="Cambria Math" panose="02040503050406030204" pitchFamily="18" charset="0"/>
                                </a:rPr>
                                <m:t>𝐿</m:t>
                              </m:r>
                            </m:e>
                            <m:sub>
                              <m:r>
                                <a:rPr kumimoji="1" lang="en-US" altLang="ja-JP" sz="2200" b="0" i="1" smtClean="0">
                                  <a:latin typeface="Cambria Math" panose="02040503050406030204" pitchFamily="18" charset="0"/>
                                  <a:ea typeface="Cambria Math" panose="02040503050406030204" pitchFamily="18" charset="0"/>
                                </a:rPr>
                                <m:t>𝑡</m:t>
                              </m:r>
                            </m:sub>
                          </m:sSub>
                        </m:den>
                      </m:f>
                    </m:oMath>
                  </m:oMathPara>
                </a14:m>
                <a:endParaRPr kumimoji="1" lang="en-US" altLang="ja-JP" sz="2200" b="0" dirty="0">
                  <a:latin typeface="Cambria Math" panose="02040503050406030204" pitchFamily="18" charset="0"/>
                  <a:ea typeface="Cambria Math" panose="02040503050406030204" pitchFamily="18" charset="0"/>
                </a:endParaRPr>
              </a:p>
              <a:p>
                <a:pPr lvl="0" eaLnBrk="0" fontAlgn="base" hangingPunct="0">
                  <a:spcBef>
                    <a:spcPct val="0"/>
                  </a:spcBef>
                  <a:spcAft>
                    <a:spcPct val="0"/>
                  </a:spcAft>
                </a:pPr>
                <a:endParaRPr kumimoji="0" lang="en-US" altLang="ja-JP" sz="2200" dirty="0">
                  <a:ea typeface="Google Sans Text"/>
                </a:endParaRPr>
              </a:p>
              <a:p>
                <a:pPr lvl="0" eaLnBrk="0" fontAlgn="base" hangingPunct="0">
                  <a:spcBef>
                    <a:spcPct val="0"/>
                  </a:spcBef>
                  <a:spcAft>
                    <a:spcPct val="0"/>
                  </a:spcAft>
                </a:pPr>
                <a14:m>
                  <m:oMath xmlns:m="http://schemas.openxmlformats.org/officeDocument/2006/math">
                    <m:sSub>
                      <m:sSubPr>
                        <m:ctrlPr>
                          <a:rPr lang="en-US" altLang="ja-JP" sz="2200" b="0" i="1" smtClean="0">
                            <a:latin typeface="Cambria Math" panose="02040503050406030204" pitchFamily="18" charset="0"/>
                          </a:rPr>
                        </m:ctrlPr>
                      </m:sSubPr>
                      <m:e>
                        <m:r>
                          <a:rPr lang="en-US" altLang="ja-JP" sz="2200" b="0" i="1" smtClean="0">
                            <a:latin typeface="Cambria Math" panose="02040503050406030204" pitchFamily="18" charset="0"/>
                          </a:rPr>
                          <m:t>𝑚</m:t>
                        </m:r>
                      </m:e>
                      <m:sub>
                        <m:r>
                          <a:rPr lang="en-US" altLang="ja-JP" sz="2200" b="0" i="1" smtClean="0">
                            <a:latin typeface="Cambria Math" panose="02040503050406030204" pitchFamily="18" charset="0"/>
                          </a:rPr>
                          <m:t>𝑏</m:t>
                        </m:r>
                      </m:sub>
                    </m:sSub>
                  </m:oMath>
                </a14:m>
                <a:r>
                  <a:rPr kumimoji="0" lang="en-US" altLang="ja-JP" sz="2200" dirty="0">
                    <a:ea typeface="Google Sans Text"/>
                  </a:rPr>
                  <a:t>: BG l</a:t>
                </a:r>
                <a:r>
                  <a:rPr kumimoji="0" lang="ja-JP" altLang="ja-JP" sz="2200" dirty="0">
                    <a:ea typeface="Google Sans Text"/>
                  </a:rPr>
                  <a:t>uminance amplitude </a:t>
                </a:r>
                <a:endParaRPr kumimoji="0" lang="en-US" altLang="ja-JP" sz="2200" dirty="0">
                  <a:ea typeface="Google Sans Text"/>
                </a:endParaRPr>
              </a:p>
              <a:p>
                <a:pPr lvl="0" eaLnBrk="0" fontAlgn="base" hangingPunct="0">
                  <a:spcBef>
                    <a:spcPct val="0"/>
                  </a:spcBef>
                  <a:spcAft>
                    <a:spcPct val="0"/>
                  </a:spcAft>
                </a:pPr>
                <a14:m>
                  <m:oMath xmlns:m="http://schemas.openxmlformats.org/officeDocument/2006/math">
                    <m:sSub>
                      <m:sSubPr>
                        <m:ctrlPr>
                          <a:rPr lang="en-US" altLang="ja-JP" sz="2200" i="1">
                            <a:latin typeface="Cambria Math" panose="02040503050406030204" pitchFamily="18" charset="0"/>
                          </a:rPr>
                        </m:ctrlPr>
                      </m:sSubPr>
                      <m:e>
                        <m:r>
                          <a:rPr lang="en-US" altLang="ja-JP" sz="2200" b="0" i="1" smtClean="0">
                            <a:latin typeface="Cambria Math" panose="02040503050406030204" pitchFamily="18" charset="0"/>
                          </a:rPr>
                          <m:t>𝐿</m:t>
                        </m:r>
                      </m:e>
                      <m:sub>
                        <m:r>
                          <a:rPr lang="en-US" altLang="ja-JP" sz="2200" i="1">
                            <a:latin typeface="Cambria Math" panose="02040503050406030204" pitchFamily="18" charset="0"/>
                          </a:rPr>
                          <m:t>𝑏</m:t>
                        </m:r>
                      </m:sub>
                    </m:sSub>
                  </m:oMath>
                </a14:m>
                <a:r>
                  <a:rPr kumimoji="0" lang="en-US" altLang="ja-JP" sz="2200" dirty="0">
                    <a:ea typeface="Google Sans Text"/>
                  </a:rPr>
                  <a:t>: </a:t>
                </a:r>
                <a:r>
                  <a:rPr kumimoji="0" lang="ja-JP" altLang="ja-JP" sz="2200" dirty="0">
                    <a:ea typeface="Google Sans Text"/>
                  </a:rPr>
                  <a:t>Mean luminance of </a:t>
                </a:r>
                <a:r>
                  <a:rPr kumimoji="0" lang="en-US" altLang="ja-JP" sz="2200" dirty="0">
                    <a:ea typeface="Google Sans Text"/>
                  </a:rPr>
                  <a:t>BG</a:t>
                </a:r>
                <a:endParaRPr kumimoji="0" lang="ja-JP" altLang="ja-JP" sz="2200" dirty="0">
                  <a:ea typeface="Google Sans Text"/>
                </a:endParaRPr>
              </a:p>
              <a:p>
                <a:pPr lvl="0" eaLnBrk="0" fontAlgn="base" hangingPunct="0">
                  <a:lnSpc>
                    <a:spcPct val="110000"/>
                  </a:lnSpc>
                  <a:spcBef>
                    <a:spcPct val="0"/>
                  </a:spcBef>
                  <a:spcAft>
                    <a:spcPct val="0"/>
                  </a:spcAft>
                </a:pPr>
                <a14:m>
                  <m:oMath xmlns:m="http://schemas.openxmlformats.org/officeDocument/2006/math">
                    <m:sSub>
                      <m:sSubPr>
                        <m:ctrlPr>
                          <a:rPr lang="en-US" altLang="ja-JP" sz="2200" i="1">
                            <a:latin typeface="Cambria Math" panose="02040503050406030204" pitchFamily="18" charset="0"/>
                          </a:rPr>
                        </m:ctrlPr>
                      </m:sSubPr>
                      <m:e>
                        <m:r>
                          <a:rPr lang="en-US" altLang="ja-JP" sz="2200" i="1">
                            <a:latin typeface="Cambria Math" panose="02040503050406030204" pitchFamily="18" charset="0"/>
                          </a:rPr>
                          <m:t>𝐿</m:t>
                        </m:r>
                      </m:e>
                      <m:sub>
                        <m:r>
                          <m:rPr>
                            <m:sty m:val="p"/>
                          </m:rPr>
                          <a:rPr lang="en-US" altLang="ja-JP" sz="2200" b="0" i="1" smtClean="0">
                            <a:latin typeface="Cambria Math" panose="02040503050406030204" pitchFamily="18" charset="0"/>
                          </a:rPr>
                          <m:t>t</m:t>
                        </m:r>
                      </m:sub>
                    </m:sSub>
                  </m:oMath>
                </a14:m>
                <a:r>
                  <a:rPr kumimoji="0" lang="en-US" altLang="ja-JP" sz="2200" dirty="0">
                    <a:ea typeface="Google Sans Text"/>
                  </a:rPr>
                  <a:t>: </a:t>
                </a:r>
                <a:r>
                  <a:rPr kumimoji="0" lang="ja-JP" altLang="ja-JP" sz="2200" dirty="0">
                    <a:ea typeface="Google Sans Text"/>
                  </a:rPr>
                  <a:t>Mean luminance of virtual object)</a:t>
                </a:r>
                <a:endParaRPr kumimoji="1" lang="ja-JP" altLang="en-US" dirty="0"/>
              </a:p>
            </p:txBody>
          </p:sp>
        </mc:Choice>
        <mc:Fallback xmlns="">
          <p:sp>
            <p:nvSpPr>
              <p:cNvPr id="6" name="テキスト ボックス 5">
                <a:extLst>
                  <a:ext uri="{FF2B5EF4-FFF2-40B4-BE49-F238E27FC236}">
                    <a16:creationId xmlns:a16="http://schemas.microsoft.com/office/drawing/2014/main" id="{9477EC11-C375-322A-6B97-37F0A9C2580F}"/>
                  </a:ext>
                </a:extLst>
              </p:cNvPr>
              <p:cNvSpPr txBox="1">
                <a:spLocks noRot="1" noChangeAspect="1" noMove="1" noResize="1" noEditPoints="1" noAdjustHandles="1" noChangeArrowheads="1" noChangeShapeType="1" noTextEdit="1"/>
              </p:cNvSpPr>
              <p:nvPr/>
            </p:nvSpPr>
            <p:spPr>
              <a:xfrm>
                <a:off x="577768" y="1627610"/>
                <a:ext cx="5688993" cy="2765501"/>
              </a:xfrm>
              <a:prstGeom prst="rect">
                <a:avLst/>
              </a:prstGeom>
              <a:blipFill>
                <a:blip r:embed="rId3"/>
                <a:stretch>
                  <a:fillRect l="-1393" t="-1322" r="-643" b="-352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EC424B4F-70A5-5357-912C-5BD1D992EF27}"/>
                  </a:ext>
                </a:extLst>
              </p:cNvPr>
              <p:cNvSpPr txBox="1"/>
              <p:nvPr/>
            </p:nvSpPr>
            <p:spPr>
              <a:xfrm>
                <a:off x="6657914" y="1627610"/>
                <a:ext cx="4422749" cy="2842830"/>
              </a:xfrm>
              <a:prstGeom prst="rect">
                <a:avLst/>
              </a:prstGeom>
              <a:noFill/>
            </p:spPr>
            <p:txBody>
              <a:bodyPr wrap="none" rtlCol="0">
                <a:spAutoFit/>
              </a:bodyPr>
              <a:lstStyle/>
              <a:p>
                <a:r>
                  <a:rPr lang="en-US" altLang="ja-JP" sz="2200" b="1" dirty="0"/>
                  <a:t>Signal to noise ratio</a:t>
                </a:r>
              </a:p>
              <a:p>
                <a:endParaRPr lang="en-US" altLang="ja-JP" sz="2200" b="1" dirty="0"/>
              </a:p>
              <a:p>
                <a:pPr/>
                <a14:m>
                  <m:oMathPara xmlns:m="http://schemas.openxmlformats.org/officeDocument/2006/math">
                    <m:oMathParaPr>
                      <m:jc m:val="centerGroup"/>
                    </m:oMathParaPr>
                    <m:oMath xmlns:m="http://schemas.openxmlformats.org/officeDocument/2006/math">
                      <m:r>
                        <a:rPr lang="en-US" altLang="ja-JP" sz="2200" i="1">
                          <a:latin typeface="Cambria Math" panose="02040503050406030204" pitchFamily="18" charset="0"/>
                        </a:rPr>
                        <m:t>𝑆</m:t>
                      </m:r>
                      <m:r>
                        <a:rPr lang="en-US" altLang="ja-JP" sz="2200" i="1">
                          <a:latin typeface="Cambria Math" panose="02040503050406030204" pitchFamily="18" charset="0"/>
                        </a:rPr>
                        <m:t> = </m:t>
                      </m:r>
                      <m:f>
                        <m:fPr>
                          <m:ctrlPr>
                            <a:rPr lang="en-US" altLang="ja-JP" sz="2200" i="1">
                              <a:latin typeface="Cambria Math" panose="02040503050406030204" pitchFamily="18" charset="0"/>
                            </a:rPr>
                          </m:ctrlPr>
                        </m:fPr>
                        <m:num>
                          <m:sSub>
                            <m:sSubPr>
                              <m:ctrlPr>
                                <a:rPr lang="en-US" altLang="ja-JP" sz="2200" i="1">
                                  <a:latin typeface="Cambria Math" panose="02040503050406030204" pitchFamily="18" charset="0"/>
                                </a:rPr>
                              </m:ctrlPr>
                            </m:sSubPr>
                            <m:e>
                              <m:r>
                                <a:rPr lang="en-US" altLang="ja-JP" sz="2200" i="1">
                                  <a:latin typeface="Cambria Math" panose="02040503050406030204" pitchFamily="18" charset="0"/>
                                </a:rPr>
                                <m:t>𝑐</m:t>
                              </m:r>
                            </m:e>
                            <m:sub>
                              <m:r>
                                <a:rPr lang="en-US" altLang="ja-JP" sz="2200" i="1">
                                  <a:latin typeface="Cambria Math" panose="02040503050406030204" pitchFamily="18" charset="0"/>
                                </a:rPr>
                                <m:t>𝑏</m:t>
                              </m:r>
                            </m:sub>
                          </m:sSub>
                          <m:r>
                            <a:rPr lang="en-US" altLang="ja-JP" sz="2200" i="1">
                              <a:latin typeface="Cambria Math" panose="02040503050406030204" pitchFamily="18" charset="0"/>
                              <a:ea typeface="Cambria Math" panose="02040503050406030204" pitchFamily="18" charset="0"/>
                            </a:rPr>
                            <m:t>∙</m:t>
                          </m:r>
                          <m:r>
                            <m:rPr>
                              <m:sty m:val="p"/>
                            </m:rPr>
                            <a:rPr lang="en-US" altLang="ja-JP" sz="2200">
                              <a:latin typeface="Cambria Math" panose="02040503050406030204" pitchFamily="18" charset="0"/>
                              <a:ea typeface="Cambria Math" panose="02040503050406030204" pitchFamily="18" charset="0"/>
                            </a:rPr>
                            <m:t>MTF</m:t>
                          </m:r>
                          <m:d>
                            <m:dPr>
                              <m:ctrlPr>
                                <a:rPr lang="en-US" altLang="ja-JP" sz="2200" i="1">
                                  <a:latin typeface="Cambria Math" panose="02040503050406030204" pitchFamily="18" charset="0"/>
                                  <a:ea typeface="Cambria Math" panose="02040503050406030204" pitchFamily="18" charset="0"/>
                                </a:rPr>
                              </m:ctrlPr>
                            </m:dPr>
                            <m:e>
                              <m:r>
                                <a:rPr lang="en-US" altLang="ja-JP" sz="2200" i="1">
                                  <a:latin typeface="Cambria Math" panose="02040503050406030204" pitchFamily="18" charset="0"/>
                                  <a:ea typeface="Cambria Math" panose="02040503050406030204" pitchFamily="18" charset="0"/>
                                </a:rPr>
                                <m:t>1</m:t>
                              </m:r>
                            </m:e>
                          </m:d>
                        </m:num>
                        <m:den>
                          <m:sSub>
                            <m:sSubPr>
                              <m:ctrlPr>
                                <a:rPr lang="en-US" altLang="ja-JP" sz="2200" i="1">
                                  <a:solidFill>
                                    <a:schemeClr val="accent1"/>
                                  </a:solidFill>
                                  <a:latin typeface="Cambria Math" panose="02040503050406030204" pitchFamily="18" charset="0"/>
                                </a:rPr>
                              </m:ctrlPr>
                            </m:sSubPr>
                            <m:e>
                              <m:r>
                                <a:rPr lang="en-US" altLang="ja-JP" sz="2200" i="1">
                                  <a:solidFill>
                                    <a:schemeClr val="accent1"/>
                                  </a:solidFill>
                                  <a:latin typeface="Cambria Math" panose="02040503050406030204" pitchFamily="18" charset="0"/>
                                </a:rPr>
                                <m:t>𝑐</m:t>
                              </m:r>
                            </m:e>
                            <m:sub>
                              <m:r>
                                <a:rPr lang="en-US" altLang="ja-JP" sz="2200" i="1">
                                  <a:solidFill>
                                    <a:schemeClr val="accent1"/>
                                  </a:solidFill>
                                  <a:latin typeface="Cambria Math" panose="02040503050406030204" pitchFamily="18" charset="0"/>
                                </a:rPr>
                                <m:t>𝑑</m:t>
                              </m:r>
                              <m:r>
                                <m:rPr>
                                  <m:sty m:val="p"/>
                                </m:rPr>
                                <a:rPr lang="en-US" altLang="ja-JP" sz="2200" i="1">
                                  <a:solidFill>
                                    <a:schemeClr val="accent1"/>
                                  </a:solidFill>
                                  <a:latin typeface="Cambria Math" panose="02040503050406030204" pitchFamily="18" charset="0"/>
                                </a:rPr>
                                <m:t>et</m:t>
                              </m:r>
                            </m:sub>
                          </m:sSub>
                          <m:r>
                            <a:rPr lang="en-US" altLang="ja-JP" sz="2200" i="1">
                              <a:latin typeface="Cambria Math" panose="02040503050406030204" pitchFamily="18" charset="0"/>
                            </a:rPr>
                            <m:t>+</m:t>
                          </m:r>
                          <m:r>
                            <a:rPr lang="en-US" altLang="ja-JP" sz="2200" i="1">
                              <a:solidFill>
                                <a:schemeClr val="accent1"/>
                              </a:solidFill>
                              <a:latin typeface="Cambria Math" panose="02040503050406030204" pitchFamily="18" charset="0"/>
                            </a:rPr>
                            <m:t>𝑎</m:t>
                          </m:r>
                          <m:sSub>
                            <m:sSubPr>
                              <m:ctrlPr>
                                <a:rPr lang="en-US" altLang="ja-JP" sz="2200" i="1">
                                  <a:latin typeface="Cambria Math" panose="02040503050406030204" pitchFamily="18" charset="0"/>
                                </a:rPr>
                              </m:ctrlPr>
                            </m:sSubPr>
                            <m:e>
                              <m:r>
                                <a:rPr lang="en-US" altLang="ja-JP" sz="2200" i="1">
                                  <a:latin typeface="Cambria Math" panose="02040503050406030204" pitchFamily="18" charset="0"/>
                                </a:rPr>
                                <m:t>𝑐</m:t>
                              </m:r>
                            </m:e>
                            <m:sub>
                              <m:r>
                                <a:rPr lang="en-US" altLang="ja-JP" sz="2200" i="1">
                                  <a:latin typeface="Cambria Math" panose="02040503050406030204" pitchFamily="18" charset="0"/>
                                </a:rPr>
                                <m:t>𝑡</m:t>
                              </m:r>
                            </m:sub>
                          </m:sSub>
                        </m:den>
                      </m:f>
                    </m:oMath>
                  </m:oMathPara>
                </a14:m>
                <a:endParaRPr lang="en-US" altLang="ja-JP" sz="2200" dirty="0"/>
              </a:p>
              <a:p>
                <a:pPr algn="ctr"/>
                <a:endParaRPr lang="en-US" altLang="ja-JP" sz="2200" dirty="0"/>
              </a:p>
              <a:p>
                <a:r>
                  <a:rPr lang="en-US" altLang="ja-JP" sz="2200" dirty="0">
                    <a:latin typeface="Cambria Math" panose="02040503050406030204" pitchFamily="18" charset="0"/>
                  </a:rPr>
                  <a:t>MTF: </a:t>
                </a:r>
                <a:r>
                  <a:rPr lang="en-US" altLang="ja-JP" sz="2200" dirty="0"/>
                  <a:t>Modulation transfer function</a:t>
                </a:r>
              </a:p>
              <a:p>
                <a14:m>
                  <m:oMath xmlns:m="http://schemas.openxmlformats.org/officeDocument/2006/math">
                    <m:r>
                      <a:rPr lang="en-US" altLang="ja-JP" sz="2200" i="1">
                        <a:latin typeface="Cambria Math" panose="02040503050406030204" pitchFamily="18" charset="0"/>
                      </a:rPr>
                      <m:t>𝑆</m:t>
                    </m:r>
                    <m:r>
                      <a:rPr lang="en-US" altLang="ja-JP" sz="2200" i="1">
                        <a:latin typeface="Cambria Math" panose="02040503050406030204" pitchFamily="18" charset="0"/>
                      </a:rPr>
                      <m:t>&gt;1</m:t>
                    </m:r>
                  </m:oMath>
                </a14:m>
                <a:r>
                  <a:rPr lang="en-US" altLang="ja-JP" sz="2200" dirty="0"/>
                  <a:t>: </a:t>
                </a:r>
                <a:r>
                  <a:rPr kumimoji="0" lang="ja-JP" altLang="ja-JP" sz="2200" dirty="0">
                    <a:latin typeface="Arial" panose="020B0604020202020204" pitchFamily="34" charset="0"/>
                    <a:ea typeface="Google Sans Text"/>
                  </a:rPr>
                  <a:t>Transparent</a:t>
                </a:r>
                <a:endParaRPr kumimoji="0" lang="en-US" altLang="ja-JP" sz="2200" dirty="0">
                  <a:latin typeface="Arial" panose="020B0604020202020204" pitchFamily="34" charset="0"/>
                  <a:ea typeface="Google Sans Text"/>
                </a:endParaRPr>
              </a:p>
              <a:p>
                <a:pPr>
                  <a:lnSpc>
                    <a:spcPct val="110000"/>
                  </a:lnSpc>
                </a:pPr>
                <a14:m>
                  <m:oMath xmlns:m="http://schemas.openxmlformats.org/officeDocument/2006/math">
                    <m:r>
                      <a:rPr lang="en-US" altLang="ja-JP" sz="2200" i="1">
                        <a:latin typeface="Cambria Math" panose="02040503050406030204" pitchFamily="18" charset="0"/>
                      </a:rPr>
                      <m:t>𝑆</m:t>
                    </m:r>
                    <m:r>
                      <a:rPr lang="en-US" altLang="ja-JP" sz="2200" i="1">
                        <a:latin typeface="Cambria Math" panose="02040503050406030204" pitchFamily="18" charset="0"/>
                        <a:ea typeface="Cambria Math" panose="02040503050406030204" pitchFamily="18" charset="0"/>
                      </a:rPr>
                      <m:t>≤</m:t>
                    </m:r>
                    <m:r>
                      <a:rPr lang="en-US" altLang="ja-JP" sz="2200" i="1">
                        <a:latin typeface="Cambria Math" panose="02040503050406030204" pitchFamily="18" charset="0"/>
                      </a:rPr>
                      <m:t>1</m:t>
                    </m:r>
                  </m:oMath>
                </a14:m>
                <a:r>
                  <a:rPr lang="en-US" altLang="ja-JP" sz="2200" dirty="0"/>
                  <a:t>: </a:t>
                </a:r>
                <a:r>
                  <a:rPr kumimoji="0" lang="en-US" altLang="ja-JP" sz="2200" dirty="0">
                    <a:latin typeface="Arial" panose="020B0604020202020204" pitchFamily="34" charset="0"/>
                    <a:ea typeface="Google Sans Text"/>
                  </a:rPr>
                  <a:t>Opaque</a:t>
                </a:r>
                <a:endParaRPr lang="ja-JP" altLang="en-US" sz="2200" dirty="0"/>
              </a:p>
            </p:txBody>
          </p:sp>
        </mc:Choice>
        <mc:Fallback xmlns="">
          <p:sp>
            <p:nvSpPr>
              <p:cNvPr id="11" name="テキスト ボックス 10">
                <a:extLst>
                  <a:ext uri="{FF2B5EF4-FFF2-40B4-BE49-F238E27FC236}">
                    <a16:creationId xmlns:a16="http://schemas.microsoft.com/office/drawing/2014/main" id="{EC424B4F-70A5-5357-912C-5BD1D992EF27}"/>
                  </a:ext>
                </a:extLst>
              </p:cNvPr>
              <p:cNvSpPr txBox="1">
                <a:spLocks noRot="1" noChangeAspect="1" noMove="1" noResize="1" noEditPoints="1" noAdjustHandles="1" noChangeArrowheads="1" noChangeShapeType="1" noTextEdit="1"/>
              </p:cNvSpPr>
              <p:nvPr/>
            </p:nvSpPr>
            <p:spPr>
              <a:xfrm>
                <a:off x="6657914" y="1627610"/>
                <a:ext cx="4422749" cy="2842830"/>
              </a:xfrm>
              <a:prstGeom prst="rect">
                <a:avLst/>
              </a:prstGeom>
              <a:blipFill>
                <a:blip r:embed="rId4"/>
                <a:stretch>
                  <a:fillRect l="-1791" t="-1288" r="-1240" b="-3433"/>
                </a:stretch>
              </a:blipFill>
            </p:spPr>
            <p:txBody>
              <a:bodyPr/>
              <a:lstStyle/>
              <a:p>
                <a:r>
                  <a:rPr lang="ja-JP" altLang="en-US">
                    <a:noFill/>
                  </a:rPr>
                  <a:t> </a:t>
                </a:r>
              </a:p>
            </p:txBody>
          </p:sp>
        </mc:Fallback>
      </mc:AlternateContent>
      <p:sp>
        <p:nvSpPr>
          <p:cNvPr id="12" name="矢印: 右 11">
            <a:extLst>
              <a:ext uri="{FF2B5EF4-FFF2-40B4-BE49-F238E27FC236}">
                <a16:creationId xmlns:a16="http://schemas.microsoft.com/office/drawing/2014/main" id="{48135BB5-94C6-33A7-7EB4-B5FF5930F428}"/>
              </a:ext>
            </a:extLst>
          </p:cNvPr>
          <p:cNvSpPr/>
          <p:nvPr/>
        </p:nvSpPr>
        <p:spPr>
          <a:xfrm>
            <a:off x="5957386" y="2413692"/>
            <a:ext cx="710175" cy="679084"/>
          </a:xfrm>
          <a:prstGeom prst="rightArrow">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コンテンツ プレースホルダー 24">
            <a:extLst>
              <a:ext uri="{FF2B5EF4-FFF2-40B4-BE49-F238E27FC236}">
                <a16:creationId xmlns:a16="http://schemas.microsoft.com/office/drawing/2014/main" id="{58F7C36F-1C89-2C76-1CCD-B0F9A13CEE0A}"/>
              </a:ext>
            </a:extLst>
          </p:cNvPr>
          <p:cNvSpPr txBox="1">
            <a:spLocks/>
          </p:cNvSpPr>
          <p:nvPr/>
        </p:nvSpPr>
        <p:spPr>
          <a:xfrm>
            <a:off x="568632" y="4737100"/>
            <a:ext cx="11036465" cy="2120899"/>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Font typeface="Arial" panose="020B0604020202020204" pitchFamily="34" charset="0"/>
              <a:buNone/>
              <a:defRPr kumimoji="1" sz="2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550" b="1" u="sng" dirty="0"/>
              <a:t>Evaluation: Far More Accurate than Standard IQA Models</a:t>
            </a:r>
          </a:p>
          <a:p>
            <a:r>
              <a:rPr lang="en-US" altLang="ja-JP" dirty="0"/>
              <a:t>RMSE: 0.0346 log units </a:t>
            </a:r>
            <a:r>
              <a:rPr lang="en-US" altLang="ja-JP" b="1" dirty="0"/>
              <a:t>(8.29%)</a:t>
            </a:r>
          </a:p>
          <a:p>
            <a:r>
              <a:rPr lang="en-US" altLang="ja-JP" dirty="0"/>
              <a:t>IQA Models(measuring transparent-to-opaque difference): 30%~</a:t>
            </a:r>
          </a:p>
        </p:txBody>
      </p:sp>
      <p:sp>
        <p:nvSpPr>
          <p:cNvPr id="3" name="フッター プレースホルダー 4">
            <a:extLst>
              <a:ext uri="{FF2B5EF4-FFF2-40B4-BE49-F238E27FC236}">
                <a16:creationId xmlns:a16="http://schemas.microsoft.com/office/drawing/2014/main" id="{C7EB4B22-C82E-38ED-2892-1960C99736C0}"/>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b="1" dirty="0"/>
              <a:t>J. Liu, A. Jindal, C. Mantel, S. Forchhammer, and R. K. </a:t>
            </a:r>
            <a:r>
              <a:rPr lang="en-US" b="1" dirty="0" err="1"/>
              <a:t>Mantiuk</a:t>
            </a:r>
            <a:r>
              <a:rPr lang="en-US" b="1" dirty="0"/>
              <a:t>, “How bright should a virtual object be to appear opaque in optical see-through </a:t>
            </a:r>
            <a:r>
              <a:rPr lang="en-US" b="1" dirty="0" err="1"/>
              <a:t>ar</a:t>
            </a:r>
            <a:r>
              <a:rPr lang="en-US" b="1" dirty="0"/>
              <a:t>?” 2022</a:t>
            </a:r>
            <a:endParaRPr lang="en-US" sz="1100" b="1" dirty="0"/>
          </a:p>
        </p:txBody>
      </p:sp>
    </p:spTree>
    <p:extLst>
      <p:ext uri="{BB962C8B-B14F-4D97-AF65-F5344CB8AC3E}">
        <p14:creationId xmlns:p14="http://schemas.microsoft.com/office/powerpoint/2010/main" val="6206528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EEFA3-BC8C-5540-503F-0D8D9BD2702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EBFBB52-2861-23A9-2488-8707DA2D8E79}"/>
              </a:ext>
            </a:extLst>
          </p:cNvPr>
          <p:cNvSpPr>
            <a:spLocks noGrp="1"/>
          </p:cNvSpPr>
          <p:nvPr>
            <p:ph type="title"/>
          </p:nvPr>
        </p:nvSpPr>
        <p:spPr/>
        <p:txBody>
          <a:bodyPr/>
          <a:lstStyle/>
          <a:p>
            <a:r>
              <a:rPr lang="en-US" sz="3600" b="1" dirty="0">
                <a:solidFill>
                  <a:schemeClr val="accent1"/>
                </a:solidFill>
                <a:latin typeface="+mj-lt"/>
                <a:ea typeface="+mj-ea"/>
              </a:rPr>
              <a:t>Index</a:t>
            </a:r>
          </a:p>
        </p:txBody>
      </p:sp>
      <p:sp>
        <p:nvSpPr>
          <p:cNvPr id="3" name="コンテンツ プレースホルダー 2">
            <a:extLst>
              <a:ext uri="{FF2B5EF4-FFF2-40B4-BE49-F238E27FC236}">
                <a16:creationId xmlns:a16="http://schemas.microsoft.com/office/drawing/2014/main" id="{8BC4E524-8BA0-415A-A63A-5C7E30DB4A7F}"/>
              </a:ext>
            </a:extLst>
          </p:cNvPr>
          <p:cNvSpPr>
            <a:spLocks noGrp="1"/>
          </p:cNvSpPr>
          <p:nvPr>
            <p:ph idx="1"/>
          </p:nvPr>
        </p:nvSpPr>
        <p:spPr>
          <a:xfrm>
            <a:off x="568633" y="994595"/>
            <a:ext cx="11036465" cy="5777442"/>
          </a:xfrm>
        </p:spPr>
        <p:txBody>
          <a:bodyPr>
            <a:normAutofit/>
          </a:bodyPr>
          <a:lstStyle/>
          <a:p>
            <a:pPr marL="457200" indent="-457200">
              <a:buAutoNum type="arabicPeriod"/>
            </a:pPr>
            <a:r>
              <a:rPr lang="en-US" sz="2550" b="1" dirty="0">
                <a:solidFill>
                  <a:schemeClr val="tx1">
                    <a:lumMod val="40000"/>
                    <a:lumOff val="60000"/>
                  </a:schemeClr>
                </a:solidFill>
              </a:rPr>
              <a:t>Introduction</a:t>
            </a:r>
          </a:p>
          <a:p>
            <a:pPr marL="457200" indent="-457200">
              <a:buAutoNum type="arabicPeriod"/>
            </a:pPr>
            <a:r>
              <a:rPr lang="en-US" sz="2550" b="1" dirty="0">
                <a:solidFill>
                  <a:schemeClr val="tx1">
                    <a:lumMod val="40000"/>
                    <a:lumOff val="60000"/>
                  </a:schemeClr>
                </a:solidFill>
              </a:rPr>
              <a:t>Background</a:t>
            </a:r>
          </a:p>
          <a:p>
            <a:pPr marL="457200" indent="-457200">
              <a:buAutoNum type="arabicPeriod"/>
            </a:pPr>
            <a:r>
              <a:rPr lang="en-US" sz="2550" b="1" dirty="0">
                <a:solidFill>
                  <a:schemeClr val="accent1"/>
                </a:solidFill>
              </a:rPr>
              <a:t>Studies on the Perceptual Visibility of OST-AR</a:t>
            </a:r>
          </a:p>
          <a:p>
            <a:pPr marL="971550" lvl="1" indent="-514350">
              <a:buFont typeface="+mj-lt"/>
              <a:buAutoNum type="alphaLcPeriod"/>
            </a:pPr>
            <a:r>
              <a:rPr lang="en-US" sz="2550" b="1" dirty="0"/>
              <a:t>Color</a:t>
            </a:r>
          </a:p>
          <a:p>
            <a:pPr marL="971550" lvl="1" indent="-514350">
              <a:buFont typeface="+mj-lt"/>
              <a:buAutoNum type="alphaLcPeriod"/>
            </a:pPr>
            <a:r>
              <a:rPr lang="en-US" sz="2550" b="1" dirty="0"/>
              <a:t>Brightness</a:t>
            </a:r>
          </a:p>
          <a:p>
            <a:pPr marL="971550" lvl="1" indent="-514350">
              <a:buFont typeface="+mj-lt"/>
              <a:buAutoNum type="alphaLcPeriod"/>
            </a:pPr>
            <a:r>
              <a:rPr lang="en-US" sz="2550" b="1" dirty="0">
                <a:solidFill>
                  <a:schemeClr val="accent1"/>
                </a:solidFill>
              </a:rPr>
              <a:t>Transparency</a:t>
            </a:r>
          </a:p>
          <a:p>
            <a:pPr marL="457200" indent="-457200">
              <a:buFont typeface="Arial" panose="020B0604020202020204" pitchFamily="34" charset="0"/>
              <a:buAutoNum type="arabicPeriod"/>
            </a:pPr>
            <a:r>
              <a:rPr lang="en-US" altLang="ja-JP" sz="2550" b="1" dirty="0">
                <a:solidFill>
                  <a:schemeClr val="tx1">
                    <a:lumMod val="40000"/>
                    <a:lumOff val="60000"/>
                  </a:schemeClr>
                </a:solidFill>
              </a:rPr>
              <a:t>Visibility Predictor</a:t>
            </a:r>
          </a:p>
          <a:p>
            <a:pPr marL="457200" indent="-457200">
              <a:buFont typeface="Arial" panose="020B0604020202020204" pitchFamily="34" charset="0"/>
              <a:buAutoNum type="arabicPeriod"/>
            </a:pPr>
            <a:r>
              <a:rPr lang="en-US" altLang="ja-JP" sz="2550" b="1" dirty="0">
                <a:solidFill>
                  <a:schemeClr val="tx1">
                    <a:lumMod val="40000"/>
                    <a:lumOff val="60000"/>
                  </a:schemeClr>
                </a:solidFill>
              </a:rPr>
              <a:t>Conclusion</a:t>
            </a:r>
          </a:p>
          <a:p>
            <a:endParaRPr lang="en-US" sz="2550" b="1" dirty="0"/>
          </a:p>
          <a:p>
            <a:pPr marL="457200" indent="-457200">
              <a:buAutoNum type="arabicPeriod"/>
            </a:pPr>
            <a:endParaRPr lang="en-US" sz="2550" b="1" dirty="0"/>
          </a:p>
        </p:txBody>
      </p:sp>
      <p:sp>
        <p:nvSpPr>
          <p:cNvPr id="4" name="スライド番号プレースホルダー 3">
            <a:extLst>
              <a:ext uri="{FF2B5EF4-FFF2-40B4-BE49-F238E27FC236}">
                <a16:creationId xmlns:a16="http://schemas.microsoft.com/office/drawing/2014/main" id="{4FEBC5C4-46F7-54DC-4D0E-2978AA019485}"/>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34</a:t>
            </a:fld>
            <a:endParaRPr lang="en-US"/>
          </a:p>
        </p:txBody>
      </p:sp>
    </p:spTree>
    <p:extLst>
      <p:ext uri="{BB962C8B-B14F-4D97-AF65-F5344CB8AC3E}">
        <p14:creationId xmlns:p14="http://schemas.microsoft.com/office/powerpoint/2010/main" val="26564871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0707D-D000-2BC1-156E-5E458E125C6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007CDCF-1E87-076D-A750-341D433F7538}"/>
              </a:ext>
            </a:extLst>
          </p:cNvPr>
          <p:cNvSpPr>
            <a:spLocks noGrp="1"/>
          </p:cNvSpPr>
          <p:nvPr>
            <p:ph type="title"/>
          </p:nvPr>
        </p:nvSpPr>
        <p:spPr/>
        <p:txBody>
          <a:bodyPr/>
          <a:lstStyle/>
          <a:p>
            <a:r>
              <a:rPr lang="en-US" altLang="ja-JP" b="1" dirty="0">
                <a:solidFill>
                  <a:schemeClr val="accent1"/>
                </a:solidFill>
                <a:latin typeface="+mn-lt"/>
              </a:rPr>
              <a:t>Transparency and Visibility</a:t>
            </a:r>
            <a:endParaRPr kumimoji="1" lang="ja-JP" altLang="en-US" sz="3600"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4215C5E3-76D0-CDDD-B559-E5821894772E}"/>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35</a:t>
            </a:fld>
            <a:endParaRPr lang="en-US"/>
          </a:p>
        </p:txBody>
      </p:sp>
      <p:sp>
        <p:nvSpPr>
          <p:cNvPr id="25" name="コンテンツ プレースホルダー 24">
            <a:extLst>
              <a:ext uri="{FF2B5EF4-FFF2-40B4-BE49-F238E27FC236}">
                <a16:creationId xmlns:a16="http://schemas.microsoft.com/office/drawing/2014/main" id="{B89F425B-002D-3512-23DB-1691A7F3129B}"/>
              </a:ext>
            </a:extLst>
          </p:cNvPr>
          <p:cNvSpPr>
            <a:spLocks noGrp="1"/>
          </p:cNvSpPr>
          <p:nvPr>
            <p:ph idx="1"/>
          </p:nvPr>
        </p:nvSpPr>
        <p:spPr>
          <a:xfrm>
            <a:off x="571335" y="994595"/>
            <a:ext cx="11036465" cy="5140507"/>
          </a:xfrm>
        </p:spPr>
        <p:txBody>
          <a:bodyPr>
            <a:normAutofit/>
          </a:bodyPr>
          <a:lstStyle/>
          <a:p>
            <a:r>
              <a:rPr lang="en-US" altLang="ja-JP" sz="2550" b="1" u="sng" dirty="0"/>
              <a:t>Transparency = Unique Factor of OST-AR</a:t>
            </a:r>
            <a:endParaRPr lang="en-US" altLang="ja-JP" sz="2550" b="1" u="sng" dirty="0">
              <a:solidFill>
                <a:schemeClr val="accent1"/>
              </a:solidFill>
            </a:endParaRPr>
          </a:p>
          <a:p>
            <a:r>
              <a:rPr lang="en-US" altLang="ja-JP" b="1" u="sng" dirty="0"/>
              <a:t> </a:t>
            </a:r>
          </a:p>
          <a:p>
            <a:r>
              <a:rPr lang="en-US" altLang="ja-JP" b="1" dirty="0"/>
              <a:t>Display mechanism</a:t>
            </a:r>
          </a:p>
          <a:p>
            <a:r>
              <a:rPr lang="en-US" altLang="ja-JP" dirty="0"/>
              <a:t>VST-AR = Image processing</a:t>
            </a:r>
          </a:p>
          <a:p>
            <a:r>
              <a:rPr lang="en-US" altLang="ja-JP" dirty="0"/>
              <a:t>OST-AR = Beam splitter </a:t>
            </a:r>
            <a:r>
              <a:rPr lang="ja-JP" altLang="en-US" dirty="0"/>
              <a:t>→ </a:t>
            </a:r>
            <a:r>
              <a:rPr lang="en-US" altLang="ja-JP" dirty="0"/>
              <a:t>transparency</a:t>
            </a:r>
          </a:p>
          <a:p>
            <a:endParaRPr lang="en-US" altLang="ja-JP" b="1" u="sng" dirty="0"/>
          </a:p>
          <a:p>
            <a:endParaRPr lang="en-US" altLang="ja-JP" b="1" u="sng" dirty="0"/>
          </a:p>
          <a:p>
            <a:r>
              <a:rPr lang="en-US" altLang="ja-JP" b="1" dirty="0"/>
              <a:t>Research outline</a:t>
            </a:r>
          </a:p>
          <a:p>
            <a:pPr eaLnBrk="0" fontAlgn="base" hangingPunct="0">
              <a:spcBef>
                <a:spcPct val="0"/>
              </a:spcBef>
              <a:spcAft>
                <a:spcPct val="0"/>
              </a:spcAft>
            </a:pPr>
            <a:r>
              <a:rPr kumimoji="0" lang="en-US" altLang="ja-JP" dirty="0"/>
              <a:t>Paper5-1: </a:t>
            </a:r>
            <a:r>
              <a:rPr lang="en-US" altLang="ja-JP" dirty="0"/>
              <a:t>Perceived Transparency</a:t>
            </a:r>
            <a:endParaRPr kumimoji="0" lang="en-US" altLang="ja-JP" dirty="0"/>
          </a:p>
          <a:p>
            <a:pPr eaLnBrk="0" fontAlgn="base" hangingPunct="0">
              <a:spcBef>
                <a:spcPct val="0"/>
              </a:spcBef>
              <a:spcAft>
                <a:spcPct val="0"/>
              </a:spcAft>
            </a:pPr>
            <a:r>
              <a:rPr kumimoji="0" lang="en-US" altLang="ja-JP" dirty="0"/>
              <a:t>Paper5-2: </a:t>
            </a:r>
            <a:r>
              <a:rPr lang="en-US" altLang="ja-JP" dirty="0"/>
              <a:t>Perceived Transparency</a:t>
            </a:r>
            <a:r>
              <a:rPr kumimoji="0" lang="en-US" altLang="ja-JP" dirty="0"/>
              <a:t> </a:t>
            </a:r>
            <a:r>
              <a:rPr lang="en-US" altLang="ja-JP" dirty="0"/>
              <a:t>and illuminance</a:t>
            </a:r>
          </a:p>
          <a:p>
            <a:pPr lvl="0" eaLnBrk="0" fontAlgn="base" hangingPunct="0">
              <a:spcBef>
                <a:spcPct val="0"/>
              </a:spcBef>
              <a:spcAft>
                <a:spcPct val="0"/>
              </a:spcAft>
            </a:pPr>
            <a:r>
              <a:rPr kumimoji="0" lang="en-US" altLang="ja-JP" dirty="0"/>
              <a:t>Paper5-3: </a:t>
            </a:r>
            <a:r>
              <a:rPr lang="en-US" altLang="ja-JP" dirty="0"/>
              <a:t>Hardware-based Contrast Enhancement</a:t>
            </a:r>
            <a:endParaRPr lang="ja-JP" altLang="en-US" u="sng" dirty="0"/>
          </a:p>
        </p:txBody>
      </p:sp>
      <p:sp>
        <p:nvSpPr>
          <p:cNvPr id="7" name="コンテンツ プレースホルダー 24">
            <a:extLst>
              <a:ext uri="{FF2B5EF4-FFF2-40B4-BE49-F238E27FC236}">
                <a16:creationId xmlns:a16="http://schemas.microsoft.com/office/drawing/2014/main" id="{441C8B00-912A-B8B2-D1C0-BCA0979CAB1B}"/>
              </a:ext>
            </a:extLst>
          </p:cNvPr>
          <p:cNvSpPr txBox="1">
            <a:spLocks/>
          </p:cNvSpPr>
          <p:nvPr/>
        </p:nvSpPr>
        <p:spPr>
          <a:xfrm>
            <a:off x="7308685" y="1982583"/>
            <a:ext cx="4280230" cy="2331033"/>
          </a:xfrm>
          <a:prstGeom prst="rect">
            <a:avLst/>
          </a:prstGeom>
          <a:ln w="19050">
            <a:solidFill>
              <a:schemeClr val="accent1"/>
            </a:solidFill>
          </a:ln>
        </p:spPr>
        <p:txBody>
          <a:bodyPr vert="horz" lIns="91440" tIns="45720" rIns="91440" bIns="45720" rtlCol="0">
            <a:normAutofit/>
          </a:bodyPr>
          <a:lstStyle>
            <a:lvl1pPr marL="0" indent="0" algn="l" defTabSz="914400" rtl="0" eaLnBrk="1" latinLnBrk="0" hangingPunct="1">
              <a:lnSpc>
                <a:spcPct val="110000"/>
              </a:lnSpc>
              <a:spcBef>
                <a:spcPts val="1000"/>
              </a:spcBef>
              <a:buFont typeface="Arial" panose="020B0604020202020204" pitchFamily="34" charset="0"/>
              <a:buNone/>
              <a:defRPr kumimoji="1" sz="2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b="1" dirty="0"/>
              <a:t>Perceived Transparency</a:t>
            </a:r>
          </a:p>
          <a:p>
            <a:r>
              <a:rPr lang="en-US" altLang="ja-JP" dirty="0"/>
              <a:t>“The degree of visibility of </a:t>
            </a:r>
          </a:p>
          <a:p>
            <a:r>
              <a:rPr lang="en-US" altLang="ja-JP" dirty="0"/>
              <a:t>an object through a medium”</a:t>
            </a:r>
          </a:p>
          <a:p>
            <a:r>
              <a:rPr lang="en-US" altLang="ja-JP" dirty="0"/>
              <a:t>(by </a:t>
            </a:r>
            <a:r>
              <a:rPr lang="fr-FR" altLang="ja-JP" dirty="0"/>
              <a:t>International Commission on Illumination (CIE)[1]</a:t>
            </a:r>
            <a:r>
              <a:rPr lang="en-US" altLang="ja-JP" dirty="0"/>
              <a:t>)</a:t>
            </a:r>
            <a:endParaRPr lang="ja-JP" altLang="en-US" dirty="0"/>
          </a:p>
        </p:txBody>
      </p:sp>
      <p:sp>
        <p:nvSpPr>
          <p:cNvPr id="5" name="フッター プレースホルダー 4">
            <a:extLst>
              <a:ext uri="{FF2B5EF4-FFF2-40B4-BE49-F238E27FC236}">
                <a16:creationId xmlns:a16="http://schemas.microsoft.com/office/drawing/2014/main" id="{771E202E-DD2F-5225-7219-A79B9800AF39}"/>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b="1" dirty="0"/>
              <a:t>[1] I. C. on Illumination, International lighting vocabulary. CIE Bureau central, 1957, vol. 1. 5</a:t>
            </a:r>
            <a:endParaRPr lang="en-US" sz="1100" b="1" dirty="0"/>
          </a:p>
        </p:txBody>
      </p:sp>
    </p:spTree>
    <p:extLst>
      <p:ext uri="{BB962C8B-B14F-4D97-AF65-F5344CB8AC3E}">
        <p14:creationId xmlns:p14="http://schemas.microsoft.com/office/powerpoint/2010/main" val="40539567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1959A-60ED-B859-485B-645FA4D1E8A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1CBBBF1-C1FC-D3FF-5FCB-F4CC3E50DE98}"/>
              </a:ext>
            </a:extLst>
          </p:cNvPr>
          <p:cNvSpPr>
            <a:spLocks noGrp="1"/>
          </p:cNvSpPr>
          <p:nvPr>
            <p:ph type="title"/>
          </p:nvPr>
        </p:nvSpPr>
        <p:spPr/>
        <p:txBody>
          <a:bodyPr/>
          <a:lstStyle/>
          <a:p>
            <a:r>
              <a:rPr lang="en-US" altLang="ja-JP" b="1" dirty="0">
                <a:solidFill>
                  <a:schemeClr val="accent1"/>
                </a:solidFill>
                <a:latin typeface="+mn-lt"/>
              </a:rPr>
              <a:t>Paper5-1: Objective and Method</a:t>
            </a:r>
            <a:endParaRPr kumimoji="1" lang="ja-JP" altLang="en-US" sz="3600"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1D270077-C1E5-9C62-F9E1-CA31EAA079A1}"/>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36</a:t>
            </a:fld>
            <a:endParaRPr lang="en-US"/>
          </a:p>
        </p:txBody>
      </p:sp>
      <p:sp>
        <p:nvSpPr>
          <p:cNvPr id="3" name="コンテンツ プレースホルダー 24">
            <a:extLst>
              <a:ext uri="{FF2B5EF4-FFF2-40B4-BE49-F238E27FC236}">
                <a16:creationId xmlns:a16="http://schemas.microsoft.com/office/drawing/2014/main" id="{1B7E4AC7-C0BB-94F6-63EC-823F6DE6E0DD}"/>
              </a:ext>
            </a:extLst>
          </p:cNvPr>
          <p:cNvSpPr>
            <a:spLocks noGrp="1"/>
          </p:cNvSpPr>
          <p:nvPr>
            <p:ph idx="1"/>
          </p:nvPr>
        </p:nvSpPr>
        <p:spPr>
          <a:xfrm>
            <a:off x="568633" y="994595"/>
            <a:ext cx="11036465" cy="1653389"/>
          </a:xfrm>
        </p:spPr>
        <p:txBody>
          <a:bodyPr>
            <a:noAutofit/>
          </a:bodyPr>
          <a:lstStyle/>
          <a:p>
            <a:r>
              <a:rPr lang="en-US" altLang="ja-JP" sz="2550" b="1" u="sng" dirty="0"/>
              <a:t>Objective: </a:t>
            </a:r>
            <a:br>
              <a:rPr lang="en-US" altLang="ja-JP" sz="2550" b="1" u="sng" dirty="0"/>
            </a:br>
            <a:r>
              <a:rPr lang="en-US" altLang="ja-JP" sz="2550" b="1" u="sng" dirty="0"/>
              <a:t>Investigation of Background Effects on Perceived Transparency</a:t>
            </a:r>
            <a:endParaRPr lang="en-US" altLang="ja-JP" dirty="0"/>
          </a:p>
          <a:p>
            <a:r>
              <a:rPr lang="en-US" altLang="ja-JP" dirty="0"/>
              <a:t>Background effect </a:t>
            </a:r>
            <a:r>
              <a:rPr lang="ja-JP" altLang="en-US" dirty="0"/>
              <a:t>→ </a:t>
            </a:r>
            <a:r>
              <a:rPr lang="en-US" altLang="ja-JP" dirty="0"/>
              <a:t>luminance, contrast, wave form</a:t>
            </a:r>
            <a:endParaRPr lang="ja-JP" altLang="en-US" dirty="0"/>
          </a:p>
        </p:txBody>
      </p:sp>
      <p:sp>
        <p:nvSpPr>
          <p:cNvPr id="5" name="コンテンツ プレースホルダー 24">
            <a:extLst>
              <a:ext uri="{FF2B5EF4-FFF2-40B4-BE49-F238E27FC236}">
                <a16:creationId xmlns:a16="http://schemas.microsoft.com/office/drawing/2014/main" id="{3593B8D2-5C92-440F-7FDB-F68C72081255}"/>
              </a:ext>
            </a:extLst>
          </p:cNvPr>
          <p:cNvSpPr txBox="1">
            <a:spLocks/>
          </p:cNvSpPr>
          <p:nvPr/>
        </p:nvSpPr>
        <p:spPr>
          <a:xfrm>
            <a:off x="568633" y="2647984"/>
            <a:ext cx="11288411" cy="4210017"/>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Font typeface="Arial" panose="020B0604020202020204" pitchFamily="34" charset="0"/>
              <a:buNone/>
              <a:defRPr kumimoji="1" sz="2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550" b="1" u="sng" dirty="0"/>
              <a:t>Method: Psychophysical Scaling under Varying Background Conditions </a:t>
            </a:r>
          </a:p>
          <a:p>
            <a:r>
              <a:rPr lang="en-US" altLang="ja-JP" dirty="0"/>
              <a:t>Direct scaling: 0 ~1</a:t>
            </a:r>
          </a:p>
          <a:p>
            <a:r>
              <a:rPr lang="en-US" altLang="ja-JP" b="1" dirty="0"/>
              <a:t>Stimuli</a:t>
            </a:r>
          </a:p>
          <a:p>
            <a:r>
              <a:rPr lang="en-US" altLang="ja-JP" dirty="0"/>
              <a:t>Luminance: low, mid, high (LL,ML,HL)</a:t>
            </a:r>
          </a:p>
          <a:p>
            <a:r>
              <a:rPr lang="en-US" altLang="ja-JP" dirty="0"/>
              <a:t>Contrast: low, mid, high, very high (LC,MC,HC,HHC)</a:t>
            </a:r>
          </a:p>
          <a:p>
            <a:r>
              <a:rPr lang="en-US" altLang="ja-JP" dirty="0"/>
              <a:t>Wave form: sine, square </a:t>
            </a:r>
          </a:p>
          <a:p>
            <a:r>
              <a:rPr lang="en-US" altLang="ja-JP"/>
              <a:t>Relative Contrast: </a:t>
            </a:r>
            <a:r>
              <a:rPr lang="en-US" altLang="ja-JP" dirty="0"/>
              <a:t>10 steps </a:t>
            </a:r>
          </a:p>
          <a:p>
            <a:r>
              <a:rPr lang="en-US" altLang="ja-JP" dirty="0"/>
              <a:t>Types of overlay: OST-AR, Simulated </a:t>
            </a:r>
          </a:p>
        </p:txBody>
      </p:sp>
      <p:pic>
        <p:nvPicPr>
          <p:cNvPr id="7" name="図 6">
            <a:extLst>
              <a:ext uri="{FF2B5EF4-FFF2-40B4-BE49-F238E27FC236}">
                <a16:creationId xmlns:a16="http://schemas.microsoft.com/office/drawing/2014/main" id="{A97DEFBD-0D0E-5098-00EF-B6A0724D0384}"/>
              </a:ext>
            </a:extLst>
          </p:cNvPr>
          <p:cNvPicPr>
            <a:picLocks noChangeAspect="1"/>
          </p:cNvPicPr>
          <p:nvPr/>
        </p:nvPicPr>
        <p:blipFill>
          <a:blip r:embed="rId3"/>
          <a:stretch>
            <a:fillRect/>
          </a:stretch>
        </p:blipFill>
        <p:spPr>
          <a:xfrm>
            <a:off x="7575643" y="3429000"/>
            <a:ext cx="4072799" cy="2119995"/>
          </a:xfrm>
          <a:prstGeom prst="rect">
            <a:avLst/>
          </a:prstGeom>
        </p:spPr>
      </p:pic>
      <p:sp>
        <p:nvSpPr>
          <p:cNvPr id="6" name="フッター プレースホルダー 4">
            <a:extLst>
              <a:ext uri="{FF2B5EF4-FFF2-40B4-BE49-F238E27FC236}">
                <a16:creationId xmlns:a16="http://schemas.microsoft.com/office/drawing/2014/main" id="{5186B606-5205-ABF3-EE16-CBEE87D6CA7D}"/>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b="1" dirty="0"/>
              <a:t>L. Zhang and M. J. Murdoch, “Perceived transparency in optical see-through augmented reality,” 2021</a:t>
            </a:r>
            <a:endParaRPr lang="en-US" sz="1100" b="1" dirty="0"/>
          </a:p>
        </p:txBody>
      </p:sp>
      <p:sp>
        <p:nvSpPr>
          <p:cNvPr id="8" name="フッター プレースホルダー 4">
            <a:extLst>
              <a:ext uri="{FF2B5EF4-FFF2-40B4-BE49-F238E27FC236}">
                <a16:creationId xmlns:a16="http://schemas.microsoft.com/office/drawing/2014/main" id="{049106EC-DB0C-2BE3-5C0B-B4FF9880128F}"/>
              </a:ext>
            </a:extLst>
          </p:cNvPr>
          <p:cNvSpPr txBox="1">
            <a:spLocks/>
          </p:cNvSpPr>
          <p:nvPr/>
        </p:nvSpPr>
        <p:spPr>
          <a:xfrm>
            <a:off x="7575643" y="5445352"/>
            <a:ext cx="4116144" cy="351040"/>
          </a:xfrm>
          <a:prstGeom prst="rect">
            <a:avLst/>
          </a:prstGeom>
        </p:spPr>
        <p:txBody>
          <a:bodyPr anchor="b"/>
          <a:lstStyle>
            <a:defPPr>
              <a:defRPr lang="ja-JP"/>
            </a:defPPr>
            <a:lvl1pPr marL="0" algn="l" defTabSz="914400" rtl="0" eaLnBrk="1" latinLnBrk="0" hangingPunct="1">
              <a:defRPr kumimoji="1" sz="11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sz="1200" dirty="0"/>
              <a:t>Photograph of example experiment interfaces</a:t>
            </a:r>
          </a:p>
        </p:txBody>
      </p:sp>
    </p:spTree>
    <p:extLst>
      <p:ext uri="{BB962C8B-B14F-4D97-AF65-F5344CB8AC3E}">
        <p14:creationId xmlns:p14="http://schemas.microsoft.com/office/powerpoint/2010/main" val="2537773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3C1F6-C40A-FEEF-AEE5-82136B9AC78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2F07D6B-AC23-1628-02E3-4D5DFDE71FAD}"/>
              </a:ext>
            </a:extLst>
          </p:cNvPr>
          <p:cNvSpPr>
            <a:spLocks noGrp="1"/>
          </p:cNvSpPr>
          <p:nvPr>
            <p:ph type="title"/>
          </p:nvPr>
        </p:nvSpPr>
        <p:spPr/>
        <p:txBody>
          <a:bodyPr/>
          <a:lstStyle/>
          <a:p>
            <a:r>
              <a:rPr lang="en-US" altLang="ja-JP" b="1" dirty="0">
                <a:solidFill>
                  <a:schemeClr val="accent1"/>
                </a:solidFill>
                <a:latin typeface="+mn-lt"/>
              </a:rPr>
              <a:t>Paper5-1: Results</a:t>
            </a:r>
            <a:endParaRPr kumimoji="1" lang="ja-JP" altLang="en-US" sz="3600"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68C84852-6D77-3A77-6F8D-A71328BBD4C4}"/>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37</a:t>
            </a:fld>
            <a:endParaRPr lang="en-US"/>
          </a:p>
        </p:txBody>
      </p:sp>
      <p:sp>
        <p:nvSpPr>
          <p:cNvPr id="3" name="コンテンツ プレースホルダー 24">
            <a:extLst>
              <a:ext uri="{FF2B5EF4-FFF2-40B4-BE49-F238E27FC236}">
                <a16:creationId xmlns:a16="http://schemas.microsoft.com/office/drawing/2014/main" id="{A8FCF3FA-550A-2734-389A-B6306864B4F1}"/>
              </a:ext>
            </a:extLst>
          </p:cNvPr>
          <p:cNvSpPr>
            <a:spLocks noGrp="1"/>
          </p:cNvSpPr>
          <p:nvPr>
            <p:ph idx="1"/>
          </p:nvPr>
        </p:nvSpPr>
        <p:spPr>
          <a:xfrm>
            <a:off x="568633" y="994595"/>
            <a:ext cx="11036465" cy="3577405"/>
          </a:xfrm>
        </p:spPr>
        <p:txBody>
          <a:bodyPr>
            <a:noAutofit/>
          </a:bodyPr>
          <a:lstStyle/>
          <a:p>
            <a:r>
              <a:rPr lang="en-US" altLang="ja-JP" sz="2550" b="1" u="sng" dirty="0"/>
              <a:t>Results: Background Contrast Has a Significant Effect</a:t>
            </a:r>
          </a:p>
          <a:p>
            <a:r>
              <a:rPr lang="en-US" altLang="ja-JP" b="1" dirty="0"/>
              <a:t>OST-AR vs Simulation </a:t>
            </a:r>
          </a:p>
          <a:p>
            <a:r>
              <a:rPr lang="en-US" altLang="ja-JP" dirty="0"/>
              <a:t>Fundamental differences </a:t>
            </a:r>
            <a:r>
              <a:rPr lang="ja-JP" altLang="en-US" dirty="0"/>
              <a:t>→ </a:t>
            </a:r>
            <a:r>
              <a:rPr lang="en-US" altLang="ja-JP" dirty="0"/>
              <a:t>Limitations of simulation</a:t>
            </a:r>
          </a:p>
          <a:p>
            <a:endParaRPr lang="en-US" altLang="ja-JP" dirty="0"/>
          </a:p>
          <a:p>
            <a:r>
              <a:rPr lang="en-US" altLang="ja-JP" b="1" dirty="0"/>
              <a:t>Effect of factors</a:t>
            </a:r>
          </a:p>
          <a:p>
            <a:r>
              <a:rPr lang="en-US" altLang="ja-JP" dirty="0"/>
              <a:t>High contrast </a:t>
            </a:r>
            <a:r>
              <a:rPr lang="ja-JP" altLang="en-US" dirty="0"/>
              <a:t>→</a:t>
            </a:r>
            <a:r>
              <a:rPr lang="en-US" altLang="ja-JP" dirty="0"/>
              <a:t> Increases perceived transparency</a:t>
            </a:r>
          </a:p>
          <a:p>
            <a:r>
              <a:rPr lang="en-US" altLang="ja-JP" dirty="0"/>
              <a:t>Luminance, waveform </a:t>
            </a:r>
            <a:r>
              <a:rPr lang="ja-JP" altLang="en-US" dirty="0"/>
              <a:t>→ </a:t>
            </a:r>
            <a:r>
              <a:rPr lang="en-US" altLang="ja-JP" dirty="0"/>
              <a:t>No significant effect</a:t>
            </a:r>
            <a:endParaRPr lang="ja-JP" altLang="en-US" dirty="0"/>
          </a:p>
        </p:txBody>
      </p:sp>
      <p:pic>
        <p:nvPicPr>
          <p:cNvPr id="8" name="図 7">
            <a:extLst>
              <a:ext uri="{FF2B5EF4-FFF2-40B4-BE49-F238E27FC236}">
                <a16:creationId xmlns:a16="http://schemas.microsoft.com/office/drawing/2014/main" id="{F6DB5ABB-5EE3-6D61-2D31-DB6849A70C6F}"/>
              </a:ext>
            </a:extLst>
          </p:cNvPr>
          <p:cNvPicPr>
            <a:picLocks noChangeAspect="1"/>
          </p:cNvPicPr>
          <p:nvPr/>
        </p:nvPicPr>
        <p:blipFill>
          <a:blip r:embed="rId3"/>
          <a:stretch>
            <a:fillRect/>
          </a:stretch>
        </p:blipFill>
        <p:spPr>
          <a:xfrm>
            <a:off x="7792564" y="1515843"/>
            <a:ext cx="3312471" cy="4469321"/>
          </a:xfrm>
          <a:prstGeom prst="rect">
            <a:avLst/>
          </a:prstGeom>
        </p:spPr>
      </p:pic>
      <p:sp>
        <p:nvSpPr>
          <p:cNvPr id="9" name="コンテンツ プレースホルダー 24">
            <a:extLst>
              <a:ext uri="{FF2B5EF4-FFF2-40B4-BE49-F238E27FC236}">
                <a16:creationId xmlns:a16="http://schemas.microsoft.com/office/drawing/2014/main" id="{B46D6DD1-4473-22EA-804E-8CBB11C6F8BF}"/>
              </a:ext>
            </a:extLst>
          </p:cNvPr>
          <p:cNvSpPr txBox="1">
            <a:spLocks/>
          </p:cNvSpPr>
          <p:nvPr/>
        </p:nvSpPr>
        <p:spPr>
          <a:xfrm>
            <a:off x="568632" y="4706160"/>
            <a:ext cx="11036465" cy="1566795"/>
          </a:xfrm>
          <a:prstGeom prst="rect">
            <a:avLst/>
          </a:prstGeom>
        </p:spPr>
        <p:txBody>
          <a:bodyPr vert="horz" lIns="91440" tIns="45720" rIns="91440" bIns="45720" rtlCol="0">
            <a:noAutofit/>
          </a:bodyPr>
          <a:lstStyle>
            <a:lvl1pPr marL="0" indent="0" algn="l" defTabSz="914400" rtl="0" eaLnBrk="1" latinLnBrk="0" hangingPunct="1">
              <a:lnSpc>
                <a:spcPct val="110000"/>
              </a:lnSpc>
              <a:spcBef>
                <a:spcPts val="1000"/>
              </a:spcBef>
              <a:buFont typeface="Arial" panose="020B0604020202020204" pitchFamily="34" charset="0"/>
              <a:buNone/>
              <a:defRPr kumimoji="1" sz="2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550" b="1" u="sng" dirty="0"/>
              <a:t>Modeling: Based on Michelson Contrast</a:t>
            </a:r>
            <a:endParaRPr lang="ja-JP" altLang="en-US" dirty="0"/>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CCF64BA7-E383-244F-65B9-C74E9841F69E}"/>
                  </a:ext>
                </a:extLst>
              </p:cNvPr>
              <p:cNvSpPr txBox="1"/>
              <p:nvPr/>
            </p:nvSpPr>
            <p:spPr>
              <a:xfrm>
                <a:off x="568632" y="5321982"/>
                <a:ext cx="3995902" cy="8840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ja-JP" sz="2200" i="1" smtClean="0">
                          <a:latin typeface="Cambria Math" panose="02040503050406030204" pitchFamily="18" charset="0"/>
                        </a:rPr>
                        <m:t>𝑇</m:t>
                      </m:r>
                      <m:r>
                        <a:rPr lang="en-US" altLang="ja-JP" sz="2200" i="1" smtClean="0">
                          <a:latin typeface="Cambria Math" panose="02040503050406030204" pitchFamily="18" charset="0"/>
                        </a:rPr>
                        <m:t>=1−</m:t>
                      </m:r>
                      <m:sSup>
                        <m:sSupPr>
                          <m:ctrlPr>
                            <a:rPr lang="en-US" altLang="ja-JP" sz="2200" i="1">
                              <a:latin typeface="Cambria Math" panose="02040503050406030204" pitchFamily="18" charset="0"/>
                            </a:rPr>
                          </m:ctrlPr>
                        </m:sSupPr>
                        <m:e>
                          <m:r>
                            <a:rPr lang="en-US" altLang="ja-JP" sz="2200" i="1">
                              <a:latin typeface="Cambria Math" panose="02040503050406030204" pitchFamily="18" charset="0"/>
                            </a:rPr>
                            <m:t>𝑒</m:t>
                          </m:r>
                        </m:e>
                        <m:sup>
                          <m:r>
                            <a:rPr lang="en-US" altLang="ja-JP" sz="2200" i="1">
                              <a:latin typeface="Cambria Math" panose="02040503050406030204" pitchFamily="18" charset="0"/>
                            </a:rPr>
                            <m:t>−</m:t>
                          </m:r>
                          <m:sSup>
                            <m:sSupPr>
                              <m:ctrlPr>
                                <a:rPr lang="en-US" altLang="ja-JP" sz="2200" i="1">
                                  <a:latin typeface="Cambria Math" panose="02040503050406030204" pitchFamily="18" charset="0"/>
                                </a:rPr>
                              </m:ctrlPr>
                            </m:sSupPr>
                            <m:e>
                              <m:d>
                                <m:dPr>
                                  <m:ctrlPr>
                                    <a:rPr lang="en-US" altLang="ja-JP" sz="2200" i="1">
                                      <a:latin typeface="Cambria Math" panose="02040503050406030204" pitchFamily="18" charset="0"/>
                                    </a:rPr>
                                  </m:ctrlPr>
                                </m:dPr>
                                <m:e>
                                  <m:r>
                                    <a:rPr lang="en-US" altLang="ja-JP" sz="2200" i="1">
                                      <a:latin typeface="Cambria Math" panose="02040503050406030204" pitchFamily="18" charset="0"/>
                                    </a:rPr>
                                    <m:t>2.5</m:t>
                                  </m:r>
                                  <m:f>
                                    <m:fPr>
                                      <m:ctrlPr>
                                        <a:rPr lang="en-US" altLang="ja-JP" sz="2200" i="1">
                                          <a:latin typeface="Cambria Math" panose="02040503050406030204" pitchFamily="18" charset="0"/>
                                        </a:rPr>
                                      </m:ctrlPr>
                                    </m:fPr>
                                    <m:num>
                                      <m:r>
                                        <a:rPr lang="en-US" altLang="ja-JP" sz="2200" i="1">
                                          <a:latin typeface="Cambria Math" panose="02040503050406030204" pitchFamily="18" charset="0"/>
                                        </a:rPr>
                                        <m:t>𝐶</m:t>
                                      </m:r>
                                    </m:num>
                                    <m:den>
                                      <m:sSub>
                                        <m:sSubPr>
                                          <m:ctrlPr>
                                            <a:rPr lang="en-US" altLang="ja-JP" sz="2200" i="1">
                                              <a:latin typeface="Cambria Math" panose="02040503050406030204" pitchFamily="18" charset="0"/>
                                            </a:rPr>
                                          </m:ctrlPr>
                                        </m:sSubPr>
                                        <m:e>
                                          <m:r>
                                            <a:rPr lang="en-US" altLang="ja-JP" sz="2200" i="1">
                                              <a:latin typeface="Cambria Math" panose="02040503050406030204" pitchFamily="18" charset="0"/>
                                            </a:rPr>
                                            <m:t>𝐶</m:t>
                                          </m:r>
                                        </m:e>
                                        <m:sub>
                                          <m:r>
                                            <a:rPr lang="en-US" altLang="ja-JP" sz="2200" i="1">
                                              <a:latin typeface="Cambria Math" panose="02040503050406030204" pitchFamily="18" charset="0"/>
                                            </a:rPr>
                                            <m:t>𝑏</m:t>
                                          </m:r>
                                        </m:sub>
                                      </m:sSub>
                                    </m:den>
                                  </m:f>
                                </m:e>
                              </m:d>
                            </m:e>
                            <m:sup>
                              <m:r>
                                <a:rPr lang="en-US" altLang="ja-JP" sz="2200" i="1">
                                  <a:latin typeface="Cambria Math" panose="02040503050406030204" pitchFamily="18" charset="0"/>
                                </a:rPr>
                                <m:t>1.75</m:t>
                              </m:r>
                            </m:sup>
                          </m:sSup>
                        </m:sup>
                      </m:sSup>
                      <m:r>
                        <a:rPr lang="en-US" altLang="ja-JP" sz="2200" i="1">
                          <a:latin typeface="Cambria Math" panose="02040503050406030204" pitchFamily="18" charset="0"/>
                        </a:rPr>
                        <m:t>−0.05</m:t>
                      </m:r>
                    </m:oMath>
                  </m:oMathPara>
                </a14:m>
                <a:endParaRPr lang="en-US" altLang="ja-JP" sz="2200" dirty="0"/>
              </a:p>
              <a:p>
                <a:endParaRPr kumimoji="1" lang="ja-JP" altLang="en-US" dirty="0"/>
              </a:p>
            </p:txBody>
          </p:sp>
        </mc:Choice>
        <mc:Fallback xmlns="">
          <p:sp>
            <p:nvSpPr>
              <p:cNvPr id="10" name="テキスト ボックス 9">
                <a:extLst>
                  <a:ext uri="{FF2B5EF4-FFF2-40B4-BE49-F238E27FC236}">
                    <a16:creationId xmlns:a16="http://schemas.microsoft.com/office/drawing/2014/main" id="{CCF64BA7-E383-244F-65B9-C74E9841F69E}"/>
                  </a:ext>
                </a:extLst>
              </p:cNvPr>
              <p:cNvSpPr txBox="1">
                <a:spLocks noRot="1" noChangeAspect="1" noMove="1" noResize="1" noEditPoints="1" noAdjustHandles="1" noChangeArrowheads="1" noChangeShapeType="1" noTextEdit="1"/>
              </p:cNvSpPr>
              <p:nvPr/>
            </p:nvSpPr>
            <p:spPr>
              <a:xfrm>
                <a:off x="568632" y="5321982"/>
                <a:ext cx="3995902" cy="884088"/>
              </a:xfrm>
              <a:prstGeom prst="rect">
                <a:avLst/>
              </a:prstGeom>
              <a:blipFill>
                <a:blip r:embed="rId4"/>
                <a:stretch>
                  <a:fillRect/>
                </a:stretch>
              </a:blipFill>
            </p:spPr>
            <p:txBody>
              <a:bodyPr/>
              <a:lstStyle/>
              <a:p>
                <a:r>
                  <a:rPr lang="ja-JP" altLang="en-US">
                    <a:noFill/>
                  </a:rPr>
                  <a:t> </a:t>
                </a:r>
              </a:p>
            </p:txBody>
          </p:sp>
        </mc:Fallback>
      </mc:AlternateContent>
      <p:sp>
        <p:nvSpPr>
          <p:cNvPr id="14" name="テキスト ボックス 13">
            <a:extLst>
              <a:ext uri="{FF2B5EF4-FFF2-40B4-BE49-F238E27FC236}">
                <a16:creationId xmlns:a16="http://schemas.microsoft.com/office/drawing/2014/main" id="{762F4FC1-BA09-925E-180B-98D426B596D9}"/>
              </a:ext>
            </a:extLst>
          </p:cNvPr>
          <p:cNvSpPr txBox="1"/>
          <p:nvPr/>
        </p:nvSpPr>
        <p:spPr>
          <a:xfrm>
            <a:off x="4836937" y="5294892"/>
            <a:ext cx="2518125" cy="769441"/>
          </a:xfrm>
          <a:prstGeom prst="rect">
            <a:avLst/>
          </a:prstGeom>
          <a:noFill/>
        </p:spPr>
        <p:txBody>
          <a:bodyPr wrap="square" rtlCol="0">
            <a:spAutoFit/>
          </a:bodyPr>
          <a:lstStyle/>
          <a:p>
            <a:r>
              <a:rPr kumimoji="0" lang="ja-JP" altLang="ja-JP" sz="2200" dirty="0">
                <a:ea typeface="Google Sans Text"/>
              </a:rPr>
              <a:t>High accuracy</a:t>
            </a:r>
            <a:r>
              <a:rPr kumimoji="0" lang="en-US" altLang="ja-JP" sz="2200" dirty="0">
                <a:ea typeface="Google Sans Text"/>
              </a:rPr>
              <a:t>: </a:t>
            </a:r>
          </a:p>
          <a:p>
            <a:r>
              <a:rPr kumimoji="0" lang="ja-JP" altLang="ja-JP" sz="2200" dirty="0">
                <a:ea typeface="Google Sans Text"/>
              </a:rPr>
              <a:t>Correlation </a:t>
            </a:r>
            <a:r>
              <a:rPr kumimoji="0" lang="ja-JP" altLang="en-US" sz="2200" dirty="0">
                <a:ea typeface="Google Sans Text"/>
              </a:rPr>
              <a:t>≈ </a:t>
            </a:r>
            <a:r>
              <a:rPr kumimoji="0" lang="ja-JP" altLang="ja-JP" sz="2200" dirty="0">
                <a:ea typeface="Google Sans Text"/>
              </a:rPr>
              <a:t>0.99</a:t>
            </a:r>
            <a:endParaRPr kumimoji="0" lang="en-US" altLang="ja-JP" sz="2200" dirty="0">
              <a:ea typeface="Google Sans Text"/>
            </a:endParaRPr>
          </a:p>
        </p:txBody>
      </p:sp>
      <p:sp>
        <p:nvSpPr>
          <p:cNvPr id="5" name="フッター プレースホルダー 4">
            <a:extLst>
              <a:ext uri="{FF2B5EF4-FFF2-40B4-BE49-F238E27FC236}">
                <a16:creationId xmlns:a16="http://schemas.microsoft.com/office/drawing/2014/main" id="{E67DB5CA-32C3-43B0-C275-52165905F6AF}"/>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b="1" dirty="0"/>
              <a:t>L. Zhang and M. J. Murdoch, “Perceived transparency in optical see-through augmented reality,” 2021</a:t>
            </a:r>
            <a:endParaRPr lang="en-US" sz="1100" b="1" dirty="0"/>
          </a:p>
        </p:txBody>
      </p:sp>
      <p:sp>
        <p:nvSpPr>
          <p:cNvPr id="6" name="フッター プレースホルダー 4">
            <a:extLst>
              <a:ext uri="{FF2B5EF4-FFF2-40B4-BE49-F238E27FC236}">
                <a16:creationId xmlns:a16="http://schemas.microsoft.com/office/drawing/2014/main" id="{407DF221-1045-571C-0517-9F87DCCB710E}"/>
              </a:ext>
            </a:extLst>
          </p:cNvPr>
          <p:cNvSpPr txBox="1">
            <a:spLocks/>
          </p:cNvSpPr>
          <p:nvPr/>
        </p:nvSpPr>
        <p:spPr>
          <a:xfrm>
            <a:off x="7355062" y="5791142"/>
            <a:ext cx="4116144" cy="829855"/>
          </a:xfrm>
          <a:prstGeom prst="rect">
            <a:avLst/>
          </a:prstGeom>
        </p:spPr>
        <p:txBody>
          <a:bodyPr anchor="b"/>
          <a:lstStyle>
            <a:defPPr>
              <a:defRPr lang="ja-JP"/>
            </a:defPPr>
            <a:lvl1pPr marL="0" algn="l" defTabSz="914400" rtl="0" eaLnBrk="1" latinLnBrk="0" hangingPunct="1">
              <a:defRPr kumimoji="1" sz="11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sz="1200" dirty="0"/>
              <a:t>Top row: effect of background average luminance </a:t>
            </a:r>
            <a:br>
              <a:rPr lang="en-US" sz="1200" dirty="0"/>
            </a:br>
            <a:r>
              <a:rPr lang="en-US" sz="1200" dirty="0"/>
              <a:t>Middle row: effect of background wave form </a:t>
            </a:r>
          </a:p>
          <a:p>
            <a:pPr algn="ctr"/>
            <a:r>
              <a:rPr lang="en-US" sz="1200" dirty="0"/>
              <a:t>Bottom row: effect of background contrast</a:t>
            </a:r>
          </a:p>
        </p:txBody>
      </p:sp>
    </p:spTree>
    <p:extLst>
      <p:ext uri="{BB962C8B-B14F-4D97-AF65-F5344CB8AC3E}">
        <p14:creationId xmlns:p14="http://schemas.microsoft.com/office/powerpoint/2010/main" val="36851376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B20FB-3E5A-AD8D-4577-0300CD599CE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52338D1-5029-F369-1087-8BB07204771C}"/>
              </a:ext>
            </a:extLst>
          </p:cNvPr>
          <p:cNvSpPr>
            <a:spLocks noGrp="1"/>
          </p:cNvSpPr>
          <p:nvPr>
            <p:ph type="title"/>
          </p:nvPr>
        </p:nvSpPr>
        <p:spPr/>
        <p:txBody>
          <a:bodyPr/>
          <a:lstStyle/>
          <a:p>
            <a:r>
              <a:rPr lang="en-US" altLang="ja-JP" b="1" dirty="0">
                <a:solidFill>
                  <a:schemeClr val="accent1"/>
                </a:solidFill>
                <a:latin typeface="+mn-lt"/>
              </a:rPr>
              <a:t>Paper5-2: Objective and Method</a:t>
            </a:r>
            <a:endParaRPr kumimoji="1" lang="ja-JP" altLang="en-US" sz="3600"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F387ACAB-085A-EC79-AB10-9F89A6C0C7F8}"/>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38</a:t>
            </a:fld>
            <a:endParaRPr lang="en-US"/>
          </a:p>
        </p:txBody>
      </p:sp>
      <p:sp>
        <p:nvSpPr>
          <p:cNvPr id="3" name="コンテンツ プレースホルダー 24">
            <a:extLst>
              <a:ext uri="{FF2B5EF4-FFF2-40B4-BE49-F238E27FC236}">
                <a16:creationId xmlns:a16="http://schemas.microsoft.com/office/drawing/2014/main" id="{C627F12A-7966-0F18-A181-CFC2F8720402}"/>
              </a:ext>
            </a:extLst>
          </p:cNvPr>
          <p:cNvSpPr>
            <a:spLocks noGrp="1"/>
          </p:cNvSpPr>
          <p:nvPr>
            <p:ph idx="1"/>
          </p:nvPr>
        </p:nvSpPr>
        <p:spPr>
          <a:xfrm>
            <a:off x="568633" y="994595"/>
            <a:ext cx="11036465" cy="985803"/>
          </a:xfrm>
        </p:spPr>
        <p:txBody>
          <a:bodyPr>
            <a:noAutofit/>
          </a:bodyPr>
          <a:lstStyle/>
          <a:p>
            <a:r>
              <a:rPr lang="en-US" altLang="ja-JP" sz="2550" b="1" u="sng" dirty="0"/>
              <a:t>Objective: </a:t>
            </a:r>
            <a:br>
              <a:rPr lang="en-US" altLang="ja-JP" sz="2550" b="1" u="sng" dirty="0"/>
            </a:br>
            <a:r>
              <a:rPr lang="en-US" altLang="ja-JP" sz="2550" b="1" u="sng" dirty="0"/>
              <a:t>Investigation of Ambient Illuminance on Perceived Transparency</a:t>
            </a:r>
          </a:p>
        </p:txBody>
      </p:sp>
      <p:sp>
        <p:nvSpPr>
          <p:cNvPr id="5" name="コンテンツ プレースホルダー 24">
            <a:extLst>
              <a:ext uri="{FF2B5EF4-FFF2-40B4-BE49-F238E27FC236}">
                <a16:creationId xmlns:a16="http://schemas.microsoft.com/office/drawing/2014/main" id="{5D386DB3-750C-7C11-FF03-57214D6B0953}"/>
              </a:ext>
            </a:extLst>
          </p:cNvPr>
          <p:cNvSpPr txBox="1">
            <a:spLocks/>
          </p:cNvSpPr>
          <p:nvPr/>
        </p:nvSpPr>
        <p:spPr>
          <a:xfrm>
            <a:off x="568633" y="2453640"/>
            <a:ext cx="11288411" cy="4404361"/>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Font typeface="Arial" panose="020B0604020202020204" pitchFamily="34" charset="0"/>
              <a:buNone/>
              <a:defRPr kumimoji="1" sz="2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550" b="1" u="sng" dirty="0"/>
              <a:t>Method: Psychophysical scaling under Varying Ambient Illuminance</a:t>
            </a:r>
          </a:p>
          <a:p>
            <a:r>
              <a:rPr lang="en-US" altLang="ja-JP" dirty="0"/>
              <a:t>Direct scaling: 0% ~100% (Step size: 1%)</a:t>
            </a:r>
          </a:p>
          <a:p>
            <a:endParaRPr lang="en-US" altLang="ja-JP" dirty="0"/>
          </a:p>
          <a:p>
            <a:r>
              <a:rPr lang="en-US" altLang="ja-JP" b="1" dirty="0"/>
              <a:t>Stimuli</a:t>
            </a:r>
          </a:p>
          <a:p>
            <a:r>
              <a:rPr lang="en-US" altLang="ja-JP" dirty="0"/>
              <a:t>Illuminance: low, high (10~20, 400~500 lux)</a:t>
            </a:r>
          </a:p>
          <a:p>
            <a:r>
              <a:rPr lang="en-US" altLang="ja-JP" dirty="0"/>
              <a:t>True transparency level: 10% ~ 100% (Step size: 10%)</a:t>
            </a:r>
          </a:p>
        </p:txBody>
      </p:sp>
      <p:pic>
        <p:nvPicPr>
          <p:cNvPr id="8" name="図 7">
            <a:extLst>
              <a:ext uri="{FF2B5EF4-FFF2-40B4-BE49-F238E27FC236}">
                <a16:creationId xmlns:a16="http://schemas.microsoft.com/office/drawing/2014/main" id="{08E20455-B13B-FE0F-880D-2F6AC1D0F124}"/>
              </a:ext>
            </a:extLst>
          </p:cNvPr>
          <p:cNvPicPr>
            <a:picLocks noChangeAspect="1"/>
          </p:cNvPicPr>
          <p:nvPr/>
        </p:nvPicPr>
        <p:blipFill>
          <a:blip r:embed="rId3"/>
          <a:stretch>
            <a:fillRect/>
          </a:stretch>
        </p:blipFill>
        <p:spPr>
          <a:xfrm>
            <a:off x="7330169" y="3185399"/>
            <a:ext cx="4237262" cy="1656479"/>
          </a:xfrm>
          <a:prstGeom prst="rect">
            <a:avLst/>
          </a:prstGeom>
        </p:spPr>
      </p:pic>
      <p:sp>
        <p:nvSpPr>
          <p:cNvPr id="6" name="フッター プレースホルダー 4">
            <a:extLst>
              <a:ext uri="{FF2B5EF4-FFF2-40B4-BE49-F238E27FC236}">
                <a16:creationId xmlns:a16="http://schemas.microsoft.com/office/drawing/2014/main" id="{1B7D95DB-C7FE-1509-2057-91FFEAE6B0EB}"/>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b="1" dirty="0"/>
              <a:t>Y. Li, X. Zhou, and C. Xue, “Research on user transparency perception based on mixed reality,” 2022</a:t>
            </a:r>
            <a:endParaRPr lang="en-US" sz="1100" b="1" dirty="0"/>
          </a:p>
        </p:txBody>
      </p:sp>
      <p:sp>
        <p:nvSpPr>
          <p:cNvPr id="7" name="フッター プレースホルダー 4">
            <a:extLst>
              <a:ext uri="{FF2B5EF4-FFF2-40B4-BE49-F238E27FC236}">
                <a16:creationId xmlns:a16="http://schemas.microsoft.com/office/drawing/2014/main" id="{92CDAB9F-4A8B-EF7D-9A14-C86062AF85A8}"/>
              </a:ext>
            </a:extLst>
          </p:cNvPr>
          <p:cNvSpPr txBox="1">
            <a:spLocks/>
          </p:cNvSpPr>
          <p:nvPr/>
        </p:nvSpPr>
        <p:spPr>
          <a:xfrm>
            <a:off x="7390728" y="4745278"/>
            <a:ext cx="4116144" cy="336954"/>
          </a:xfrm>
          <a:prstGeom prst="rect">
            <a:avLst/>
          </a:prstGeom>
        </p:spPr>
        <p:txBody>
          <a:bodyPr anchor="b"/>
          <a:lstStyle>
            <a:defPPr>
              <a:defRPr lang="ja-JP"/>
            </a:defPPr>
            <a:lvl1pPr marL="0" algn="l" defTabSz="914400" rtl="0" eaLnBrk="1" latinLnBrk="0" hangingPunct="1">
              <a:defRPr kumimoji="1" sz="11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sz="1200" dirty="0"/>
              <a:t>Experimental scene</a:t>
            </a:r>
          </a:p>
        </p:txBody>
      </p:sp>
    </p:spTree>
    <p:extLst>
      <p:ext uri="{BB962C8B-B14F-4D97-AF65-F5344CB8AC3E}">
        <p14:creationId xmlns:p14="http://schemas.microsoft.com/office/powerpoint/2010/main" val="33789084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D24F3-CBB6-F58A-3977-D5FE1A03AA3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2DA3BD7-E13C-4FA1-C154-9C33CE17897C}"/>
              </a:ext>
            </a:extLst>
          </p:cNvPr>
          <p:cNvSpPr>
            <a:spLocks noGrp="1"/>
          </p:cNvSpPr>
          <p:nvPr>
            <p:ph type="title"/>
          </p:nvPr>
        </p:nvSpPr>
        <p:spPr/>
        <p:txBody>
          <a:bodyPr/>
          <a:lstStyle/>
          <a:p>
            <a:r>
              <a:rPr lang="en-US" altLang="ja-JP" b="1" dirty="0">
                <a:solidFill>
                  <a:schemeClr val="accent1"/>
                </a:solidFill>
                <a:latin typeface="+mn-lt"/>
              </a:rPr>
              <a:t>Paper5-2: Results and Discussion</a:t>
            </a:r>
            <a:endParaRPr kumimoji="1" lang="ja-JP" altLang="en-US" sz="3600"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3814B791-2259-847B-7B9F-0D74BDF80C97}"/>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39</a:t>
            </a:fld>
            <a:endParaRPr lang="en-US"/>
          </a:p>
        </p:txBody>
      </p:sp>
      <p:sp>
        <p:nvSpPr>
          <p:cNvPr id="3" name="コンテンツ プレースホルダー 24">
            <a:extLst>
              <a:ext uri="{FF2B5EF4-FFF2-40B4-BE49-F238E27FC236}">
                <a16:creationId xmlns:a16="http://schemas.microsoft.com/office/drawing/2014/main" id="{47959874-CBA1-2341-91BE-732AB0692391}"/>
              </a:ext>
            </a:extLst>
          </p:cNvPr>
          <p:cNvSpPr>
            <a:spLocks noGrp="1"/>
          </p:cNvSpPr>
          <p:nvPr>
            <p:ph idx="1"/>
          </p:nvPr>
        </p:nvSpPr>
        <p:spPr>
          <a:xfrm>
            <a:off x="568633" y="994595"/>
            <a:ext cx="11036465" cy="1763845"/>
          </a:xfrm>
        </p:spPr>
        <p:txBody>
          <a:bodyPr>
            <a:noAutofit/>
          </a:bodyPr>
          <a:lstStyle/>
          <a:p>
            <a:r>
              <a:rPr lang="en-US" altLang="ja-JP" sz="2550" b="1" u="sng" dirty="0"/>
              <a:t>Results: Underestimation of Transparency</a:t>
            </a:r>
          </a:p>
          <a:p>
            <a:r>
              <a:rPr lang="en-US" altLang="ja-JP" dirty="0"/>
              <a:t>(1) Increase physical transparency </a:t>
            </a:r>
            <a:r>
              <a:rPr lang="ja-JP" altLang="en-US" dirty="0"/>
              <a:t>→ </a:t>
            </a:r>
            <a:r>
              <a:rPr lang="en-US" altLang="ja-JP" dirty="0"/>
              <a:t>Underestimate perceptual transparency</a:t>
            </a:r>
          </a:p>
          <a:p>
            <a:r>
              <a:rPr lang="en-US" altLang="ja-JP" dirty="0"/>
              <a:t>(2) High illuminance </a:t>
            </a:r>
            <a:r>
              <a:rPr lang="ja-JP" altLang="en-US" dirty="0"/>
              <a:t>→ </a:t>
            </a:r>
            <a:r>
              <a:rPr lang="en-US" altLang="ja-JP" dirty="0"/>
              <a:t>More underestimate</a:t>
            </a:r>
          </a:p>
          <a:p>
            <a:endParaRPr lang="en-US" altLang="ja-JP" dirty="0"/>
          </a:p>
          <a:p>
            <a:endParaRPr lang="en-US" altLang="ja-JP" dirty="0"/>
          </a:p>
        </p:txBody>
      </p:sp>
      <p:sp>
        <p:nvSpPr>
          <p:cNvPr id="9" name="コンテンツ プレースホルダー 24">
            <a:extLst>
              <a:ext uri="{FF2B5EF4-FFF2-40B4-BE49-F238E27FC236}">
                <a16:creationId xmlns:a16="http://schemas.microsoft.com/office/drawing/2014/main" id="{859A5251-3F01-CE06-4A9D-7D7ADAFA211D}"/>
              </a:ext>
            </a:extLst>
          </p:cNvPr>
          <p:cNvSpPr txBox="1">
            <a:spLocks/>
          </p:cNvSpPr>
          <p:nvPr/>
        </p:nvSpPr>
        <p:spPr>
          <a:xfrm>
            <a:off x="568632" y="2892601"/>
            <a:ext cx="11036465" cy="2243280"/>
          </a:xfrm>
          <a:prstGeom prst="rect">
            <a:avLst/>
          </a:prstGeom>
        </p:spPr>
        <p:txBody>
          <a:bodyPr vert="horz" lIns="91440" tIns="45720" rIns="91440" bIns="45720" rtlCol="0">
            <a:noAutofit/>
          </a:bodyPr>
          <a:lstStyle>
            <a:lvl1pPr marL="0" indent="0" algn="l" defTabSz="914400" rtl="0" eaLnBrk="1" latinLnBrk="0" hangingPunct="1">
              <a:lnSpc>
                <a:spcPct val="110000"/>
              </a:lnSpc>
              <a:spcBef>
                <a:spcPts val="1000"/>
              </a:spcBef>
              <a:buFont typeface="Arial" panose="020B0604020202020204" pitchFamily="34" charset="0"/>
              <a:buNone/>
              <a:defRPr kumimoji="1" sz="2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550" b="1" u="sng" dirty="0"/>
              <a:t>Discussion: (2)</a:t>
            </a:r>
            <a:r>
              <a:rPr lang="ja-JP" altLang="en-US" sz="2550" b="1" u="sng" dirty="0"/>
              <a:t>←</a:t>
            </a:r>
            <a:r>
              <a:rPr lang="en-US" altLang="ja-JP" sz="2550" b="1" u="sng" dirty="0"/>
              <a:t>Reduction of Relative Brightness of Overlay?</a:t>
            </a:r>
          </a:p>
          <a:p>
            <a:r>
              <a:rPr lang="en-US" altLang="ja-JP" dirty="0"/>
              <a:t>This mean: High illuminance </a:t>
            </a:r>
            <a:r>
              <a:rPr lang="ja-JP" altLang="en-US" dirty="0"/>
              <a:t>→ </a:t>
            </a:r>
            <a:r>
              <a:rPr lang="en-US" altLang="ja-JP" dirty="0"/>
              <a:t>More opaque perception (</a:t>
            </a:r>
            <a:r>
              <a:rPr lang="ja-JP" altLang="en-US" dirty="0"/>
              <a:t>→ </a:t>
            </a:r>
            <a:r>
              <a:rPr lang="en-US" altLang="ja-JP" dirty="0"/>
              <a:t>High visibility)</a:t>
            </a:r>
          </a:p>
          <a:p>
            <a:endParaRPr lang="en-US" altLang="ja-JP" dirty="0"/>
          </a:p>
          <a:p>
            <a:r>
              <a:rPr lang="en-US" altLang="ja-JP" dirty="0"/>
              <a:t>Paper3-1: High illuminance</a:t>
            </a:r>
            <a:r>
              <a:rPr lang="ja-JP" altLang="en-US" dirty="0"/>
              <a:t> → </a:t>
            </a:r>
            <a:r>
              <a:rPr lang="en-US" altLang="ja-JP" dirty="0"/>
              <a:t>Low contrast ratio </a:t>
            </a:r>
            <a:r>
              <a:rPr lang="ja-JP" altLang="en-US" dirty="0"/>
              <a:t>→ </a:t>
            </a:r>
            <a:r>
              <a:rPr lang="en-US" altLang="ja-JP" dirty="0"/>
              <a:t>Low visibility</a:t>
            </a:r>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AD113C82-628D-5C75-898A-20944A1EBAF0}"/>
                  </a:ext>
                </a:extLst>
              </p:cNvPr>
              <p:cNvSpPr txBox="1"/>
              <p:nvPr/>
            </p:nvSpPr>
            <p:spPr>
              <a:xfrm rot="5400000">
                <a:off x="4450432" y="3991762"/>
                <a:ext cx="667695" cy="39241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ja-JP" altLang="en-US" sz="2550" b="1" i="1" smtClean="0">
                          <a:latin typeface="Cambria Math" panose="02040503050406030204" pitchFamily="18" charset="0"/>
                        </a:rPr>
                        <m:t>⟺</m:t>
                      </m:r>
                    </m:oMath>
                  </m:oMathPara>
                </a14:m>
                <a:endParaRPr kumimoji="1" lang="ja-JP" altLang="en-US" sz="2550" b="1" dirty="0"/>
              </a:p>
            </p:txBody>
          </p:sp>
        </mc:Choice>
        <mc:Fallback xmlns="">
          <p:sp>
            <p:nvSpPr>
              <p:cNvPr id="5" name="テキスト ボックス 4">
                <a:extLst>
                  <a:ext uri="{FF2B5EF4-FFF2-40B4-BE49-F238E27FC236}">
                    <a16:creationId xmlns:a16="http://schemas.microsoft.com/office/drawing/2014/main" id="{AD113C82-628D-5C75-898A-20944A1EBAF0}"/>
                  </a:ext>
                </a:extLst>
              </p:cNvPr>
              <p:cNvSpPr txBox="1">
                <a:spLocks noRot="1" noChangeAspect="1" noMove="1" noResize="1" noEditPoints="1" noAdjustHandles="1" noChangeArrowheads="1" noChangeShapeType="1" noTextEdit="1"/>
              </p:cNvSpPr>
              <p:nvPr/>
            </p:nvSpPr>
            <p:spPr>
              <a:xfrm rot="5400000">
                <a:off x="4450432" y="3991762"/>
                <a:ext cx="667695" cy="392415"/>
              </a:xfrm>
              <a:prstGeom prst="rect">
                <a:avLst/>
              </a:prstGeom>
              <a:blipFill>
                <a:blip r:embed="rId3"/>
                <a:stretch>
                  <a:fillRect/>
                </a:stretch>
              </a:blipFill>
            </p:spPr>
            <p:txBody>
              <a:bodyPr/>
              <a:lstStyle/>
              <a:p>
                <a:r>
                  <a:rPr lang="ja-JP" altLang="en-US">
                    <a:noFill/>
                  </a:rPr>
                  <a:t> </a:t>
                </a:r>
              </a:p>
            </p:txBody>
          </p:sp>
        </mc:Fallback>
      </mc:AlternateContent>
      <p:sp>
        <p:nvSpPr>
          <p:cNvPr id="6" name="コンテンツ プレースホルダー 24">
            <a:extLst>
              <a:ext uri="{FF2B5EF4-FFF2-40B4-BE49-F238E27FC236}">
                <a16:creationId xmlns:a16="http://schemas.microsoft.com/office/drawing/2014/main" id="{03547012-9FFF-6402-3E42-C548FDE294C2}"/>
              </a:ext>
            </a:extLst>
          </p:cNvPr>
          <p:cNvSpPr txBox="1">
            <a:spLocks/>
          </p:cNvSpPr>
          <p:nvPr/>
        </p:nvSpPr>
        <p:spPr>
          <a:xfrm>
            <a:off x="568631" y="4960707"/>
            <a:ext cx="11036465" cy="1535336"/>
          </a:xfrm>
          <a:prstGeom prst="rect">
            <a:avLst/>
          </a:prstGeom>
          <a:ln w="19050">
            <a:solidFill>
              <a:schemeClr val="accent1"/>
            </a:solidFill>
          </a:ln>
        </p:spPr>
        <p:txBody>
          <a:bodyPr vert="horz" lIns="91440" tIns="45720" rIns="91440" bIns="45720" rtlCol="0">
            <a:noAutofit/>
          </a:bodyPr>
          <a:lstStyle>
            <a:lvl1pPr marL="0" indent="0" algn="l" defTabSz="914400" rtl="0" eaLnBrk="1" latinLnBrk="0" hangingPunct="1">
              <a:lnSpc>
                <a:spcPct val="110000"/>
              </a:lnSpc>
              <a:spcBef>
                <a:spcPts val="1000"/>
              </a:spcBef>
              <a:buFont typeface="Arial" panose="020B0604020202020204" pitchFamily="34" charset="0"/>
              <a:buNone/>
              <a:defRPr kumimoji="1" sz="2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b="1" dirty="0"/>
              <a:t>Propose another Hypothesis (consistent with Paper5-1)</a:t>
            </a:r>
          </a:p>
          <a:p>
            <a:r>
              <a:rPr lang="en-US" altLang="ja-JP" dirty="0"/>
              <a:t>Bright environment </a:t>
            </a:r>
            <a:r>
              <a:rPr lang="ja-JP" altLang="en-US" dirty="0"/>
              <a:t>→ </a:t>
            </a:r>
            <a:r>
              <a:rPr lang="en-US" altLang="ja-JP" dirty="0"/>
              <a:t>ambient light illuminates the background display</a:t>
            </a:r>
          </a:p>
          <a:p>
            <a:r>
              <a:rPr lang="ja-JP" altLang="en-US" dirty="0"/>
              <a:t>→ </a:t>
            </a:r>
            <a:r>
              <a:rPr lang="en-US" altLang="ja-JP" dirty="0"/>
              <a:t>Reduction in background contrast </a:t>
            </a:r>
            <a:r>
              <a:rPr lang="ja-JP" altLang="en-US" dirty="0"/>
              <a:t>→ </a:t>
            </a:r>
            <a:r>
              <a:rPr lang="en-US" altLang="ja-JP" dirty="0"/>
              <a:t>reduction in background contrast</a:t>
            </a:r>
          </a:p>
          <a:p>
            <a:endParaRPr lang="ja-JP" altLang="en-US" b="1" dirty="0"/>
          </a:p>
          <a:p>
            <a:endParaRPr lang="en-US" altLang="ja-JP" dirty="0"/>
          </a:p>
          <a:p>
            <a:endParaRPr lang="en-US" altLang="ja-JP" dirty="0"/>
          </a:p>
        </p:txBody>
      </p:sp>
      <p:sp>
        <p:nvSpPr>
          <p:cNvPr id="10" name="フッター プレースホルダー 4">
            <a:extLst>
              <a:ext uri="{FF2B5EF4-FFF2-40B4-BE49-F238E27FC236}">
                <a16:creationId xmlns:a16="http://schemas.microsoft.com/office/drawing/2014/main" id="{62885EF8-6A88-1B7B-5E2E-DFA547B6B432}"/>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b="1" dirty="0"/>
              <a:t>Y. Li, X. Zhou, and C. Xue, “Research on user transparency perception based on mixed reality,” 2022</a:t>
            </a:r>
            <a:endParaRPr lang="en-US" sz="1100" b="1" dirty="0"/>
          </a:p>
        </p:txBody>
      </p:sp>
    </p:spTree>
    <p:extLst>
      <p:ext uri="{BB962C8B-B14F-4D97-AF65-F5344CB8AC3E}">
        <p14:creationId xmlns:p14="http://schemas.microsoft.com/office/powerpoint/2010/main" val="35834085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02778-D4CD-DB65-D7AF-FFF94AEEE5F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F2BEEC6-6F92-5731-8C45-FC2B4E0B488C}"/>
              </a:ext>
            </a:extLst>
          </p:cNvPr>
          <p:cNvSpPr>
            <a:spLocks noGrp="1"/>
          </p:cNvSpPr>
          <p:nvPr>
            <p:ph type="title"/>
          </p:nvPr>
        </p:nvSpPr>
        <p:spPr/>
        <p:txBody>
          <a:bodyPr/>
          <a:lstStyle/>
          <a:p>
            <a:r>
              <a:rPr kumimoji="1" lang="en-US" altLang="ja-JP" sz="3600" b="1" dirty="0">
                <a:solidFill>
                  <a:schemeClr val="accent1"/>
                </a:solidFill>
                <a:latin typeface="+mn-lt"/>
              </a:rPr>
              <a:t>Paper5-</a:t>
            </a:r>
            <a:r>
              <a:rPr lang="en-US" altLang="ja-JP" b="1" dirty="0">
                <a:solidFill>
                  <a:schemeClr val="accent1"/>
                </a:solidFill>
                <a:latin typeface="+mn-lt"/>
              </a:rPr>
              <a:t>3: Objective and Method</a:t>
            </a:r>
            <a:endParaRPr kumimoji="1" lang="ja-JP" altLang="en-US" sz="3600"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96A15408-449C-4551-E97B-C1D3A9C29437}"/>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40</a:t>
            </a:fld>
            <a:endParaRPr lang="en-US"/>
          </a:p>
        </p:txBody>
      </p:sp>
      <p:sp>
        <p:nvSpPr>
          <p:cNvPr id="3" name="コンテンツ プレースホルダー 24">
            <a:extLst>
              <a:ext uri="{FF2B5EF4-FFF2-40B4-BE49-F238E27FC236}">
                <a16:creationId xmlns:a16="http://schemas.microsoft.com/office/drawing/2014/main" id="{C85B15E4-3714-C937-90C2-51F874586B63}"/>
              </a:ext>
            </a:extLst>
          </p:cNvPr>
          <p:cNvSpPr>
            <a:spLocks noGrp="1"/>
          </p:cNvSpPr>
          <p:nvPr>
            <p:ph idx="1"/>
          </p:nvPr>
        </p:nvSpPr>
        <p:spPr>
          <a:xfrm>
            <a:off x="568633" y="994595"/>
            <a:ext cx="11036465" cy="1653389"/>
          </a:xfrm>
        </p:spPr>
        <p:txBody>
          <a:bodyPr>
            <a:noAutofit/>
          </a:bodyPr>
          <a:lstStyle/>
          <a:p>
            <a:r>
              <a:rPr lang="en-US" altLang="ja-JP" sz="2550" b="1" u="sng" dirty="0"/>
              <a:t>Objective: </a:t>
            </a:r>
            <a:br>
              <a:rPr lang="en-US" altLang="ja-JP" sz="2550" b="1" u="sng" dirty="0"/>
            </a:br>
            <a:r>
              <a:rPr lang="en-US" altLang="ja-JP" sz="2550" b="1" u="sng" dirty="0"/>
              <a:t>Improvement of the Visibility of OST-HMD via Hardware </a:t>
            </a:r>
            <a:endParaRPr lang="en-US" altLang="ja-JP" dirty="0"/>
          </a:p>
          <a:p>
            <a:r>
              <a:rPr lang="en-US" altLang="ja-JP" dirty="0"/>
              <a:t>Limitations of Conventional Methods: Image quality degradation, Excessively bulky</a:t>
            </a:r>
            <a:endParaRPr lang="ja-JP" altLang="en-US" dirty="0"/>
          </a:p>
        </p:txBody>
      </p:sp>
      <p:sp>
        <p:nvSpPr>
          <p:cNvPr id="5" name="コンテンツ プレースホルダー 24">
            <a:extLst>
              <a:ext uri="{FF2B5EF4-FFF2-40B4-BE49-F238E27FC236}">
                <a16:creationId xmlns:a16="http://schemas.microsoft.com/office/drawing/2014/main" id="{DB9BFAEB-ED7B-2AC6-0AD5-6064353A9DBD}"/>
              </a:ext>
            </a:extLst>
          </p:cNvPr>
          <p:cNvSpPr txBox="1">
            <a:spLocks/>
          </p:cNvSpPr>
          <p:nvPr/>
        </p:nvSpPr>
        <p:spPr>
          <a:xfrm>
            <a:off x="568633" y="2647984"/>
            <a:ext cx="11288411" cy="4210017"/>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Font typeface="Arial" panose="020B0604020202020204" pitchFamily="34" charset="0"/>
              <a:buNone/>
              <a:defRPr kumimoji="1" sz="2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550" b="1" u="sng" dirty="0"/>
              <a:t>Method: Adopts a GHLC cell to Adjust Transmittance via Applied Voltage</a:t>
            </a:r>
          </a:p>
          <a:p>
            <a:r>
              <a:rPr lang="en-US" altLang="ja-JP" b="1" dirty="0"/>
              <a:t>GHLC cell</a:t>
            </a:r>
          </a:p>
          <a:p>
            <a:r>
              <a:rPr lang="en-US" altLang="ja-JP" dirty="0"/>
              <a:t>Host: Liquid Crystal (LC) molecules (chiral dopants)</a:t>
            </a:r>
          </a:p>
          <a:p>
            <a:r>
              <a:rPr lang="en-US" altLang="ja-JP" dirty="0"/>
              <a:t>Guest: dichroic dye molecules</a:t>
            </a:r>
          </a:p>
          <a:p>
            <a:r>
              <a:rPr lang="en-US" altLang="ja-JP" b="1" dirty="0"/>
              <a:t>Initial (Vertically aligned) </a:t>
            </a:r>
            <a:r>
              <a:rPr lang="ja-JP" altLang="en-US" b="1" dirty="0"/>
              <a:t>→ </a:t>
            </a:r>
            <a:r>
              <a:rPr lang="en-US" altLang="ja-JP" b="1" dirty="0"/>
              <a:t>Transparent </a:t>
            </a:r>
          </a:p>
          <a:p>
            <a:r>
              <a:rPr lang="en-US" altLang="ja-JP" b="1" dirty="0"/>
              <a:t>Voltage applied (Twisted structure) </a:t>
            </a:r>
            <a:r>
              <a:rPr lang="ja-JP" altLang="en-US" b="1" dirty="0"/>
              <a:t>→ </a:t>
            </a:r>
            <a:r>
              <a:rPr lang="en-US" altLang="ja-JP" b="1" dirty="0"/>
              <a:t>Opaque</a:t>
            </a:r>
          </a:p>
        </p:txBody>
      </p:sp>
      <p:pic>
        <p:nvPicPr>
          <p:cNvPr id="7" name="図 6">
            <a:extLst>
              <a:ext uri="{FF2B5EF4-FFF2-40B4-BE49-F238E27FC236}">
                <a16:creationId xmlns:a16="http://schemas.microsoft.com/office/drawing/2014/main" id="{0253143A-1722-FCCF-2C3C-C99F2402713C}"/>
              </a:ext>
            </a:extLst>
          </p:cNvPr>
          <p:cNvPicPr>
            <a:picLocks noChangeAspect="1"/>
          </p:cNvPicPr>
          <p:nvPr/>
        </p:nvPicPr>
        <p:blipFill>
          <a:blip r:embed="rId3"/>
          <a:stretch>
            <a:fillRect/>
          </a:stretch>
        </p:blipFill>
        <p:spPr>
          <a:xfrm>
            <a:off x="8389782" y="3229907"/>
            <a:ext cx="2430618" cy="3072875"/>
          </a:xfrm>
          <a:prstGeom prst="rect">
            <a:avLst/>
          </a:prstGeom>
        </p:spPr>
      </p:pic>
      <p:sp>
        <p:nvSpPr>
          <p:cNvPr id="6" name="フッター プレースホルダー 4">
            <a:extLst>
              <a:ext uri="{FF2B5EF4-FFF2-40B4-BE49-F238E27FC236}">
                <a16:creationId xmlns:a16="http://schemas.microsoft.com/office/drawing/2014/main" id="{B25BAC63-60B0-FFC3-5370-A97BB4437170}"/>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b="1" dirty="0"/>
              <a:t>J. Kim, S. won Oh, J. Choi, S. Park, and W. Kim, “Optical see-through head-mounted display including transmittance-variable display for high visibility,” 2022</a:t>
            </a:r>
            <a:endParaRPr lang="en-US" sz="1100" b="1" dirty="0"/>
          </a:p>
        </p:txBody>
      </p:sp>
      <p:sp>
        <p:nvSpPr>
          <p:cNvPr id="8" name="フッター プレースホルダー 4">
            <a:extLst>
              <a:ext uri="{FF2B5EF4-FFF2-40B4-BE49-F238E27FC236}">
                <a16:creationId xmlns:a16="http://schemas.microsoft.com/office/drawing/2014/main" id="{EA1B9B9E-3A7A-C75E-51B7-77F7A892D77E}"/>
              </a:ext>
            </a:extLst>
          </p:cNvPr>
          <p:cNvSpPr txBox="1">
            <a:spLocks/>
          </p:cNvSpPr>
          <p:nvPr/>
        </p:nvSpPr>
        <p:spPr>
          <a:xfrm>
            <a:off x="7547019" y="6200456"/>
            <a:ext cx="4116144" cy="336954"/>
          </a:xfrm>
          <a:prstGeom prst="rect">
            <a:avLst/>
          </a:prstGeom>
        </p:spPr>
        <p:txBody>
          <a:bodyPr anchor="b"/>
          <a:lstStyle>
            <a:defPPr>
              <a:defRPr lang="ja-JP"/>
            </a:defPPr>
            <a:lvl1pPr marL="0" algn="l" defTabSz="914400" rtl="0" eaLnBrk="1" latinLnBrk="0" hangingPunct="1">
              <a:defRPr kumimoji="1" sz="11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sz="1200" dirty="0"/>
              <a:t>The GHLC cell using inverse-STN mode</a:t>
            </a:r>
          </a:p>
        </p:txBody>
      </p:sp>
    </p:spTree>
    <p:extLst>
      <p:ext uri="{BB962C8B-B14F-4D97-AF65-F5344CB8AC3E}">
        <p14:creationId xmlns:p14="http://schemas.microsoft.com/office/powerpoint/2010/main" val="20392177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FFB47-3926-C2EE-C1A7-C45EAC07FCA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8CF4A93-7973-6DD1-7141-1CDB521F8063}"/>
              </a:ext>
            </a:extLst>
          </p:cNvPr>
          <p:cNvSpPr>
            <a:spLocks noGrp="1"/>
          </p:cNvSpPr>
          <p:nvPr>
            <p:ph type="title"/>
          </p:nvPr>
        </p:nvSpPr>
        <p:spPr/>
        <p:txBody>
          <a:bodyPr/>
          <a:lstStyle/>
          <a:p>
            <a:r>
              <a:rPr kumimoji="1" lang="en-US" altLang="ja-JP" sz="3600" b="1" dirty="0">
                <a:solidFill>
                  <a:schemeClr val="accent1"/>
                </a:solidFill>
                <a:latin typeface="+mn-lt"/>
              </a:rPr>
              <a:t>Paper5-</a:t>
            </a:r>
            <a:r>
              <a:rPr lang="en-US" altLang="ja-JP" b="1" dirty="0">
                <a:solidFill>
                  <a:schemeClr val="accent1"/>
                </a:solidFill>
                <a:latin typeface="+mn-lt"/>
              </a:rPr>
              <a:t>3: Experiment</a:t>
            </a:r>
            <a:endParaRPr kumimoji="1" lang="ja-JP" altLang="en-US" sz="3600"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E72D87A0-0BE4-BEA2-269C-AE19094F6E6F}"/>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41</a:t>
            </a:fld>
            <a:endParaRPr lang="en-US"/>
          </a:p>
        </p:txBody>
      </p:sp>
      <p:sp>
        <p:nvSpPr>
          <p:cNvPr id="3" name="コンテンツ プレースホルダー 24">
            <a:extLst>
              <a:ext uri="{FF2B5EF4-FFF2-40B4-BE49-F238E27FC236}">
                <a16:creationId xmlns:a16="http://schemas.microsoft.com/office/drawing/2014/main" id="{B9262D3C-7B75-5E37-60F4-9B4DDFA04C71}"/>
              </a:ext>
            </a:extLst>
          </p:cNvPr>
          <p:cNvSpPr>
            <a:spLocks noGrp="1"/>
          </p:cNvSpPr>
          <p:nvPr>
            <p:ph idx="1"/>
          </p:nvPr>
        </p:nvSpPr>
        <p:spPr>
          <a:xfrm>
            <a:off x="568633" y="994595"/>
            <a:ext cx="11036465" cy="5440488"/>
          </a:xfrm>
        </p:spPr>
        <p:txBody>
          <a:bodyPr>
            <a:noAutofit/>
          </a:bodyPr>
          <a:lstStyle/>
          <a:p>
            <a:r>
              <a:rPr lang="en-US" altLang="ja-JP" sz="2550" b="1" u="sng" dirty="0"/>
              <a:t>Luminance and Color Measurement in Varying Ambient Illuminance </a:t>
            </a:r>
          </a:p>
          <a:p>
            <a:r>
              <a:rPr lang="fr-FR" altLang="ja-JP" b="1" dirty="0"/>
              <a:t>Environments (Illuminance)</a:t>
            </a:r>
          </a:p>
          <a:p>
            <a:r>
              <a:rPr lang="fr-FR" altLang="ja-JP" dirty="0"/>
              <a:t>Dark room (</a:t>
            </a:r>
            <a:r>
              <a:rPr lang="fr-FR" altLang="ja-JP" b="1" dirty="0"/>
              <a:t>0 lux</a:t>
            </a:r>
            <a:r>
              <a:rPr lang="fr-FR" altLang="ja-JP" dirty="0"/>
              <a:t>)</a:t>
            </a:r>
          </a:p>
          <a:p>
            <a:r>
              <a:rPr lang="fr-FR" altLang="ja-JP" dirty="0"/>
              <a:t>Office environment (</a:t>
            </a:r>
            <a:r>
              <a:rPr lang="fr-FR" altLang="ja-JP" b="1" dirty="0"/>
              <a:t>600 lux</a:t>
            </a:r>
            <a:r>
              <a:rPr lang="fr-FR" altLang="ja-JP" dirty="0"/>
              <a:t>)</a:t>
            </a:r>
          </a:p>
          <a:p>
            <a:r>
              <a:rPr lang="fr-FR" altLang="ja-JP" dirty="0"/>
              <a:t>Outdoor-equivalent </a:t>
            </a:r>
            <a:br>
              <a:rPr lang="fr-FR" altLang="ja-JP" dirty="0"/>
            </a:br>
            <a:r>
              <a:rPr lang="fr-FR" altLang="ja-JP" dirty="0"/>
              <a:t>bright environment (</a:t>
            </a:r>
            <a:r>
              <a:rPr lang="fr-FR" altLang="ja-JP" b="1" dirty="0"/>
              <a:t>6000 lux</a:t>
            </a:r>
            <a:r>
              <a:rPr lang="fr-FR" altLang="ja-JP" dirty="0"/>
              <a:t>)</a:t>
            </a:r>
          </a:p>
          <a:p>
            <a:endParaRPr lang="en-US" altLang="ja-JP" sz="2550" b="1" u="sng" dirty="0"/>
          </a:p>
          <a:p>
            <a:r>
              <a:rPr lang="fr-FR" altLang="ja-JP" b="1" dirty="0"/>
              <a:t>Evaluation Metrics</a:t>
            </a:r>
            <a:endParaRPr lang="fr-FR" altLang="ja-JP" dirty="0"/>
          </a:p>
          <a:p>
            <a:r>
              <a:rPr lang="fr-FR" altLang="ja-JP" dirty="0"/>
              <a:t>Ambient Contrast Ratio (ACR)</a:t>
            </a:r>
          </a:p>
          <a:p>
            <a:endParaRPr lang="ja-JP" altLang="en-US" sz="2550" b="1" u="sng" dirty="0"/>
          </a:p>
        </p:txBody>
      </p:sp>
      <p:pic>
        <p:nvPicPr>
          <p:cNvPr id="10" name="図 9">
            <a:extLst>
              <a:ext uri="{FF2B5EF4-FFF2-40B4-BE49-F238E27FC236}">
                <a16:creationId xmlns:a16="http://schemas.microsoft.com/office/drawing/2014/main" id="{E65BFAF4-7230-9540-3863-998A4C43393C}"/>
              </a:ext>
            </a:extLst>
          </p:cNvPr>
          <p:cNvPicPr>
            <a:picLocks noChangeAspect="1"/>
          </p:cNvPicPr>
          <p:nvPr/>
        </p:nvPicPr>
        <p:blipFill>
          <a:blip r:embed="rId3"/>
          <a:stretch>
            <a:fillRect/>
          </a:stretch>
        </p:blipFill>
        <p:spPr>
          <a:xfrm>
            <a:off x="5351317" y="1570887"/>
            <a:ext cx="5451762" cy="2841354"/>
          </a:xfrm>
          <a:prstGeom prst="rect">
            <a:avLst/>
          </a:prstGeom>
        </p:spPr>
      </p:pic>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2EF4BA1B-9B32-A726-98A9-14CDD4814B4D}"/>
                  </a:ext>
                </a:extLst>
              </p:cNvPr>
              <p:cNvSpPr txBox="1"/>
              <p:nvPr/>
            </p:nvSpPr>
            <p:spPr>
              <a:xfrm>
                <a:off x="1158240" y="5569718"/>
                <a:ext cx="2627642" cy="6892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ja-JP" sz="2200" b="0" i="1" smtClean="0">
                          <a:latin typeface="Cambria Math" panose="02040503050406030204" pitchFamily="18" charset="0"/>
                        </a:rPr>
                        <m:t>𝐴𝐶𝑅</m:t>
                      </m:r>
                      <m:r>
                        <a:rPr lang="en-US" altLang="ja-JP" sz="2200" b="0" i="1" smtClean="0">
                          <a:latin typeface="Cambria Math" panose="02040503050406030204" pitchFamily="18" charset="0"/>
                        </a:rPr>
                        <m:t>=</m:t>
                      </m:r>
                      <m:f>
                        <m:fPr>
                          <m:ctrlPr>
                            <a:rPr lang="en-US" altLang="ja-JP" sz="2200" b="0" i="1" smtClean="0">
                              <a:latin typeface="Cambria Math" panose="02040503050406030204" pitchFamily="18" charset="0"/>
                            </a:rPr>
                          </m:ctrlPr>
                        </m:fPr>
                        <m:num>
                          <m:sSub>
                            <m:sSubPr>
                              <m:ctrlPr>
                                <a:rPr lang="en-US" altLang="ja-JP" sz="2200" b="0" i="1" smtClean="0">
                                  <a:latin typeface="Cambria Math" panose="02040503050406030204" pitchFamily="18" charset="0"/>
                                </a:rPr>
                              </m:ctrlPr>
                            </m:sSubPr>
                            <m:e>
                              <m:r>
                                <a:rPr lang="en-US" altLang="ja-JP" sz="2200" b="0" i="1" smtClean="0">
                                  <a:latin typeface="Cambria Math" panose="02040503050406030204" pitchFamily="18" charset="0"/>
                                </a:rPr>
                                <m:t>𝐿</m:t>
                              </m:r>
                            </m:e>
                            <m:sub>
                              <m:r>
                                <a:rPr lang="en-US" altLang="ja-JP" sz="2200" b="0" i="1" smtClean="0">
                                  <a:latin typeface="Cambria Math" panose="02040503050406030204" pitchFamily="18" charset="0"/>
                                </a:rPr>
                                <m:t>𝑊</m:t>
                              </m:r>
                            </m:sub>
                          </m:sSub>
                          <m:r>
                            <a:rPr lang="en-US" altLang="ja-JP" sz="2200" b="0" i="1" smtClean="0">
                              <a:latin typeface="Cambria Math" panose="02040503050406030204" pitchFamily="18" charset="0"/>
                            </a:rPr>
                            <m:t>+</m:t>
                          </m:r>
                          <m:sSub>
                            <m:sSubPr>
                              <m:ctrlPr>
                                <a:rPr lang="en-US" altLang="ja-JP" sz="2200" b="0" i="1" smtClean="0">
                                  <a:latin typeface="Cambria Math" panose="02040503050406030204" pitchFamily="18" charset="0"/>
                                </a:rPr>
                              </m:ctrlPr>
                            </m:sSubPr>
                            <m:e>
                              <m:r>
                                <a:rPr lang="en-US" altLang="ja-JP" sz="2200" b="0" i="1" smtClean="0">
                                  <a:latin typeface="Cambria Math" panose="02040503050406030204" pitchFamily="18" charset="0"/>
                                </a:rPr>
                                <m:t>𝐿</m:t>
                              </m:r>
                            </m:e>
                            <m:sub>
                              <m:r>
                                <a:rPr lang="en-US" altLang="ja-JP" sz="2200" b="0" i="1" smtClean="0">
                                  <a:latin typeface="Cambria Math" panose="02040503050406030204" pitchFamily="18" charset="0"/>
                                </a:rPr>
                                <m:t>𝐵</m:t>
                              </m:r>
                            </m:sub>
                          </m:sSub>
                          <m:r>
                            <a:rPr lang="en-US" altLang="ja-JP" sz="2200" b="0" i="1" smtClean="0">
                              <a:latin typeface="Cambria Math" panose="02040503050406030204" pitchFamily="18" charset="0"/>
                            </a:rPr>
                            <m:t>+</m:t>
                          </m:r>
                          <m:sSub>
                            <m:sSubPr>
                              <m:ctrlPr>
                                <a:rPr lang="en-US" altLang="ja-JP" sz="2200" b="0" i="1" smtClean="0">
                                  <a:latin typeface="Cambria Math" panose="02040503050406030204" pitchFamily="18" charset="0"/>
                                </a:rPr>
                              </m:ctrlPr>
                            </m:sSubPr>
                            <m:e>
                              <m:r>
                                <a:rPr lang="en-US" altLang="ja-JP" sz="2200" b="0" i="1" smtClean="0">
                                  <a:latin typeface="Cambria Math" panose="02040503050406030204" pitchFamily="18" charset="0"/>
                                </a:rPr>
                                <m:t>𝐿</m:t>
                              </m:r>
                            </m:e>
                            <m:sub>
                              <m:r>
                                <a:rPr lang="en-US" altLang="ja-JP" sz="2200" b="0" i="1" smtClean="0">
                                  <a:latin typeface="Cambria Math" panose="02040503050406030204" pitchFamily="18" charset="0"/>
                                </a:rPr>
                                <m:t>𝑅</m:t>
                              </m:r>
                            </m:sub>
                          </m:sSub>
                        </m:num>
                        <m:den>
                          <m:sSub>
                            <m:sSubPr>
                              <m:ctrlPr>
                                <a:rPr lang="en-US" altLang="ja-JP" sz="2200" b="0" i="1" smtClean="0">
                                  <a:latin typeface="Cambria Math" panose="02040503050406030204" pitchFamily="18" charset="0"/>
                                </a:rPr>
                              </m:ctrlPr>
                            </m:sSubPr>
                            <m:e>
                              <m:sSub>
                                <m:sSubPr>
                                  <m:ctrlPr>
                                    <a:rPr lang="en-US" altLang="ja-JP" sz="2200" i="1">
                                      <a:latin typeface="Cambria Math" panose="02040503050406030204" pitchFamily="18" charset="0"/>
                                    </a:rPr>
                                  </m:ctrlPr>
                                </m:sSubPr>
                                <m:e>
                                  <m:r>
                                    <a:rPr lang="en-US" altLang="ja-JP" sz="2200" i="1">
                                      <a:latin typeface="Cambria Math" panose="02040503050406030204" pitchFamily="18" charset="0"/>
                                    </a:rPr>
                                    <m:t>𝐿</m:t>
                                  </m:r>
                                </m:e>
                                <m:sub>
                                  <m:r>
                                    <m:rPr>
                                      <m:sty m:val="p"/>
                                    </m:rPr>
                                    <a:rPr lang="en-US" altLang="ja-JP" sz="2200" b="0" i="1" smtClean="0">
                                      <a:latin typeface="Cambria Math" panose="02040503050406030204" pitchFamily="18" charset="0"/>
                                    </a:rPr>
                                    <m:t>K</m:t>
                                  </m:r>
                                </m:sub>
                              </m:sSub>
                              <m:r>
                                <a:rPr lang="en-US" altLang="ja-JP" sz="2200" b="0" i="1" smtClean="0">
                                  <a:latin typeface="Cambria Math" panose="02040503050406030204" pitchFamily="18" charset="0"/>
                                </a:rPr>
                                <m:t>+</m:t>
                              </m:r>
                              <m:r>
                                <a:rPr lang="en-US" altLang="ja-JP" sz="2200" i="1">
                                  <a:latin typeface="Cambria Math" panose="02040503050406030204" pitchFamily="18" charset="0"/>
                                </a:rPr>
                                <m:t>𝐿</m:t>
                              </m:r>
                            </m:e>
                            <m:sub>
                              <m:r>
                                <a:rPr lang="en-US" altLang="ja-JP" sz="2200" i="1">
                                  <a:latin typeface="Cambria Math" panose="02040503050406030204" pitchFamily="18" charset="0"/>
                                </a:rPr>
                                <m:t>𝐵</m:t>
                              </m:r>
                            </m:sub>
                          </m:sSub>
                          <m:r>
                            <a:rPr lang="en-US" altLang="ja-JP" sz="2200" i="1">
                              <a:latin typeface="Cambria Math" panose="02040503050406030204" pitchFamily="18" charset="0"/>
                            </a:rPr>
                            <m:t>+</m:t>
                          </m:r>
                          <m:sSub>
                            <m:sSubPr>
                              <m:ctrlPr>
                                <a:rPr lang="en-US" altLang="ja-JP" sz="2200" i="1">
                                  <a:latin typeface="Cambria Math" panose="02040503050406030204" pitchFamily="18" charset="0"/>
                                </a:rPr>
                              </m:ctrlPr>
                            </m:sSubPr>
                            <m:e>
                              <m:r>
                                <a:rPr lang="en-US" altLang="ja-JP" sz="2200" i="1">
                                  <a:latin typeface="Cambria Math" panose="02040503050406030204" pitchFamily="18" charset="0"/>
                                </a:rPr>
                                <m:t>𝐿</m:t>
                              </m:r>
                            </m:e>
                            <m:sub>
                              <m:r>
                                <a:rPr lang="en-US" altLang="ja-JP" sz="2200" i="1">
                                  <a:latin typeface="Cambria Math" panose="02040503050406030204" pitchFamily="18" charset="0"/>
                                </a:rPr>
                                <m:t>𝑅</m:t>
                              </m:r>
                            </m:sub>
                          </m:sSub>
                        </m:den>
                      </m:f>
                    </m:oMath>
                  </m:oMathPara>
                </a14:m>
                <a:endParaRPr lang="en-US" altLang="ja-JP" sz="2200" b="0" dirty="0"/>
              </a:p>
            </p:txBody>
          </p:sp>
        </mc:Choice>
        <mc:Fallback xmlns="">
          <p:sp>
            <p:nvSpPr>
              <p:cNvPr id="11" name="テキスト ボックス 10">
                <a:extLst>
                  <a:ext uri="{FF2B5EF4-FFF2-40B4-BE49-F238E27FC236}">
                    <a16:creationId xmlns:a16="http://schemas.microsoft.com/office/drawing/2014/main" id="{2EF4BA1B-9B32-A726-98A9-14CDD4814B4D}"/>
                  </a:ext>
                </a:extLst>
              </p:cNvPr>
              <p:cNvSpPr txBox="1">
                <a:spLocks noRot="1" noChangeAspect="1" noMove="1" noResize="1" noEditPoints="1" noAdjustHandles="1" noChangeArrowheads="1" noChangeShapeType="1" noTextEdit="1"/>
              </p:cNvSpPr>
              <p:nvPr/>
            </p:nvSpPr>
            <p:spPr>
              <a:xfrm>
                <a:off x="1158240" y="5569718"/>
                <a:ext cx="2627642" cy="689228"/>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E1CB3C9A-7944-1C6F-BC95-78B9D5EC6CBB}"/>
                  </a:ext>
                </a:extLst>
              </p:cNvPr>
              <p:cNvSpPr txBox="1"/>
              <p:nvPr/>
            </p:nvSpPr>
            <p:spPr>
              <a:xfrm>
                <a:off x="4788824" y="4988533"/>
                <a:ext cx="5139677" cy="1446550"/>
              </a:xfrm>
              <a:prstGeom prst="rect">
                <a:avLst/>
              </a:prstGeom>
              <a:noFill/>
            </p:spPr>
            <p:txBody>
              <a:bodyPr wrap="none" rtlCol="0">
                <a:spAutoFit/>
              </a:bodyPr>
              <a:lstStyle/>
              <a:p>
                <a14:m>
                  <m:oMath xmlns:m="http://schemas.openxmlformats.org/officeDocument/2006/math">
                    <m:sSub>
                      <m:sSubPr>
                        <m:ctrlPr>
                          <a:rPr lang="en-US" altLang="ja-JP" sz="2200" i="1" dirty="0">
                            <a:latin typeface="Cambria Math" panose="02040503050406030204" pitchFamily="18" charset="0"/>
                          </a:rPr>
                        </m:ctrlPr>
                      </m:sSubPr>
                      <m:e>
                        <m:r>
                          <a:rPr lang="en-US" altLang="ja-JP" sz="2200" i="1" dirty="0">
                            <a:latin typeface="Cambria Math" panose="02040503050406030204" pitchFamily="18" charset="0"/>
                          </a:rPr>
                          <m:t>𝐿</m:t>
                        </m:r>
                      </m:e>
                      <m:sub>
                        <m:r>
                          <a:rPr lang="en-US" altLang="ja-JP" sz="2200" i="1" dirty="0">
                            <a:latin typeface="Cambria Math" panose="02040503050406030204" pitchFamily="18" charset="0"/>
                          </a:rPr>
                          <m:t>𝑊</m:t>
                        </m:r>
                      </m:sub>
                    </m:sSub>
                  </m:oMath>
                </a14:m>
                <a:r>
                  <a:rPr lang="en-US" altLang="ja-JP" sz="2200" dirty="0"/>
                  <a:t> :Luminance of the white state</a:t>
                </a:r>
              </a:p>
              <a:p>
                <a14:m>
                  <m:oMath xmlns:m="http://schemas.openxmlformats.org/officeDocument/2006/math">
                    <m:sSub>
                      <m:sSubPr>
                        <m:ctrlPr>
                          <a:rPr lang="en-US" altLang="ja-JP" sz="2200" i="1" dirty="0">
                            <a:latin typeface="Cambria Math" panose="02040503050406030204" pitchFamily="18" charset="0"/>
                          </a:rPr>
                        </m:ctrlPr>
                      </m:sSubPr>
                      <m:e>
                        <m:r>
                          <a:rPr lang="en-US" altLang="ja-JP" sz="2200" i="1" dirty="0">
                            <a:latin typeface="Cambria Math" panose="02040503050406030204" pitchFamily="18" charset="0"/>
                          </a:rPr>
                          <m:t>𝐿</m:t>
                        </m:r>
                      </m:e>
                      <m:sub>
                        <m:r>
                          <a:rPr lang="en-US" altLang="ja-JP" sz="2200" i="1" dirty="0">
                            <a:latin typeface="Cambria Math" panose="02040503050406030204" pitchFamily="18" charset="0"/>
                          </a:rPr>
                          <m:t>𝐾</m:t>
                        </m:r>
                      </m:sub>
                    </m:sSub>
                  </m:oMath>
                </a14:m>
                <a:r>
                  <a:rPr lang="en-US" altLang="ja-JP" sz="2200" dirty="0"/>
                  <a:t>: Luminance of the black state</a:t>
                </a:r>
              </a:p>
              <a:p>
                <a14:m>
                  <m:oMath xmlns:m="http://schemas.openxmlformats.org/officeDocument/2006/math">
                    <m:sSub>
                      <m:sSubPr>
                        <m:ctrlPr>
                          <a:rPr lang="en-US" altLang="ja-JP" sz="2200" i="1" dirty="0">
                            <a:latin typeface="Cambria Math" panose="02040503050406030204" pitchFamily="18" charset="0"/>
                          </a:rPr>
                        </m:ctrlPr>
                      </m:sSubPr>
                      <m:e>
                        <m:r>
                          <a:rPr lang="en-US" altLang="ja-JP" sz="2200" i="1" dirty="0">
                            <a:latin typeface="Cambria Math" panose="02040503050406030204" pitchFamily="18" charset="0"/>
                          </a:rPr>
                          <m:t>𝐿</m:t>
                        </m:r>
                      </m:e>
                      <m:sub>
                        <m:r>
                          <a:rPr lang="en-US" altLang="ja-JP" sz="2200" i="1" dirty="0">
                            <a:latin typeface="Cambria Math" panose="02040503050406030204" pitchFamily="18" charset="0"/>
                          </a:rPr>
                          <m:t>𝐵</m:t>
                        </m:r>
                      </m:sub>
                    </m:sSub>
                  </m:oMath>
                </a14:m>
                <a:r>
                  <a:rPr lang="en-US" altLang="ja-JP" sz="2200" dirty="0"/>
                  <a:t>: Background luminance</a:t>
                </a:r>
              </a:p>
              <a:p>
                <a14:m>
                  <m:oMath xmlns:m="http://schemas.openxmlformats.org/officeDocument/2006/math">
                    <m:sSub>
                      <m:sSubPr>
                        <m:ctrlPr>
                          <a:rPr lang="en-US" altLang="ja-JP" sz="2200" i="1" dirty="0">
                            <a:latin typeface="Cambria Math" panose="02040503050406030204" pitchFamily="18" charset="0"/>
                          </a:rPr>
                        </m:ctrlPr>
                      </m:sSubPr>
                      <m:e>
                        <m:r>
                          <a:rPr lang="en-US" altLang="ja-JP" sz="2200" i="1" dirty="0">
                            <a:latin typeface="Cambria Math" panose="02040503050406030204" pitchFamily="18" charset="0"/>
                          </a:rPr>
                          <m:t>𝐿</m:t>
                        </m:r>
                      </m:e>
                      <m:sub>
                        <m:r>
                          <a:rPr lang="en-US" altLang="ja-JP" sz="2200" i="1" dirty="0">
                            <a:latin typeface="Cambria Math" panose="02040503050406030204" pitchFamily="18" charset="0"/>
                          </a:rPr>
                          <m:t>𝑅</m:t>
                        </m:r>
                      </m:sub>
                    </m:sSub>
                  </m:oMath>
                </a14:m>
                <a:r>
                  <a:rPr lang="en-US" altLang="ja-JP" sz="2200" dirty="0"/>
                  <a:t>: Luminance due to reflection or glare</a:t>
                </a:r>
              </a:p>
            </p:txBody>
          </p:sp>
        </mc:Choice>
        <mc:Fallback xmlns="">
          <p:sp>
            <p:nvSpPr>
              <p:cNvPr id="14" name="テキスト ボックス 13">
                <a:extLst>
                  <a:ext uri="{FF2B5EF4-FFF2-40B4-BE49-F238E27FC236}">
                    <a16:creationId xmlns:a16="http://schemas.microsoft.com/office/drawing/2014/main" id="{E1CB3C9A-7944-1C6F-BC95-78B9D5EC6CBB}"/>
                  </a:ext>
                </a:extLst>
              </p:cNvPr>
              <p:cNvSpPr txBox="1">
                <a:spLocks noRot="1" noChangeAspect="1" noMove="1" noResize="1" noEditPoints="1" noAdjustHandles="1" noChangeArrowheads="1" noChangeShapeType="1" noTextEdit="1"/>
              </p:cNvSpPr>
              <p:nvPr/>
            </p:nvSpPr>
            <p:spPr>
              <a:xfrm>
                <a:off x="4788824" y="4988533"/>
                <a:ext cx="5139677" cy="1446550"/>
              </a:xfrm>
              <a:prstGeom prst="rect">
                <a:avLst/>
              </a:prstGeom>
              <a:blipFill>
                <a:blip r:embed="rId5"/>
                <a:stretch>
                  <a:fillRect l="-119" t="-2101" r="-474" b="-7983"/>
                </a:stretch>
              </a:blipFill>
            </p:spPr>
            <p:txBody>
              <a:bodyPr/>
              <a:lstStyle/>
              <a:p>
                <a:r>
                  <a:rPr lang="ja-JP" altLang="en-US">
                    <a:noFill/>
                  </a:rPr>
                  <a:t> </a:t>
                </a:r>
              </a:p>
            </p:txBody>
          </p:sp>
        </mc:Fallback>
      </mc:AlternateContent>
      <p:sp>
        <p:nvSpPr>
          <p:cNvPr id="5" name="フッター プレースホルダー 4">
            <a:extLst>
              <a:ext uri="{FF2B5EF4-FFF2-40B4-BE49-F238E27FC236}">
                <a16:creationId xmlns:a16="http://schemas.microsoft.com/office/drawing/2014/main" id="{CEEEA71D-9353-22E6-D841-38BB7021FBA2}"/>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b="1" dirty="0"/>
              <a:t>J. Kim, S. won Oh, J. Choi, S. Park, and W. Kim, “Optical see-through head-mounted display including transmittance-variable display for high visibility,” 2022</a:t>
            </a:r>
            <a:endParaRPr lang="en-US" sz="1100" b="1" dirty="0"/>
          </a:p>
        </p:txBody>
      </p:sp>
      <p:sp>
        <p:nvSpPr>
          <p:cNvPr id="6" name="フッター プレースホルダー 4">
            <a:extLst>
              <a:ext uri="{FF2B5EF4-FFF2-40B4-BE49-F238E27FC236}">
                <a16:creationId xmlns:a16="http://schemas.microsoft.com/office/drawing/2014/main" id="{CC47419B-D556-B277-2F0A-5311C2E13A85}"/>
              </a:ext>
            </a:extLst>
          </p:cNvPr>
          <p:cNvSpPr txBox="1">
            <a:spLocks/>
          </p:cNvSpPr>
          <p:nvPr/>
        </p:nvSpPr>
        <p:spPr>
          <a:xfrm>
            <a:off x="6019126" y="4367494"/>
            <a:ext cx="4116144" cy="336954"/>
          </a:xfrm>
          <a:prstGeom prst="rect">
            <a:avLst/>
          </a:prstGeom>
        </p:spPr>
        <p:txBody>
          <a:bodyPr anchor="b"/>
          <a:lstStyle>
            <a:defPPr>
              <a:defRPr lang="ja-JP"/>
            </a:defPPr>
            <a:lvl1pPr marL="0" algn="l" defTabSz="914400" rtl="0" eaLnBrk="1" latinLnBrk="0" hangingPunct="1">
              <a:defRPr kumimoji="1" sz="11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sz="1200" dirty="0"/>
              <a:t>Experimental setup</a:t>
            </a:r>
          </a:p>
        </p:txBody>
      </p:sp>
    </p:spTree>
    <p:extLst>
      <p:ext uri="{BB962C8B-B14F-4D97-AF65-F5344CB8AC3E}">
        <p14:creationId xmlns:p14="http://schemas.microsoft.com/office/powerpoint/2010/main" val="21325371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09650-8096-BEE3-72C1-ABD0A9AC2A5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C696CF5-2740-D6F4-AF9E-DE33906A8D94}"/>
              </a:ext>
            </a:extLst>
          </p:cNvPr>
          <p:cNvSpPr>
            <a:spLocks noGrp="1"/>
          </p:cNvSpPr>
          <p:nvPr>
            <p:ph type="title"/>
          </p:nvPr>
        </p:nvSpPr>
        <p:spPr/>
        <p:txBody>
          <a:bodyPr/>
          <a:lstStyle/>
          <a:p>
            <a:r>
              <a:rPr kumimoji="1" lang="en-US" altLang="ja-JP" sz="3600" b="1" dirty="0">
                <a:solidFill>
                  <a:schemeClr val="accent1"/>
                </a:solidFill>
                <a:latin typeface="+mn-lt"/>
              </a:rPr>
              <a:t>Paper5-</a:t>
            </a:r>
            <a:r>
              <a:rPr lang="en-US" altLang="ja-JP" b="1" dirty="0">
                <a:solidFill>
                  <a:schemeClr val="accent1"/>
                </a:solidFill>
                <a:latin typeface="+mn-lt"/>
              </a:rPr>
              <a:t>3: Results and Conclusion</a:t>
            </a:r>
            <a:endParaRPr kumimoji="1" lang="ja-JP" altLang="en-US" sz="3600"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5AF3B798-8E81-3087-BC9F-DF5EF7F34EFC}"/>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42</a:t>
            </a:fld>
            <a:endParaRPr lang="en-US"/>
          </a:p>
        </p:txBody>
      </p:sp>
      <p:sp>
        <p:nvSpPr>
          <p:cNvPr id="3" name="コンテンツ プレースホルダー 24">
            <a:extLst>
              <a:ext uri="{FF2B5EF4-FFF2-40B4-BE49-F238E27FC236}">
                <a16:creationId xmlns:a16="http://schemas.microsoft.com/office/drawing/2014/main" id="{477381C5-9460-F121-A92F-17CED2A3162A}"/>
              </a:ext>
            </a:extLst>
          </p:cNvPr>
          <p:cNvSpPr>
            <a:spLocks noGrp="1"/>
          </p:cNvSpPr>
          <p:nvPr>
            <p:ph idx="1"/>
          </p:nvPr>
        </p:nvSpPr>
        <p:spPr>
          <a:xfrm>
            <a:off x="568633" y="994595"/>
            <a:ext cx="11036465" cy="5440488"/>
          </a:xfrm>
        </p:spPr>
        <p:txBody>
          <a:bodyPr>
            <a:noAutofit/>
          </a:bodyPr>
          <a:lstStyle/>
          <a:p>
            <a:r>
              <a:rPr lang="en-US" altLang="ja-JP" sz="2550" b="1" u="sng" dirty="0"/>
              <a:t>Results: Improvement of Contrast Ratio and Color Gamut</a:t>
            </a:r>
          </a:p>
          <a:p>
            <a:endParaRPr lang="en-US" altLang="ja-JP" sz="2550" b="1" u="sng" dirty="0"/>
          </a:p>
          <a:p>
            <a:endParaRPr lang="en-US" altLang="ja-JP" sz="2550" b="1" u="sng" dirty="0"/>
          </a:p>
          <a:p>
            <a:endParaRPr lang="en-US" altLang="ja-JP" sz="2550" b="1" u="sng" dirty="0"/>
          </a:p>
          <a:p>
            <a:endParaRPr lang="en-US" altLang="ja-JP" sz="2550" b="1" u="sng" dirty="0"/>
          </a:p>
          <a:p>
            <a:endParaRPr lang="en-US" altLang="ja-JP" sz="2550" b="1" u="sng" dirty="0"/>
          </a:p>
          <a:p>
            <a:endParaRPr lang="en-US" altLang="ja-JP" sz="2800" b="1" u="sng" dirty="0"/>
          </a:p>
          <a:p>
            <a:endParaRPr lang="en-US" altLang="ja-JP" sz="1600" b="1" u="sng" dirty="0"/>
          </a:p>
          <a:p>
            <a:r>
              <a:rPr lang="en-US" altLang="ja-JP" sz="2550" b="1" u="sng" dirty="0"/>
              <a:t>Conclusion: Substantially Increased the ACR and Color Gamut </a:t>
            </a:r>
          </a:p>
          <a:p>
            <a:r>
              <a:rPr lang="en-US" altLang="ja-JP" dirty="0"/>
              <a:t>Detachable form </a:t>
            </a:r>
            <a:r>
              <a:rPr lang="ja-JP" altLang="en-US" dirty="0"/>
              <a:t>→ </a:t>
            </a:r>
            <a:r>
              <a:rPr lang="en-US" altLang="ja-JP" dirty="0"/>
              <a:t>Can be applied to existing OST-HMDs </a:t>
            </a:r>
            <a:endParaRPr lang="en-US" altLang="ja-JP" u="sng" dirty="0"/>
          </a:p>
          <a:p>
            <a:endParaRPr lang="en-US" altLang="ja-JP" sz="2550" b="1" u="sng" dirty="0"/>
          </a:p>
          <a:p>
            <a:endParaRPr lang="en-US" altLang="ja-JP" sz="2550" b="1" u="sng" dirty="0"/>
          </a:p>
          <a:p>
            <a:endParaRPr lang="en-US" altLang="ja-JP" sz="2550" b="1" u="sng" dirty="0"/>
          </a:p>
          <a:p>
            <a:endParaRPr lang="fr-FR" altLang="ja-JP" b="1" dirty="0"/>
          </a:p>
        </p:txBody>
      </p:sp>
      <p:pic>
        <p:nvPicPr>
          <p:cNvPr id="6" name="図 5">
            <a:extLst>
              <a:ext uri="{FF2B5EF4-FFF2-40B4-BE49-F238E27FC236}">
                <a16:creationId xmlns:a16="http://schemas.microsoft.com/office/drawing/2014/main" id="{D222C56C-DCCB-0FC1-5B95-2948A318A115}"/>
              </a:ext>
            </a:extLst>
          </p:cNvPr>
          <p:cNvPicPr>
            <a:picLocks noChangeAspect="1"/>
          </p:cNvPicPr>
          <p:nvPr/>
        </p:nvPicPr>
        <p:blipFill>
          <a:blip r:embed="rId3"/>
          <a:stretch>
            <a:fillRect/>
          </a:stretch>
        </p:blipFill>
        <p:spPr>
          <a:xfrm>
            <a:off x="637701" y="1715885"/>
            <a:ext cx="10124712" cy="2110571"/>
          </a:xfrm>
          <a:prstGeom prst="rect">
            <a:avLst/>
          </a:prstGeom>
        </p:spPr>
      </p:pic>
      <p:sp>
        <p:nvSpPr>
          <p:cNvPr id="9" name="コンテンツ プレースホルダー 24">
            <a:extLst>
              <a:ext uri="{FF2B5EF4-FFF2-40B4-BE49-F238E27FC236}">
                <a16:creationId xmlns:a16="http://schemas.microsoft.com/office/drawing/2014/main" id="{EF94C767-F9D9-3C32-F865-9B61BCBB862F}"/>
              </a:ext>
            </a:extLst>
          </p:cNvPr>
          <p:cNvSpPr txBox="1">
            <a:spLocks/>
          </p:cNvSpPr>
          <p:nvPr/>
        </p:nvSpPr>
        <p:spPr>
          <a:xfrm>
            <a:off x="637701" y="3826458"/>
            <a:ext cx="4167979" cy="1433187"/>
          </a:xfrm>
          <a:prstGeom prst="rect">
            <a:avLst/>
          </a:prstGeom>
        </p:spPr>
        <p:txBody>
          <a:bodyPr vert="horz" lIns="91440" tIns="45720" rIns="91440" bIns="45720" rtlCol="0">
            <a:noAutofit/>
          </a:bodyPr>
          <a:lstStyle>
            <a:lvl1pPr marL="0" indent="0" algn="l" defTabSz="914400" rtl="0" eaLnBrk="1" latinLnBrk="0" hangingPunct="1">
              <a:lnSpc>
                <a:spcPct val="110000"/>
              </a:lnSpc>
              <a:spcBef>
                <a:spcPts val="1000"/>
              </a:spcBef>
              <a:buFont typeface="Arial" panose="020B0604020202020204" pitchFamily="34" charset="0"/>
              <a:buNone/>
              <a:defRPr kumimoji="1" sz="2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b="1" dirty="0"/>
              <a:t>Office environment </a:t>
            </a:r>
          </a:p>
          <a:p>
            <a:r>
              <a:rPr lang="en-US" altLang="ja-JP" dirty="0"/>
              <a:t>ACR: 6.62 </a:t>
            </a:r>
            <a:r>
              <a:rPr lang="ja-JP" altLang="en-US" dirty="0"/>
              <a:t>→</a:t>
            </a:r>
            <a:r>
              <a:rPr lang="en-US" altLang="ja-JP" dirty="0"/>
              <a:t>31.37</a:t>
            </a:r>
          </a:p>
          <a:p>
            <a:r>
              <a:rPr lang="en-US" altLang="ja-JP" dirty="0"/>
              <a:t>Color Gamut: Improved  x2.87</a:t>
            </a:r>
          </a:p>
        </p:txBody>
      </p:sp>
      <p:sp>
        <p:nvSpPr>
          <p:cNvPr id="12" name="コンテンツ プレースホルダー 24">
            <a:extLst>
              <a:ext uri="{FF2B5EF4-FFF2-40B4-BE49-F238E27FC236}">
                <a16:creationId xmlns:a16="http://schemas.microsoft.com/office/drawing/2014/main" id="{06767880-5A02-1823-1A6B-A1A7EDA7810E}"/>
              </a:ext>
            </a:extLst>
          </p:cNvPr>
          <p:cNvSpPr txBox="1">
            <a:spLocks/>
          </p:cNvSpPr>
          <p:nvPr/>
        </p:nvSpPr>
        <p:spPr>
          <a:xfrm>
            <a:off x="4805680" y="3826457"/>
            <a:ext cx="4167979" cy="1433187"/>
          </a:xfrm>
          <a:prstGeom prst="rect">
            <a:avLst/>
          </a:prstGeom>
        </p:spPr>
        <p:txBody>
          <a:bodyPr vert="horz" lIns="91440" tIns="45720" rIns="91440" bIns="45720" rtlCol="0">
            <a:noAutofit/>
          </a:bodyPr>
          <a:lstStyle>
            <a:lvl1pPr marL="0" indent="0" algn="l" defTabSz="914400" rtl="0" eaLnBrk="1" latinLnBrk="0" hangingPunct="1">
              <a:lnSpc>
                <a:spcPct val="110000"/>
              </a:lnSpc>
              <a:spcBef>
                <a:spcPts val="1000"/>
              </a:spcBef>
              <a:buFont typeface="Arial" panose="020B0604020202020204" pitchFamily="34" charset="0"/>
              <a:buNone/>
              <a:defRPr kumimoji="1" sz="2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b="1" dirty="0"/>
              <a:t>Outdoor environment </a:t>
            </a:r>
          </a:p>
          <a:p>
            <a:r>
              <a:rPr lang="en-US" altLang="ja-JP" dirty="0"/>
              <a:t>ACR: 1.5 </a:t>
            </a:r>
            <a:r>
              <a:rPr lang="ja-JP" altLang="en-US" dirty="0"/>
              <a:t>→ </a:t>
            </a:r>
            <a:r>
              <a:rPr lang="en-US" altLang="ja-JP" dirty="0"/>
              <a:t>2.31</a:t>
            </a:r>
          </a:p>
          <a:p>
            <a:r>
              <a:rPr lang="en-US" altLang="ja-JP" dirty="0"/>
              <a:t>Color Gamut: Improved  x16</a:t>
            </a:r>
          </a:p>
          <a:p>
            <a:endParaRPr lang="fr-FR" altLang="ja-JP" b="1" dirty="0"/>
          </a:p>
        </p:txBody>
      </p:sp>
      <p:sp>
        <p:nvSpPr>
          <p:cNvPr id="5" name="フッター プレースホルダー 4">
            <a:extLst>
              <a:ext uri="{FF2B5EF4-FFF2-40B4-BE49-F238E27FC236}">
                <a16:creationId xmlns:a16="http://schemas.microsoft.com/office/drawing/2014/main" id="{18B70409-E0F6-6E8F-D9C0-ECB88AF9C8A9}"/>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b="1" dirty="0"/>
              <a:t>J. Kim, S. won Oh, J. Choi, S. Park, and W. Kim, “Optical see-through head-mounted display including transmittance-variable display for high visibility,” 2022</a:t>
            </a:r>
            <a:endParaRPr lang="en-US" sz="1100" b="1" dirty="0"/>
          </a:p>
        </p:txBody>
      </p:sp>
      <p:sp>
        <p:nvSpPr>
          <p:cNvPr id="7" name="フッター プレースホルダー 4">
            <a:extLst>
              <a:ext uri="{FF2B5EF4-FFF2-40B4-BE49-F238E27FC236}">
                <a16:creationId xmlns:a16="http://schemas.microsoft.com/office/drawing/2014/main" id="{3A8C85AF-7724-B6BB-8D6A-29BCDDDBFEA1}"/>
              </a:ext>
            </a:extLst>
          </p:cNvPr>
          <p:cNvSpPr txBox="1">
            <a:spLocks/>
          </p:cNvSpPr>
          <p:nvPr/>
        </p:nvSpPr>
        <p:spPr>
          <a:xfrm>
            <a:off x="3641985" y="1378931"/>
            <a:ext cx="4116144" cy="336954"/>
          </a:xfrm>
          <a:prstGeom prst="rect">
            <a:avLst/>
          </a:prstGeom>
        </p:spPr>
        <p:txBody>
          <a:bodyPr anchor="b"/>
          <a:lstStyle>
            <a:defPPr>
              <a:defRPr lang="ja-JP"/>
            </a:defPPr>
            <a:lvl1pPr marL="0" algn="l" defTabSz="914400" rtl="0" eaLnBrk="1" latinLnBrk="0" hangingPunct="1">
              <a:defRPr kumimoji="1" sz="11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sz="1200" dirty="0"/>
              <a:t>Optical characteristics</a:t>
            </a:r>
          </a:p>
        </p:txBody>
      </p:sp>
    </p:spTree>
    <p:extLst>
      <p:ext uri="{BB962C8B-B14F-4D97-AF65-F5344CB8AC3E}">
        <p14:creationId xmlns:p14="http://schemas.microsoft.com/office/powerpoint/2010/main" val="19268900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038F1-C58B-8557-CE45-7BDD75BE09A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952FCF9-E0F2-8B82-8FD2-635CEC108932}"/>
              </a:ext>
            </a:extLst>
          </p:cNvPr>
          <p:cNvSpPr>
            <a:spLocks noGrp="1"/>
          </p:cNvSpPr>
          <p:nvPr>
            <p:ph type="title"/>
          </p:nvPr>
        </p:nvSpPr>
        <p:spPr/>
        <p:txBody>
          <a:bodyPr/>
          <a:lstStyle/>
          <a:p>
            <a:r>
              <a:rPr lang="en-US" sz="3600" b="1" dirty="0">
                <a:solidFill>
                  <a:schemeClr val="accent1"/>
                </a:solidFill>
                <a:latin typeface="+mj-lt"/>
                <a:ea typeface="+mj-ea"/>
              </a:rPr>
              <a:t>Index</a:t>
            </a:r>
          </a:p>
        </p:txBody>
      </p:sp>
      <p:sp>
        <p:nvSpPr>
          <p:cNvPr id="3" name="コンテンツ プレースホルダー 2">
            <a:extLst>
              <a:ext uri="{FF2B5EF4-FFF2-40B4-BE49-F238E27FC236}">
                <a16:creationId xmlns:a16="http://schemas.microsoft.com/office/drawing/2014/main" id="{C7B19182-E660-920E-FC05-E402715798C2}"/>
              </a:ext>
            </a:extLst>
          </p:cNvPr>
          <p:cNvSpPr>
            <a:spLocks noGrp="1"/>
          </p:cNvSpPr>
          <p:nvPr>
            <p:ph idx="1"/>
          </p:nvPr>
        </p:nvSpPr>
        <p:spPr>
          <a:xfrm>
            <a:off x="568633" y="994595"/>
            <a:ext cx="11036465" cy="5777442"/>
          </a:xfrm>
        </p:spPr>
        <p:txBody>
          <a:bodyPr>
            <a:normAutofit/>
          </a:bodyPr>
          <a:lstStyle/>
          <a:p>
            <a:pPr marL="457200" indent="-457200">
              <a:buAutoNum type="arabicPeriod"/>
            </a:pPr>
            <a:r>
              <a:rPr lang="en-US" sz="2550" b="1" dirty="0">
                <a:solidFill>
                  <a:schemeClr val="tx1">
                    <a:lumMod val="40000"/>
                    <a:lumOff val="60000"/>
                  </a:schemeClr>
                </a:solidFill>
              </a:rPr>
              <a:t>Introduction</a:t>
            </a:r>
          </a:p>
          <a:p>
            <a:pPr marL="457200" indent="-457200">
              <a:buAutoNum type="arabicPeriod"/>
            </a:pPr>
            <a:r>
              <a:rPr lang="en-US" sz="2550" b="1" dirty="0">
                <a:solidFill>
                  <a:schemeClr val="tx1">
                    <a:lumMod val="40000"/>
                    <a:lumOff val="60000"/>
                  </a:schemeClr>
                </a:solidFill>
              </a:rPr>
              <a:t>Background</a:t>
            </a:r>
          </a:p>
          <a:p>
            <a:pPr marL="457200" indent="-457200">
              <a:buAutoNum type="arabicPeriod"/>
            </a:pPr>
            <a:r>
              <a:rPr lang="en-US" sz="2550" b="1" dirty="0">
                <a:solidFill>
                  <a:schemeClr val="tx1">
                    <a:lumMod val="40000"/>
                    <a:lumOff val="60000"/>
                  </a:schemeClr>
                </a:solidFill>
              </a:rPr>
              <a:t>Studies on the Perceptual Visibility of OST-AR</a:t>
            </a:r>
          </a:p>
          <a:p>
            <a:pPr marL="457200" indent="-457200">
              <a:buFont typeface="Arial" panose="020B0604020202020204" pitchFamily="34" charset="0"/>
              <a:buAutoNum type="arabicPeriod"/>
            </a:pPr>
            <a:r>
              <a:rPr lang="en-US" altLang="ja-JP" sz="2550" b="1" dirty="0"/>
              <a:t>Visibility Predictor</a:t>
            </a:r>
          </a:p>
          <a:p>
            <a:pPr marL="457200" indent="-457200">
              <a:buFont typeface="Arial" panose="020B0604020202020204" pitchFamily="34" charset="0"/>
              <a:buAutoNum type="arabicPeriod"/>
            </a:pPr>
            <a:r>
              <a:rPr lang="en-US" altLang="ja-JP" sz="2550" b="1" dirty="0">
                <a:solidFill>
                  <a:schemeClr val="tx1">
                    <a:lumMod val="40000"/>
                    <a:lumOff val="60000"/>
                  </a:schemeClr>
                </a:solidFill>
              </a:rPr>
              <a:t>Conclusion</a:t>
            </a:r>
          </a:p>
          <a:p>
            <a:endParaRPr lang="en-US" sz="2550" b="1" dirty="0"/>
          </a:p>
          <a:p>
            <a:pPr marL="457200" indent="-457200">
              <a:buAutoNum type="arabicPeriod"/>
            </a:pPr>
            <a:endParaRPr lang="en-US" sz="2550" b="1" dirty="0"/>
          </a:p>
        </p:txBody>
      </p:sp>
      <p:sp>
        <p:nvSpPr>
          <p:cNvPr id="4" name="スライド番号プレースホルダー 3">
            <a:extLst>
              <a:ext uri="{FF2B5EF4-FFF2-40B4-BE49-F238E27FC236}">
                <a16:creationId xmlns:a16="http://schemas.microsoft.com/office/drawing/2014/main" id="{D67B50A6-78BD-75BC-3FAB-E3662ABE61A9}"/>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43</a:t>
            </a:fld>
            <a:endParaRPr lang="en-US"/>
          </a:p>
        </p:txBody>
      </p:sp>
    </p:spTree>
    <p:extLst>
      <p:ext uri="{BB962C8B-B14F-4D97-AF65-F5344CB8AC3E}">
        <p14:creationId xmlns:p14="http://schemas.microsoft.com/office/powerpoint/2010/main" val="11312851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D7D3A-A6F1-7878-8757-F062133AEBD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6CEC918-6204-A743-E9B1-26253ED7860B}"/>
              </a:ext>
            </a:extLst>
          </p:cNvPr>
          <p:cNvSpPr>
            <a:spLocks noGrp="1"/>
          </p:cNvSpPr>
          <p:nvPr>
            <p:ph type="title"/>
          </p:nvPr>
        </p:nvSpPr>
        <p:spPr/>
        <p:txBody>
          <a:bodyPr/>
          <a:lstStyle/>
          <a:p>
            <a:r>
              <a:rPr lang="en-US" altLang="ja-JP" b="1" dirty="0">
                <a:solidFill>
                  <a:schemeClr val="accent1"/>
                </a:solidFill>
                <a:latin typeface="+mn-lt"/>
              </a:rPr>
              <a:t>Visibility Predictor</a:t>
            </a:r>
            <a:endParaRPr kumimoji="1" lang="ja-JP" altLang="en-US" sz="3600"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9ACDA64B-E948-5BCD-06F8-8CD9591EBB71}"/>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44</a:t>
            </a:fld>
            <a:endParaRPr lang="en-US"/>
          </a:p>
        </p:txBody>
      </p:sp>
      <p:sp>
        <p:nvSpPr>
          <p:cNvPr id="25" name="コンテンツ プレースホルダー 24">
            <a:extLst>
              <a:ext uri="{FF2B5EF4-FFF2-40B4-BE49-F238E27FC236}">
                <a16:creationId xmlns:a16="http://schemas.microsoft.com/office/drawing/2014/main" id="{724D71F4-7255-9F4C-60C1-3CBC7B0D3B9C}"/>
              </a:ext>
            </a:extLst>
          </p:cNvPr>
          <p:cNvSpPr>
            <a:spLocks noGrp="1"/>
          </p:cNvSpPr>
          <p:nvPr>
            <p:ph idx="1"/>
          </p:nvPr>
        </p:nvSpPr>
        <p:spPr/>
        <p:txBody>
          <a:bodyPr/>
          <a:lstStyle/>
          <a:p>
            <a:r>
              <a:rPr lang="en-US" altLang="ja-JP" sz="2550" b="1" u="sng" dirty="0"/>
              <a:t>Lacking comprehensive approach for OST-AR visibility</a:t>
            </a:r>
          </a:p>
          <a:p>
            <a:r>
              <a:rPr lang="en-US" altLang="ja-JP" dirty="0"/>
              <a:t>Paper 3-3, 4-3,5-3 </a:t>
            </a:r>
            <a:r>
              <a:rPr lang="ja-JP" altLang="en-US" dirty="0"/>
              <a:t>→ </a:t>
            </a:r>
            <a:r>
              <a:rPr lang="en-US" altLang="ja-JP" dirty="0"/>
              <a:t>Addressing individually</a:t>
            </a:r>
          </a:p>
          <a:p>
            <a:r>
              <a:rPr lang="en-US" altLang="ja-JP" dirty="0"/>
              <a:t>Promising model for comprehensive prediction</a:t>
            </a:r>
            <a:endParaRPr lang="en-US" altLang="ja-JP" b="1" dirty="0"/>
          </a:p>
          <a:p>
            <a:r>
              <a:rPr lang="en-US" altLang="ja-JP" sz="2550" b="1" u="sng" dirty="0"/>
              <a:t>Content-adaptive Visibility Predictor proposed by </a:t>
            </a:r>
            <a:r>
              <a:rPr lang="en-US" altLang="ja-JP" sz="2550" b="1" u="sng" dirty="0" err="1"/>
              <a:t>Fukiage</a:t>
            </a:r>
            <a:r>
              <a:rPr lang="en-US" altLang="ja-JP" sz="2550" b="1" u="sng" dirty="0"/>
              <a:t> et al.</a:t>
            </a:r>
          </a:p>
          <a:p>
            <a:r>
              <a:rPr lang="en-US" altLang="ja-JP" b="1" dirty="0"/>
              <a:t>Objective: Predict visibility of target images in α-blended image</a:t>
            </a:r>
          </a:p>
          <a:p>
            <a:endParaRPr lang="en-US" altLang="ja-JP" dirty="0"/>
          </a:p>
          <a:p>
            <a:r>
              <a:rPr lang="en-US" altLang="ja-JP" b="1" dirty="0"/>
              <a:t>Limitation of Conventional IQA Models</a:t>
            </a:r>
          </a:p>
          <a:p>
            <a:r>
              <a:rPr lang="en-US" altLang="ja-JP" dirty="0"/>
              <a:t>Content Independence, background effect</a:t>
            </a:r>
            <a:endParaRPr lang="ja-JP" altLang="en-US" b="1" dirty="0"/>
          </a:p>
        </p:txBody>
      </p:sp>
      <p:cxnSp>
        <p:nvCxnSpPr>
          <p:cNvPr id="6" name="直線矢印コネクタ 5">
            <a:extLst>
              <a:ext uri="{FF2B5EF4-FFF2-40B4-BE49-F238E27FC236}">
                <a16:creationId xmlns:a16="http://schemas.microsoft.com/office/drawing/2014/main" id="{E1CFB2A3-F13B-072B-9575-F566797A17FE}"/>
              </a:ext>
            </a:extLst>
          </p:cNvPr>
          <p:cNvCxnSpPr>
            <a:cxnSpLocks/>
          </p:cNvCxnSpPr>
          <p:nvPr/>
        </p:nvCxnSpPr>
        <p:spPr>
          <a:xfrm>
            <a:off x="6626711" y="2130015"/>
            <a:ext cx="0" cy="322729"/>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1" name="図 10">
            <a:extLst>
              <a:ext uri="{FF2B5EF4-FFF2-40B4-BE49-F238E27FC236}">
                <a16:creationId xmlns:a16="http://schemas.microsoft.com/office/drawing/2014/main" id="{B7DEE217-9AE8-7593-A3FD-B8D458841F9E}"/>
              </a:ext>
            </a:extLst>
          </p:cNvPr>
          <p:cNvPicPr>
            <a:picLocks noChangeAspect="1"/>
          </p:cNvPicPr>
          <p:nvPr/>
        </p:nvPicPr>
        <p:blipFill>
          <a:blip r:embed="rId3"/>
          <a:stretch>
            <a:fillRect/>
          </a:stretch>
        </p:blipFill>
        <p:spPr>
          <a:xfrm>
            <a:off x="6086865" y="3588164"/>
            <a:ext cx="5755790" cy="2692793"/>
          </a:xfrm>
          <a:prstGeom prst="rect">
            <a:avLst/>
          </a:prstGeom>
        </p:spPr>
      </p:pic>
      <p:sp>
        <p:nvSpPr>
          <p:cNvPr id="3" name="フッター プレースホルダー 4">
            <a:extLst>
              <a:ext uri="{FF2B5EF4-FFF2-40B4-BE49-F238E27FC236}">
                <a16:creationId xmlns:a16="http://schemas.microsoft.com/office/drawing/2014/main" id="{6E8600A5-59D2-EEBF-1E1D-C053230AEFAF}"/>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b="1" dirty="0"/>
              <a:t>T. </a:t>
            </a:r>
            <a:r>
              <a:rPr lang="en-US" b="1" dirty="0" err="1"/>
              <a:t>Fukiage</a:t>
            </a:r>
            <a:r>
              <a:rPr lang="en-US" b="1" dirty="0"/>
              <a:t> and T. Oishi, “A content-adaptive visibility predictor for perceptually optimized image blending,” 2023</a:t>
            </a:r>
            <a:endParaRPr lang="en-US" sz="1100" b="1" dirty="0"/>
          </a:p>
        </p:txBody>
      </p:sp>
      <p:sp>
        <p:nvSpPr>
          <p:cNvPr id="5" name="フッター プレースホルダー 4">
            <a:extLst>
              <a:ext uri="{FF2B5EF4-FFF2-40B4-BE49-F238E27FC236}">
                <a16:creationId xmlns:a16="http://schemas.microsoft.com/office/drawing/2014/main" id="{F70AFA47-6752-738D-77C0-7920BADF018E}"/>
              </a:ext>
            </a:extLst>
          </p:cNvPr>
          <p:cNvSpPr txBox="1">
            <a:spLocks/>
          </p:cNvSpPr>
          <p:nvPr/>
        </p:nvSpPr>
        <p:spPr>
          <a:xfrm>
            <a:off x="6906688" y="6152554"/>
            <a:ext cx="4116144" cy="336954"/>
          </a:xfrm>
          <a:prstGeom prst="rect">
            <a:avLst/>
          </a:prstGeom>
        </p:spPr>
        <p:txBody>
          <a:bodyPr anchor="b"/>
          <a:lstStyle>
            <a:defPPr>
              <a:defRPr lang="ja-JP"/>
            </a:defPPr>
            <a:lvl1pPr marL="0" algn="l" defTabSz="914400" rtl="0" eaLnBrk="1" latinLnBrk="0" hangingPunct="1">
              <a:defRPr kumimoji="1" sz="11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sz="1200" dirty="0"/>
              <a:t>Comparison of supra-threshold visibility maps</a:t>
            </a:r>
          </a:p>
        </p:txBody>
      </p:sp>
    </p:spTree>
    <p:extLst>
      <p:ext uri="{BB962C8B-B14F-4D97-AF65-F5344CB8AC3E}">
        <p14:creationId xmlns:p14="http://schemas.microsoft.com/office/powerpoint/2010/main" val="15484351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1FDE7-B411-2A1F-A0A0-7482CC639CD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C7E8A9E-5857-4FCC-57FD-F2AD002211A0}"/>
              </a:ext>
            </a:extLst>
          </p:cNvPr>
          <p:cNvSpPr>
            <a:spLocks noGrp="1"/>
          </p:cNvSpPr>
          <p:nvPr>
            <p:ph type="title"/>
          </p:nvPr>
        </p:nvSpPr>
        <p:spPr/>
        <p:txBody>
          <a:bodyPr/>
          <a:lstStyle/>
          <a:p>
            <a:r>
              <a:rPr lang="en-US" altLang="ja-JP" b="1" dirty="0">
                <a:solidFill>
                  <a:schemeClr val="accent1"/>
                </a:solidFill>
                <a:latin typeface="+mn-lt"/>
              </a:rPr>
              <a:t>Visibility Predictor: Key Features and Performance</a:t>
            </a:r>
            <a:endParaRPr kumimoji="1" lang="ja-JP" altLang="en-US"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C16BEE4D-C3B6-0F55-C595-7626459DE1CA}"/>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45</a:t>
            </a:fld>
            <a:endParaRPr lang="en-US"/>
          </a:p>
        </p:txBody>
      </p:sp>
      <p:sp>
        <p:nvSpPr>
          <p:cNvPr id="25" name="コンテンツ プレースホルダー 24">
            <a:extLst>
              <a:ext uri="{FF2B5EF4-FFF2-40B4-BE49-F238E27FC236}">
                <a16:creationId xmlns:a16="http://schemas.microsoft.com/office/drawing/2014/main" id="{1456F415-2BC9-D94F-C3F7-E491C776D512}"/>
              </a:ext>
            </a:extLst>
          </p:cNvPr>
          <p:cNvSpPr>
            <a:spLocks noGrp="1"/>
          </p:cNvSpPr>
          <p:nvPr>
            <p:ph idx="1"/>
          </p:nvPr>
        </p:nvSpPr>
        <p:spPr>
          <a:xfrm>
            <a:off x="577768" y="1077505"/>
            <a:ext cx="11036465" cy="5140507"/>
          </a:xfrm>
        </p:spPr>
        <p:txBody>
          <a:bodyPr>
            <a:normAutofit/>
          </a:bodyPr>
          <a:lstStyle/>
          <a:p>
            <a:r>
              <a:rPr lang="en-US" altLang="ja-JP" sz="2550" b="1" u="sng" dirty="0"/>
              <a:t>Three Key Features</a:t>
            </a:r>
          </a:p>
          <a:p>
            <a:pPr marL="514350" indent="-514350">
              <a:buAutoNum type="arabicPeriod"/>
            </a:pPr>
            <a:r>
              <a:rPr lang="en-US" altLang="ja-JP" dirty="0"/>
              <a:t>Contrast Perception Mechanism: Contrast masking, HVS visibility perception</a:t>
            </a:r>
          </a:p>
          <a:p>
            <a:pPr marL="514350" indent="-514350">
              <a:buAutoNum type="arabicPeriod"/>
            </a:pPr>
            <a:r>
              <a:rPr lang="en-US" altLang="ja-JP" dirty="0"/>
              <a:t>Target Component Extraction: Separate background and target </a:t>
            </a:r>
          </a:p>
          <a:p>
            <a:pPr marL="514350" indent="-514350">
              <a:buAutoNum type="arabicPeriod"/>
            </a:pPr>
            <a:r>
              <a:rPr lang="en-US" altLang="ja-JP" dirty="0"/>
              <a:t>Content-Adaptive Feature Aggregation: Target-dependent weight calculation</a:t>
            </a:r>
          </a:p>
          <a:p>
            <a:endParaRPr lang="en-US" altLang="ja-JP" b="1" dirty="0"/>
          </a:p>
          <a:p>
            <a:endParaRPr lang="en-US" altLang="ja-JP" b="1" dirty="0"/>
          </a:p>
          <a:p>
            <a:endParaRPr lang="en-US" altLang="ja-JP" b="1" dirty="0"/>
          </a:p>
          <a:p>
            <a:r>
              <a:rPr lang="en-US" altLang="ja-JP" sz="2550" b="1" u="sng" dirty="0"/>
              <a:t>Performance: Calibrated via Psychophysical Visibility Matching Task</a:t>
            </a:r>
          </a:p>
          <a:p>
            <a:r>
              <a:rPr lang="en-US" altLang="ja-JP" b="1" dirty="0"/>
              <a:t>Visibility=How well you can see features contained in the image</a:t>
            </a:r>
          </a:p>
          <a:p>
            <a:r>
              <a:rPr lang="en-US" altLang="ja-JP" dirty="0"/>
              <a:t>Achieved higher prediction accuracy than existing IQA metrics</a:t>
            </a:r>
            <a:endParaRPr lang="ja-JP" altLang="en-US" b="1" dirty="0"/>
          </a:p>
        </p:txBody>
      </p:sp>
      <p:pic>
        <p:nvPicPr>
          <p:cNvPr id="5" name="図 4">
            <a:extLst>
              <a:ext uri="{FF2B5EF4-FFF2-40B4-BE49-F238E27FC236}">
                <a16:creationId xmlns:a16="http://schemas.microsoft.com/office/drawing/2014/main" id="{B9A0A23C-CDA4-123C-A066-A5571FD55C1E}"/>
              </a:ext>
            </a:extLst>
          </p:cNvPr>
          <p:cNvPicPr>
            <a:picLocks noChangeAspect="1"/>
          </p:cNvPicPr>
          <p:nvPr/>
        </p:nvPicPr>
        <p:blipFill>
          <a:blip r:embed="rId3"/>
          <a:stretch>
            <a:fillRect/>
          </a:stretch>
        </p:blipFill>
        <p:spPr>
          <a:xfrm>
            <a:off x="3597082" y="3063890"/>
            <a:ext cx="4997836" cy="1535794"/>
          </a:xfrm>
          <a:prstGeom prst="rect">
            <a:avLst/>
          </a:prstGeom>
        </p:spPr>
      </p:pic>
      <p:sp>
        <p:nvSpPr>
          <p:cNvPr id="3" name="フッター プレースホルダー 4">
            <a:extLst>
              <a:ext uri="{FF2B5EF4-FFF2-40B4-BE49-F238E27FC236}">
                <a16:creationId xmlns:a16="http://schemas.microsoft.com/office/drawing/2014/main" id="{11C99920-609E-9F81-2749-5E34B91EB9EB}"/>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b="1" dirty="0"/>
              <a:t>T. </a:t>
            </a:r>
            <a:r>
              <a:rPr lang="en-US" b="1" dirty="0" err="1"/>
              <a:t>Fukiage</a:t>
            </a:r>
            <a:r>
              <a:rPr lang="en-US" b="1" dirty="0"/>
              <a:t> and T. Oishi, “A content-adaptive visibility predictor for perceptually optimized image blending,” 2023</a:t>
            </a:r>
            <a:endParaRPr lang="en-US" sz="1100" b="1" dirty="0"/>
          </a:p>
        </p:txBody>
      </p:sp>
      <p:sp>
        <p:nvSpPr>
          <p:cNvPr id="6" name="フッター プレースホルダー 4">
            <a:extLst>
              <a:ext uri="{FF2B5EF4-FFF2-40B4-BE49-F238E27FC236}">
                <a16:creationId xmlns:a16="http://schemas.microsoft.com/office/drawing/2014/main" id="{3DC7F8BB-AB13-83A6-E093-C091957277D2}"/>
              </a:ext>
            </a:extLst>
          </p:cNvPr>
          <p:cNvSpPr txBox="1">
            <a:spLocks/>
          </p:cNvSpPr>
          <p:nvPr/>
        </p:nvSpPr>
        <p:spPr>
          <a:xfrm>
            <a:off x="7590179" y="4305712"/>
            <a:ext cx="4116144" cy="336954"/>
          </a:xfrm>
          <a:prstGeom prst="rect">
            <a:avLst/>
          </a:prstGeom>
        </p:spPr>
        <p:txBody>
          <a:bodyPr anchor="b"/>
          <a:lstStyle>
            <a:defPPr>
              <a:defRPr lang="ja-JP"/>
            </a:defPPr>
            <a:lvl1pPr marL="0" algn="l" defTabSz="914400" rtl="0" eaLnBrk="1" latinLnBrk="0" hangingPunct="1">
              <a:defRPr kumimoji="1" sz="11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sz="1200" dirty="0"/>
              <a:t>Flow chart of proposed model</a:t>
            </a:r>
          </a:p>
        </p:txBody>
      </p:sp>
    </p:spTree>
    <p:extLst>
      <p:ext uri="{BB962C8B-B14F-4D97-AF65-F5344CB8AC3E}">
        <p14:creationId xmlns:p14="http://schemas.microsoft.com/office/powerpoint/2010/main" val="11068911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25D3E-F8CC-28A0-FE26-2A8257E369D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347D061-A3E9-4577-C126-76E165759995}"/>
              </a:ext>
            </a:extLst>
          </p:cNvPr>
          <p:cNvSpPr>
            <a:spLocks noGrp="1"/>
          </p:cNvSpPr>
          <p:nvPr>
            <p:ph type="title"/>
          </p:nvPr>
        </p:nvSpPr>
        <p:spPr/>
        <p:txBody>
          <a:bodyPr/>
          <a:lstStyle/>
          <a:p>
            <a:r>
              <a:rPr lang="en-US" altLang="ja-JP" b="1" dirty="0">
                <a:solidFill>
                  <a:schemeClr val="accent1"/>
                </a:solidFill>
                <a:latin typeface="+mn-lt"/>
              </a:rPr>
              <a:t>Visibility Predictor: Challenges to Apply OST-AR</a:t>
            </a:r>
            <a:endParaRPr kumimoji="1" lang="ja-JP" altLang="en-US"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457E2A54-BA7C-2935-FA08-E564731153B1}"/>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46</a:t>
            </a:fld>
            <a:endParaRPr lang="en-US"/>
          </a:p>
        </p:txBody>
      </p:sp>
      <p:sp>
        <p:nvSpPr>
          <p:cNvPr id="25" name="コンテンツ プレースホルダー 24">
            <a:extLst>
              <a:ext uri="{FF2B5EF4-FFF2-40B4-BE49-F238E27FC236}">
                <a16:creationId xmlns:a16="http://schemas.microsoft.com/office/drawing/2014/main" id="{21894750-FD53-76FA-936A-04E2600DF1CC}"/>
              </a:ext>
            </a:extLst>
          </p:cNvPr>
          <p:cNvSpPr>
            <a:spLocks noGrp="1"/>
          </p:cNvSpPr>
          <p:nvPr>
            <p:ph idx="1"/>
          </p:nvPr>
        </p:nvSpPr>
        <p:spPr>
          <a:xfrm>
            <a:off x="577767" y="1078050"/>
            <a:ext cx="11036465" cy="5357033"/>
          </a:xfrm>
        </p:spPr>
        <p:txBody>
          <a:bodyPr>
            <a:normAutofit/>
          </a:bodyPr>
          <a:lstStyle/>
          <a:p>
            <a:r>
              <a:rPr lang="en-US" altLang="ja-JP" sz="2550" b="1" u="sng" dirty="0"/>
              <a:t>Potential for OST-AR</a:t>
            </a:r>
          </a:p>
          <a:p>
            <a:endParaRPr lang="en-US" altLang="ja-JP" sz="2550" b="1" u="sng" dirty="0"/>
          </a:p>
          <a:p>
            <a:endParaRPr lang="en-US" altLang="ja-JP" sz="2550" b="1" u="sng" dirty="0"/>
          </a:p>
          <a:p>
            <a:r>
              <a:rPr lang="en-US" altLang="ja-JP" sz="2550" b="1" u="sng" dirty="0"/>
              <a:t>Implementation Challenges</a:t>
            </a:r>
          </a:p>
          <a:p>
            <a:r>
              <a:rPr lang="en-US" altLang="ja-JP" b="1" dirty="0"/>
              <a:t>Model input</a:t>
            </a:r>
          </a:p>
          <a:p>
            <a:r>
              <a:rPr lang="en-US" altLang="ja-JP" dirty="0"/>
              <a:t>SDR (α-blending) vs HDR (</a:t>
            </a:r>
            <a:r>
              <a:rPr lang="en-US" altLang="ja-JP"/>
              <a:t>OST-AR)</a:t>
            </a:r>
            <a:endParaRPr lang="en-US" altLang="ja-JP" dirty="0"/>
          </a:p>
          <a:p>
            <a:r>
              <a:rPr lang="en-US" altLang="ja-JP" b="1" dirty="0"/>
              <a:t>Visual Mechanisms</a:t>
            </a:r>
          </a:p>
          <a:p>
            <a:r>
              <a:rPr lang="en-US" altLang="ja-JP" dirty="0"/>
              <a:t>Binocular combination, Defocus blur, Layer separation</a:t>
            </a:r>
          </a:p>
          <a:p>
            <a:r>
              <a:rPr lang="en-US" altLang="ja-JP" b="1" dirty="0"/>
              <a:t>Model calibration</a:t>
            </a:r>
          </a:p>
          <a:p>
            <a:r>
              <a:rPr lang="en-US" altLang="ja-JP" dirty="0"/>
              <a:t>Recalibrate with OST-AR visibility data, via psychophysical experiment	</a:t>
            </a:r>
            <a:endParaRPr lang="en-US" altLang="ja-JP" sz="2550" b="1" u="sng" dirty="0"/>
          </a:p>
          <a:p>
            <a:endParaRPr lang="ja-JP" altLang="en-US" sz="2550" b="1" u="sng" dirty="0"/>
          </a:p>
        </p:txBody>
      </p:sp>
      <p:sp>
        <p:nvSpPr>
          <p:cNvPr id="3" name="テキスト ボックス 2">
            <a:extLst>
              <a:ext uri="{FF2B5EF4-FFF2-40B4-BE49-F238E27FC236}">
                <a16:creationId xmlns:a16="http://schemas.microsoft.com/office/drawing/2014/main" id="{595FC9FE-D31E-1E09-FFF4-A0169105FA4A}"/>
              </a:ext>
            </a:extLst>
          </p:cNvPr>
          <p:cNvSpPr txBox="1"/>
          <p:nvPr/>
        </p:nvSpPr>
        <p:spPr>
          <a:xfrm>
            <a:off x="2936074" y="1737359"/>
            <a:ext cx="1574470" cy="430887"/>
          </a:xfrm>
          <a:prstGeom prst="rect">
            <a:avLst/>
          </a:prstGeom>
          <a:noFill/>
        </p:spPr>
        <p:txBody>
          <a:bodyPr wrap="none" rtlCol="0">
            <a:spAutoFit/>
          </a:bodyPr>
          <a:lstStyle/>
          <a:p>
            <a:r>
              <a:rPr kumimoji="1" lang="en-US" altLang="ja-JP" sz="2200" dirty="0"/>
              <a:t>α-blending</a:t>
            </a:r>
            <a:endParaRPr kumimoji="1" lang="ja-JP" altLang="en-US" sz="2200" dirty="0"/>
          </a:p>
        </p:txBody>
      </p:sp>
      <p:sp>
        <p:nvSpPr>
          <p:cNvPr id="6" name="テキスト ボックス 5">
            <a:extLst>
              <a:ext uri="{FF2B5EF4-FFF2-40B4-BE49-F238E27FC236}">
                <a16:creationId xmlns:a16="http://schemas.microsoft.com/office/drawing/2014/main" id="{7A30368B-6C4A-482D-3F01-E86DADE1FF36}"/>
              </a:ext>
            </a:extLst>
          </p:cNvPr>
          <p:cNvSpPr txBox="1"/>
          <p:nvPr/>
        </p:nvSpPr>
        <p:spPr>
          <a:xfrm>
            <a:off x="7681456" y="1737360"/>
            <a:ext cx="1159292" cy="430887"/>
          </a:xfrm>
          <a:prstGeom prst="rect">
            <a:avLst/>
          </a:prstGeom>
          <a:noFill/>
        </p:spPr>
        <p:txBody>
          <a:bodyPr wrap="none" rtlCol="0">
            <a:spAutoFit/>
          </a:bodyPr>
          <a:lstStyle/>
          <a:p>
            <a:r>
              <a:rPr kumimoji="1" lang="en-US" altLang="ja-JP" sz="2200" dirty="0"/>
              <a:t>OST-AR</a:t>
            </a:r>
            <a:endParaRPr kumimoji="1" lang="ja-JP" altLang="en-US" sz="2200" dirty="0"/>
          </a:p>
        </p:txBody>
      </p:sp>
      <p:sp>
        <p:nvSpPr>
          <p:cNvPr id="7" name="矢印: 左右 6">
            <a:extLst>
              <a:ext uri="{FF2B5EF4-FFF2-40B4-BE49-F238E27FC236}">
                <a16:creationId xmlns:a16="http://schemas.microsoft.com/office/drawing/2014/main" id="{CCE2F69D-FF75-73ED-7D9B-176659F5044E}"/>
              </a:ext>
            </a:extLst>
          </p:cNvPr>
          <p:cNvSpPr/>
          <p:nvPr/>
        </p:nvSpPr>
        <p:spPr>
          <a:xfrm>
            <a:off x="4673600" y="1561643"/>
            <a:ext cx="2844800" cy="782320"/>
          </a:xfrm>
          <a:prstGeom prst="leftRightArrow">
            <a:avLst>
              <a:gd name="adj1" fmla="val 65584"/>
              <a:gd name="adj2" fmla="val 60252"/>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Semi-transparent</a:t>
            </a:r>
            <a:endParaRPr kumimoji="1" lang="ja-JP" altLang="en-US" b="1" dirty="0">
              <a:solidFill>
                <a:schemeClr val="tx1"/>
              </a:solidFill>
            </a:endParaRPr>
          </a:p>
        </p:txBody>
      </p:sp>
      <p:sp>
        <p:nvSpPr>
          <p:cNvPr id="5" name="フッター プレースホルダー 4">
            <a:extLst>
              <a:ext uri="{FF2B5EF4-FFF2-40B4-BE49-F238E27FC236}">
                <a16:creationId xmlns:a16="http://schemas.microsoft.com/office/drawing/2014/main" id="{D45020DC-3A82-32D7-17D6-47FC5EBAC1F8}"/>
              </a:ext>
            </a:extLst>
          </p:cNvPr>
          <p:cNvSpPr>
            <a:spLocks noGrp="1"/>
          </p:cNvSpPr>
          <p:nvPr>
            <p:ph type="ftr" sz="quarter" idx="3"/>
          </p:nvPr>
        </p:nvSpPr>
        <p:spPr>
          <a:xfrm>
            <a:off x="0" y="6506960"/>
            <a:ext cx="11495999" cy="351040"/>
          </a:xfrm>
          <a:prstGeom prst="rect">
            <a:avLst/>
          </a:prstGeom>
        </p:spPr>
        <p:txBody>
          <a:bodyPr anchor="b"/>
          <a:lstStyle>
            <a:lvl1pPr>
              <a:defRPr sz="1100"/>
            </a:lvl1pPr>
          </a:lstStyle>
          <a:p>
            <a:r>
              <a:rPr lang="en-US" b="1" dirty="0"/>
              <a:t>T. </a:t>
            </a:r>
            <a:r>
              <a:rPr lang="en-US" b="1" dirty="0" err="1"/>
              <a:t>Fukiage</a:t>
            </a:r>
            <a:r>
              <a:rPr lang="en-US" b="1" dirty="0"/>
              <a:t> and T. Oishi, “A content-adaptive visibility predictor for perceptually optimized image blending,” 2023</a:t>
            </a:r>
            <a:endParaRPr lang="en-US" sz="1100" b="1" dirty="0"/>
          </a:p>
        </p:txBody>
      </p:sp>
    </p:spTree>
    <p:extLst>
      <p:ext uri="{BB962C8B-B14F-4D97-AF65-F5344CB8AC3E}">
        <p14:creationId xmlns:p14="http://schemas.microsoft.com/office/powerpoint/2010/main" val="31000596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7E3AD-12B7-FC31-3387-266C5D64576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01DE674-2E60-AFDE-A816-445B2AD218C1}"/>
              </a:ext>
            </a:extLst>
          </p:cNvPr>
          <p:cNvSpPr>
            <a:spLocks noGrp="1"/>
          </p:cNvSpPr>
          <p:nvPr>
            <p:ph type="title"/>
          </p:nvPr>
        </p:nvSpPr>
        <p:spPr/>
        <p:txBody>
          <a:bodyPr/>
          <a:lstStyle/>
          <a:p>
            <a:r>
              <a:rPr lang="en-US" sz="3600" b="1" dirty="0">
                <a:solidFill>
                  <a:schemeClr val="accent1"/>
                </a:solidFill>
                <a:latin typeface="+mj-lt"/>
                <a:ea typeface="+mj-ea"/>
              </a:rPr>
              <a:t>Index</a:t>
            </a:r>
          </a:p>
        </p:txBody>
      </p:sp>
      <p:sp>
        <p:nvSpPr>
          <p:cNvPr id="3" name="コンテンツ プレースホルダー 2">
            <a:extLst>
              <a:ext uri="{FF2B5EF4-FFF2-40B4-BE49-F238E27FC236}">
                <a16:creationId xmlns:a16="http://schemas.microsoft.com/office/drawing/2014/main" id="{006F0124-6656-6159-7402-1A678D32B49D}"/>
              </a:ext>
            </a:extLst>
          </p:cNvPr>
          <p:cNvSpPr>
            <a:spLocks noGrp="1"/>
          </p:cNvSpPr>
          <p:nvPr>
            <p:ph idx="1"/>
          </p:nvPr>
        </p:nvSpPr>
        <p:spPr>
          <a:xfrm>
            <a:off x="568633" y="994595"/>
            <a:ext cx="11036465" cy="5777442"/>
          </a:xfrm>
        </p:spPr>
        <p:txBody>
          <a:bodyPr>
            <a:normAutofit/>
          </a:bodyPr>
          <a:lstStyle/>
          <a:p>
            <a:pPr marL="457200" indent="-457200">
              <a:buAutoNum type="arabicPeriod"/>
            </a:pPr>
            <a:r>
              <a:rPr lang="en-US" sz="2550" b="1" dirty="0">
                <a:solidFill>
                  <a:schemeClr val="tx1">
                    <a:lumMod val="40000"/>
                    <a:lumOff val="60000"/>
                  </a:schemeClr>
                </a:solidFill>
              </a:rPr>
              <a:t>Introduction</a:t>
            </a:r>
          </a:p>
          <a:p>
            <a:pPr marL="457200" indent="-457200">
              <a:buAutoNum type="arabicPeriod"/>
            </a:pPr>
            <a:r>
              <a:rPr lang="en-US" sz="2550" b="1" dirty="0">
                <a:solidFill>
                  <a:schemeClr val="tx1">
                    <a:lumMod val="40000"/>
                    <a:lumOff val="60000"/>
                  </a:schemeClr>
                </a:solidFill>
              </a:rPr>
              <a:t>Background</a:t>
            </a:r>
          </a:p>
          <a:p>
            <a:pPr marL="457200" indent="-457200">
              <a:buAutoNum type="arabicPeriod"/>
            </a:pPr>
            <a:r>
              <a:rPr lang="en-US" sz="2550" b="1" dirty="0">
                <a:solidFill>
                  <a:schemeClr val="tx1">
                    <a:lumMod val="40000"/>
                    <a:lumOff val="60000"/>
                  </a:schemeClr>
                </a:solidFill>
              </a:rPr>
              <a:t>Studies on the Perceptual Visibility of OST-AR</a:t>
            </a:r>
          </a:p>
          <a:p>
            <a:pPr marL="457200" indent="-457200">
              <a:buFont typeface="Arial" panose="020B0604020202020204" pitchFamily="34" charset="0"/>
              <a:buAutoNum type="arabicPeriod"/>
            </a:pPr>
            <a:r>
              <a:rPr lang="en-US" altLang="ja-JP" sz="2550" b="1" dirty="0">
                <a:solidFill>
                  <a:schemeClr val="tx1">
                    <a:lumMod val="40000"/>
                    <a:lumOff val="60000"/>
                  </a:schemeClr>
                </a:solidFill>
              </a:rPr>
              <a:t>Visibility Predictor</a:t>
            </a:r>
          </a:p>
          <a:p>
            <a:pPr marL="457200" indent="-457200">
              <a:buFont typeface="Arial" panose="020B0604020202020204" pitchFamily="34" charset="0"/>
              <a:buAutoNum type="arabicPeriod"/>
            </a:pPr>
            <a:r>
              <a:rPr lang="en-US" altLang="ja-JP" sz="2550" b="1" dirty="0"/>
              <a:t>Conclusion</a:t>
            </a:r>
          </a:p>
          <a:p>
            <a:endParaRPr lang="en-US" sz="2550" b="1" dirty="0"/>
          </a:p>
          <a:p>
            <a:pPr marL="457200" indent="-457200">
              <a:buAutoNum type="arabicPeriod"/>
            </a:pPr>
            <a:endParaRPr lang="en-US" sz="2550" b="1" dirty="0"/>
          </a:p>
        </p:txBody>
      </p:sp>
      <p:sp>
        <p:nvSpPr>
          <p:cNvPr id="4" name="スライド番号プレースホルダー 3">
            <a:extLst>
              <a:ext uri="{FF2B5EF4-FFF2-40B4-BE49-F238E27FC236}">
                <a16:creationId xmlns:a16="http://schemas.microsoft.com/office/drawing/2014/main" id="{0821BCCF-868E-F278-DFDF-9B0CB2602E9C}"/>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47</a:t>
            </a:fld>
            <a:endParaRPr lang="en-US"/>
          </a:p>
        </p:txBody>
      </p:sp>
    </p:spTree>
    <p:extLst>
      <p:ext uri="{BB962C8B-B14F-4D97-AF65-F5344CB8AC3E}">
        <p14:creationId xmlns:p14="http://schemas.microsoft.com/office/powerpoint/2010/main" val="34200149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30079-5366-1919-DC8E-6C2119C97DF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FB9E81F-45D8-AA1E-8CB9-E184DDA1D677}"/>
              </a:ext>
            </a:extLst>
          </p:cNvPr>
          <p:cNvSpPr>
            <a:spLocks noGrp="1"/>
          </p:cNvSpPr>
          <p:nvPr>
            <p:ph type="title"/>
          </p:nvPr>
        </p:nvSpPr>
        <p:spPr/>
        <p:txBody>
          <a:bodyPr/>
          <a:lstStyle/>
          <a:p>
            <a:r>
              <a:rPr lang="en-US" altLang="ja-JP" b="1" dirty="0">
                <a:solidFill>
                  <a:schemeClr val="accent1"/>
                </a:solidFill>
                <a:latin typeface="+mn-lt"/>
              </a:rPr>
              <a:t>Conclusion</a:t>
            </a:r>
            <a:endParaRPr kumimoji="1" lang="ja-JP" altLang="en-US" sz="3600" b="1" dirty="0">
              <a:solidFill>
                <a:schemeClr val="accent1"/>
              </a:solidFill>
              <a:latin typeface="+mn-lt"/>
            </a:endParaRPr>
          </a:p>
        </p:txBody>
      </p:sp>
      <p:sp>
        <p:nvSpPr>
          <p:cNvPr id="4" name="スライド番号プレースホルダー 3">
            <a:extLst>
              <a:ext uri="{FF2B5EF4-FFF2-40B4-BE49-F238E27FC236}">
                <a16:creationId xmlns:a16="http://schemas.microsoft.com/office/drawing/2014/main" id="{FCEB919A-2E15-D8CF-D5DA-34CE3250CE87}"/>
              </a:ext>
            </a:extLst>
          </p:cNvPr>
          <p:cNvSpPr>
            <a:spLocks noGrp="1"/>
          </p:cNvSpPr>
          <p:nvPr>
            <p:ph type="sldNum" sz="quarter" idx="4"/>
          </p:nvPr>
        </p:nvSpPr>
        <p:spPr>
          <a:xfrm>
            <a:off x="9448800" y="6435083"/>
            <a:ext cx="2743200" cy="336954"/>
          </a:xfrm>
        </p:spPr>
        <p:txBody>
          <a:bodyPr/>
          <a:lstStyle/>
          <a:p>
            <a:fld id="{BEF4553F-1DE4-4E24-BEE1-073CD313E6D1}" type="slidenum">
              <a:rPr lang="en-US" smtClean="0"/>
              <a:t>48</a:t>
            </a:fld>
            <a:endParaRPr lang="en-US"/>
          </a:p>
        </p:txBody>
      </p:sp>
      <p:sp>
        <p:nvSpPr>
          <p:cNvPr id="25" name="コンテンツ プレースホルダー 24">
            <a:extLst>
              <a:ext uri="{FF2B5EF4-FFF2-40B4-BE49-F238E27FC236}">
                <a16:creationId xmlns:a16="http://schemas.microsoft.com/office/drawing/2014/main" id="{FD7CE6A5-88B7-59A8-921E-6735867F2ACB}"/>
              </a:ext>
            </a:extLst>
          </p:cNvPr>
          <p:cNvSpPr>
            <a:spLocks noGrp="1"/>
          </p:cNvSpPr>
          <p:nvPr>
            <p:ph idx="1"/>
          </p:nvPr>
        </p:nvSpPr>
        <p:spPr>
          <a:xfrm>
            <a:off x="568633" y="994595"/>
            <a:ext cx="11036465" cy="5526278"/>
          </a:xfrm>
        </p:spPr>
        <p:txBody>
          <a:bodyPr>
            <a:normAutofit/>
          </a:bodyPr>
          <a:lstStyle/>
          <a:p>
            <a:r>
              <a:rPr lang="en-US" altLang="ja-JP" b="1" dirty="0"/>
              <a:t>Perceptual Visibility on OST-AR </a:t>
            </a:r>
            <a:r>
              <a:rPr lang="ja-JP" altLang="en-US" b="1" dirty="0"/>
              <a:t>→ </a:t>
            </a:r>
            <a:r>
              <a:rPr lang="en-US" altLang="ja-JP" b="1" dirty="0"/>
              <a:t>Prediction, Enhancement, IQA, UX, Safety</a:t>
            </a:r>
          </a:p>
          <a:p>
            <a:endParaRPr lang="en-US" altLang="ja-JP" b="1" dirty="0"/>
          </a:p>
          <a:p>
            <a:endParaRPr lang="en-US" altLang="ja-JP" b="1" dirty="0"/>
          </a:p>
          <a:p>
            <a:endParaRPr lang="en-US" altLang="ja-JP" b="1" dirty="0"/>
          </a:p>
          <a:p>
            <a:endParaRPr lang="en-US" altLang="ja-JP" b="1" dirty="0"/>
          </a:p>
          <a:p>
            <a:endParaRPr lang="en-US" altLang="ja-JP" b="1" dirty="0"/>
          </a:p>
          <a:p>
            <a:endParaRPr lang="en-US" altLang="ja-JP" b="1" dirty="0"/>
          </a:p>
          <a:p>
            <a:endParaRPr lang="en-US" altLang="ja-JP" b="1" dirty="0"/>
          </a:p>
          <a:p>
            <a:r>
              <a:rPr lang="ja-JP" altLang="en-US" b="1" dirty="0"/>
              <a:t>　 </a:t>
            </a:r>
            <a:r>
              <a:rPr lang="en-US" altLang="ja-JP" b="1" dirty="0"/>
              <a:t>Many other researches, results, approaches</a:t>
            </a:r>
          </a:p>
          <a:p>
            <a:endParaRPr lang="en-US" altLang="ja-JP" sz="800" b="1" dirty="0"/>
          </a:p>
          <a:p>
            <a:r>
              <a:rPr lang="en-US" altLang="ja-JP" b="1" dirty="0"/>
              <a:t>Visibility Predictor </a:t>
            </a:r>
            <a:r>
              <a:rPr lang="ja-JP" altLang="en-US" b="1" dirty="0"/>
              <a:t>→ </a:t>
            </a:r>
            <a:r>
              <a:rPr lang="en-US" altLang="ja-JP" b="1" dirty="0"/>
              <a:t>Many challenges to apply OST-AR</a:t>
            </a:r>
            <a:endParaRPr lang="ja-JP" altLang="en-US" b="1" dirty="0"/>
          </a:p>
        </p:txBody>
      </p:sp>
      <p:graphicFrame>
        <p:nvGraphicFramePr>
          <p:cNvPr id="3" name="表 2">
            <a:extLst>
              <a:ext uri="{FF2B5EF4-FFF2-40B4-BE49-F238E27FC236}">
                <a16:creationId xmlns:a16="http://schemas.microsoft.com/office/drawing/2014/main" id="{46442771-9E05-AC02-7E9F-5AD2EF287C1A}"/>
              </a:ext>
            </a:extLst>
          </p:cNvPr>
          <p:cNvGraphicFramePr>
            <a:graphicFrameLocks noGrp="1"/>
          </p:cNvGraphicFramePr>
          <p:nvPr>
            <p:extLst>
              <p:ext uri="{D42A27DB-BD31-4B8C-83A1-F6EECF244321}">
                <p14:modId xmlns:p14="http://schemas.microsoft.com/office/powerpoint/2010/main" val="902211763"/>
              </p:ext>
            </p:extLst>
          </p:nvPr>
        </p:nvGraphicFramePr>
        <p:xfrm>
          <a:off x="568633" y="1561725"/>
          <a:ext cx="11036464" cy="3389820"/>
        </p:xfrm>
        <a:graphic>
          <a:graphicData uri="http://schemas.openxmlformats.org/drawingml/2006/table">
            <a:tbl>
              <a:tblPr firstRow="1" bandRow="1">
                <a:tableStyleId>{5940675A-B579-460E-94D1-54222C63F5DA}</a:tableStyleId>
              </a:tblPr>
              <a:tblGrid>
                <a:gridCol w="410422">
                  <a:extLst>
                    <a:ext uri="{9D8B030D-6E8A-4147-A177-3AD203B41FA5}">
                      <a16:colId xmlns:a16="http://schemas.microsoft.com/office/drawing/2014/main" val="2028160969"/>
                    </a:ext>
                  </a:extLst>
                </a:gridCol>
                <a:gridCol w="3542014">
                  <a:extLst>
                    <a:ext uri="{9D8B030D-6E8A-4147-A177-3AD203B41FA5}">
                      <a16:colId xmlns:a16="http://schemas.microsoft.com/office/drawing/2014/main" val="1689155782"/>
                    </a:ext>
                  </a:extLst>
                </a:gridCol>
                <a:gridCol w="3329840">
                  <a:extLst>
                    <a:ext uri="{9D8B030D-6E8A-4147-A177-3AD203B41FA5}">
                      <a16:colId xmlns:a16="http://schemas.microsoft.com/office/drawing/2014/main" val="3982582707"/>
                    </a:ext>
                  </a:extLst>
                </a:gridCol>
                <a:gridCol w="3754188">
                  <a:extLst>
                    <a:ext uri="{9D8B030D-6E8A-4147-A177-3AD203B41FA5}">
                      <a16:colId xmlns:a16="http://schemas.microsoft.com/office/drawing/2014/main" val="1624025259"/>
                    </a:ext>
                  </a:extLst>
                </a:gridCol>
              </a:tblGrid>
              <a:tr h="410400">
                <a:tc>
                  <a:txBody>
                    <a:bodyPr/>
                    <a:lstStyle/>
                    <a:p>
                      <a:endParaRPr lang="en-US" dirty="0"/>
                    </a:p>
                  </a:txBody>
                  <a:tcPr/>
                </a:tc>
                <a:tc>
                  <a:txBody>
                    <a:bodyPr/>
                    <a:lstStyle/>
                    <a:p>
                      <a:pPr algn="ctr"/>
                      <a:r>
                        <a:rPr lang="en-US" b="1" dirty="0"/>
                        <a:t>Color</a:t>
                      </a:r>
                    </a:p>
                  </a:txBody>
                  <a:tcPr anchor="ctr">
                    <a:solidFill>
                      <a:schemeClr val="tx1">
                        <a:lumMod val="20000"/>
                        <a:lumOff val="80000"/>
                      </a:schemeClr>
                    </a:solidFill>
                  </a:tcPr>
                </a:tc>
                <a:tc>
                  <a:txBody>
                    <a:bodyPr/>
                    <a:lstStyle/>
                    <a:p>
                      <a:pPr algn="ctr"/>
                      <a:r>
                        <a:rPr lang="en-US" altLang="ja-JP" sz="1800" b="1" dirty="0">
                          <a:solidFill>
                            <a:schemeClr val="tx1"/>
                          </a:solidFill>
                        </a:rPr>
                        <a:t>Brightness</a:t>
                      </a:r>
                      <a:endParaRPr lang="en-US" b="1" dirty="0"/>
                    </a:p>
                  </a:txBody>
                  <a:tcPr anchor="ctr">
                    <a:solidFill>
                      <a:schemeClr val="tx1">
                        <a:lumMod val="20000"/>
                        <a:lumOff val="80000"/>
                      </a:schemeClr>
                    </a:solidFill>
                  </a:tcPr>
                </a:tc>
                <a:tc>
                  <a:txBody>
                    <a:bodyPr/>
                    <a:lstStyle/>
                    <a:p>
                      <a:pPr algn="ctr"/>
                      <a:r>
                        <a:rPr lang="en-US" altLang="ja-JP" sz="1800" b="1" dirty="0">
                          <a:solidFill>
                            <a:schemeClr val="tx1"/>
                          </a:solidFill>
                        </a:rPr>
                        <a:t>Transparency</a:t>
                      </a:r>
                      <a:endParaRPr lang="en-US" b="1" dirty="0"/>
                    </a:p>
                  </a:txBody>
                  <a:tcPr anchor="ctr">
                    <a:solidFill>
                      <a:schemeClr val="tx1">
                        <a:lumMod val="20000"/>
                        <a:lumOff val="80000"/>
                      </a:schemeClr>
                    </a:solidFill>
                  </a:tcPr>
                </a:tc>
                <a:extLst>
                  <a:ext uri="{0D108BD9-81ED-4DB2-BD59-A6C34878D82A}">
                    <a16:rowId xmlns:a16="http://schemas.microsoft.com/office/drawing/2014/main" val="3867869946"/>
                  </a:ext>
                </a:extLst>
              </a:tr>
              <a:tr h="993140">
                <a:tc rowSpan="2">
                  <a:txBody>
                    <a:bodyPr/>
                    <a:lstStyle/>
                    <a:p>
                      <a:pPr algn="ctr"/>
                      <a:r>
                        <a:rPr lang="en-US" sz="1800" b="1" dirty="0"/>
                        <a:t>Basic</a:t>
                      </a:r>
                    </a:p>
                  </a:txBody>
                  <a:tcPr vert="vert270" anchor="ctr">
                    <a:solidFill>
                      <a:schemeClr val="accent4">
                        <a:lumMod val="40000"/>
                        <a:lumOff val="60000"/>
                      </a:schemeClr>
                    </a:solidFill>
                  </a:tcPr>
                </a:tc>
                <a:tc>
                  <a:txBody>
                    <a:bodyPr/>
                    <a:lstStyle/>
                    <a:p>
                      <a:pPr algn="l"/>
                      <a:r>
                        <a:rPr lang="en-US" sz="1800" b="0" u="none" dirty="0"/>
                        <a:t>Color blending</a:t>
                      </a:r>
                    </a:p>
                    <a:p>
                      <a:pPr algn="l"/>
                      <a:r>
                        <a:rPr lang="ja-JP" altLang="en-US" sz="1800" b="0" u="none" dirty="0"/>
                        <a:t>→ </a:t>
                      </a:r>
                      <a:r>
                        <a:rPr lang="en-US" altLang="ja-JP" sz="1800" b="0" u="none" dirty="0"/>
                        <a:t>Hue Shift</a:t>
                      </a:r>
                      <a:endParaRPr lang="en-US" sz="1800" b="0" u="none" dirty="0"/>
                    </a:p>
                  </a:txBody>
                  <a:tcPr anchor="ctr">
                    <a:noFill/>
                  </a:tcPr>
                </a:tc>
                <a:tc>
                  <a:txBody>
                    <a:bodyPr/>
                    <a:lstStyle/>
                    <a:p>
                      <a:pPr algn="l"/>
                      <a:r>
                        <a:rPr lang="en-US" sz="1800" b="0" u="none" dirty="0"/>
                        <a:t>High illuminance</a:t>
                      </a:r>
                    </a:p>
                    <a:p>
                      <a:pPr algn="l"/>
                      <a:r>
                        <a:rPr lang="ja-JP" altLang="en-US" sz="1800" b="0" u="none" dirty="0"/>
                        <a:t>→</a:t>
                      </a:r>
                      <a:r>
                        <a:rPr lang="en-US" altLang="ja-JP" sz="1800" b="0" u="none" dirty="0"/>
                        <a:t>Reduce Contrast</a:t>
                      </a:r>
                      <a:endParaRPr lang="en-US" sz="1800" b="0" u="none"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800" b="0" u="none" dirty="0"/>
                        <a:t>High contrast</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800" b="0" u="none" dirty="0"/>
                        <a:t>→</a:t>
                      </a:r>
                      <a:r>
                        <a:rPr lang="en-US" altLang="ja-JP" sz="1800" b="0" u="none" dirty="0"/>
                        <a:t> Increases perceived transparency</a:t>
                      </a:r>
                    </a:p>
                  </a:txBody>
                  <a:tcPr anchor="ctr"/>
                </a:tc>
                <a:extLst>
                  <a:ext uri="{0D108BD9-81ED-4DB2-BD59-A6C34878D82A}">
                    <a16:rowId xmlns:a16="http://schemas.microsoft.com/office/drawing/2014/main" val="534135815"/>
                  </a:ext>
                </a:extLst>
              </a:tr>
              <a:tr h="993140">
                <a:tc vMerge="1">
                  <a:txBody>
                    <a:bodyPr/>
                    <a:lstStyle/>
                    <a:p>
                      <a:endParaRPr lang="en-US" sz="2200" dirty="0"/>
                    </a:p>
                  </a:txBody>
                  <a:tcPr/>
                </a:tc>
                <a:tc>
                  <a:txBody>
                    <a:bodyPr/>
                    <a:lstStyle/>
                    <a:p>
                      <a:pPr algn="l"/>
                      <a:r>
                        <a:rPr lang="en-US" altLang="ja-JP" sz="1800" b="0" u="none" dirty="0"/>
                        <a:t>Robust colors</a:t>
                      </a:r>
                    </a:p>
                    <a:p>
                      <a:pPr algn="l"/>
                      <a:r>
                        <a:rPr lang="ja-JP" altLang="en-US" sz="1800" b="0" u="none" dirty="0"/>
                        <a:t>→ </a:t>
                      </a:r>
                      <a:r>
                        <a:rPr lang="en-US" altLang="ja-JP" sz="1800" b="0" u="none" dirty="0"/>
                        <a:t>Blue, Green, and Yellow </a:t>
                      </a:r>
                      <a:endParaRPr lang="en-US" sz="1800" b="0" u="none" dirty="0"/>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800" b="0" u="none" dirty="0"/>
                        <a:t>Required Luminance</a:t>
                      </a:r>
                    </a:p>
                    <a:p>
                      <a:pPr algn="l"/>
                      <a:r>
                        <a:rPr lang="ja-JP" altLang="en-US" sz="1800" b="0" u="none" dirty="0"/>
                        <a:t>→</a:t>
                      </a:r>
                      <a:r>
                        <a:rPr lang="en-US" altLang="ja-JP" sz="1800" b="0" u="none" dirty="0"/>
                        <a:t>Increases</a:t>
                      </a:r>
                      <a:r>
                        <a:rPr lang="ja-JP" altLang="en-US" sz="1800" b="0" u="none" dirty="0"/>
                        <a:t> </a:t>
                      </a:r>
                      <a:r>
                        <a:rPr lang="en-US" altLang="ja-JP" sz="1800" b="0" u="none" dirty="0"/>
                        <a:t>due</a:t>
                      </a:r>
                      <a:r>
                        <a:rPr lang="ja-JP" altLang="en-US" sz="1800" b="0" u="none" dirty="0"/>
                        <a:t> </a:t>
                      </a:r>
                      <a:r>
                        <a:rPr lang="en-US" altLang="ja-JP" sz="1800" b="0" u="none" dirty="0"/>
                        <a:t>to</a:t>
                      </a:r>
                      <a:r>
                        <a:rPr lang="ja-JP" altLang="en-US" sz="1800" b="0" u="none" dirty="0"/>
                        <a:t> </a:t>
                      </a:r>
                      <a:r>
                        <a:rPr lang="en-US" altLang="ja-JP" sz="1800" b="0" u="none" dirty="0"/>
                        <a:t>Oversizing  </a:t>
                      </a:r>
                      <a:endParaRPr lang="en-US" sz="1800" b="0" u="none"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800" b="0" u="none" dirty="0"/>
                        <a:t>Underestimation of Transparency</a:t>
                      </a:r>
                    </a:p>
                  </a:txBody>
                  <a:tcPr anchor="ctr"/>
                </a:tc>
                <a:extLst>
                  <a:ext uri="{0D108BD9-81ED-4DB2-BD59-A6C34878D82A}">
                    <a16:rowId xmlns:a16="http://schemas.microsoft.com/office/drawing/2014/main" val="1674640162"/>
                  </a:ext>
                </a:extLst>
              </a:tr>
              <a:tr h="993140">
                <a:tc>
                  <a:txBody>
                    <a:bodyPr/>
                    <a:lstStyle/>
                    <a:p>
                      <a:pPr algn="ctr"/>
                      <a:r>
                        <a:rPr kumimoji="1" lang="en-US" altLang="ja-JP" sz="1800" b="1" dirty="0"/>
                        <a:t>Applied</a:t>
                      </a:r>
                      <a:endParaRPr lang="en-US" sz="1800" b="1" dirty="0"/>
                    </a:p>
                  </a:txBody>
                  <a:tcPr vert="vert270" anchor="ctr">
                    <a:solidFill>
                      <a:schemeClr val="accent6">
                        <a:lumMod val="40000"/>
                        <a:lumOff val="60000"/>
                      </a:schemeClr>
                    </a:solidFill>
                  </a:tcPr>
                </a:tc>
                <a:tc>
                  <a:txBody>
                    <a:bodyPr/>
                    <a:lstStyle/>
                    <a:p>
                      <a:pPr algn="l"/>
                      <a:r>
                        <a:rPr lang="en-US" altLang="ja-JP" sz="1800" b="0" u="none" dirty="0"/>
                        <a:t>Enhancement of Color Difference </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800" b="0" u="none" dirty="0"/>
                        <a:t>→</a:t>
                      </a:r>
                      <a:r>
                        <a:rPr lang="en-US" altLang="ja-JP" sz="1800" b="0" u="none" dirty="0"/>
                        <a:t>Enhance visibility</a:t>
                      </a: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800" b="0" u="none" dirty="0"/>
                        <a:t>Signal to noise ratio </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800" b="0" u="none" dirty="0"/>
                        <a:t>→ </a:t>
                      </a:r>
                      <a:r>
                        <a:rPr lang="en-US" altLang="ja-JP" sz="1800" b="0" u="none" dirty="0"/>
                        <a:t>P</a:t>
                      </a:r>
                      <a:r>
                        <a:rPr lang="en-US" sz="1800" b="0" u="none" dirty="0"/>
                        <a:t>redict the luminance for </a:t>
                      </a:r>
                      <a:br>
                        <a:rPr lang="en-US" sz="1800" b="0" u="none" dirty="0"/>
                      </a:br>
                      <a:r>
                        <a:rPr lang="en-US" sz="1800" b="0" u="none" dirty="0"/>
                        <a:t>    perceived opaque</a:t>
                      </a:r>
                    </a:p>
                  </a:txBody>
                  <a:tcPr anchor="ctr">
                    <a:noFill/>
                  </a:tcPr>
                </a:tc>
                <a:tc>
                  <a:txBody>
                    <a:bodyPr/>
                    <a:lstStyle/>
                    <a:p>
                      <a:pPr algn="l"/>
                      <a:r>
                        <a:rPr lang="en-US" sz="1800" b="0" u="none" dirty="0"/>
                        <a:t>GHLC cell  </a:t>
                      </a:r>
                    </a:p>
                    <a:p>
                      <a:pPr algn="l"/>
                      <a:r>
                        <a:rPr lang="ja-JP" altLang="en-US" sz="1800" b="0" u="none" dirty="0"/>
                        <a:t>→ </a:t>
                      </a:r>
                      <a:r>
                        <a:rPr lang="en-US" altLang="ja-JP" sz="1800" b="0" u="none" dirty="0"/>
                        <a:t>Improve Contrast Ratio and  </a:t>
                      </a:r>
                      <a:br>
                        <a:rPr lang="en-US" altLang="ja-JP" sz="1800" b="0" u="none" dirty="0"/>
                      </a:br>
                      <a:r>
                        <a:rPr lang="en-US" altLang="ja-JP" sz="1800" b="0" u="none" dirty="0"/>
                        <a:t>    Color Gamut</a:t>
                      </a:r>
                      <a:endParaRPr lang="en-US" sz="1800" b="0" u="none" dirty="0"/>
                    </a:p>
                  </a:txBody>
                  <a:tcPr anchor="ctr">
                    <a:noFill/>
                  </a:tcPr>
                </a:tc>
                <a:extLst>
                  <a:ext uri="{0D108BD9-81ED-4DB2-BD59-A6C34878D82A}">
                    <a16:rowId xmlns:a16="http://schemas.microsoft.com/office/drawing/2014/main" val="3348415713"/>
                  </a:ext>
                </a:extLst>
              </a:tr>
            </a:tbl>
          </a:graphicData>
        </a:graphic>
      </p:graphicFrame>
      <p:sp>
        <p:nvSpPr>
          <p:cNvPr id="5" name="矢印: 右 4">
            <a:extLst>
              <a:ext uri="{FF2B5EF4-FFF2-40B4-BE49-F238E27FC236}">
                <a16:creationId xmlns:a16="http://schemas.microsoft.com/office/drawing/2014/main" id="{EBC6FC58-3404-EE40-387C-F060E3AB6F9F}"/>
              </a:ext>
            </a:extLst>
          </p:cNvPr>
          <p:cNvSpPr/>
          <p:nvPr/>
        </p:nvSpPr>
        <p:spPr>
          <a:xfrm>
            <a:off x="674254" y="5048761"/>
            <a:ext cx="236123" cy="274782"/>
          </a:xfrm>
          <a:prstGeom prst="rightArrow">
            <a:avLst/>
          </a:prstGeom>
          <a:solidFill>
            <a:schemeClr val="accent1"/>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13992488"/>
      </p:ext>
    </p:extLst>
  </p:cSld>
  <p:clrMapOvr>
    <a:masterClrMapping/>
  </p:clrMapOvr>
</p:sld>
</file>

<file path=ppt/theme/theme1.xml><?xml version="1.0" encoding="utf-8"?>
<a:theme xmlns:a="http://schemas.openxmlformats.org/drawingml/2006/main" name="和">
  <a:themeElements>
    <a:clrScheme name="和色">
      <a:dk1>
        <a:srgbClr val="474A4D"/>
      </a:dk1>
      <a:lt1>
        <a:srgbClr val="F6F7F8"/>
      </a:lt1>
      <a:dk2>
        <a:srgbClr val="192F60"/>
      </a:dk2>
      <a:lt2>
        <a:srgbClr val="FCFAF2"/>
      </a:lt2>
      <a:accent1>
        <a:srgbClr val="005BAA"/>
      </a:accent1>
      <a:accent2>
        <a:srgbClr val="FF814A"/>
      </a:accent2>
      <a:accent3>
        <a:srgbClr val="ECC129"/>
      </a:accent3>
      <a:accent4>
        <a:srgbClr val="71A4D9"/>
      </a:accent4>
      <a:accent5>
        <a:srgbClr val="C08FB3"/>
      </a:accent5>
      <a:accent6>
        <a:srgbClr val="86B81B"/>
      </a:accent6>
      <a:hlink>
        <a:srgbClr val="467886"/>
      </a:hlink>
      <a:folHlink>
        <a:srgbClr val="96607D"/>
      </a:folHlink>
    </a:clrScheme>
    <a:fontScheme name="ユーザー定義 1">
      <a:majorFont>
        <a:latin typeface="Segoe UI"/>
        <a:ea typeface="游ゴシック"/>
        <a:cs typeface=""/>
      </a:majorFont>
      <a:minorFont>
        <a:latin typeface="Segoe UI"/>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和" id="{A8E278DE-FD65-41FC-A273-91F12CF1F3C3}" vid="{81E5A6B0-E455-4435-9E85-C3165A9440E9}"/>
    </a:ext>
  </a:ext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ユーザー定義 1">
      <a:majorFont>
        <a:latin typeface="Segoe UI"/>
        <a:ea typeface="游ゴシック"/>
        <a:cs typeface=""/>
      </a:majorFont>
      <a:minorFont>
        <a:latin typeface="Segoe UI"/>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1_デザインの設定">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ユーザー定義 1">
      <a:majorFont>
        <a:latin typeface="Segoe UI"/>
        <a:ea typeface="游ゴシック"/>
        <a:cs typeface=""/>
      </a:majorFont>
      <a:minorFont>
        <a:latin typeface="Segoe UI"/>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792B0599F51FEC4BB3D32417F5629298" ma:contentTypeVersion="9" ma:contentTypeDescription="新しいドキュメントを作成します。" ma:contentTypeScope="" ma:versionID="5b970222e872361f7518cbbb54cf981f">
  <xsd:schema xmlns:xsd="http://www.w3.org/2001/XMLSchema" xmlns:xs="http://www.w3.org/2001/XMLSchema" xmlns:p="http://schemas.microsoft.com/office/2006/metadata/properties" xmlns:ns3="a0c86e0d-fb5c-4a81-8c51-7ae7887144b6" targetNamespace="http://schemas.microsoft.com/office/2006/metadata/properties" ma:root="true" ma:fieldsID="5a0522687dab1eb5db3bb07d0b10fc14" ns3:_="">
    <xsd:import namespace="a0c86e0d-fb5c-4a81-8c51-7ae7887144b6"/>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BillingMetadata"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0c86e0d-fb5c-4a81-8c51-7ae7887144b6"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BillingMetadata" ma:index="12" nillable="true" ma:displayName="MediaServiceBillingMetadata" ma:hidden="true" ma:internalName="MediaServiceBillingMetadata"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A14EEC7-2676-417A-8F32-B2643EBA18FD}">
  <ds:schemaRefs>
    <ds:schemaRef ds:uri="a0c86e0d-fb5c-4a81-8c51-7ae7887144b6"/>
    <ds:schemaRef ds:uri="http://www.w3.org/XML/1998/namespace"/>
    <ds:schemaRef ds:uri="http://schemas.microsoft.com/office/infopath/2007/PartnerControls"/>
    <ds:schemaRef ds:uri="http://schemas.microsoft.com/office/2006/metadata/properties"/>
    <ds:schemaRef ds:uri="http://schemas.microsoft.com/office/2006/documentManagement/types"/>
    <ds:schemaRef ds:uri="http://purl.org/dc/dcmitype/"/>
    <ds:schemaRef ds:uri="http://purl.org/dc/elements/1.1/"/>
    <ds:schemaRef ds:uri="http://schemas.openxmlformats.org/package/2006/metadata/core-properties"/>
    <ds:schemaRef ds:uri="http://purl.org/dc/terms/"/>
  </ds:schemaRefs>
</ds:datastoreItem>
</file>

<file path=customXml/itemProps2.xml><?xml version="1.0" encoding="utf-8"?>
<ds:datastoreItem xmlns:ds="http://schemas.openxmlformats.org/officeDocument/2006/customXml" ds:itemID="{3CB808A8-90EF-40ED-8CA6-62B45CFC4DC2}">
  <ds:schemaRefs>
    <ds:schemaRef ds:uri="http://schemas.microsoft.com/sharepoint/v3/contenttype/forms"/>
  </ds:schemaRefs>
</ds:datastoreItem>
</file>

<file path=customXml/itemProps3.xml><?xml version="1.0" encoding="utf-8"?>
<ds:datastoreItem xmlns:ds="http://schemas.openxmlformats.org/officeDocument/2006/customXml" ds:itemID="{1736DB78-5C7C-4EB0-9580-4701562B88B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0c86e0d-fb5c-4a81-8c51-7ae7887144b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07baf4f-2b70-47d7-9a02-0875caf94c84}" enabled="0" method="" siteId="{f07baf4f-2b70-47d7-9a02-0875caf94c84}" removed="1"/>
</clbl:labelList>
</file>

<file path=docProps/app.xml><?xml version="1.0" encoding="utf-8"?>
<Properties xmlns="http://schemas.openxmlformats.org/officeDocument/2006/extended-properties" xmlns:vt="http://schemas.openxmlformats.org/officeDocument/2006/docPropsVTypes">
  <Template>2025_0513進捗報告</Template>
  <TotalTime>13564</TotalTime>
  <Words>8699</Words>
  <Application>Microsoft Office PowerPoint</Application>
  <PresentationFormat>ワイド画面</PresentationFormat>
  <Paragraphs>897</Paragraphs>
  <Slides>48</Slides>
  <Notes>47</Notes>
  <HiddenSlides>0</HiddenSlides>
  <MMClips>0</MMClips>
  <ScaleCrop>false</ScaleCrop>
  <HeadingPairs>
    <vt:vector size="6" baseType="variant">
      <vt:variant>
        <vt:lpstr>使用されているフォント</vt:lpstr>
      </vt:variant>
      <vt:variant>
        <vt:i4>6</vt:i4>
      </vt:variant>
      <vt:variant>
        <vt:lpstr>テーマ</vt:lpstr>
      </vt:variant>
      <vt:variant>
        <vt:i4>3</vt:i4>
      </vt:variant>
      <vt:variant>
        <vt:lpstr>スライド タイトル</vt:lpstr>
      </vt:variant>
      <vt:variant>
        <vt:i4>48</vt:i4>
      </vt:variant>
    </vt:vector>
  </HeadingPairs>
  <TitlesOfParts>
    <vt:vector size="57" baseType="lpstr">
      <vt:lpstr>Google Sans Text</vt:lpstr>
      <vt:lpstr>游ゴシック</vt:lpstr>
      <vt:lpstr>Aptos</vt:lpstr>
      <vt:lpstr>Arial</vt:lpstr>
      <vt:lpstr>Cambria Math</vt:lpstr>
      <vt:lpstr>Segoe UI</vt:lpstr>
      <vt:lpstr>和</vt:lpstr>
      <vt:lpstr>デザインの設定</vt:lpstr>
      <vt:lpstr>1_デザインの設定</vt:lpstr>
      <vt:lpstr>A Survey on the Perceptual Visibility of Overlaid Content on Optical See-Through Augmented Reality </vt:lpstr>
      <vt:lpstr>Index</vt:lpstr>
      <vt:lpstr>Index</vt:lpstr>
      <vt:lpstr>What is AR?</vt:lpstr>
      <vt:lpstr>What is “OST”-AR?[1]</vt:lpstr>
      <vt:lpstr>Issue of OST-AR</vt:lpstr>
      <vt:lpstr>Index</vt:lpstr>
      <vt:lpstr>What is "Perceptual Visibility"? (1): Contrast</vt:lpstr>
      <vt:lpstr>What is "Perceptual Visibility"?(2): Interpretations</vt:lpstr>
      <vt:lpstr>Applications (1): Image Quality Assessment(IQA)</vt:lpstr>
      <vt:lpstr>Applications (2): UX &amp; Safety</vt:lpstr>
      <vt:lpstr>Index</vt:lpstr>
      <vt:lpstr>Scope of this Survey</vt:lpstr>
      <vt:lpstr>Index</vt:lpstr>
      <vt:lpstr>Color Blending and Visibility</vt:lpstr>
      <vt:lpstr>Research Outline</vt:lpstr>
      <vt:lpstr>Paper3-1: Objective and Method</vt:lpstr>
      <vt:lpstr>Paper3-1: Results and Future Work</vt:lpstr>
      <vt:lpstr>Paper3-2: Objective and Method </vt:lpstr>
      <vt:lpstr>Paper3-2: Results and Discussion</vt:lpstr>
      <vt:lpstr>Paper 3-3: Objective and Method </vt:lpstr>
      <vt:lpstr>Paper 3-3: Algorithm</vt:lpstr>
      <vt:lpstr>Paper 3-3: Evaluation</vt:lpstr>
      <vt:lpstr>Paper 3-3: Discussion and Conclusion</vt:lpstr>
      <vt:lpstr>Index</vt:lpstr>
      <vt:lpstr>Brightness and Visibility</vt:lpstr>
      <vt:lpstr>Paper4-1: Objective and Method</vt:lpstr>
      <vt:lpstr>Paper4-1: Results and Discussion</vt:lpstr>
      <vt:lpstr>Paper4-2: Objective and Method</vt:lpstr>
      <vt:lpstr>Paper4-2: Results</vt:lpstr>
      <vt:lpstr>Paper 4-3: Objective and Method </vt:lpstr>
      <vt:lpstr>Paper 4-3: Results</vt:lpstr>
      <vt:lpstr>Paper 4-3: Model</vt:lpstr>
      <vt:lpstr>Index</vt:lpstr>
      <vt:lpstr>Transparency and Visibility</vt:lpstr>
      <vt:lpstr>Paper5-1: Objective and Method</vt:lpstr>
      <vt:lpstr>Paper5-1: Results</vt:lpstr>
      <vt:lpstr>Paper5-2: Objective and Method</vt:lpstr>
      <vt:lpstr>Paper5-2: Results and Discussion</vt:lpstr>
      <vt:lpstr>Paper5-3: Objective and Method</vt:lpstr>
      <vt:lpstr>Paper5-3: Experiment</vt:lpstr>
      <vt:lpstr>Paper5-3: Results and Conclusion</vt:lpstr>
      <vt:lpstr>Index</vt:lpstr>
      <vt:lpstr>Visibility Predictor</vt:lpstr>
      <vt:lpstr>Visibility Predictor: Key Features and Performance</vt:lpstr>
      <vt:lpstr>Visibility Predictor: Challenges to Apply OST-AR</vt:lpstr>
      <vt:lpstr>Index</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濵田　和希</dc:creator>
  <cp:lastModifiedBy>濵田　和希</cp:lastModifiedBy>
  <cp:revision>14</cp:revision>
  <dcterms:created xsi:type="dcterms:W3CDTF">2025-05-23T08:13:32Z</dcterms:created>
  <dcterms:modified xsi:type="dcterms:W3CDTF">2026-05-08T11:38:59Z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0x010100792B0599F51FEC4BB3D32417F5629298</vt:lpwstr>
  </property>
</Properties>
</file>