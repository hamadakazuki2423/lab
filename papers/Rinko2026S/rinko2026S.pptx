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78" r:id="rId2"/>
    <p:sldId id="279" r:id="rId3"/>
    <p:sldId id="282" r:id="rId4"/>
    <p:sldId id="283" r:id="rId5"/>
    <p:sldId id="257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2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4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1D00"/>
    <a:srgbClr val="E62100"/>
    <a:srgbClr val="B31A00"/>
    <a:srgbClr val="991600"/>
    <a:srgbClr val="FFA700"/>
    <a:srgbClr val="FFCD00"/>
    <a:srgbClr val="E1344C"/>
    <a:srgbClr val="FF6E5C"/>
    <a:srgbClr val="AB4738"/>
    <a:srgbClr val="F9F9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Objects="1">
      <p:cViewPr>
        <p:scale>
          <a:sx n="95" d="100"/>
          <a:sy n="95" d="100"/>
        </p:scale>
        <p:origin x="1090" y="221"/>
      </p:cViewPr>
      <p:guideLst>
        <p:guide orient="horz" pos="2164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Objects="1">
      <p:cViewPr varScale="1">
        <p:scale>
          <a:sx n="53" d="100"/>
          <a:sy n="53" d="100"/>
        </p:scale>
        <p:origin x="2648" y="52"/>
      </p:cViewPr>
      <p:guideLst/>
    </p:cSldViewPr>
  </p:notes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16CD76CD-1AE4-6FDD-A190-C51F7CD421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62A3DDB-6C65-FC8A-EA81-2D26CE9196C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2C21CC-2330-4A49-A3CB-B70D8D4B56CC}" type="datetimeFigureOut">
              <a:rPr kumimoji="1" lang="ja-JP" altLang="en-US" smtClean="0"/>
              <a:t>2026/5/10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0E88AEA-1CD5-BEC7-674C-F3E305782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A9AB9B-136A-299A-6D17-4A9FE62F4CD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B92182-5A13-4A19-87B2-C5422956313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11261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AE992-F63B-4BD7-962F-566830456BA1}" type="datetimeFigureOut">
              <a:rPr kumimoji="1" lang="ja-JP" altLang="en-US" smtClean="0"/>
              <a:t>2026/5/10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028F53-7CA7-4FB4-AAB2-5047F333C3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6539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028F53-7CA7-4FB4-AAB2-5047F333C33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17605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028F53-7CA7-4FB4-AAB2-5047F333C336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67680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11DCE-4ACE-4FE3-305A-4814CA21D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13EB93E-8D29-4E3F-F891-965419B67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C52A972-6AB7-9AA4-A504-DD3F6DC91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40A618B-B125-ADF5-5A29-32FF3E10F9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028F53-7CA7-4FB4-AAB2-5047F333C336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16429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459411"/>
            <a:ext cx="7772400" cy="14700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215186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685336"/>
            <a:ext cx="2133600" cy="365125"/>
          </a:xfrm>
        </p:spPr>
        <p:txBody>
          <a:bodyPr/>
          <a:lstStyle/>
          <a:p>
            <a:fld id="{B3017345-AF89-4A36-9B9A-CC208FF7004E}" type="datetime1">
              <a:rPr lang="en-US" altLang="ja-JP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685336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5F0ABC3-3B06-49BF-0062-83EA40AD83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r>
              <a:rPr lang="en-US" dirty="0"/>
              <a:t>/30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816924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74638"/>
            <a:ext cx="8229600" cy="619665"/>
          </a:xfrm>
        </p:spPr>
        <p:txBody>
          <a:bodyPr/>
          <a:lstStyle>
            <a:lvl1pPr algn="l">
              <a:defRPr sz="2550" b="1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3750"/>
            <a:ext cx="8229600" cy="3368250"/>
          </a:xfrm>
        </p:spPr>
        <p:txBody>
          <a:bodyPr>
            <a:noAutofit/>
          </a:bodyPr>
          <a:lstStyle>
            <a:lvl1pPr>
              <a:buNone/>
              <a:defRPr sz="2100"/>
            </a:lvl1pPr>
            <a:lvl2pPr>
              <a:buNone/>
              <a:defRPr sz="1800"/>
            </a:lvl2pPr>
          </a:lstStyle>
          <a:p>
            <a:pPr lvl="0"/>
            <a:endParaRPr lang="ja-JP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686299"/>
            <a:ext cx="2133600" cy="365125"/>
          </a:xfrm>
        </p:spPr>
        <p:txBody>
          <a:bodyPr/>
          <a:lstStyle/>
          <a:p>
            <a:fld id="{EB4E4DC0-98AC-4133-87DC-C06C34DDD37E}" type="datetime1">
              <a:rPr lang="en-US" altLang="ja-JP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686299"/>
            <a:ext cx="2895600" cy="365125"/>
          </a:xfrm>
        </p:spPr>
        <p:txBody>
          <a:bodyPr/>
          <a:lstStyle/>
          <a:p>
            <a:endParaRPr 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B5927BB-F6FF-E4CE-7948-ACCE3B4B98E9}"/>
              </a:ext>
            </a:extLst>
          </p:cNvPr>
          <p:cNvCxnSpPr>
            <a:cxnSpLocks/>
          </p:cNvCxnSpPr>
          <p:nvPr/>
        </p:nvCxnSpPr>
        <p:spPr>
          <a:xfrm>
            <a:off x="457200" y="894303"/>
            <a:ext cx="8229600" cy="0"/>
          </a:xfrm>
          <a:prstGeom prst="line">
            <a:avLst/>
          </a:prstGeom>
          <a:ln>
            <a:solidFill>
              <a:schemeClr val="accent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23BCAB5-7D87-926B-CE42-2A2FE2FCE9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r>
              <a:rPr lang="en-US" dirty="0"/>
              <a:t>/30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4298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8E55D6-4D0F-478F-A51C-83C595F27096}" type="datetime1">
              <a:rPr lang="en-US" altLang="ja-JP" smtClean="0"/>
              <a:t>5/10/2026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FE99A1A-4F4D-BB9E-B83A-37B8A20FF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r>
              <a:rPr lang="en-US" dirty="0"/>
              <a:t>/30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664350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29949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B8013-B7DF-4515-BC5F-99AC9E590573}" type="datetime1">
              <a:rPr lang="en-US" altLang="ja-JP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686299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E4AEEC-01C2-B11F-4F2C-216AB21A46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r>
              <a:rPr lang="en-US" dirty="0"/>
              <a:t>/30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433297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Font typeface="Arial"/>
        <a:buNone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g"/><Relationship Id="rId5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569B6E6C-40E1-09DB-FE04-C0DE2C4B879B}"/>
              </a:ext>
            </a:extLst>
          </p:cNvPr>
          <p:cNvSpPr txBox="1"/>
          <p:nvPr/>
        </p:nvSpPr>
        <p:spPr>
          <a:xfrm>
            <a:off x="457200" y="731520"/>
            <a:ext cx="8229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rPr lang="en-US" sz="3000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Perceptual Visibility Prediction of </a:t>
            </a:r>
            <a:br>
              <a:rPr lang="en-US" sz="3000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en-US" sz="3000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Overlaid Content in Optical See-Through </a:t>
            </a:r>
            <a:br>
              <a:rPr lang="en-US" sz="3000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en-US" sz="3000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Augmented Reality</a:t>
            </a:r>
            <a:endParaRPr sz="3000" dirty="0">
              <a:solidFill>
                <a:schemeClr val="accent1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9564E955-49A8-41E9-FEC2-C44CD04BDB2E}"/>
              </a:ext>
            </a:extLst>
          </p:cNvPr>
          <p:cNvSpPr txBox="1"/>
          <p:nvPr/>
        </p:nvSpPr>
        <p:spPr>
          <a:xfrm>
            <a:off x="396000" y="2377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595959"/>
                </a:solidFill>
              </a:defRPr>
            </a:pPr>
            <a:r>
              <a:rPr dirty="0" err="1"/>
              <a:t>光学シースルー拡張現実における</a:t>
            </a:r>
            <a:r>
              <a:rPr dirty="0"/>
              <a:t> </a:t>
            </a:r>
            <a:br>
              <a:rPr dirty="0"/>
            </a:br>
            <a:r>
              <a:rPr dirty="0"/>
              <a:t> </a:t>
            </a:r>
            <a:r>
              <a:rPr dirty="0" err="1"/>
              <a:t>重畳コンテンツの知覚的視認性予測</a:t>
            </a:r>
            <a:endParaRPr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7C8E7C63-E7F9-4AA1-E79F-486156FA477E}"/>
              </a:ext>
            </a:extLst>
          </p:cNvPr>
          <p:cNvSpPr txBox="1"/>
          <p:nvPr/>
        </p:nvSpPr>
        <p:spPr>
          <a:xfrm>
            <a:off x="457200" y="29260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22222"/>
                </a:solidFill>
              </a:defRPr>
            </a:pPr>
            <a:r>
              <a:rPr dirty="0"/>
              <a:t>Kazuki HAMADA (37-256559)</a:t>
            </a:r>
          </a:p>
          <a:p>
            <a:pPr>
              <a:defRPr sz="1800">
                <a:solidFill>
                  <a:srgbClr val="222222"/>
                </a:solidFill>
              </a:defRPr>
            </a:pPr>
            <a:r>
              <a:rPr dirty="0"/>
              <a:t>Supervisor: Assoc. Prof. Takeshi OISHI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rPr dirty="0"/>
              <a:t>Graduate School of Information Science and Technology, The University of Tokyo</a:t>
            </a:r>
          </a:p>
          <a:p>
            <a:pPr>
              <a:defRPr sz="1400">
                <a:solidFill>
                  <a:srgbClr val="595959"/>
                </a:solidFill>
              </a:defRPr>
            </a:pPr>
            <a:r>
              <a:rPr dirty="0"/>
              <a:t>Midterm Review  |  May 15, 2026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3B13193-1FD8-6877-7AF7-0C1D23876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1</a:t>
            </a:fld>
            <a:r>
              <a:rPr lang="en-US" dirty="0"/>
              <a:t>/30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390416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D95551-BE9B-60A6-2849-4F23A2220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Outline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47E21D5-2AD7-3D66-0528-2CE2994C77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17603"/>
            <a:ext cx="8229600" cy="402589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Aft>
                <a:spcPts val="400"/>
              </a:spcAft>
              <a:buClr>
                <a:schemeClr val="accent1"/>
              </a:buClr>
              <a:defRPr sz="2000">
                <a:solidFill>
                  <a:srgbClr val="222222"/>
                </a:solidFill>
              </a:defRPr>
            </a:pPr>
            <a:r>
              <a:rPr lang="en-US" altLang="ja-JP" sz="2100" b="1" dirty="0">
                <a:solidFill>
                  <a:schemeClr val="accent1"/>
                </a:solidFill>
              </a:rPr>
              <a:t>1.</a:t>
            </a:r>
            <a:r>
              <a:rPr lang="en-US" altLang="ja-JP" sz="2100" dirty="0"/>
              <a:t>	Introduction</a:t>
            </a:r>
          </a:p>
          <a:p>
            <a:pPr marL="0" indent="0">
              <a:lnSpc>
                <a:spcPct val="150000"/>
              </a:lnSpc>
              <a:spcAft>
                <a:spcPts val="400"/>
              </a:spcAft>
              <a:buClr>
                <a:schemeClr val="accent1"/>
              </a:buClr>
              <a:defRPr sz="2000">
                <a:solidFill>
                  <a:srgbClr val="222222"/>
                </a:solidFill>
              </a:defRPr>
            </a:pPr>
            <a:r>
              <a:rPr lang="en-US" altLang="ja-JP" sz="2100" b="1" dirty="0">
                <a:solidFill>
                  <a:schemeClr val="accent1"/>
                </a:solidFill>
              </a:rPr>
              <a:t>2.</a:t>
            </a:r>
            <a:r>
              <a:rPr lang="en-US" altLang="ja-JP" sz="2100" dirty="0"/>
              <a:t>	Related Work</a:t>
            </a:r>
          </a:p>
          <a:p>
            <a:pPr marL="0" indent="0">
              <a:lnSpc>
                <a:spcPct val="150000"/>
              </a:lnSpc>
              <a:spcAft>
                <a:spcPts val="400"/>
              </a:spcAft>
              <a:buClr>
                <a:schemeClr val="accent1"/>
              </a:buClr>
              <a:defRPr sz="2000">
                <a:solidFill>
                  <a:srgbClr val="222222"/>
                </a:solidFill>
              </a:defRPr>
            </a:pPr>
            <a:r>
              <a:rPr lang="en-US" altLang="ja-JP" sz="2100" b="1" dirty="0">
                <a:solidFill>
                  <a:schemeClr val="accent1"/>
                </a:solidFill>
              </a:rPr>
              <a:t>3.</a:t>
            </a:r>
            <a:r>
              <a:rPr lang="en-US" altLang="ja-JP" sz="2100" dirty="0"/>
              <a:t>	Method</a:t>
            </a:r>
          </a:p>
          <a:p>
            <a:pPr marL="0" indent="0">
              <a:lnSpc>
                <a:spcPct val="150000"/>
              </a:lnSpc>
              <a:spcAft>
                <a:spcPts val="400"/>
              </a:spcAft>
              <a:buClr>
                <a:schemeClr val="accent1"/>
              </a:buClr>
              <a:defRPr sz="2000">
                <a:solidFill>
                  <a:srgbClr val="222222"/>
                </a:solidFill>
              </a:defRPr>
            </a:pPr>
            <a:r>
              <a:rPr lang="en-US" altLang="ja-JP" sz="2100" b="1" dirty="0">
                <a:solidFill>
                  <a:schemeClr val="accent1"/>
                </a:solidFill>
              </a:rPr>
              <a:t>4.</a:t>
            </a:r>
            <a:r>
              <a:rPr lang="en-US" altLang="ja-JP" sz="2100" dirty="0"/>
              <a:t>	Preliminary Experiment</a:t>
            </a:r>
          </a:p>
          <a:p>
            <a:pPr marL="0" indent="0">
              <a:lnSpc>
                <a:spcPct val="150000"/>
              </a:lnSpc>
              <a:spcAft>
                <a:spcPts val="400"/>
              </a:spcAft>
              <a:buClr>
                <a:schemeClr val="accent1"/>
              </a:buClr>
              <a:defRPr sz="2000">
                <a:solidFill>
                  <a:srgbClr val="222222"/>
                </a:solidFill>
              </a:defRPr>
            </a:pPr>
            <a:r>
              <a:rPr lang="en-US" altLang="ja-JP" sz="2100" b="1" dirty="0">
                <a:solidFill>
                  <a:schemeClr val="accent1"/>
                </a:solidFill>
              </a:rPr>
              <a:t>5.</a:t>
            </a:r>
            <a:r>
              <a:rPr lang="en-US" altLang="ja-JP" sz="2100" dirty="0"/>
              <a:t>	Discussion &amp; Future Work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CC14F31-0704-ADB7-CC0F-1B698D894A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2</a:t>
            </a:fld>
            <a:r>
              <a:rPr lang="en-US" dirty="0"/>
              <a:t>/30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4213137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DF454-DA49-B761-FEB4-7AF8F61FB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2DEBAB-34BB-1873-021E-D82AC4A3C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Outline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60BA6A-2487-A778-81D6-A318D1B0E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kumimoji="1" lang="en-US" altLang="ja-JP" b="1" dirty="0">
                <a:solidFill>
                  <a:schemeClr val="accent1"/>
                </a:solidFill>
              </a:rPr>
              <a:t>1.   </a:t>
            </a:r>
            <a:r>
              <a:rPr kumimoji="1" lang="en-US" altLang="ja-JP" dirty="0"/>
              <a:t>Introduction</a:t>
            </a:r>
          </a:p>
          <a:p>
            <a:pPr marL="0" indent="0">
              <a:lnSpc>
                <a:spcPct val="150000"/>
              </a:lnSpc>
            </a:pPr>
            <a:r>
              <a:rPr kumimoji="1" lang="en-US" altLang="ja-JP" b="1" dirty="0">
                <a:solidFill>
                  <a:schemeClr val="accent1"/>
                </a:solidFill>
              </a:rPr>
              <a:t>2.   </a:t>
            </a:r>
            <a:r>
              <a:rPr kumimoji="1" lang="en-US" altLang="ja-JP" dirty="0"/>
              <a:t>Related Work</a:t>
            </a:r>
          </a:p>
          <a:p>
            <a:pPr marL="0" indent="0">
              <a:lnSpc>
                <a:spcPct val="150000"/>
              </a:lnSpc>
            </a:pPr>
            <a:r>
              <a:rPr lang="en-US" altLang="ja-JP" b="1" dirty="0">
                <a:solidFill>
                  <a:schemeClr val="accent1"/>
                </a:solidFill>
              </a:rPr>
              <a:t>3.   </a:t>
            </a:r>
            <a:r>
              <a:rPr lang="en-US" altLang="ja-JP" dirty="0"/>
              <a:t>Method</a:t>
            </a:r>
          </a:p>
          <a:p>
            <a:pPr marL="0" indent="0">
              <a:lnSpc>
                <a:spcPct val="150000"/>
              </a:lnSpc>
            </a:pPr>
            <a:r>
              <a:rPr kumimoji="1" lang="en-US" altLang="ja-JP" b="1" dirty="0">
                <a:solidFill>
                  <a:schemeClr val="accent1"/>
                </a:solidFill>
              </a:rPr>
              <a:t>4.   </a:t>
            </a:r>
            <a:r>
              <a:rPr kumimoji="1" lang="en-US" altLang="ja-JP" dirty="0"/>
              <a:t>Preliminary Experiment</a:t>
            </a:r>
          </a:p>
          <a:p>
            <a:pPr marL="0" indent="0">
              <a:lnSpc>
                <a:spcPct val="150000"/>
              </a:lnSpc>
            </a:pPr>
            <a:r>
              <a:rPr lang="en-US" altLang="ja-JP" b="1" dirty="0">
                <a:solidFill>
                  <a:schemeClr val="accent1"/>
                </a:solidFill>
              </a:rPr>
              <a:t>5.   </a:t>
            </a:r>
            <a:r>
              <a:rPr lang="en-US" altLang="ja-JP" dirty="0"/>
              <a:t>Discussion &amp; Future Work</a:t>
            </a:r>
            <a:endParaRPr kumimoji="1" lang="ja-JP" alt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52E3C8E-193B-3832-4AD6-1DA6AA40E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3</a:t>
            </a:fld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921720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43A484-A88A-53A7-5306-D213D831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43898"/>
            <a:ext cx="8229600" cy="619665"/>
          </a:xfrm>
        </p:spPr>
        <p:txBody>
          <a:bodyPr/>
          <a:lstStyle/>
          <a:p>
            <a:r>
              <a:rPr kumimoji="1" lang="en-US" altLang="ja-JP" dirty="0"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Introduction: Optical See-Through AR</a:t>
            </a:r>
            <a:endParaRPr kumimoji="1" lang="ja-JP" altLang="en-US" dirty="0"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623491-5C50-78AC-3E26-423BC7925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A virtual image is optically overlayed on the real-</a:t>
            </a:r>
            <a:r>
              <a:rPr kumimoji="1" lang="en-US" altLang="ja-JP" dirty="0" err="1"/>
              <a:t>worldbackground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E6FC69-8307-DDEE-4E64-B46F11947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629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rPr dirty="0"/>
              <a:t>Introduction — background, scope, objective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rPr dirty="0"/>
              <a:t>Related Work — contrast perception, OST-AR studies, IQA, </a:t>
            </a:r>
            <a:r>
              <a:rPr dirty="0" err="1"/>
              <a:t>Fukiage's</a:t>
            </a:r>
            <a:r>
              <a:rPr dirty="0"/>
              <a:t> predictor, gaps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rPr dirty="0"/>
              <a:t>Method — extending Fukiage's model for OST-AR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rPr dirty="0"/>
              <a:t>Preliminary Experiment — apparatus, procedure, results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rPr dirty="0"/>
              <a:t>Discussion &amp; Future Work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B52258-FCAC-B9C4-A6A7-50E73FD178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3BF1B34B-4FEE-15A0-3AFA-D060CB73D63C}"/>
              </a:ext>
            </a:extLst>
          </p:cNvPr>
          <p:cNvSpPr/>
          <p:nvPr/>
        </p:nvSpPr>
        <p:spPr>
          <a:xfrm>
            <a:off x="457200" y="1118936"/>
            <a:ext cx="3891761" cy="130668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E37BD8F-F5C0-BD70-9CCD-0BF7BDCB9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Introduction: Optical See-Through AR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3515BA-B19C-A579-B2B3-D862BFA35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sz="2100" dirty="0"/>
              <a:t>A virtual image is </a:t>
            </a:r>
            <a:br>
              <a:rPr lang="en-US" altLang="ja-JP" sz="2100" dirty="0"/>
            </a:br>
            <a:r>
              <a:rPr lang="en-US" altLang="ja-JP" sz="2100" b="1" dirty="0">
                <a:solidFill>
                  <a:schemeClr val="accent1"/>
                </a:solidFill>
              </a:rPr>
              <a:t>optically overlayed </a:t>
            </a:r>
          </a:p>
          <a:p>
            <a:r>
              <a:rPr lang="en-US" altLang="ja-JP" sz="2100" dirty="0"/>
              <a:t>on the real-world background</a:t>
            </a:r>
          </a:p>
          <a:p>
            <a:endParaRPr kumimoji="1" lang="en-US" altLang="ja-JP" sz="2100" dirty="0"/>
          </a:p>
          <a:p>
            <a:r>
              <a:rPr lang="en-US" altLang="ja-JP" sz="2100" b="1" u="sng" dirty="0"/>
              <a:t>Pros: </a:t>
            </a:r>
          </a:p>
          <a:p>
            <a:r>
              <a:rPr lang="en-US" altLang="ja-JP" sz="2100" dirty="0"/>
              <a:t>Direct perception of real world</a:t>
            </a:r>
          </a:p>
          <a:p>
            <a:endParaRPr lang="en-US" altLang="ja-JP" sz="2100" b="1" dirty="0"/>
          </a:p>
          <a:p>
            <a:r>
              <a:rPr kumimoji="1" lang="en-US" altLang="ja-JP" sz="2100" b="1" u="sng" dirty="0"/>
              <a:t>Cons: </a:t>
            </a:r>
          </a:p>
          <a:p>
            <a:r>
              <a:rPr kumimoji="1" lang="en-US" altLang="ja-JP" sz="2100" b="1" dirty="0">
                <a:solidFill>
                  <a:schemeClr val="accent5"/>
                </a:solidFill>
              </a:rPr>
              <a:t>Additive mixture </a:t>
            </a:r>
            <a:r>
              <a:rPr kumimoji="1" lang="en-US" altLang="ja-JP" sz="2100" dirty="0"/>
              <a:t>of FG &amp; BG</a:t>
            </a:r>
          </a:p>
        </p:txBody>
      </p:sp>
      <p:sp>
        <p:nvSpPr>
          <p:cNvPr id="37" name="矢印: 右カーブ 36">
            <a:extLst>
              <a:ext uri="{FF2B5EF4-FFF2-40B4-BE49-F238E27FC236}">
                <a16:creationId xmlns:a16="http://schemas.microsoft.com/office/drawing/2014/main" id="{3B2E9162-BECF-2EF3-75E2-2EC7ECDB11DE}"/>
              </a:ext>
            </a:extLst>
          </p:cNvPr>
          <p:cNvSpPr/>
          <p:nvPr/>
        </p:nvSpPr>
        <p:spPr>
          <a:xfrm>
            <a:off x="4867040" y="1275750"/>
            <a:ext cx="568960" cy="2105393"/>
          </a:xfrm>
          <a:prstGeom prst="curvedRightArrow">
            <a:avLst>
              <a:gd name="adj1" fmla="val 124554"/>
              <a:gd name="adj2" fmla="val 179464"/>
              <a:gd name="adj3" fmla="val 0"/>
            </a:avLst>
          </a:prstGeom>
          <a:solidFill>
            <a:srgbClr val="86B81B">
              <a:lumMod val="40000"/>
              <a:lumOff val="6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474A4D"/>
              </a:solidFill>
              <a:effectLst/>
              <a:uLnTx/>
              <a:uFillTx/>
              <a:latin typeface="Segoe UI"/>
              <a:ea typeface="游ゴシック Medium"/>
              <a:cs typeface="+mn-cs"/>
            </a:endParaRPr>
          </a:p>
        </p:txBody>
      </p:sp>
      <p:pic>
        <p:nvPicPr>
          <p:cNvPr id="38" name="グラフィックス 37" descr="りんご 枠線">
            <a:extLst>
              <a:ext uri="{FF2B5EF4-FFF2-40B4-BE49-F238E27FC236}">
                <a16:creationId xmlns:a16="http://schemas.microsoft.com/office/drawing/2014/main" id="{2888B4B6-79BB-15E9-BE4B-8197746C31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3600" y="3381143"/>
            <a:ext cx="914400" cy="914400"/>
          </a:xfrm>
          <a:prstGeom prst="rect">
            <a:avLst/>
          </a:prstGeom>
        </p:spPr>
      </p:pic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73E60686-90A2-7C94-9CD8-9DA118E57A48}"/>
              </a:ext>
            </a:extLst>
          </p:cNvPr>
          <p:cNvGrpSpPr/>
          <p:nvPr/>
        </p:nvGrpSpPr>
        <p:grpSpPr>
          <a:xfrm>
            <a:off x="7300320" y="1688892"/>
            <a:ext cx="1476149" cy="1508760"/>
            <a:chOff x="7241131" y="2871217"/>
            <a:chExt cx="2008732" cy="2087880"/>
          </a:xfrm>
        </p:grpSpPr>
        <p:pic>
          <p:nvPicPr>
            <p:cNvPr id="46" name="グラフィックス 45" descr="咳 枠線">
              <a:extLst>
                <a:ext uri="{FF2B5EF4-FFF2-40B4-BE49-F238E27FC236}">
                  <a16:creationId xmlns:a16="http://schemas.microsoft.com/office/drawing/2014/main" id="{DE305BD9-B99C-E594-E87B-D91D11A36A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1338" t="2861" r="9124" b="-2861"/>
            <a:stretch>
              <a:fillRect/>
            </a:stretch>
          </p:blipFill>
          <p:spPr>
            <a:xfrm flipH="1">
              <a:off x="7380424" y="2871217"/>
              <a:ext cx="1869439" cy="2087880"/>
            </a:xfrm>
            <a:prstGeom prst="rect">
              <a:avLst/>
            </a:prstGeom>
          </p:spPr>
        </p:pic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DBD200D8-21BE-BED7-F944-B38B8B80803A}"/>
                </a:ext>
              </a:extLst>
            </p:cNvPr>
            <p:cNvSpPr/>
            <p:nvPr/>
          </p:nvSpPr>
          <p:spPr>
            <a:xfrm>
              <a:off x="7241131" y="4037177"/>
              <a:ext cx="339543" cy="522123"/>
            </a:xfrm>
            <a:prstGeom prst="rect">
              <a:avLst/>
            </a:prstGeom>
            <a:solidFill>
              <a:srgbClr val="F6F7F8"/>
            </a:solidFill>
            <a:ln w="1905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1800" b="0" i="0" u="none" strike="noStrike" kern="0" cap="none" spc="0" normalizeH="0" baseline="0" noProof="0">
                <a:ln>
                  <a:noFill/>
                </a:ln>
                <a:solidFill>
                  <a:srgbClr val="F6F7F8"/>
                </a:solidFill>
                <a:effectLst/>
                <a:uLnTx/>
                <a:uFillTx/>
                <a:latin typeface="Segoe UI"/>
                <a:ea typeface="游ゴシック Medium"/>
                <a:cs typeface="+mn-cs"/>
              </a:endParaRPr>
            </a:p>
          </p:txBody>
        </p:sp>
      </p:grpSp>
      <p:sp>
        <p:nvSpPr>
          <p:cNvPr id="40" name="矢印: 下 39">
            <a:extLst>
              <a:ext uri="{FF2B5EF4-FFF2-40B4-BE49-F238E27FC236}">
                <a16:creationId xmlns:a16="http://schemas.microsoft.com/office/drawing/2014/main" id="{188F0664-A0DE-1A0A-776F-21AAA0B69B3F}"/>
              </a:ext>
            </a:extLst>
          </p:cNvPr>
          <p:cNvSpPr/>
          <p:nvPr/>
        </p:nvSpPr>
        <p:spPr>
          <a:xfrm rot="16200000">
            <a:off x="6213524" y="1268552"/>
            <a:ext cx="484632" cy="1893688"/>
          </a:xfrm>
          <a:prstGeom prst="downArrow">
            <a:avLst/>
          </a:prstGeom>
          <a:solidFill>
            <a:srgbClr val="86B81B">
              <a:lumMod val="40000"/>
              <a:lumOff val="6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F6F7F8"/>
              </a:solidFill>
              <a:effectLst/>
              <a:uLnTx/>
              <a:uFillTx/>
              <a:latin typeface="Segoe UI"/>
              <a:ea typeface="游ゴシック Medium"/>
              <a:cs typeface="+mn-cs"/>
            </a:endParaRPr>
          </a:p>
        </p:txBody>
      </p: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F39C2B48-1AC2-D391-20CE-5ACDA7307826}"/>
              </a:ext>
            </a:extLst>
          </p:cNvPr>
          <p:cNvCxnSpPr>
            <a:cxnSpLocks/>
          </p:cNvCxnSpPr>
          <p:nvPr/>
        </p:nvCxnSpPr>
        <p:spPr>
          <a:xfrm flipV="1">
            <a:off x="5520771" y="1669847"/>
            <a:ext cx="995229" cy="1064691"/>
          </a:xfrm>
          <a:prstGeom prst="line">
            <a:avLst/>
          </a:prstGeom>
          <a:noFill/>
          <a:ln w="19050" cap="flat" cmpd="sng" algn="ctr">
            <a:solidFill>
              <a:srgbClr val="005BAA"/>
            </a:solidFill>
            <a:prstDash val="solid"/>
            <a:miter lim="800000"/>
          </a:ln>
          <a:effectLst/>
        </p:spPr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BAE0BC44-E412-7B42-C553-4D71C9E2E3FD}"/>
              </a:ext>
            </a:extLst>
          </p:cNvPr>
          <p:cNvSpPr txBox="1"/>
          <p:nvPr/>
        </p:nvSpPr>
        <p:spPr>
          <a:xfrm>
            <a:off x="4572000" y="3251519"/>
            <a:ext cx="11367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100" b="0" i="0" u="none" strike="noStrike" kern="0" cap="none" spc="0" normalizeH="0" baseline="0" noProof="0" dirty="0">
                <a:ln>
                  <a:noFill/>
                </a:ln>
                <a:solidFill>
                  <a:srgbClr val="474A4D"/>
                </a:solidFill>
                <a:effectLst/>
                <a:uLnTx/>
                <a:uFillTx/>
              </a:rPr>
              <a:t>Real BG</a:t>
            </a:r>
            <a:endParaRPr kumimoji="1" lang="ja-JP" altLang="en-US" sz="2100" b="0" i="0" u="none" strike="noStrike" kern="0" cap="none" spc="0" normalizeH="0" baseline="0" noProof="0" dirty="0">
              <a:ln>
                <a:noFill/>
              </a:ln>
              <a:solidFill>
                <a:srgbClr val="474A4D"/>
              </a:solidFill>
              <a:effectLst/>
              <a:uLnTx/>
              <a:uFillTx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F983E339-518F-4214-8C48-1A5396078209}"/>
              </a:ext>
            </a:extLst>
          </p:cNvPr>
          <p:cNvSpPr txBox="1"/>
          <p:nvPr/>
        </p:nvSpPr>
        <p:spPr>
          <a:xfrm>
            <a:off x="6435756" y="3481287"/>
            <a:ext cx="10034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100" b="0" i="0" u="none" strike="noStrike" kern="0" cap="none" spc="0" normalizeH="0" baseline="0" noProof="0" dirty="0">
                <a:ln>
                  <a:noFill/>
                </a:ln>
                <a:solidFill>
                  <a:srgbClr val="474A4D"/>
                </a:solidFill>
                <a:effectLst/>
                <a:uLnTx/>
                <a:uFillTx/>
              </a:rPr>
              <a:t>Virtual</a:t>
            </a:r>
            <a:br>
              <a:rPr kumimoji="1" lang="en-US" altLang="ja-JP" sz="2100" b="0" i="0" u="none" strike="noStrike" kern="0" cap="none" spc="0" normalizeH="0" baseline="0" noProof="0" dirty="0">
                <a:ln>
                  <a:noFill/>
                </a:ln>
                <a:solidFill>
                  <a:srgbClr val="474A4D"/>
                </a:solidFill>
                <a:effectLst/>
                <a:uLnTx/>
                <a:uFillTx/>
              </a:rPr>
            </a:br>
            <a:r>
              <a:rPr kumimoji="1" lang="en-US" altLang="ja-JP" sz="2100" b="0" i="0" u="none" strike="noStrike" kern="0" cap="none" spc="0" normalizeH="0" baseline="0" noProof="0" dirty="0">
                <a:ln>
                  <a:noFill/>
                </a:ln>
                <a:solidFill>
                  <a:srgbClr val="474A4D"/>
                </a:solidFill>
                <a:effectLst/>
                <a:uLnTx/>
                <a:uFillTx/>
              </a:rPr>
              <a:t>Object</a:t>
            </a:r>
            <a:endParaRPr kumimoji="1" lang="ja-JP" altLang="en-US" sz="2100" b="0" i="0" u="none" strike="noStrike" kern="0" cap="none" spc="0" normalizeH="0" baseline="0" noProof="0" dirty="0">
              <a:ln>
                <a:noFill/>
              </a:ln>
              <a:solidFill>
                <a:srgbClr val="474A4D"/>
              </a:solidFill>
              <a:effectLst/>
              <a:uLnTx/>
              <a:uFillTx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53FE76C-757E-5B45-7AAC-A0379B732A6B}"/>
              </a:ext>
            </a:extLst>
          </p:cNvPr>
          <p:cNvSpPr txBox="1"/>
          <p:nvPr/>
        </p:nvSpPr>
        <p:spPr>
          <a:xfrm>
            <a:off x="5363999" y="1201133"/>
            <a:ext cx="189368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100" b="0" i="0" u="none" strike="noStrike" kern="0" cap="none" spc="0" normalizeH="0" baseline="0" noProof="0" dirty="0">
                <a:ln>
                  <a:noFill/>
                </a:ln>
                <a:solidFill>
                  <a:srgbClr val="474A4D"/>
                </a:solidFill>
                <a:effectLst/>
                <a:uLnTx/>
                <a:uFillTx/>
              </a:rPr>
              <a:t>Beam Splitter</a:t>
            </a:r>
            <a:endParaRPr kumimoji="1" lang="ja-JP" altLang="en-US" sz="2100" b="0" i="0" u="none" strike="noStrike" kern="0" cap="none" spc="0" normalizeH="0" baseline="0" noProof="0" dirty="0">
              <a:ln>
                <a:noFill/>
              </a:ln>
              <a:solidFill>
                <a:srgbClr val="474A4D"/>
              </a:solidFill>
              <a:effectLst/>
              <a:uLnTx/>
              <a:uFillTx/>
            </a:endParaRPr>
          </a:p>
        </p:txBody>
      </p:sp>
      <p:sp>
        <p:nvSpPr>
          <p:cNvPr id="45" name="矢印: 上向き折線 44">
            <a:extLst>
              <a:ext uri="{FF2B5EF4-FFF2-40B4-BE49-F238E27FC236}">
                <a16:creationId xmlns:a16="http://schemas.microsoft.com/office/drawing/2014/main" id="{0D298BDE-A71D-1B75-D1C2-56EBD3BCAF61}"/>
              </a:ext>
            </a:extLst>
          </p:cNvPr>
          <p:cNvSpPr/>
          <p:nvPr/>
        </p:nvSpPr>
        <p:spPr>
          <a:xfrm rot="16200000" flipV="1">
            <a:off x="6120033" y="1895451"/>
            <a:ext cx="1139165" cy="1499232"/>
          </a:xfrm>
          <a:prstGeom prst="bentUpArrow">
            <a:avLst/>
          </a:prstGeom>
          <a:solidFill>
            <a:srgbClr val="71A4D9">
              <a:lumMod val="40000"/>
              <a:lumOff val="60000"/>
              <a:alpha val="5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 dirty="0">
              <a:ln>
                <a:noFill/>
              </a:ln>
              <a:solidFill>
                <a:srgbClr val="F6F7F8"/>
              </a:solidFill>
              <a:effectLst/>
              <a:uLnTx/>
              <a:uFillTx/>
              <a:latin typeface="Segoe UI"/>
              <a:ea typeface="游ゴシック Medium"/>
              <a:cs typeface="+mn-cs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29509A37-681D-AC6E-A0CB-3F0B9820A1FE}"/>
              </a:ext>
            </a:extLst>
          </p:cNvPr>
          <p:cNvSpPr/>
          <p:nvPr/>
        </p:nvSpPr>
        <p:spPr>
          <a:xfrm>
            <a:off x="5652128" y="3284189"/>
            <a:ext cx="1799872" cy="1064691"/>
          </a:xfrm>
          <a:prstGeom prst="rect">
            <a:avLst/>
          </a:prstGeom>
          <a:noFill/>
          <a:ln w="19050" cap="flat" cmpd="sng" algn="ctr">
            <a:solidFill>
              <a:srgbClr val="005BAA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>
              <a:ln>
                <a:noFill/>
              </a:ln>
              <a:solidFill>
                <a:srgbClr val="F6F7F8"/>
              </a:solidFill>
              <a:effectLst/>
              <a:uLnTx/>
              <a:uFillTx/>
              <a:latin typeface="Segoe UI"/>
              <a:ea typeface="游ゴシック Medium"/>
              <a:cs typeface="+mn-cs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5FB0C1D-B2CE-D014-A61E-660BF9EFB91C}"/>
              </a:ext>
            </a:extLst>
          </p:cNvPr>
          <p:cNvSpPr txBox="1"/>
          <p:nvPr/>
        </p:nvSpPr>
        <p:spPr>
          <a:xfrm>
            <a:off x="7452000" y="3812252"/>
            <a:ext cx="1151999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100" kern="0" dirty="0">
                <a:solidFill>
                  <a:srgbClr val="474A4D"/>
                </a:solidFill>
              </a:rPr>
              <a:t>Monitor</a:t>
            </a:r>
            <a:endParaRPr kumimoji="1" lang="ja-JP" altLang="en-US" sz="2100" b="0" i="0" u="none" strike="noStrike" kern="0" cap="none" spc="0" normalizeH="0" baseline="0" noProof="0" dirty="0">
              <a:ln>
                <a:noFill/>
              </a:ln>
              <a:solidFill>
                <a:srgbClr val="474A4D"/>
              </a:solidFill>
              <a:effectLst/>
              <a:uLnTx/>
              <a:uFillTx/>
            </a:endParaRPr>
          </a:p>
        </p:txBody>
      </p:sp>
      <p:sp>
        <p:nvSpPr>
          <p:cNvPr id="50" name="矢印: 下 49">
            <a:extLst>
              <a:ext uri="{FF2B5EF4-FFF2-40B4-BE49-F238E27FC236}">
                <a16:creationId xmlns:a16="http://schemas.microsoft.com/office/drawing/2014/main" id="{21F4FA0D-2068-D644-F767-9F560A4B022C}"/>
              </a:ext>
            </a:extLst>
          </p:cNvPr>
          <p:cNvSpPr/>
          <p:nvPr/>
        </p:nvSpPr>
        <p:spPr>
          <a:xfrm rot="10800000">
            <a:off x="5868000" y="1751963"/>
            <a:ext cx="456368" cy="1434728"/>
          </a:xfrm>
          <a:prstGeom prst="downArrow">
            <a:avLst>
              <a:gd name="adj1" fmla="val 63429"/>
              <a:gd name="adj2" fmla="val 33229"/>
            </a:avLst>
          </a:prstGeom>
          <a:solidFill>
            <a:srgbClr val="71A4D9">
              <a:lumMod val="40000"/>
              <a:lumOff val="60000"/>
              <a:alpha val="5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 dirty="0">
              <a:ln>
                <a:noFill/>
              </a:ln>
              <a:solidFill>
                <a:srgbClr val="F6F7F8"/>
              </a:solidFill>
              <a:effectLst/>
              <a:uLnTx/>
              <a:uFillTx/>
              <a:latin typeface="Segoe UI"/>
              <a:ea typeface="游ゴシック Medium"/>
              <a:cs typeface="+mn-cs"/>
            </a:endParaRP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462050BF-F23A-DE65-2F77-AE42C0530AF1}"/>
              </a:ext>
            </a:extLst>
          </p:cNvPr>
          <p:cNvSpPr/>
          <p:nvPr/>
        </p:nvSpPr>
        <p:spPr>
          <a:xfrm rot="10800000">
            <a:off x="5868000" y="2272287"/>
            <a:ext cx="456368" cy="1135520"/>
          </a:xfrm>
          <a:prstGeom prst="downArrow">
            <a:avLst>
              <a:gd name="adj1" fmla="val 63429"/>
              <a:gd name="adj2" fmla="val 0"/>
            </a:avLst>
          </a:prstGeom>
          <a:solidFill>
            <a:srgbClr val="71A4D9">
              <a:lumMod val="40000"/>
              <a:lumOff val="6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0" cap="none" spc="0" normalizeH="0" baseline="0" noProof="0" dirty="0">
              <a:ln>
                <a:noFill/>
              </a:ln>
              <a:solidFill>
                <a:srgbClr val="F6F7F8"/>
              </a:solidFill>
              <a:effectLst/>
              <a:uLnTx/>
              <a:uFillTx/>
              <a:latin typeface="Segoe UI"/>
              <a:ea typeface="游ゴシック Medium"/>
              <a:cs typeface="+mn-cs"/>
            </a:endParaRPr>
          </a:p>
        </p:txBody>
      </p:sp>
      <p:cxnSp>
        <p:nvCxnSpPr>
          <p:cNvPr id="58" name="直線コネクタ 57">
            <a:extLst>
              <a:ext uri="{FF2B5EF4-FFF2-40B4-BE49-F238E27FC236}">
                <a16:creationId xmlns:a16="http://schemas.microsoft.com/office/drawing/2014/main" id="{FBB8AE50-2FE8-EE28-C4F3-EB55DDD600CC}"/>
              </a:ext>
            </a:extLst>
          </p:cNvPr>
          <p:cNvCxnSpPr>
            <a:cxnSpLocks/>
          </p:cNvCxnSpPr>
          <p:nvPr/>
        </p:nvCxnSpPr>
        <p:spPr>
          <a:xfrm>
            <a:off x="468000" y="1116320"/>
            <a:ext cx="0" cy="1311430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2BFD75A-DE78-AF1E-837D-D57C092AC0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6</a:t>
            </a:fld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4229683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F6F991-4854-B8A2-366C-E878C390F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Introduction: Visibility Depends on the Background</a:t>
            </a:r>
            <a:endParaRPr kumimoji="1" lang="ja-JP" altLang="en-US" dirty="0"/>
          </a:p>
        </p:txBody>
      </p:sp>
      <p:sp>
        <p:nvSpPr>
          <p:cNvPr id="10" name="コンテンツ プレースホルダー 9">
            <a:extLst>
              <a:ext uri="{FF2B5EF4-FFF2-40B4-BE49-F238E27FC236}">
                <a16:creationId xmlns:a16="http://schemas.microsoft.com/office/drawing/2014/main" id="{F186FACE-6978-AE5B-46DB-020BB3181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3751"/>
            <a:ext cx="8229600" cy="365126"/>
          </a:xfrm>
        </p:spPr>
        <p:txBody>
          <a:bodyPr/>
          <a:lstStyle/>
          <a:p>
            <a:r>
              <a:rPr lang="en-US" altLang="ja-JP" sz="2100" dirty="0"/>
              <a:t>Visibility of overlayed content varies depending on the background </a:t>
            </a:r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5E46EAAC-38BC-1CA5-D6AC-1FD61851D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158" y="1719019"/>
            <a:ext cx="1412508" cy="1130007"/>
          </a:xfrm>
          <a:prstGeom prst="rect">
            <a:avLst/>
          </a:prstGeom>
        </p:spPr>
      </p:pic>
      <p:pic>
        <p:nvPicPr>
          <p:cNvPr id="13" name="コンテンツ プレースホルダー 5">
            <a:extLst>
              <a:ext uri="{FF2B5EF4-FFF2-40B4-BE49-F238E27FC236}">
                <a16:creationId xmlns:a16="http://schemas.microsoft.com/office/drawing/2014/main" id="{CCB33B4E-F0C4-6CE1-067B-F24872EDDC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0800" y="1713312"/>
            <a:ext cx="1412508" cy="1130007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2B61480-7D63-5272-D2B5-740CD62D6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58474"/>
            <a:ext cx="1412508" cy="1130007"/>
          </a:xfrm>
          <a:prstGeom prst="rect">
            <a:avLst/>
          </a:prstGeom>
        </p:spPr>
      </p:pic>
      <p:sp>
        <p:nvSpPr>
          <p:cNvPr id="15" name="コンテンツ プレースホルダー 9">
            <a:extLst>
              <a:ext uri="{FF2B5EF4-FFF2-40B4-BE49-F238E27FC236}">
                <a16:creationId xmlns:a16="http://schemas.microsoft.com/office/drawing/2014/main" id="{89FF0EDA-FC14-80CE-AD46-9ECF857646DF}"/>
              </a:ext>
            </a:extLst>
          </p:cNvPr>
          <p:cNvSpPr txBox="1">
            <a:spLocks/>
          </p:cNvSpPr>
          <p:nvPr/>
        </p:nvSpPr>
        <p:spPr>
          <a:xfrm>
            <a:off x="382254" y="4428664"/>
            <a:ext cx="8229600" cy="5152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25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600"/>
              </a:spcBef>
              <a:spcAft>
                <a:spcPts val="600"/>
              </a:spcAft>
              <a:defRPr sz="2200">
                <a:solidFill>
                  <a:srgbClr val="222222"/>
                </a:solidFill>
              </a:defRPr>
            </a:pPr>
            <a:r>
              <a:rPr lang="en-US" altLang="ja-JP" sz="2100" dirty="0"/>
              <a:t>→ Need to </a:t>
            </a:r>
            <a:r>
              <a:rPr lang="en-US" altLang="ja-JP" sz="2100" b="1" dirty="0">
                <a:solidFill>
                  <a:schemeClr val="accent1"/>
                </a:solidFill>
              </a:rPr>
              <a:t>predict visibility </a:t>
            </a:r>
            <a:r>
              <a:rPr lang="en-US" altLang="ja-JP" sz="2100" dirty="0"/>
              <a:t>from the FG/BG image</a:t>
            </a:r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</p:txBody>
      </p:sp>
      <p:sp>
        <p:nvSpPr>
          <p:cNvPr id="17" name="コンテンツ プレースホルダー 9">
            <a:extLst>
              <a:ext uri="{FF2B5EF4-FFF2-40B4-BE49-F238E27FC236}">
                <a16:creationId xmlns:a16="http://schemas.microsoft.com/office/drawing/2014/main" id="{8D959611-D12E-E4CE-52DD-EAC4E1AC56BB}"/>
              </a:ext>
            </a:extLst>
          </p:cNvPr>
          <p:cNvSpPr txBox="1">
            <a:spLocks/>
          </p:cNvSpPr>
          <p:nvPr/>
        </p:nvSpPr>
        <p:spPr>
          <a:xfrm>
            <a:off x="5516401" y="2073398"/>
            <a:ext cx="2520000" cy="4155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25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100" b="1" dirty="0"/>
              <a:t>High visibility</a:t>
            </a:r>
          </a:p>
          <a:p>
            <a:endParaRPr lang="en-US" altLang="ja-JP" sz="2100" dirty="0">
              <a:solidFill>
                <a:schemeClr val="accent5"/>
              </a:solidFill>
            </a:endParaRPr>
          </a:p>
          <a:p>
            <a:endParaRPr lang="en-US" altLang="ja-JP" sz="2100" dirty="0">
              <a:solidFill>
                <a:srgbClr val="CC1D00"/>
              </a:solidFill>
            </a:endParaRPr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</p:txBody>
      </p:sp>
      <p:pic>
        <p:nvPicPr>
          <p:cNvPr id="18" name="コンテンツ プレースホルダー 5">
            <a:extLst>
              <a:ext uri="{FF2B5EF4-FFF2-40B4-BE49-F238E27FC236}">
                <a16:creationId xmlns:a16="http://schemas.microsoft.com/office/drawing/2014/main" id="{4838122E-EECA-BAD9-F978-57603BF499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0800" y="3158473"/>
            <a:ext cx="1412508" cy="1130007"/>
          </a:xfrm>
          <a:prstGeom prst="rect">
            <a:avLst/>
          </a:prstGeom>
        </p:spPr>
      </p:pic>
      <p:sp>
        <p:nvSpPr>
          <p:cNvPr id="19" name="コンテンツ プレースホルダー 9">
            <a:extLst>
              <a:ext uri="{FF2B5EF4-FFF2-40B4-BE49-F238E27FC236}">
                <a16:creationId xmlns:a16="http://schemas.microsoft.com/office/drawing/2014/main" id="{5064ADC0-09A2-8394-01D9-6853846E7B48}"/>
              </a:ext>
            </a:extLst>
          </p:cNvPr>
          <p:cNvSpPr txBox="1">
            <a:spLocks/>
          </p:cNvSpPr>
          <p:nvPr/>
        </p:nvSpPr>
        <p:spPr>
          <a:xfrm>
            <a:off x="5516401" y="3319041"/>
            <a:ext cx="2520000" cy="6921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25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2100" b="1" dirty="0"/>
              <a:t>Low visibility</a:t>
            </a:r>
          </a:p>
          <a:p>
            <a:r>
              <a:rPr lang="ja-JP" altLang="en-US" sz="2100" b="1" dirty="0">
                <a:solidFill>
                  <a:schemeClr val="accent5"/>
                </a:solidFill>
              </a:rPr>
              <a:t>→</a:t>
            </a:r>
            <a:r>
              <a:rPr lang="en-US" altLang="ja-JP" sz="2100" b="1" dirty="0">
                <a:solidFill>
                  <a:schemeClr val="accent5"/>
                </a:solidFill>
              </a:rPr>
              <a:t>Bad UX, Safety </a:t>
            </a:r>
            <a:endParaRPr lang="en-US" altLang="ja-JP" sz="2100" dirty="0">
              <a:solidFill>
                <a:schemeClr val="accent5"/>
              </a:solidFill>
            </a:endParaRPr>
          </a:p>
          <a:p>
            <a:endParaRPr lang="en-US" altLang="ja-JP" sz="2100" dirty="0">
              <a:solidFill>
                <a:schemeClr val="accent5"/>
              </a:solidFill>
            </a:endParaRPr>
          </a:p>
          <a:p>
            <a:endParaRPr lang="en-US" altLang="ja-JP" sz="2100" dirty="0"/>
          </a:p>
          <a:p>
            <a:endParaRPr lang="en-US" altLang="ja-JP" sz="2100" dirty="0"/>
          </a:p>
          <a:p>
            <a:endParaRPr lang="en-US" altLang="ja-JP" sz="2100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579271D-061E-EF4B-7881-F8DF1B5B24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7</a:t>
            </a:fld>
            <a:r>
              <a:rPr lang="en-US" dirty="0"/>
              <a:t>/30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00152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AB9746-42DB-A71D-FB69-443A7B420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Scope &amp; Objective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59F3377-569C-DD1E-51E5-38A716293992}"/>
              </a:ext>
            </a:extLst>
          </p:cNvPr>
          <p:cNvSpPr/>
          <p:nvPr/>
        </p:nvSpPr>
        <p:spPr>
          <a:xfrm>
            <a:off x="457200" y="1134367"/>
            <a:ext cx="8229600" cy="6196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047EF528-C824-A7B1-46A4-CD0FE4202D83}"/>
              </a:ext>
            </a:extLst>
          </p:cNvPr>
          <p:cNvCxnSpPr>
            <a:cxnSpLocks/>
          </p:cNvCxnSpPr>
          <p:nvPr/>
        </p:nvCxnSpPr>
        <p:spPr>
          <a:xfrm>
            <a:off x="468000" y="1131750"/>
            <a:ext cx="0" cy="62191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A4DF07-EF11-D0E8-1351-1F6D75892E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b="1" dirty="0"/>
              <a:t>Goal: </a:t>
            </a:r>
            <a:r>
              <a:rPr kumimoji="1" lang="en-US" altLang="ja-JP" dirty="0"/>
              <a:t>Build an </a:t>
            </a:r>
            <a:r>
              <a:rPr kumimoji="1" lang="en-US" altLang="ja-JP" b="1" dirty="0">
                <a:solidFill>
                  <a:schemeClr val="accent1"/>
                </a:solidFill>
              </a:rPr>
              <a:t>image-based visibility predictor </a:t>
            </a:r>
            <a:r>
              <a:rPr kumimoji="1" lang="en-US" altLang="ja-JP" dirty="0"/>
              <a:t>for OST-AR</a:t>
            </a:r>
          </a:p>
          <a:p>
            <a:endParaRPr lang="en-US" altLang="ja-JP" dirty="0"/>
          </a:p>
          <a:p>
            <a:pPr>
              <a:lnSpc>
                <a:spcPct val="150000"/>
              </a:lnSpc>
            </a:pPr>
            <a:r>
              <a:rPr kumimoji="1" lang="en-US" altLang="ja-JP" b="1" dirty="0"/>
              <a:t>Three steps</a:t>
            </a:r>
          </a:p>
          <a:p>
            <a:pPr>
              <a:lnSpc>
                <a:spcPct val="150000"/>
              </a:lnSpc>
            </a:pPr>
            <a:r>
              <a:rPr lang="en-US" altLang="ja-JP" dirty="0"/>
              <a:t>1.  </a:t>
            </a:r>
            <a:r>
              <a:rPr lang="en-US" altLang="ja-JP" b="1" dirty="0">
                <a:solidFill>
                  <a:schemeClr val="accent5"/>
                </a:solidFill>
              </a:rPr>
              <a:t>Psychophysical Experiment : </a:t>
            </a:r>
            <a:r>
              <a:rPr lang="en-US" altLang="ja-JP" dirty="0"/>
              <a:t> Reveal HVS mechanism</a:t>
            </a:r>
          </a:p>
          <a:p>
            <a:pPr>
              <a:lnSpc>
                <a:spcPct val="150000"/>
              </a:lnSpc>
            </a:pPr>
            <a:r>
              <a:rPr kumimoji="1" lang="en-US" altLang="ja-JP" dirty="0"/>
              <a:t>2.  </a:t>
            </a:r>
            <a:r>
              <a:rPr kumimoji="1" lang="en-US" altLang="ja-JP" b="1" dirty="0">
                <a:solidFill>
                  <a:schemeClr val="accent1"/>
                </a:solidFill>
              </a:rPr>
              <a:t>Model </a:t>
            </a:r>
            <a:r>
              <a:rPr lang="en-US" altLang="ja-JP" b="1" dirty="0">
                <a:solidFill>
                  <a:schemeClr val="accent1"/>
                </a:solidFill>
              </a:rPr>
              <a:t>Extension: </a:t>
            </a:r>
            <a:r>
              <a:rPr lang="en-US" altLang="ja-JP" dirty="0"/>
              <a:t>From 2D to OST-AR</a:t>
            </a:r>
          </a:p>
          <a:p>
            <a:pPr>
              <a:lnSpc>
                <a:spcPct val="150000"/>
              </a:lnSpc>
            </a:pPr>
            <a:r>
              <a:rPr kumimoji="1" lang="en-US" altLang="ja-JP" dirty="0"/>
              <a:t>3. </a:t>
            </a:r>
            <a:r>
              <a:rPr kumimoji="1" lang="en-US" altLang="ja-JP" b="1" dirty="0"/>
              <a:t> </a:t>
            </a:r>
            <a:r>
              <a:rPr kumimoji="1" lang="en-US" altLang="ja-JP" b="1" dirty="0">
                <a:solidFill>
                  <a:schemeClr val="accent1"/>
                </a:solidFill>
              </a:rPr>
              <a:t>Model </a:t>
            </a:r>
            <a:r>
              <a:rPr lang="en-US" altLang="ja-JP" b="1" dirty="0">
                <a:solidFill>
                  <a:schemeClr val="accent1"/>
                </a:solidFill>
              </a:rPr>
              <a:t>Validation:</a:t>
            </a:r>
            <a:r>
              <a:rPr lang="en-US" altLang="ja-JP" dirty="0"/>
              <a:t> model's predictions vs human ratings</a:t>
            </a:r>
          </a:p>
          <a:p>
            <a:endParaRPr kumimoji="1" lang="ja-JP" alt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5B7DEEF-B694-C457-00DA-EC57E0528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8</a:t>
            </a:fld>
            <a:r>
              <a:rPr lang="en-US" dirty="0"/>
              <a:t>/30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4223646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211A49-EE7B-26A4-F730-BCDB2664E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Related Work (1): Contrast Perception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DAB2F1-17B6-D764-476F-CE5D748D0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3749"/>
            <a:ext cx="8229600" cy="635943"/>
          </a:xfrm>
        </p:spPr>
        <p:txBody>
          <a:bodyPr/>
          <a:lstStyle/>
          <a:p>
            <a:pPr algn="ctr"/>
            <a:r>
              <a:rPr kumimoji="1" lang="en-US" altLang="ja-JP" dirty="0"/>
              <a:t>Visibility </a:t>
            </a:r>
            <a:r>
              <a:rPr kumimoji="1" lang="ja-JP" altLang="en-US" dirty="0"/>
              <a:t>← </a:t>
            </a:r>
            <a:r>
              <a:rPr kumimoji="1" lang="en-US" altLang="ja-JP" b="1" dirty="0">
                <a:solidFill>
                  <a:schemeClr val="accent1"/>
                </a:solidFill>
              </a:rPr>
              <a:t>Contrast Perception </a:t>
            </a:r>
            <a:r>
              <a:rPr kumimoji="1" lang="en-US" altLang="ja-JP" dirty="0"/>
              <a:t>| Two phenomena addressed </a:t>
            </a:r>
            <a:endParaRPr lang="en-US" altLang="ja-JP" dirty="0"/>
          </a:p>
          <a:p>
            <a:endParaRPr kumimoji="1" lang="ja-JP" altLang="en-US" b="1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54238E0E-6093-D6C2-9B87-6E4B5B8BB617}"/>
              </a:ext>
            </a:extLst>
          </p:cNvPr>
          <p:cNvGrpSpPr/>
          <p:nvPr/>
        </p:nvGrpSpPr>
        <p:grpSpPr>
          <a:xfrm>
            <a:off x="453196" y="2355750"/>
            <a:ext cx="2534801" cy="1889781"/>
            <a:chOff x="865121" y="2378869"/>
            <a:chExt cx="5405200" cy="4194353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D2B24296-F49B-933E-BACA-414AEB2A45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81883" y="2378869"/>
              <a:ext cx="3360420" cy="3373737"/>
            </a:xfrm>
            <a:prstGeom prst="rect">
              <a:avLst/>
            </a:prstGeom>
          </p:spPr>
        </p:pic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03734720-BA73-0858-99E8-2022CEF19F6C}"/>
                </a:ext>
              </a:extLst>
            </p:cNvPr>
            <p:cNvCxnSpPr>
              <a:cxnSpLocks/>
            </p:cNvCxnSpPr>
            <p:nvPr/>
          </p:nvCxnSpPr>
          <p:spPr>
            <a:xfrm>
              <a:off x="1567583" y="2378869"/>
              <a:ext cx="0" cy="3373737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2B8466F3-6563-6D4B-19CB-B3B1C5B910E4}"/>
                </a:ext>
              </a:extLst>
            </p:cNvPr>
            <p:cNvSpPr txBox="1"/>
            <p:nvPr/>
          </p:nvSpPr>
          <p:spPr>
            <a:xfrm rot="16200000">
              <a:off x="25701" y="3606116"/>
              <a:ext cx="2400771" cy="7219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600" dirty="0"/>
                <a:t>Contrast</a:t>
              </a:r>
              <a:endParaRPr kumimoji="1" lang="ja-JP" altLang="en-US" sz="1600" dirty="0"/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F51A3672-4A5F-7247-D325-CAEBA27B629E}"/>
                </a:ext>
              </a:extLst>
            </p:cNvPr>
            <p:cNvCxnSpPr>
              <a:cxnSpLocks/>
            </p:cNvCxnSpPr>
            <p:nvPr/>
          </p:nvCxnSpPr>
          <p:spPr>
            <a:xfrm>
              <a:off x="1681883" y="5860194"/>
              <a:ext cx="3360420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6E35D34-91ED-BCDE-5C12-11553EA72EE3}"/>
                </a:ext>
              </a:extLst>
            </p:cNvPr>
            <p:cNvSpPr txBox="1"/>
            <p:nvPr/>
          </p:nvSpPr>
          <p:spPr>
            <a:xfrm>
              <a:off x="1578516" y="5821804"/>
              <a:ext cx="4691805" cy="751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600" dirty="0"/>
                <a:t>Spatial frequency</a:t>
              </a:r>
              <a:endParaRPr kumimoji="1" lang="ja-JP" altLang="en-US" sz="1600" dirty="0"/>
            </a:p>
          </p:txBody>
        </p:sp>
      </p:grpSp>
      <p:pic>
        <p:nvPicPr>
          <p:cNvPr id="11" name="図 10">
            <a:extLst>
              <a:ext uri="{FF2B5EF4-FFF2-40B4-BE49-F238E27FC236}">
                <a16:creationId xmlns:a16="http://schemas.microsoft.com/office/drawing/2014/main" id="{2E63CAB1-4DE0-48B3-560E-05F5C3F9FB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956" y="2355750"/>
            <a:ext cx="1760795" cy="17658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C441F31-879B-3757-356F-D0296DBC82D1}"/>
              </a:ext>
            </a:extLst>
          </p:cNvPr>
          <p:cNvSpPr txBox="1"/>
          <p:nvPr/>
        </p:nvSpPr>
        <p:spPr>
          <a:xfrm>
            <a:off x="457200" y="1867079"/>
            <a:ext cx="416640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100" dirty="0"/>
              <a:t>① </a:t>
            </a:r>
            <a:r>
              <a:rPr kumimoji="1" lang="en-US" altLang="ja-JP" sz="2100" dirty="0"/>
              <a:t>Frequency dependence (CSF) </a:t>
            </a:r>
            <a:endParaRPr kumimoji="1" lang="ja-JP" altLang="en-US" sz="21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F1BF72-DB91-3FAA-D2D8-54E283EC8CAF}"/>
              </a:ext>
            </a:extLst>
          </p:cNvPr>
          <p:cNvSpPr txBox="1"/>
          <p:nvPr/>
        </p:nvSpPr>
        <p:spPr>
          <a:xfrm>
            <a:off x="4572000" y="1868252"/>
            <a:ext cx="416640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100" b="1" dirty="0"/>
              <a:t>② </a:t>
            </a:r>
            <a:r>
              <a:rPr kumimoji="1" lang="en-US" altLang="ja-JP" sz="2100" dirty="0"/>
              <a:t>Contrast masking</a:t>
            </a:r>
            <a:endParaRPr kumimoji="1" lang="ja-JP" altLang="en-US" sz="2100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ED84BE0A-7685-E11A-AF2B-AF34026D8A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4993" y="2355750"/>
            <a:ext cx="1773306" cy="1773306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39EBD0AD-8089-2F8C-C6E3-EE6FB1DABB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0000" y="2355750"/>
            <a:ext cx="1765826" cy="1765826"/>
          </a:xfrm>
          <a:prstGeom prst="rect">
            <a:avLst/>
          </a:prstGeom>
        </p:spPr>
      </p:pic>
      <p:sp>
        <p:nvSpPr>
          <p:cNvPr id="23" name="コンテンツ プレースホルダー 9">
            <a:extLst>
              <a:ext uri="{FF2B5EF4-FFF2-40B4-BE49-F238E27FC236}">
                <a16:creationId xmlns:a16="http://schemas.microsoft.com/office/drawing/2014/main" id="{81B6C406-8678-C065-5B2F-6B13B3F9CA9B}"/>
              </a:ext>
            </a:extLst>
          </p:cNvPr>
          <p:cNvSpPr txBox="1">
            <a:spLocks/>
          </p:cNvSpPr>
          <p:nvPr/>
        </p:nvSpPr>
        <p:spPr>
          <a:xfrm>
            <a:off x="382254" y="4428664"/>
            <a:ext cx="8229600" cy="5152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25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100" b="1" dirty="0"/>
              <a:t>→</a:t>
            </a:r>
            <a:r>
              <a:rPr lang="en-US" altLang="ja-JP" sz="2100" b="1" dirty="0"/>
              <a:t>This work focus on </a:t>
            </a:r>
            <a:r>
              <a:rPr lang="ja-JP" altLang="en-US" sz="2100" b="1" dirty="0">
                <a:solidFill>
                  <a:schemeClr val="accent5"/>
                </a:solidFill>
              </a:rPr>
              <a:t>② </a:t>
            </a:r>
            <a:r>
              <a:rPr lang="en-US" altLang="ja-JP" sz="2100" b="1" dirty="0">
                <a:solidFill>
                  <a:schemeClr val="accent5"/>
                </a:solidFill>
              </a:rPr>
              <a:t>contrast masking</a:t>
            </a: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C74C2487-9DA9-E25B-BC96-41FC5E1D4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9</a:t>
            </a:fld>
            <a:r>
              <a:rPr lang="en-US" dirty="0"/>
              <a:t>/30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4225539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E1696E-9B85-391C-5581-F9B666EF5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Related Work (2): Single-Factor Models for OST-AR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5B8009-96F4-2B9F-CDAD-BB39FFFC6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3750"/>
            <a:ext cx="8229600" cy="504000"/>
          </a:xfrm>
        </p:spPr>
        <p:txBody>
          <a:bodyPr/>
          <a:lstStyle/>
          <a:p>
            <a:pPr algn="ctr"/>
            <a:r>
              <a:rPr kumimoji="1" lang="en-US" altLang="ja-JP" dirty="0"/>
              <a:t>Existin</a:t>
            </a:r>
            <a:r>
              <a:rPr lang="en-US" altLang="ja-JP" dirty="0"/>
              <a:t>g models each consider </a:t>
            </a:r>
            <a:r>
              <a:rPr lang="en-US" altLang="ja-JP" b="1" dirty="0">
                <a:solidFill>
                  <a:schemeClr val="accent1"/>
                </a:solidFill>
              </a:rPr>
              <a:t>one perceptual factor</a:t>
            </a:r>
            <a:endParaRPr kumimoji="1" lang="ja-JP" altLang="en-US" b="1" dirty="0">
              <a:solidFill>
                <a:schemeClr val="accent1"/>
              </a:solidFill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BB2A0D-A2E2-9E9B-1E56-F589A4AA0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r>
              <a:rPr lang="en-US" dirty="0"/>
              <a:t>/30</a:t>
            </a:r>
            <a:endParaRPr lang="en-US" sz="2100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7404613F-48FF-2CB5-A311-6ED17A6C42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5483197"/>
              </p:ext>
            </p:extLst>
          </p:nvPr>
        </p:nvGraphicFramePr>
        <p:xfrm>
          <a:off x="457200" y="1788422"/>
          <a:ext cx="8389268" cy="22953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78800">
                  <a:extLst>
                    <a:ext uri="{9D8B030D-6E8A-4147-A177-3AD203B41FA5}">
                      <a16:colId xmlns:a16="http://schemas.microsoft.com/office/drawing/2014/main" val="2297274464"/>
                    </a:ext>
                  </a:extLst>
                </a:gridCol>
                <a:gridCol w="5210468">
                  <a:extLst>
                    <a:ext uri="{9D8B030D-6E8A-4147-A177-3AD203B41FA5}">
                      <a16:colId xmlns:a16="http://schemas.microsoft.com/office/drawing/2014/main" val="1859057176"/>
                    </a:ext>
                  </a:extLst>
                </a:gridCol>
              </a:tblGrid>
              <a:tr h="390891">
                <a:tc>
                  <a:txBody>
                    <a:bodyPr/>
                    <a:lstStyle/>
                    <a:p>
                      <a:r>
                        <a:rPr kumimoji="1" lang="en-US" altLang="ja-JP" sz="1800" b="1" dirty="0">
                          <a:solidFill>
                            <a:schemeClr val="bg1"/>
                          </a:solidFill>
                        </a:rPr>
                        <a:t>Perceptual factor</a:t>
                      </a:r>
                      <a:endParaRPr kumimoji="1" lang="ja-JP" altLang="en-US" sz="18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1" dirty="0">
                          <a:solidFill>
                            <a:schemeClr val="bg1"/>
                          </a:solidFill>
                        </a:rPr>
                        <a:t>Reference</a:t>
                      </a:r>
                      <a:endParaRPr kumimoji="1" lang="ja-JP" altLang="en-US" sz="18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734967"/>
                  </a:ext>
                </a:extLst>
              </a:tr>
              <a:tr h="634812">
                <a:tc>
                  <a:txBody>
                    <a:bodyPr/>
                    <a:lstStyle/>
                    <a:p>
                      <a:pPr algn="l"/>
                      <a:r>
                        <a:rPr kumimoji="1" lang="en-US" altLang="ja-JP" sz="1800" b="1" dirty="0">
                          <a:solidFill>
                            <a:schemeClr val="accent1"/>
                          </a:solidFill>
                        </a:rPr>
                        <a:t>Color</a:t>
                      </a:r>
                      <a:endParaRPr kumimoji="1" lang="ja-JP" altLang="en-US" sz="1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-US" altLang="ja-JP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Yoon et al., 2017</a:t>
                      </a:r>
                      <a:r>
                        <a:rPr kumimoji="1" lang="ja-JP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・</a:t>
                      </a:r>
                      <a:r>
                        <a:rPr kumimoji="1" lang="en-US" altLang="ja-JP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Zhang et al., TVCG 2022</a:t>
                      </a:r>
                      <a:endParaRPr kumimoji="1" lang="ja-JP" alt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014802"/>
                  </a:ext>
                </a:extLst>
              </a:tr>
              <a:tr h="634812">
                <a:tc>
                  <a:txBody>
                    <a:bodyPr/>
                    <a:lstStyle/>
                    <a:p>
                      <a:pPr algn="l"/>
                      <a:r>
                        <a:rPr kumimoji="1" lang="en-US" altLang="ja-JP" sz="1800" b="1" dirty="0">
                          <a:solidFill>
                            <a:schemeClr val="accent1"/>
                          </a:solidFill>
                        </a:rPr>
                        <a:t>Luminance/Illuminance</a:t>
                      </a:r>
                      <a:endParaRPr kumimoji="1" lang="ja-JP" altLang="en-US" sz="1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da-DK" altLang="ja-JP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Liu et al., ISMAR 2022</a:t>
                      </a:r>
                      <a:endParaRPr kumimoji="1" lang="ja-JP" alt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3229234"/>
                  </a:ext>
                </a:extLst>
              </a:tr>
              <a:tr h="634812">
                <a:tc>
                  <a:txBody>
                    <a:bodyPr/>
                    <a:lstStyle/>
                    <a:p>
                      <a:pPr algn="l"/>
                      <a:r>
                        <a:rPr kumimoji="1" lang="en-US" altLang="ja-JP" sz="1800" b="1" dirty="0">
                          <a:solidFill>
                            <a:schemeClr val="accent1"/>
                          </a:solidFill>
                        </a:rPr>
                        <a:t>Transparency</a:t>
                      </a:r>
                      <a:endParaRPr kumimoji="1" lang="ja-JP" altLang="en-US" sz="1800" b="1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en-US" altLang="ja-JP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Zhang &amp; Murdoch, 2021</a:t>
                      </a:r>
                      <a:endParaRPr kumimoji="1" lang="ja-JP" altLang="en-US" sz="1800" dirty="0"/>
                    </a:p>
                  </a:txBody>
                  <a:tcPr anchor="ctr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655821"/>
                  </a:ext>
                </a:extLst>
              </a:tr>
            </a:tbl>
          </a:graphicData>
        </a:graphic>
      </p:graphicFrame>
      <p:sp>
        <p:nvSpPr>
          <p:cNvPr id="9" name="コンテンツ プレースホルダー 9">
            <a:extLst>
              <a:ext uri="{FF2B5EF4-FFF2-40B4-BE49-F238E27FC236}">
                <a16:creationId xmlns:a16="http://schemas.microsoft.com/office/drawing/2014/main" id="{DFCE3A5D-5638-52F7-225D-541452B0A7F7}"/>
              </a:ext>
            </a:extLst>
          </p:cNvPr>
          <p:cNvSpPr txBox="1">
            <a:spLocks/>
          </p:cNvSpPr>
          <p:nvPr/>
        </p:nvSpPr>
        <p:spPr>
          <a:xfrm>
            <a:off x="382254" y="4428664"/>
            <a:ext cx="8229600" cy="5152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25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100" b="1" dirty="0"/>
              <a:t>→ No unified, multi-factor model exist</a:t>
            </a:r>
            <a:endParaRPr lang="en-US" altLang="ja-JP" sz="21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6794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AE92B-C880-AC31-782E-C53F665B1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14DA40-9AA1-6DA6-AFDC-B77416EA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Related Work (3): </a:t>
            </a:r>
            <a:r>
              <a:rPr lang="en-US" altLang="ja-JP" dirty="0"/>
              <a:t>IQA for OST-AR Visibility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D0392A3-D812-DADB-F05A-651C1B796B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3750"/>
            <a:ext cx="8229600" cy="504000"/>
          </a:xfrm>
        </p:spPr>
        <p:txBody>
          <a:bodyPr/>
          <a:lstStyle/>
          <a:p>
            <a:pPr algn="ctr"/>
            <a:r>
              <a:rPr lang="en-US" altLang="ja-JP" b="1" dirty="0"/>
              <a:t>IQA</a:t>
            </a:r>
            <a:r>
              <a:rPr lang="en-US" altLang="ja-JP" dirty="0"/>
              <a:t> closely relates to visibility — also in </a:t>
            </a:r>
            <a:r>
              <a:rPr lang="en-US" altLang="ja-JP" b="1" dirty="0">
                <a:solidFill>
                  <a:schemeClr val="accent1"/>
                </a:solidFill>
              </a:rPr>
              <a:t>existing-model limits</a:t>
            </a:r>
            <a:endParaRPr kumimoji="1" lang="ja-JP" altLang="en-US" b="1" dirty="0">
              <a:solidFill>
                <a:schemeClr val="accent1"/>
              </a:solidFill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BA6E7E-8541-73F2-5757-084E27930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r>
              <a:rPr lang="en-US" dirty="0"/>
              <a:t>/30</a:t>
            </a:r>
            <a:endParaRPr lang="en-US" sz="2100" dirty="0"/>
          </a:p>
        </p:txBody>
      </p:sp>
      <p:sp>
        <p:nvSpPr>
          <p:cNvPr id="9" name="コンテンツ プレースホルダー 9">
            <a:extLst>
              <a:ext uri="{FF2B5EF4-FFF2-40B4-BE49-F238E27FC236}">
                <a16:creationId xmlns:a16="http://schemas.microsoft.com/office/drawing/2014/main" id="{E15FCF8B-83FD-A8D3-FB22-27C2B35A1350}"/>
              </a:ext>
            </a:extLst>
          </p:cNvPr>
          <p:cNvSpPr txBox="1">
            <a:spLocks/>
          </p:cNvSpPr>
          <p:nvPr/>
        </p:nvSpPr>
        <p:spPr>
          <a:xfrm>
            <a:off x="382254" y="4428664"/>
            <a:ext cx="8229600" cy="5152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25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100" b="1" dirty="0"/>
              <a:t>→ </a:t>
            </a:r>
            <a:r>
              <a:rPr lang="en-US" altLang="ja-JP" sz="2100" b="1" dirty="0">
                <a:solidFill>
                  <a:schemeClr val="accent5"/>
                </a:solidFill>
              </a:rPr>
              <a:t>OST-AR-specific perception </a:t>
            </a:r>
            <a:r>
              <a:rPr lang="en-US" altLang="ja-JP" sz="2100" b="1" dirty="0"/>
              <a:t>must be modeled.</a:t>
            </a:r>
            <a:endParaRPr lang="en-US" altLang="ja-JP" sz="2100" b="1" dirty="0">
              <a:solidFill>
                <a:schemeClr val="accent5"/>
              </a:solidFill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01438EB-E91C-6E5A-2E69-224FE31DA39A}"/>
              </a:ext>
            </a:extLst>
          </p:cNvPr>
          <p:cNvGrpSpPr/>
          <p:nvPr/>
        </p:nvGrpSpPr>
        <p:grpSpPr>
          <a:xfrm>
            <a:off x="1272340" y="1761934"/>
            <a:ext cx="2589652" cy="1933573"/>
            <a:chOff x="6138746" y="2697195"/>
            <a:chExt cx="4731912" cy="3118516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9E40FE3F-DCFB-3927-E87D-1ED083192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72641"/>
            <a:stretch>
              <a:fillRect/>
            </a:stretch>
          </p:blipFill>
          <p:spPr>
            <a:xfrm>
              <a:off x="6138746" y="4092161"/>
              <a:ext cx="4731912" cy="172355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670DC3D3-78FB-8038-640B-57A2D9C6D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78279"/>
            <a:stretch>
              <a:fillRect/>
            </a:stretch>
          </p:blipFill>
          <p:spPr>
            <a:xfrm>
              <a:off x="6138746" y="2697195"/>
              <a:ext cx="4731912" cy="136833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0" name="小波 9">
              <a:extLst>
                <a:ext uri="{FF2B5EF4-FFF2-40B4-BE49-F238E27FC236}">
                  <a16:creationId xmlns:a16="http://schemas.microsoft.com/office/drawing/2014/main" id="{19D46737-B055-6657-FB3E-81073D1B8947}"/>
                </a:ext>
              </a:extLst>
            </p:cNvPr>
            <p:cNvSpPr/>
            <p:nvPr/>
          </p:nvSpPr>
          <p:spPr>
            <a:xfrm>
              <a:off x="6138746" y="4065526"/>
              <a:ext cx="4731912" cy="104900"/>
            </a:xfrm>
            <a:prstGeom prst="doubleWav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11" name="フッター プレースホルダー 4">
            <a:extLst>
              <a:ext uri="{FF2B5EF4-FFF2-40B4-BE49-F238E27FC236}">
                <a16:creationId xmlns:a16="http://schemas.microsoft.com/office/drawing/2014/main" id="{2B76B11B-B969-0B2C-C1ED-7A80442ED9A5}"/>
              </a:ext>
            </a:extLst>
          </p:cNvPr>
          <p:cNvSpPr txBox="1">
            <a:spLocks/>
          </p:cNvSpPr>
          <p:nvPr/>
        </p:nvSpPr>
        <p:spPr>
          <a:xfrm>
            <a:off x="1272341" y="3695508"/>
            <a:ext cx="2589651" cy="604242"/>
          </a:xfrm>
          <a:prstGeom prst="rect">
            <a:avLst/>
          </a:prstGeom>
        </p:spPr>
        <p:txBody>
          <a:bodyPr anchor="b"/>
          <a:lstStyle>
            <a:defPPr>
              <a:defRPr lang="ja-JP"/>
            </a:defPPr>
            <a:lvl1pPr marL="0" algn="l" defTabSz="914400" rtl="0" eaLnBrk="1" latinLnBrk="0" hangingPunct="1">
              <a:defRPr kumimoji="1"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dirty="0"/>
              <a:t>Limitation of existing IQA models</a:t>
            </a:r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9DC4E04D-F71F-0387-4F00-E79175350652}"/>
              </a:ext>
            </a:extLst>
          </p:cNvPr>
          <p:cNvCxnSpPr>
            <a:cxnSpLocks/>
          </p:cNvCxnSpPr>
          <p:nvPr/>
        </p:nvCxnSpPr>
        <p:spPr>
          <a:xfrm>
            <a:off x="3276000" y="1767784"/>
            <a:ext cx="0" cy="1739269"/>
          </a:xfrm>
          <a:prstGeom prst="line">
            <a:avLst/>
          </a:prstGeom>
          <a:ln w="1905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0CCF8200-1257-83D0-9CE7-65E229A41976}"/>
              </a:ext>
            </a:extLst>
          </p:cNvPr>
          <p:cNvCxnSpPr>
            <a:cxnSpLocks/>
          </p:cNvCxnSpPr>
          <p:nvPr/>
        </p:nvCxnSpPr>
        <p:spPr>
          <a:xfrm>
            <a:off x="3478800" y="1756470"/>
            <a:ext cx="0" cy="1750583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A539F4F-C536-ACB8-9014-8578185BD069}"/>
              </a:ext>
            </a:extLst>
          </p:cNvPr>
          <p:cNvCxnSpPr>
            <a:cxnSpLocks/>
          </p:cNvCxnSpPr>
          <p:nvPr/>
        </p:nvCxnSpPr>
        <p:spPr>
          <a:xfrm>
            <a:off x="2772000" y="1767784"/>
            <a:ext cx="0" cy="1739269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図 17">
            <a:extLst>
              <a:ext uri="{FF2B5EF4-FFF2-40B4-BE49-F238E27FC236}">
                <a16:creationId xmlns:a16="http://schemas.microsoft.com/office/drawing/2014/main" id="{660FAD44-801B-D1DD-59C2-A622D76FA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2010" y="1761934"/>
            <a:ext cx="2803277" cy="1933573"/>
          </a:xfrm>
          <a:prstGeom prst="rect">
            <a:avLst/>
          </a:prstGeom>
        </p:spPr>
      </p:pic>
      <p:sp>
        <p:nvSpPr>
          <p:cNvPr id="28" name="フッター プレースホルダー 4">
            <a:extLst>
              <a:ext uri="{FF2B5EF4-FFF2-40B4-BE49-F238E27FC236}">
                <a16:creationId xmlns:a16="http://schemas.microsoft.com/office/drawing/2014/main" id="{6AE8F32E-8818-279F-CFB7-87C087DBE60C}"/>
              </a:ext>
            </a:extLst>
          </p:cNvPr>
          <p:cNvSpPr txBox="1">
            <a:spLocks/>
          </p:cNvSpPr>
          <p:nvPr/>
        </p:nvSpPr>
        <p:spPr>
          <a:xfrm>
            <a:off x="5388822" y="3695507"/>
            <a:ext cx="2589651" cy="604242"/>
          </a:xfrm>
          <a:prstGeom prst="rect">
            <a:avLst/>
          </a:prstGeom>
        </p:spPr>
        <p:txBody>
          <a:bodyPr anchor="b"/>
          <a:lstStyle>
            <a:defPPr>
              <a:defRPr lang="ja-JP"/>
            </a:defPPr>
            <a:lvl1pPr marL="0" algn="l" defTabSz="914400" rtl="0" eaLnBrk="1" latinLnBrk="0" hangingPunct="1">
              <a:defRPr kumimoji="1"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dirty="0"/>
              <a:t>OST-AR specific</a:t>
            </a:r>
            <a:br>
              <a:rPr lang="en-US" sz="1800" dirty="0"/>
            </a:br>
            <a:r>
              <a:rPr lang="en-US" sz="1800" dirty="0"/>
              <a:t>contrast perception</a:t>
            </a:r>
          </a:p>
        </p:txBody>
      </p:sp>
    </p:spTree>
    <p:extLst>
      <p:ext uri="{BB962C8B-B14F-4D97-AF65-F5344CB8AC3E}">
        <p14:creationId xmlns:p14="http://schemas.microsoft.com/office/powerpoint/2010/main" val="3665657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19AC0-4051-94CB-487A-C167C528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19546D-83B8-17DB-E194-28190A4AC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Related Work (4): </a:t>
            </a:r>
            <a:r>
              <a:rPr kumimoji="1" lang="en-US" altLang="ja-JP" dirty="0" err="1"/>
              <a:t>Fukiage</a:t>
            </a:r>
            <a:r>
              <a:rPr lang="en-US" altLang="ja-JP" dirty="0" err="1"/>
              <a:t>‘s</a:t>
            </a:r>
            <a:r>
              <a:rPr lang="en-US" altLang="ja-JP" dirty="0"/>
              <a:t> Visibility Predictor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D03EB09-63FA-D1E4-AF4C-9EBF4C20C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3749"/>
            <a:ext cx="8229600" cy="635943"/>
          </a:xfrm>
        </p:spPr>
        <p:txBody>
          <a:bodyPr/>
          <a:lstStyle/>
          <a:p>
            <a:pPr algn="ctr"/>
            <a:r>
              <a:rPr lang="en-US" altLang="ja-JP" dirty="0"/>
              <a:t>Visibility predictor for </a:t>
            </a:r>
            <a:r>
              <a:rPr lang="en-US" altLang="ja-JP" b="1" dirty="0"/>
              <a:t>α-blended content </a:t>
            </a:r>
            <a:r>
              <a:rPr lang="en-US" altLang="ja-JP" dirty="0"/>
              <a:t>— promising for OST-AR</a:t>
            </a:r>
            <a:endParaRPr kumimoji="1" lang="ja-JP" altLang="en-US" b="1" dirty="0"/>
          </a:p>
        </p:txBody>
      </p:sp>
      <p:sp>
        <p:nvSpPr>
          <p:cNvPr id="23" name="コンテンツ プレースホルダー 9">
            <a:extLst>
              <a:ext uri="{FF2B5EF4-FFF2-40B4-BE49-F238E27FC236}">
                <a16:creationId xmlns:a16="http://schemas.microsoft.com/office/drawing/2014/main" id="{8430F468-969D-1A52-00B7-A7320F814699}"/>
              </a:ext>
            </a:extLst>
          </p:cNvPr>
          <p:cNvSpPr txBox="1">
            <a:spLocks/>
          </p:cNvSpPr>
          <p:nvPr/>
        </p:nvSpPr>
        <p:spPr>
          <a:xfrm>
            <a:off x="382254" y="4428664"/>
            <a:ext cx="8229600" cy="5152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25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100" dirty="0"/>
              <a:t>→ But </a:t>
            </a:r>
            <a:r>
              <a:rPr lang="en-US" altLang="ja-JP" sz="2100" b="1" dirty="0">
                <a:solidFill>
                  <a:schemeClr val="accent5"/>
                </a:solidFill>
              </a:rPr>
              <a:t>some gaps </a:t>
            </a:r>
            <a:r>
              <a:rPr lang="en-US" altLang="ja-JP" sz="2100" dirty="0"/>
              <a:t>remain when applied to OST-AR</a:t>
            </a:r>
            <a:endParaRPr lang="en-US" altLang="ja-JP" sz="2100" b="1" dirty="0">
              <a:solidFill>
                <a:schemeClr val="accent5"/>
              </a:solidFill>
            </a:endParaRP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D66260B9-E04D-3A34-A1F8-D47D79FB68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12</a:t>
            </a:fld>
            <a:r>
              <a:rPr lang="en-US" dirty="0"/>
              <a:t>/30</a:t>
            </a:r>
            <a:endParaRPr lang="en-US" sz="2100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71BF684-4710-5624-00FA-34531AD8B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324" y="2265226"/>
            <a:ext cx="6385351" cy="2040808"/>
          </a:xfrm>
          <a:prstGeom prst="rect">
            <a:avLst/>
          </a:prstGeom>
        </p:spPr>
      </p:pic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83393C29-3231-81BE-37CE-F9FAAD8A44FC}"/>
              </a:ext>
            </a:extLst>
          </p:cNvPr>
          <p:cNvSpPr txBox="1">
            <a:spLocks/>
          </p:cNvSpPr>
          <p:nvPr/>
        </p:nvSpPr>
        <p:spPr>
          <a:xfrm>
            <a:off x="457200" y="1847279"/>
            <a:ext cx="8229600" cy="5152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b="1" dirty="0">
                <a:solidFill>
                  <a:schemeClr val="accent6"/>
                </a:solidFill>
              </a:rPr>
              <a:t>! </a:t>
            </a:r>
            <a:r>
              <a:rPr lang="en-US" altLang="ja-JP" dirty="0"/>
              <a:t>Considers </a:t>
            </a:r>
            <a:r>
              <a:rPr lang="en-US" altLang="ja-JP" b="1" dirty="0"/>
              <a:t>multiple perceptual factors</a:t>
            </a:r>
            <a:r>
              <a:rPr lang="en-US" altLang="ja-JP" dirty="0"/>
              <a:t> jointly</a:t>
            </a:r>
          </a:p>
        </p:txBody>
      </p:sp>
    </p:spTree>
    <p:extLst>
      <p:ext uri="{BB962C8B-B14F-4D97-AF65-F5344CB8AC3E}">
        <p14:creationId xmlns:p14="http://schemas.microsoft.com/office/powerpoint/2010/main" val="3947535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41374-CE65-1226-872B-1F41AC565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5EDE7F-B505-F547-0DBF-72644010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Related Work (4): </a:t>
            </a:r>
            <a:r>
              <a:rPr lang="en-US" altLang="ja-JP" dirty="0" err="1"/>
              <a:t>Fukiage‘s</a:t>
            </a:r>
            <a:r>
              <a:rPr lang="en-US" altLang="ja-JP" dirty="0"/>
              <a:t> Visibility Predictor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90F4B2F-87AD-225F-CE05-DF4535F1D95E}"/>
              </a:ext>
            </a:extLst>
          </p:cNvPr>
          <p:cNvSpPr/>
          <p:nvPr/>
        </p:nvSpPr>
        <p:spPr>
          <a:xfrm>
            <a:off x="457200" y="1134367"/>
            <a:ext cx="8229600" cy="6196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6CB79045-E072-FF76-A3D3-24EE0FEC993E}"/>
              </a:ext>
            </a:extLst>
          </p:cNvPr>
          <p:cNvCxnSpPr>
            <a:cxnSpLocks/>
          </p:cNvCxnSpPr>
          <p:nvPr/>
        </p:nvCxnSpPr>
        <p:spPr>
          <a:xfrm>
            <a:off x="468000" y="1131750"/>
            <a:ext cx="0" cy="621918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7EC0E3-41EC-12FC-3AEA-4CC28DD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altLang="ja-JP" dirty="0"/>
              <a:t>The model assumes </a:t>
            </a:r>
            <a:r>
              <a:rPr lang="en-US" altLang="ja-JP" b="1" dirty="0"/>
              <a:t>α-blending — single 2D display </a:t>
            </a:r>
          </a:p>
          <a:p>
            <a:pPr algn="ctr"/>
            <a:r>
              <a:rPr lang="en-US" altLang="ja-JP" b="1" dirty="0"/>
              <a:t> </a:t>
            </a:r>
            <a:endParaRPr lang="ja-JP" altLang="en-US" b="1" dirty="0"/>
          </a:p>
          <a:p>
            <a:pPr>
              <a:lnSpc>
                <a:spcPct val="120000"/>
              </a:lnSpc>
            </a:pPr>
            <a:r>
              <a:rPr lang="en-US" altLang="ja-JP" dirty="0"/>
              <a:t>Four OST-AR specific gaps:</a:t>
            </a:r>
          </a:p>
          <a:p>
            <a:pPr>
              <a:lnSpc>
                <a:spcPct val="120000"/>
              </a:lnSpc>
            </a:pPr>
            <a:r>
              <a:rPr lang="en-US" altLang="ja-JP" dirty="0"/>
              <a:t>1.  </a:t>
            </a:r>
            <a:r>
              <a:rPr lang="en-US" altLang="ja-JP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Accommodation:</a:t>
            </a:r>
            <a:r>
              <a:rPr lang="en-US" altLang="ja-JP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ja-JP" dirty="0"/>
              <a:t>induces defocus blur</a:t>
            </a:r>
          </a:p>
          <a:p>
            <a:pPr>
              <a:lnSpc>
                <a:spcPct val="120000"/>
              </a:lnSpc>
            </a:pPr>
            <a:r>
              <a:rPr kumimoji="1" lang="en-US" altLang="ja-JP" dirty="0"/>
              <a:t>2.  </a:t>
            </a:r>
            <a:r>
              <a:rPr kumimoji="1" lang="en-US" altLang="ja-JP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</a:t>
            </a:r>
            <a:r>
              <a:rPr lang="en-US" altLang="ja-JP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inocular disparity:</a:t>
            </a:r>
            <a:r>
              <a:rPr lang="en-US" altLang="ja-JP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ja-JP" dirty="0"/>
              <a:t>arises with depth difference</a:t>
            </a:r>
          </a:p>
          <a:p>
            <a:pPr>
              <a:lnSpc>
                <a:spcPct val="120000"/>
              </a:lnSpc>
            </a:pPr>
            <a:r>
              <a:rPr kumimoji="1" lang="en-US" altLang="ja-JP" dirty="0"/>
              <a:t>3. </a:t>
            </a:r>
            <a:r>
              <a:rPr kumimoji="1" lang="en-US" altLang="ja-JP" b="1" dirty="0"/>
              <a:t> </a:t>
            </a:r>
            <a:r>
              <a:rPr kumimoji="1" lang="en-US" altLang="ja-JP" b="1" dirty="0">
                <a:solidFill>
                  <a:schemeClr val="accent1"/>
                </a:solidFill>
              </a:rPr>
              <a:t>BG discounting:</a:t>
            </a:r>
            <a:r>
              <a:rPr lang="en-US" altLang="ja-JP" dirty="0">
                <a:solidFill>
                  <a:schemeClr val="accent1"/>
                </a:solidFill>
              </a:rPr>
              <a:t> </a:t>
            </a:r>
            <a:r>
              <a:rPr lang="en-US" altLang="ja-JP" dirty="0"/>
              <a:t>observers partly ignore the real BG</a:t>
            </a:r>
          </a:p>
          <a:p>
            <a:pPr>
              <a:lnSpc>
                <a:spcPct val="120000"/>
              </a:lnSpc>
            </a:pPr>
            <a:r>
              <a:rPr lang="en-US" altLang="ja-JP" dirty="0"/>
              <a:t>4.  </a:t>
            </a:r>
            <a:r>
              <a:rPr lang="en-US" altLang="ja-JP" b="1" dirty="0">
                <a:solidFill>
                  <a:schemeClr val="accent1"/>
                </a:solidFill>
              </a:rPr>
              <a:t>Optical addition: </a:t>
            </a:r>
            <a:r>
              <a:rPr lang="en-US" altLang="ja-JP" dirty="0"/>
              <a:t>HDR-range output</a:t>
            </a:r>
          </a:p>
          <a:p>
            <a:endParaRPr kumimoji="1" lang="ja-JP" alt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EFCAC5F-E790-A2FB-CD37-7C5D3C6168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13</a:t>
            </a:fld>
            <a:r>
              <a:rPr lang="en-US" dirty="0"/>
              <a:t>/30</a:t>
            </a:r>
            <a:endParaRPr lang="en-US" sz="2100" dirty="0"/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95716A3D-00EB-2B7D-40DD-1557379F1EF8}"/>
              </a:ext>
            </a:extLst>
          </p:cNvPr>
          <p:cNvSpPr txBox="1">
            <a:spLocks/>
          </p:cNvSpPr>
          <p:nvPr/>
        </p:nvSpPr>
        <p:spPr>
          <a:xfrm>
            <a:off x="382254" y="4428664"/>
            <a:ext cx="8229600" cy="5152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25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100" dirty="0"/>
              <a:t>→ This work </a:t>
            </a:r>
            <a:r>
              <a:rPr lang="en-US" altLang="ja-JP" sz="2100" b="1" dirty="0">
                <a:solidFill>
                  <a:schemeClr val="accent5"/>
                </a:solidFill>
              </a:rPr>
              <a:t>bridges these gaps</a:t>
            </a:r>
            <a:r>
              <a:rPr lang="en-US" altLang="ja-JP" sz="2100" dirty="0"/>
              <a:t>, extending the model to OST-AR</a:t>
            </a:r>
            <a:endParaRPr lang="en-US" altLang="ja-JP" sz="21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910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Method (1): Optical Addition &amp; BG Discounting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D2F777-73F8-B743-9841-834E20E20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Method (2): Depth-Dependent Defocus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5BC4ABF-3682-B3E8-E3CE-6B618BCE8A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Method (3): Binocular Combination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Per-eye CSF + masking on each retinal image.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Binocular gain control [Ding &amp; Sperling 2006] → models summation.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Disparity may further segregate FG from BG.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 i="1">
                <a:solidFill>
                  <a:srgbClr val="595959"/>
                </a:solidFill>
              </a:defRPr>
            </a:pPr>
            <a:r>
              <a:t>[Figure] Figure: Two-stream binocular model — </a:t>
            </a:r>
            <a:br/>
            <a:r>
              <a:t> per-eye CSF → cross-eye gain control → pooled visibility.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E55F1B7-1873-7A8D-E621-BF03C53F5B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Preliminary Experiment: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Measure how visibility of an FG Gabor changes with</a:t>
            </a:r>
            <a:br/>
            <a:r>
              <a:t>    spatial frequency, luminance, depth, and ocularity.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Localized in space and frequency — single CSF channel.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Standard stimulus for contrast detection &amp; masking.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Tests the additive-mixture and defocus terms directly.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7BBE96C-874B-9FF6-65A3-7F2EE40D12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Preliminary Experiment: Apparatus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502D529-7962-048E-706A-BCF552B765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Preliminary Experiment: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5290D3E-3A0C-D761-F684-03C334B276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Preliminary Experiment: Stimulus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200">
                <a:solidFill>
                  <a:srgbClr val="222222"/>
                </a:solidFill>
              </a:defRPr>
            </a:pPr>
            <a:r>
              <a:t>Combined with depth and ocularity → full factorial design.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246120"/>
          <a:ext cx="82296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39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Values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7.9° × 7.9°, σ = 1°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Spatial 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2, 4, 6, 8 cpd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5, 50 cd/m²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39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5, 15 cd/m²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 /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1.0 / {0, 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A9F6E7-F0FC-B4D4-F678-A9EC57AA8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Preliminary Experiment: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Monocular — defocus only.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Binocular — adds disparity &amp; summation.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246120"/>
          <a:ext cx="8229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Pair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ΔD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0.57 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0.81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1.50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0.57 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1.00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1.00 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0.60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1.50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1.00 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EDFEBD-87B6-4741-35D3-79B06ADAD7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Preliminary Experiment: Results — Monocular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4E64D8-1986-8F9F-E132-DFA67C80B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Preliminary Experiment: Results — Binocular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4ADBD0C-24C4-F01E-A9B7-784A7B91A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Frequency dependence matches the CSF prediction.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Defocus acts as a low-pass on BG , as the PSF predicts.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Binocular condition shows clear summation 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Limit: only Gabor stimuli; natural images not yet tested.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222222"/>
                </a:solidFill>
              </a:defRPr>
            </a:pPr>
            <a:r>
              <a:t>Findings give parameter constraints for the extended model.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56EEB2A-167F-5358-52E9-51DECEC370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Future Work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Natural FG overlays on natural BG photos.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2-AFC threshold + supra-threshold rating.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Validate on a real OST-AR HMD.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OST-AR visibility depends strongly on the BG.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Existing models miss the four key factors.</a:t>
            </a:r>
          </a:p>
          <a:p>
            <a:pPr>
              <a:spcAft>
                <a:spcPts val="400"/>
              </a:spcAft>
              <a:defRPr sz="2000">
                <a:solidFill>
                  <a:srgbClr val="222222"/>
                </a:solidFill>
              </a:defRPr>
            </a:pPr>
            <a:r>
              <a:t>Gabor data confirm CSF, defocus, and ocularity effects.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5FD127-74EA-317E-A785-B12DB37DE1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48000" y="468629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浪裏">
  <a:themeElements>
    <a:clrScheme name="浪裏">
      <a:dk1>
        <a:srgbClr val="474A4D"/>
      </a:dk1>
      <a:lt1>
        <a:srgbClr val="F9F9FB"/>
      </a:lt1>
      <a:dk2>
        <a:srgbClr val="192F60"/>
      </a:dk2>
      <a:lt2>
        <a:srgbClr val="FCFAF2"/>
      </a:lt2>
      <a:accent1>
        <a:srgbClr val="3E6AAC"/>
      </a:accent1>
      <a:accent2>
        <a:srgbClr val="B2C3DE"/>
      </a:accent2>
      <a:accent3>
        <a:srgbClr val="E6EFF3"/>
      </a:accent3>
      <a:accent4>
        <a:srgbClr val="FFC542"/>
      </a:accent4>
      <a:accent5>
        <a:srgbClr val="E6B13B"/>
      </a:accent5>
      <a:accent6>
        <a:srgbClr val="C00000"/>
      </a:accent6>
      <a:hlink>
        <a:srgbClr val="3E6AAC"/>
      </a:hlink>
      <a:folHlink>
        <a:srgbClr val="96607D"/>
      </a:folHlink>
    </a:clrScheme>
    <a:fontScheme name="ユーザー定義 1">
      <a:majorFont>
        <a:latin typeface="Segoe UI"/>
        <a:ea typeface="游ゴシック"/>
        <a:cs typeface=""/>
      </a:majorFont>
      <a:minorFont>
        <a:latin typeface="Segoe UI"/>
        <a:ea typeface="游ゴシック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浪裏" id="{6DBC3D7F-89B9-4340-9943-60A88C3A2EAA}" vid="{DC215AF6-271F-4506-B61D-1199FBA36236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浪裏</Template>
  <TotalTime>609</TotalTime>
  <Words>878</Words>
  <Application>Microsoft Office PowerPoint</Application>
  <PresentationFormat>画面に合わせる (16:9)</PresentationFormat>
  <Paragraphs>195</Paragraphs>
  <Slides>25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25</vt:i4>
      </vt:variant>
    </vt:vector>
  </HeadingPairs>
  <TitlesOfParts>
    <vt:vector size="30" baseType="lpstr">
      <vt:lpstr>游ゴシック</vt:lpstr>
      <vt:lpstr>Arial</vt:lpstr>
      <vt:lpstr>Calibri</vt:lpstr>
      <vt:lpstr>Segoe UI</vt:lpstr>
      <vt:lpstr>浪裏</vt:lpstr>
      <vt:lpstr>PowerPoint プレゼンテーション</vt:lpstr>
      <vt:lpstr>Outline</vt:lpstr>
      <vt:lpstr>Outline</vt:lpstr>
      <vt:lpstr>Introduction: Optical See-Through AR</vt:lpstr>
      <vt:lpstr>PowerPoint プレゼンテーション</vt:lpstr>
      <vt:lpstr>Introduction: Optical See-Through AR</vt:lpstr>
      <vt:lpstr>Introduction: Visibility Depends on the Background</vt:lpstr>
      <vt:lpstr>Scope &amp; Objective</vt:lpstr>
      <vt:lpstr>Related Work (1): Contrast Perception</vt:lpstr>
      <vt:lpstr>Related Work (2): Single-Factor Models for OST-AR</vt:lpstr>
      <vt:lpstr>Related Work (3): IQA for OST-AR Visibility</vt:lpstr>
      <vt:lpstr>Related Work (4): Fukiage‘s Visibility Predictor</vt:lpstr>
      <vt:lpstr>Related Work (4): Fukiage‘s Visibility Predictor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HamaKazu</dc:creator>
  <cp:keywords/>
  <dc:description>generated using python-pptx</dc:description>
  <cp:lastModifiedBy>濵田　和希</cp:lastModifiedBy>
  <cp:revision>6</cp:revision>
  <dcterms:created xsi:type="dcterms:W3CDTF">2013-01-27T09:14:16Z</dcterms:created>
  <dcterms:modified xsi:type="dcterms:W3CDTF">2026-05-10T07:13:40Z</dcterms:modified>
  <cp:category/>
</cp:coreProperties>
</file>