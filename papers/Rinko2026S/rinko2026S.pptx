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300" r:id="rId2"/>
    <p:sldId id="282" r:id="rId3"/>
    <p:sldId id="312" r:id="rId4"/>
    <p:sldId id="284" r:id="rId5"/>
    <p:sldId id="303" r:id="rId6"/>
    <p:sldId id="286" r:id="rId7"/>
    <p:sldId id="318" r:id="rId8"/>
    <p:sldId id="305" r:id="rId9"/>
    <p:sldId id="288" r:id="rId10"/>
    <p:sldId id="289" r:id="rId11"/>
    <p:sldId id="304" r:id="rId12"/>
    <p:sldId id="292" r:id="rId13"/>
    <p:sldId id="319" r:id="rId14"/>
    <p:sldId id="293" r:id="rId15"/>
    <p:sldId id="294" r:id="rId16"/>
    <p:sldId id="295" r:id="rId17"/>
    <p:sldId id="302" r:id="rId18"/>
    <p:sldId id="320" r:id="rId19"/>
    <p:sldId id="297" r:id="rId20"/>
    <p:sldId id="306" r:id="rId21"/>
    <p:sldId id="307" r:id="rId22"/>
    <p:sldId id="308" r:id="rId23"/>
    <p:sldId id="309" r:id="rId24"/>
    <p:sldId id="310" r:id="rId25"/>
    <p:sldId id="311" r:id="rId26"/>
    <p:sldId id="298" r:id="rId27"/>
    <p:sldId id="316" r:id="rId28"/>
    <p:sldId id="299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D3DD"/>
    <a:srgbClr val="000000"/>
    <a:srgbClr val="AB1100"/>
    <a:srgbClr val="AB3022"/>
    <a:srgbClr val="CC1D00"/>
    <a:srgbClr val="E62100"/>
    <a:srgbClr val="B31A00"/>
    <a:srgbClr val="991600"/>
    <a:srgbClr val="FFA7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77" autoAdjust="0"/>
    <p:restoredTop sz="94809" autoAdjust="0"/>
  </p:normalViewPr>
  <p:slideViewPr>
    <p:cSldViewPr snapToObjects="1">
      <p:cViewPr varScale="1">
        <p:scale>
          <a:sx n="87" d="100"/>
          <a:sy n="87" d="100"/>
        </p:scale>
        <p:origin x="940" y="48"/>
      </p:cViewPr>
      <p:guideLst>
        <p:guide orient="horz" pos="216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53" d="100"/>
          <a:sy n="53" d="100"/>
        </p:scale>
        <p:origin x="2648" y="5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6CD76CD-1AE4-6FDD-A190-C51F7CD421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62A3DDB-6C65-FC8A-EA81-2D26CE9196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C21CC-2330-4A49-A3CB-B70D8D4B56CC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E88AEA-1CD5-BEC7-674C-F3E305782D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A9AB9B-136A-299A-6D17-4A9FE62F4C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92182-5A13-4A19-87B2-C54229563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1126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AE992-F63B-4BD7-962F-566830456BA1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28F53-7CA7-4FB4-AAB2-5047F333C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6539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28F53-7CA7-4FB4-AAB2-5047F333C33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1760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28F53-7CA7-4FB4-AAB2-5047F333C33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6768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11DCE-4ACE-4FE3-305A-4814CA21D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3EB93E-8D29-4E3F-F891-965419B67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C52A972-6AB7-9AA4-A504-DD3F6DC91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0A618B-B125-ADF5-5A29-32FF3E10F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28F53-7CA7-4FB4-AAB2-5047F333C33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642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9411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151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685336"/>
            <a:ext cx="2133600" cy="365125"/>
          </a:xfrm>
        </p:spPr>
        <p:txBody>
          <a:bodyPr/>
          <a:lstStyle/>
          <a:p>
            <a:fld id="{4623CEB0-B625-431C-A558-8EDB5B5EA6D2}" type="datetime1">
              <a:rPr lang="en-US" altLang="ja-JP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85336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32FDD-A55E-DAD4-2873-8CEE51B9E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8000" y="46862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16924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619665"/>
          </a:xfrm>
        </p:spPr>
        <p:txBody>
          <a:bodyPr/>
          <a:lstStyle>
            <a:lvl1pPr algn="l">
              <a:defRPr sz="255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3368250"/>
          </a:xfrm>
        </p:spPr>
        <p:txBody>
          <a:bodyPr>
            <a:noAutofit/>
          </a:bodyPr>
          <a:lstStyle>
            <a:lvl1pPr>
              <a:buNone/>
              <a:defRPr sz="2100"/>
            </a:lvl1pPr>
            <a:lvl2pPr>
              <a:buNone/>
              <a:defRPr sz="1800"/>
            </a:lvl2pPr>
          </a:lstStyle>
          <a:p>
            <a:pPr lvl="0"/>
            <a:endParaRPr lang="ja-JP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686299"/>
            <a:ext cx="2133600" cy="365125"/>
          </a:xfrm>
        </p:spPr>
        <p:txBody>
          <a:bodyPr/>
          <a:lstStyle/>
          <a:p>
            <a:fld id="{AA43461E-1004-4FD9-B678-979D2A0B5699}" type="datetime1">
              <a:rPr lang="en-US" altLang="ja-JP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86299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B5927BB-F6FF-E4CE-7948-ACCE3B4B98E9}"/>
              </a:ext>
            </a:extLst>
          </p:cNvPr>
          <p:cNvCxnSpPr>
            <a:cxnSpLocks/>
          </p:cNvCxnSpPr>
          <p:nvPr/>
        </p:nvCxnSpPr>
        <p:spPr>
          <a:xfrm>
            <a:off x="457200" y="894303"/>
            <a:ext cx="8229600" cy="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DE14B-1317-FC7E-DC47-CD88CFE8F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8000" y="46862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2983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EE595-BA5D-4991-B7C6-3B39C8869018}" type="datetime1">
              <a:rPr lang="en-US" altLang="ja-JP" smtClean="0"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709B09-110E-5D7A-20FD-740105850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8000" y="46862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4350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994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6862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66788-C514-4D4B-9A87-C3E1D57E5532}" type="datetime1">
              <a:rPr lang="en-US" altLang="ja-JP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6862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E4AEEC-01C2-B11F-4F2C-216AB21A4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8000" y="46862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3329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tif"/><Relationship Id="rId4" Type="http://schemas.openxmlformats.org/officeDocument/2006/relationships/image" Target="../media/image4.jp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3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E2507F-4699-9F97-6D38-D3D69D954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741725"/>
            <a:ext cx="8229600" cy="1470025"/>
          </a:xfrm>
        </p:spPr>
        <p:txBody>
          <a:bodyPr>
            <a:noAutofit/>
          </a:bodyPr>
          <a:lstStyle/>
          <a:p>
            <a:pPr algn="l"/>
            <a:r>
              <a:rPr lang="en-US" altLang="ja-JP" sz="3000" b="1" dirty="0">
                <a:solidFill>
                  <a:schemeClr val="accent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Perceptual Visibility Prediction of </a:t>
            </a:r>
            <a:br>
              <a:rPr lang="en-US" altLang="ja-JP" sz="3000" b="1" dirty="0">
                <a:solidFill>
                  <a:schemeClr val="accent1"/>
                </a:solidFill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altLang="ja-JP" sz="3000" b="1" dirty="0">
                <a:solidFill>
                  <a:schemeClr val="accent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Overlaid Content in Optical See-Through </a:t>
            </a:r>
            <a:br>
              <a:rPr lang="en-US" altLang="ja-JP" sz="3000" b="1" dirty="0">
                <a:solidFill>
                  <a:schemeClr val="accent1"/>
                </a:solidFill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altLang="ja-JP" sz="3000" b="1" dirty="0">
                <a:solidFill>
                  <a:schemeClr val="accent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Augmented Reality</a:t>
            </a:r>
            <a:endParaRPr kumimoji="1" lang="ja-JP" altLang="en-US" sz="3000" b="1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C505CD5-39B7-9D7B-4C54-DC2B26763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432" y="2355750"/>
            <a:ext cx="8229600" cy="2372564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2100" dirty="0">
                <a:solidFill>
                  <a:schemeClr val="tx1"/>
                </a:solidFill>
              </a:rPr>
              <a:t>光学シースルー拡張現実における </a:t>
            </a:r>
            <a:br>
              <a:rPr lang="ja-JP" altLang="en-US" sz="2100" dirty="0">
                <a:solidFill>
                  <a:schemeClr val="tx1"/>
                </a:solidFill>
              </a:rPr>
            </a:br>
            <a:r>
              <a:rPr lang="ja-JP" altLang="en-US" sz="2100" dirty="0">
                <a:solidFill>
                  <a:schemeClr val="tx1"/>
                </a:solidFill>
              </a:rPr>
              <a:t>重畳コンテンツの知覚的視認性予測</a:t>
            </a:r>
            <a:endParaRPr lang="en-US" altLang="ja-JP" sz="210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ja-JP" sz="1800" dirty="0">
                <a:solidFill>
                  <a:schemeClr val="tx1">
                    <a:lumMod val="50000"/>
                  </a:schemeClr>
                </a:solidFill>
              </a:rPr>
              <a:t>Oishi-Lab M2 Kazuki Hamada</a:t>
            </a:r>
          </a:p>
          <a:p>
            <a:pPr algn="l">
              <a:lnSpc>
                <a:spcPct val="120000"/>
              </a:lnSpc>
            </a:pPr>
            <a:r>
              <a:rPr lang="en-US" altLang="ja-JP" sz="1600" dirty="0">
                <a:solidFill>
                  <a:schemeClr val="tx1"/>
                </a:solidFill>
              </a:rPr>
              <a:t>Department of Electrical Engineering and Information Systems</a:t>
            </a:r>
          </a:p>
          <a:p>
            <a:pPr algn="l">
              <a:lnSpc>
                <a:spcPct val="120000"/>
              </a:lnSpc>
            </a:pPr>
            <a:r>
              <a:rPr lang="en-US" altLang="ja-JP" sz="1600" dirty="0">
                <a:solidFill>
                  <a:schemeClr val="tx1"/>
                </a:solidFill>
              </a:rPr>
              <a:t>Graduate School of Engineering, The University of Tokyo </a:t>
            </a:r>
          </a:p>
          <a:p>
            <a:pPr algn="l">
              <a:lnSpc>
                <a:spcPct val="120000"/>
              </a:lnSpc>
            </a:pPr>
            <a:r>
              <a:rPr lang="en-US" altLang="ja-JP" sz="1800" dirty="0">
                <a:solidFill>
                  <a:schemeClr val="tx1">
                    <a:lumMod val="50000"/>
                  </a:schemeClr>
                </a:solidFill>
              </a:rPr>
              <a:t>2026/05/15</a:t>
            </a:r>
            <a:endParaRPr lang="en-US" altLang="ja-JP" sz="1800" dirty="0">
              <a:solidFill>
                <a:schemeClr val="tx1"/>
              </a:solidFill>
            </a:endParaRPr>
          </a:p>
          <a:p>
            <a:pPr algn="l"/>
            <a:endParaRPr lang="en-US" altLang="ja-JP" sz="1800" dirty="0">
              <a:solidFill>
                <a:schemeClr val="tx1"/>
              </a:solidFill>
            </a:endParaRPr>
          </a:p>
          <a:p>
            <a:pPr algn="l"/>
            <a:endParaRPr lang="ja-JP" altLang="en-US" sz="1800" dirty="0">
              <a:solidFill>
                <a:schemeClr val="tx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9932128-1E8C-0CF8-096B-09DC0E54FC1F}"/>
              </a:ext>
            </a:extLst>
          </p:cNvPr>
          <p:cNvCxnSpPr>
            <a:cxnSpLocks/>
          </p:cNvCxnSpPr>
          <p:nvPr/>
        </p:nvCxnSpPr>
        <p:spPr>
          <a:xfrm>
            <a:off x="457200" y="3219750"/>
            <a:ext cx="82296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6BFB23-AF55-6D33-1181-9E553A7A6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7840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F454-DA49-B761-FEB4-7AF8F61F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2DEBAB-34BB-1873-021E-D82AC4A3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Outline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60BA6A-2487-A778-81D6-A318D1B0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1"/>
                </a:solidFill>
              </a:rPr>
              <a:t>1.   </a:t>
            </a:r>
            <a:r>
              <a:rPr kumimoji="1" lang="en-US" altLang="ja-JP" dirty="0"/>
              <a:t>Introduction</a:t>
            </a: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1"/>
                </a:solidFill>
              </a:rPr>
              <a:t>2.   </a:t>
            </a:r>
            <a:r>
              <a:rPr kumimoji="1" lang="en-US" altLang="ja-JP" dirty="0"/>
              <a:t>Related Work</a:t>
            </a:r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1"/>
                </a:solidFill>
              </a:rPr>
              <a:t>3.   </a:t>
            </a:r>
            <a:r>
              <a:rPr lang="en-US" altLang="ja-JP" dirty="0"/>
              <a:t>Method</a:t>
            </a: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1"/>
                </a:solidFill>
              </a:rPr>
              <a:t>4.   </a:t>
            </a:r>
            <a:r>
              <a:rPr kumimoji="1" lang="en-US" altLang="ja-JP" dirty="0"/>
              <a:t>Pilot Experiment</a:t>
            </a:r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1"/>
                </a:solidFill>
              </a:rPr>
              <a:t>5.   </a:t>
            </a:r>
            <a:r>
              <a:rPr lang="en-US" altLang="ja-JP" dirty="0"/>
              <a:t>Conclusion &amp; Future Work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9EF9515-528A-B6D2-F665-BBA1DC93A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1720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A395-964E-E5AB-0352-7AF83DBA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14BE5-196F-A0AA-4067-2AF030CB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Outline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055F42-3B25-7250-1027-88D3D1590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1"/>
                </a:solidFill>
              </a:rPr>
              <a:t>1.   </a:t>
            </a:r>
            <a:r>
              <a:rPr kumimoji="1" lang="en-US" altLang="ja-JP" b="1" dirty="0"/>
              <a:t>Introduction </a:t>
            </a:r>
            <a:r>
              <a:rPr lang="en-US" altLang="ja-JP" sz="1800" dirty="0">
                <a:solidFill>
                  <a:schemeClr val="tx2"/>
                </a:solidFill>
              </a:rPr>
              <a:t>— background, scope, objective</a:t>
            </a:r>
            <a:endParaRPr kumimoji="1" lang="en-US" altLang="ja-JP" b="1" dirty="0">
              <a:solidFill>
                <a:schemeClr val="tx2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2"/>
                </a:solidFill>
              </a:rPr>
              <a:t>2.   </a:t>
            </a:r>
            <a:r>
              <a:rPr kumimoji="1"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Related Work</a:t>
            </a:r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2"/>
                </a:solidFill>
              </a:rPr>
              <a:t>3.   </a:t>
            </a:r>
            <a:r>
              <a:rPr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Method</a:t>
            </a: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2"/>
                </a:solidFill>
              </a:rPr>
              <a:t>4.   </a:t>
            </a:r>
            <a:r>
              <a:rPr kumimoji="1"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Pilot Experiment</a:t>
            </a:r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2"/>
                </a:solidFill>
              </a:rPr>
              <a:t>5.   </a:t>
            </a:r>
            <a:r>
              <a:rPr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Conclusion &amp; Future Work</a:t>
            </a:r>
            <a:endParaRPr kumimoji="1" lang="ja-JP" alt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CBC673-E0C6-F765-71DF-341C30A9E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5457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3BF1B34B-4FEE-15A0-3AFA-D060CB73D63C}"/>
              </a:ext>
            </a:extLst>
          </p:cNvPr>
          <p:cNvSpPr/>
          <p:nvPr/>
        </p:nvSpPr>
        <p:spPr>
          <a:xfrm>
            <a:off x="457200" y="1118936"/>
            <a:ext cx="3891761" cy="13066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E37BD8F-F5C0-BD70-9CCD-0BF7BDCB9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32" y="274638"/>
            <a:ext cx="8229600" cy="619665"/>
          </a:xfrm>
        </p:spPr>
        <p:txBody>
          <a:bodyPr/>
          <a:lstStyle/>
          <a:p>
            <a:r>
              <a:rPr kumimoji="1" lang="en-US" altLang="ja-JP" dirty="0"/>
              <a:t>Introduction: Optical See-Through AR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3515BA-B19C-A579-B2B3-D862BFA35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100" dirty="0"/>
              <a:t>A virtual image is </a:t>
            </a:r>
            <a:br>
              <a:rPr lang="en-US" altLang="ja-JP" sz="2100" dirty="0"/>
            </a:br>
            <a:r>
              <a:rPr lang="en-US" altLang="ja-JP" sz="2100" b="1" dirty="0">
                <a:solidFill>
                  <a:schemeClr val="accent1"/>
                </a:solidFill>
              </a:rPr>
              <a:t>optically overlayed </a:t>
            </a:r>
          </a:p>
          <a:p>
            <a:r>
              <a:rPr lang="en-US" altLang="ja-JP" sz="2100" dirty="0"/>
              <a:t>on the real-world background</a:t>
            </a:r>
          </a:p>
          <a:p>
            <a:endParaRPr kumimoji="1" lang="en-US" altLang="ja-JP" sz="2100" dirty="0"/>
          </a:p>
          <a:p>
            <a:r>
              <a:rPr lang="en-US" altLang="ja-JP" sz="2100" b="1" u="sng" dirty="0"/>
              <a:t>Pros: </a:t>
            </a:r>
          </a:p>
          <a:p>
            <a:r>
              <a:rPr lang="en-US" altLang="ja-JP" sz="2100" dirty="0"/>
              <a:t>Direct perception of real world</a:t>
            </a:r>
          </a:p>
          <a:p>
            <a:endParaRPr lang="en-US" altLang="ja-JP" sz="2100" b="1" dirty="0"/>
          </a:p>
          <a:p>
            <a:r>
              <a:rPr kumimoji="1" lang="en-US" altLang="ja-JP" sz="2100" b="1" u="sng" dirty="0"/>
              <a:t>Cons: </a:t>
            </a:r>
          </a:p>
          <a:p>
            <a:r>
              <a:rPr kumimoji="1" lang="en-US" altLang="ja-JP" sz="2100" b="1" dirty="0">
                <a:solidFill>
                  <a:schemeClr val="accent5"/>
                </a:solidFill>
              </a:rPr>
              <a:t>Additive mixture </a:t>
            </a:r>
            <a:r>
              <a:rPr kumimoji="1" lang="en-US" altLang="ja-JP" sz="2100" dirty="0"/>
              <a:t>of FG &amp; BG</a:t>
            </a:r>
          </a:p>
        </p:txBody>
      </p:sp>
      <p:sp>
        <p:nvSpPr>
          <p:cNvPr id="37" name="矢印: 右カーブ 36">
            <a:extLst>
              <a:ext uri="{FF2B5EF4-FFF2-40B4-BE49-F238E27FC236}">
                <a16:creationId xmlns:a16="http://schemas.microsoft.com/office/drawing/2014/main" id="{3B2E9162-BECF-2EF3-75E2-2EC7ECDB11DE}"/>
              </a:ext>
            </a:extLst>
          </p:cNvPr>
          <p:cNvSpPr/>
          <p:nvPr/>
        </p:nvSpPr>
        <p:spPr>
          <a:xfrm>
            <a:off x="4867040" y="1275750"/>
            <a:ext cx="568960" cy="2105393"/>
          </a:xfrm>
          <a:prstGeom prst="curvedRightArrow">
            <a:avLst>
              <a:gd name="adj1" fmla="val 124554"/>
              <a:gd name="adj2" fmla="val 179464"/>
              <a:gd name="adj3" fmla="val 0"/>
            </a:avLst>
          </a:prstGeom>
          <a:solidFill>
            <a:srgbClr val="86B81B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474A4D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pic>
        <p:nvPicPr>
          <p:cNvPr id="38" name="グラフィックス 37" descr="りんご 枠線">
            <a:extLst>
              <a:ext uri="{FF2B5EF4-FFF2-40B4-BE49-F238E27FC236}">
                <a16:creationId xmlns:a16="http://schemas.microsoft.com/office/drawing/2014/main" id="{2888B4B6-79BB-15E9-BE4B-8197746C3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3600" y="3381143"/>
            <a:ext cx="914400" cy="914400"/>
          </a:xfrm>
          <a:prstGeom prst="rect">
            <a:avLst/>
          </a:prstGeom>
        </p:spPr>
      </p:pic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73E60686-90A2-7C94-9CD8-9DA118E57A48}"/>
              </a:ext>
            </a:extLst>
          </p:cNvPr>
          <p:cNvGrpSpPr/>
          <p:nvPr/>
        </p:nvGrpSpPr>
        <p:grpSpPr>
          <a:xfrm>
            <a:off x="7300320" y="1688892"/>
            <a:ext cx="1476149" cy="1508760"/>
            <a:chOff x="7241131" y="2871217"/>
            <a:chExt cx="2008732" cy="2087880"/>
          </a:xfrm>
        </p:grpSpPr>
        <p:pic>
          <p:nvPicPr>
            <p:cNvPr id="46" name="グラフィックス 45" descr="咳 枠線">
              <a:extLst>
                <a:ext uri="{FF2B5EF4-FFF2-40B4-BE49-F238E27FC236}">
                  <a16:creationId xmlns:a16="http://schemas.microsoft.com/office/drawing/2014/main" id="{DE305BD9-B99C-E594-E87B-D91D11A36A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38" t="2861" r="9124" b="-2861"/>
            <a:stretch>
              <a:fillRect/>
            </a:stretch>
          </p:blipFill>
          <p:spPr>
            <a:xfrm flipH="1">
              <a:off x="7380424" y="2871217"/>
              <a:ext cx="1869439" cy="2087880"/>
            </a:xfrm>
            <a:prstGeom prst="rect">
              <a:avLst/>
            </a:prstGeom>
          </p:spPr>
        </p:pic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DBD200D8-21BE-BED7-F944-B38B8B80803A}"/>
                </a:ext>
              </a:extLst>
            </p:cNvPr>
            <p:cNvSpPr/>
            <p:nvPr/>
          </p:nvSpPr>
          <p:spPr>
            <a:xfrm>
              <a:off x="7241131" y="4037177"/>
              <a:ext cx="339543" cy="522123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srgbClr val="F6F7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sp>
        <p:nvSpPr>
          <p:cNvPr id="40" name="矢印: 下 39">
            <a:extLst>
              <a:ext uri="{FF2B5EF4-FFF2-40B4-BE49-F238E27FC236}">
                <a16:creationId xmlns:a16="http://schemas.microsoft.com/office/drawing/2014/main" id="{188F0664-A0DE-1A0A-776F-21AAA0B69B3F}"/>
              </a:ext>
            </a:extLst>
          </p:cNvPr>
          <p:cNvSpPr/>
          <p:nvPr/>
        </p:nvSpPr>
        <p:spPr>
          <a:xfrm rot="16200000">
            <a:off x="6213524" y="1268552"/>
            <a:ext cx="484632" cy="1893688"/>
          </a:xfrm>
          <a:prstGeom prst="downArrow">
            <a:avLst/>
          </a:prstGeom>
          <a:solidFill>
            <a:srgbClr val="86B81B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6F7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F39C2B48-1AC2-D391-20CE-5ACDA7307826}"/>
              </a:ext>
            </a:extLst>
          </p:cNvPr>
          <p:cNvCxnSpPr>
            <a:cxnSpLocks/>
          </p:cNvCxnSpPr>
          <p:nvPr/>
        </p:nvCxnSpPr>
        <p:spPr>
          <a:xfrm flipV="1">
            <a:off x="5520771" y="1669847"/>
            <a:ext cx="995229" cy="1064691"/>
          </a:xfrm>
          <a:prstGeom prst="line">
            <a:avLst/>
          </a:prstGeom>
          <a:noFill/>
          <a:ln w="19050" cap="flat" cmpd="sng" algn="ctr">
            <a:solidFill>
              <a:srgbClr val="005BAA"/>
            </a:solidFill>
            <a:prstDash val="solid"/>
            <a:miter lim="800000"/>
          </a:ln>
          <a:effectLst/>
        </p:spPr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AE0BC44-E412-7B42-C553-4D71C9E2E3FD}"/>
              </a:ext>
            </a:extLst>
          </p:cNvPr>
          <p:cNvSpPr txBox="1"/>
          <p:nvPr/>
        </p:nvSpPr>
        <p:spPr>
          <a:xfrm>
            <a:off x="4572000" y="3251519"/>
            <a:ext cx="11367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00" b="0" i="0" u="none" strike="noStrike" kern="0" cap="none" spc="0" normalizeH="0" baseline="0" noProof="0" dirty="0">
                <a:ln>
                  <a:noFill/>
                </a:ln>
                <a:solidFill>
                  <a:srgbClr val="474A4D"/>
                </a:solidFill>
                <a:effectLst/>
                <a:uLnTx/>
                <a:uFillTx/>
              </a:rPr>
              <a:t>Real BG</a:t>
            </a:r>
            <a:endParaRPr kumimoji="1" lang="ja-JP" altLang="en-US" sz="2100" b="0" i="0" u="none" strike="noStrike" kern="0" cap="none" spc="0" normalizeH="0" baseline="0" noProof="0" dirty="0">
              <a:ln>
                <a:noFill/>
              </a:ln>
              <a:solidFill>
                <a:srgbClr val="474A4D"/>
              </a:solidFill>
              <a:effectLst/>
              <a:uLnTx/>
              <a:uFillTx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983E339-518F-4214-8C48-1A5396078209}"/>
              </a:ext>
            </a:extLst>
          </p:cNvPr>
          <p:cNvSpPr txBox="1"/>
          <p:nvPr/>
        </p:nvSpPr>
        <p:spPr>
          <a:xfrm>
            <a:off x="6435756" y="3481287"/>
            <a:ext cx="1003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00" b="0" i="0" u="none" strike="noStrike" kern="0" cap="none" spc="0" normalizeH="0" baseline="0" noProof="0" dirty="0">
                <a:ln>
                  <a:noFill/>
                </a:ln>
                <a:solidFill>
                  <a:srgbClr val="474A4D"/>
                </a:solidFill>
                <a:effectLst/>
                <a:uLnTx/>
                <a:uFillTx/>
              </a:rPr>
              <a:t>Virtual</a:t>
            </a:r>
            <a:br>
              <a:rPr kumimoji="1" lang="en-US" altLang="ja-JP" sz="2100" b="0" i="0" u="none" strike="noStrike" kern="0" cap="none" spc="0" normalizeH="0" baseline="0" noProof="0" dirty="0">
                <a:ln>
                  <a:noFill/>
                </a:ln>
                <a:solidFill>
                  <a:srgbClr val="474A4D"/>
                </a:solidFill>
                <a:effectLst/>
                <a:uLnTx/>
                <a:uFillTx/>
              </a:rPr>
            </a:br>
            <a:r>
              <a:rPr kumimoji="1" lang="en-US" altLang="ja-JP" sz="2100" b="0" i="0" u="none" strike="noStrike" kern="0" cap="none" spc="0" normalizeH="0" baseline="0" noProof="0" dirty="0">
                <a:ln>
                  <a:noFill/>
                </a:ln>
                <a:solidFill>
                  <a:srgbClr val="474A4D"/>
                </a:solidFill>
                <a:effectLst/>
                <a:uLnTx/>
                <a:uFillTx/>
              </a:rPr>
              <a:t>Object</a:t>
            </a:r>
            <a:endParaRPr kumimoji="1" lang="ja-JP" altLang="en-US" sz="2100" b="0" i="0" u="none" strike="noStrike" kern="0" cap="none" spc="0" normalizeH="0" baseline="0" noProof="0" dirty="0">
              <a:ln>
                <a:noFill/>
              </a:ln>
              <a:solidFill>
                <a:srgbClr val="474A4D"/>
              </a:solidFill>
              <a:effectLst/>
              <a:uLnTx/>
              <a:uFillTx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C53FE76C-757E-5B45-7AAC-A0379B732A6B}"/>
              </a:ext>
            </a:extLst>
          </p:cNvPr>
          <p:cNvSpPr txBox="1"/>
          <p:nvPr/>
        </p:nvSpPr>
        <p:spPr>
          <a:xfrm>
            <a:off x="5363999" y="1201133"/>
            <a:ext cx="18936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00" b="0" i="0" u="none" strike="noStrike" kern="0" cap="none" spc="0" normalizeH="0" baseline="0" noProof="0" dirty="0">
                <a:ln>
                  <a:noFill/>
                </a:ln>
                <a:solidFill>
                  <a:srgbClr val="474A4D"/>
                </a:solidFill>
                <a:effectLst/>
                <a:uLnTx/>
                <a:uFillTx/>
              </a:rPr>
              <a:t>Beam Splitter</a:t>
            </a:r>
            <a:endParaRPr kumimoji="1" lang="ja-JP" altLang="en-US" sz="2100" b="0" i="0" u="none" strike="noStrike" kern="0" cap="none" spc="0" normalizeH="0" baseline="0" noProof="0" dirty="0">
              <a:ln>
                <a:noFill/>
              </a:ln>
              <a:solidFill>
                <a:srgbClr val="474A4D"/>
              </a:solidFill>
              <a:effectLst/>
              <a:uLnTx/>
              <a:uFillTx/>
            </a:endParaRPr>
          </a:p>
        </p:txBody>
      </p:sp>
      <p:sp>
        <p:nvSpPr>
          <p:cNvPr id="45" name="矢印: 上向き折線 44">
            <a:extLst>
              <a:ext uri="{FF2B5EF4-FFF2-40B4-BE49-F238E27FC236}">
                <a16:creationId xmlns:a16="http://schemas.microsoft.com/office/drawing/2014/main" id="{0D298BDE-A71D-1B75-D1C2-56EBD3BCAF61}"/>
              </a:ext>
            </a:extLst>
          </p:cNvPr>
          <p:cNvSpPr/>
          <p:nvPr/>
        </p:nvSpPr>
        <p:spPr>
          <a:xfrm rot="16200000" flipV="1">
            <a:off x="6120033" y="1895451"/>
            <a:ext cx="1139165" cy="1499232"/>
          </a:xfrm>
          <a:prstGeom prst="bentUpArrow">
            <a:avLst/>
          </a:prstGeom>
          <a:solidFill>
            <a:srgbClr val="71A4D9">
              <a:lumMod val="40000"/>
              <a:lumOff val="60000"/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>
              <a:ln>
                <a:noFill/>
              </a:ln>
              <a:solidFill>
                <a:srgbClr val="F6F7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9509A37-681D-AC6E-A0CB-3F0B9820A1FE}"/>
              </a:ext>
            </a:extLst>
          </p:cNvPr>
          <p:cNvSpPr/>
          <p:nvPr/>
        </p:nvSpPr>
        <p:spPr>
          <a:xfrm>
            <a:off x="5652128" y="3284189"/>
            <a:ext cx="1799872" cy="1064691"/>
          </a:xfrm>
          <a:prstGeom prst="rect">
            <a:avLst/>
          </a:prstGeom>
          <a:noFill/>
          <a:ln w="19050" cap="flat" cmpd="sng" algn="ctr">
            <a:solidFill>
              <a:srgbClr val="005BAA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6F7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5FB0C1D-B2CE-D014-A61E-660BF9EFB91C}"/>
              </a:ext>
            </a:extLst>
          </p:cNvPr>
          <p:cNvSpPr txBox="1"/>
          <p:nvPr/>
        </p:nvSpPr>
        <p:spPr>
          <a:xfrm>
            <a:off x="7452000" y="3812252"/>
            <a:ext cx="115199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00" kern="0" dirty="0">
                <a:solidFill>
                  <a:srgbClr val="474A4D"/>
                </a:solidFill>
              </a:rPr>
              <a:t>Monitor</a:t>
            </a:r>
            <a:endParaRPr kumimoji="1" lang="ja-JP" altLang="en-US" sz="2100" b="0" i="0" u="none" strike="noStrike" kern="0" cap="none" spc="0" normalizeH="0" baseline="0" noProof="0" dirty="0">
              <a:ln>
                <a:noFill/>
              </a:ln>
              <a:solidFill>
                <a:srgbClr val="474A4D"/>
              </a:solidFill>
              <a:effectLst/>
              <a:uLnTx/>
              <a:uFillTx/>
            </a:endParaRPr>
          </a:p>
        </p:txBody>
      </p:sp>
      <p:sp>
        <p:nvSpPr>
          <p:cNvPr id="50" name="矢印: 下 49">
            <a:extLst>
              <a:ext uri="{FF2B5EF4-FFF2-40B4-BE49-F238E27FC236}">
                <a16:creationId xmlns:a16="http://schemas.microsoft.com/office/drawing/2014/main" id="{21F4FA0D-2068-D644-F767-9F560A4B022C}"/>
              </a:ext>
            </a:extLst>
          </p:cNvPr>
          <p:cNvSpPr/>
          <p:nvPr/>
        </p:nvSpPr>
        <p:spPr>
          <a:xfrm rot="10800000">
            <a:off x="5868000" y="1751963"/>
            <a:ext cx="456368" cy="1434728"/>
          </a:xfrm>
          <a:prstGeom prst="downArrow">
            <a:avLst>
              <a:gd name="adj1" fmla="val 63429"/>
              <a:gd name="adj2" fmla="val 33229"/>
            </a:avLst>
          </a:prstGeom>
          <a:solidFill>
            <a:srgbClr val="71A4D9">
              <a:lumMod val="40000"/>
              <a:lumOff val="60000"/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>
              <a:ln>
                <a:noFill/>
              </a:ln>
              <a:solidFill>
                <a:srgbClr val="F6F7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51" name="矢印: 下 50">
            <a:extLst>
              <a:ext uri="{FF2B5EF4-FFF2-40B4-BE49-F238E27FC236}">
                <a16:creationId xmlns:a16="http://schemas.microsoft.com/office/drawing/2014/main" id="{462050BF-F23A-DE65-2F77-AE42C0530AF1}"/>
              </a:ext>
            </a:extLst>
          </p:cNvPr>
          <p:cNvSpPr/>
          <p:nvPr/>
        </p:nvSpPr>
        <p:spPr>
          <a:xfrm rot="10800000">
            <a:off x="5868000" y="2272287"/>
            <a:ext cx="456368" cy="1135520"/>
          </a:xfrm>
          <a:prstGeom prst="downArrow">
            <a:avLst>
              <a:gd name="adj1" fmla="val 63429"/>
              <a:gd name="adj2" fmla="val 0"/>
            </a:avLst>
          </a:prstGeom>
          <a:solidFill>
            <a:srgbClr val="71A4D9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>
              <a:ln>
                <a:noFill/>
              </a:ln>
              <a:solidFill>
                <a:srgbClr val="F6F7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FBB8AE50-2FE8-EE28-C4F3-EB55DDD600CC}"/>
              </a:ext>
            </a:extLst>
          </p:cNvPr>
          <p:cNvCxnSpPr>
            <a:cxnSpLocks/>
          </p:cNvCxnSpPr>
          <p:nvPr/>
        </p:nvCxnSpPr>
        <p:spPr>
          <a:xfrm>
            <a:off x="468000" y="1116320"/>
            <a:ext cx="0" cy="131143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915B02D-50DC-3B39-B1A9-55D2EC9D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968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4AEA819-575F-390B-6331-DEC9E7BD84DC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B994D57-7501-7935-323F-234DEE7294E4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F6F991-4854-B8A2-366C-E878C390F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Introduction: Visibility Depends on the Background</a:t>
            </a:r>
            <a:endParaRPr kumimoji="1" lang="ja-JP" altLang="en-US" dirty="0"/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F186FACE-6978-AE5B-46DB-020BB3181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1"/>
            <a:ext cx="8229600" cy="365126"/>
          </a:xfrm>
        </p:spPr>
        <p:txBody>
          <a:bodyPr/>
          <a:lstStyle/>
          <a:p>
            <a:r>
              <a:rPr lang="en-US" altLang="ja-JP" sz="2100" b="1" dirty="0">
                <a:solidFill>
                  <a:schemeClr val="accent1"/>
                </a:solidFill>
              </a:rPr>
              <a:t>Visibility of overlayed content varies </a:t>
            </a:r>
            <a:r>
              <a:rPr lang="en-US" altLang="ja-JP" sz="2100" dirty="0"/>
              <a:t>depending on backgrounds </a:t>
            </a:r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</p:txBody>
      </p:sp>
      <p:sp>
        <p:nvSpPr>
          <p:cNvPr id="15" name="コンテンツ プレースホルダー 9">
            <a:extLst>
              <a:ext uri="{FF2B5EF4-FFF2-40B4-BE49-F238E27FC236}">
                <a16:creationId xmlns:a16="http://schemas.microsoft.com/office/drawing/2014/main" id="{89FF0EDA-FC14-80CE-AD46-9ECF857646DF}"/>
              </a:ext>
            </a:extLst>
          </p:cNvPr>
          <p:cNvSpPr txBox="1">
            <a:spLocks/>
          </p:cNvSpPr>
          <p:nvPr/>
        </p:nvSpPr>
        <p:spPr>
          <a:xfrm>
            <a:off x="382254" y="4428664"/>
            <a:ext cx="8229600" cy="515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22222"/>
                </a:solidFill>
              </a:defRPr>
            </a:pPr>
            <a:r>
              <a:rPr lang="en-US" altLang="ja-JP" sz="2100" dirty="0"/>
              <a:t>→ Need to </a:t>
            </a:r>
            <a:r>
              <a:rPr lang="en-US" altLang="ja-JP" sz="2100" b="1" dirty="0">
                <a:solidFill>
                  <a:schemeClr val="accent5"/>
                </a:solidFill>
              </a:rPr>
              <a:t>predict visibility </a:t>
            </a:r>
            <a:r>
              <a:rPr lang="en-US" altLang="ja-JP" sz="2100" dirty="0"/>
              <a:t>from the FG/BG image</a:t>
            </a:r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</p:txBody>
      </p:sp>
      <p:sp>
        <p:nvSpPr>
          <p:cNvPr id="17" name="コンテンツ プレースホルダー 9">
            <a:extLst>
              <a:ext uri="{FF2B5EF4-FFF2-40B4-BE49-F238E27FC236}">
                <a16:creationId xmlns:a16="http://schemas.microsoft.com/office/drawing/2014/main" id="{8D959611-D12E-E4CE-52DD-EAC4E1AC56BB}"/>
              </a:ext>
            </a:extLst>
          </p:cNvPr>
          <p:cNvSpPr txBox="1">
            <a:spLocks/>
          </p:cNvSpPr>
          <p:nvPr/>
        </p:nvSpPr>
        <p:spPr>
          <a:xfrm>
            <a:off x="5589290" y="2264267"/>
            <a:ext cx="2520000" cy="4155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100" b="1" dirty="0"/>
              <a:t>High visibility</a:t>
            </a:r>
          </a:p>
          <a:p>
            <a:endParaRPr lang="en-US" altLang="ja-JP" sz="2100" dirty="0">
              <a:solidFill>
                <a:schemeClr val="accent5"/>
              </a:solidFill>
            </a:endParaRPr>
          </a:p>
          <a:p>
            <a:endParaRPr lang="en-US" altLang="ja-JP" sz="2100" dirty="0">
              <a:solidFill>
                <a:srgbClr val="CC1D00"/>
              </a:solidFill>
            </a:endParaRPr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</p:txBody>
      </p:sp>
      <p:sp>
        <p:nvSpPr>
          <p:cNvPr id="19" name="コンテンツ プレースホルダー 9">
            <a:extLst>
              <a:ext uri="{FF2B5EF4-FFF2-40B4-BE49-F238E27FC236}">
                <a16:creationId xmlns:a16="http://schemas.microsoft.com/office/drawing/2014/main" id="{5064ADC0-09A2-8394-01D9-6853846E7B48}"/>
              </a:ext>
            </a:extLst>
          </p:cNvPr>
          <p:cNvSpPr txBox="1">
            <a:spLocks/>
          </p:cNvSpPr>
          <p:nvPr/>
        </p:nvSpPr>
        <p:spPr>
          <a:xfrm>
            <a:off x="5580000" y="3435751"/>
            <a:ext cx="2520000" cy="7568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100" b="1" dirty="0"/>
              <a:t>Low visibility</a:t>
            </a:r>
          </a:p>
          <a:p>
            <a:r>
              <a:rPr lang="ja-JP" altLang="en-US" sz="2100" b="1" dirty="0">
                <a:solidFill>
                  <a:schemeClr val="accent1"/>
                </a:solidFill>
              </a:rPr>
              <a:t>→</a:t>
            </a:r>
            <a:r>
              <a:rPr lang="en-US" altLang="ja-JP" sz="2100" b="1" dirty="0">
                <a:solidFill>
                  <a:schemeClr val="accent1"/>
                </a:solidFill>
              </a:rPr>
              <a:t>Bad UX, Safety </a:t>
            </a:r>
            <a:endParaRPr lang="en-US" altLang="ja-JP" sz="2100" dirty="0">
              <a:solidFill>
                <a:schemeClr val="accent1"/>
              </a:solidFill>
            </a:endParaRPr>
          </a:p>
          <a:p>
            <a:endParaRPr lang="en-US" altLang="ja-JP" sz="2100" dirty="0">
              <a:solidFill>
                <a:schemeClr val="accent5"/>
              </a:solidFill>
            </a:endParaRPr>
          </a:p>
          <a:p>
            <a:endParaRPr lang="en-US" altLang="ja-JP" sz="2100" dirty="0"/>
          </a:p>
          <a:p>
            <a:endParaRPr lang="en-US" altLang="ja-JP" sz="2100" dirty="0"/>
          </a:p>
          <a:p>
            <a:endParaRPr lang="en-US" altLang="ja-JP" sz="21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C121295-F4DE-409B-1ACC-A5EAC8117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9599" y="1896645"/>
            <a:ext cx="1296000" cy="115876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0D7DD98-2FFA-06EF-540B-985F72285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532" y="1896644"/>
            <a:ext cx="1558468" cy="1158767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BF842674-81B2-7AE9-0A9E-D28693947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6213" y="3212982"/>
            <a:ext cx="1296000" cy="1158767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EC48B3D-F504-15BB-F108-546B61841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5533" y="3212982"/>
            <a:ext cx="1545022" cy="1158767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458FADD7-82B7-BF0C-5D11-07DFB27FBB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05" b="8006"/>
          <a:stretch>
            <a:fillRect/>
          </a:stretch>
        </p:blipFill>
        <p:spPr>
          <a:xfrm>
            <a:off x="4006962" y="1892655"/>
            <a:ext cx="1357038" cy="1158766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AB6FDA87-E666-BA27-F2A4-4E1886498F3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142" t="5339" r="4086" b="1790"/>
          <a:stretch>
            <a:fillRect/>
          </a:stretch>
        </p:blipFill>
        <p:spPr>
          <a:xfrm>
            <a:off x="3993310" y="3237354"/>
            <a:ext cx="1370690" cy="1134396"/>
          </a:xfrm>
          <a:prstGeom prst="rect">
            <a:avLst/>
          </a:prstGeom>
        </p:spPr>
      </p:pic>
      <p:pic>
        <p:nvPicPr>
          <p:cNvPr id="28" name="グラフィックス 27" descr="追加 単色塗りつぶし">
            <a:extLst>
              <a:ext uri="{FF2B5EF4-FFF2-40B4-BE49-F238E27FC236}">
                <a16:creationId xmlns:a16="http://schemas.microsoft.com/office/drawing/2014/main" id="{88A360D5-29CF-BB16-EB62-275EB5A4E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64000" y="2355959"/>
            <a:ext cx="241200" cy="241200"/>
          </a:xfrm>
          <a:prstGeom prst="rect">
            <a:avLst/>
          </a:prstGeom>
        </p:spPr>
      </p:pic>
      <p:pic>
        <p:nvPicPr>
          <p:cNvPr id="29" name="グラフィックス 28" descr="追加 単色塗りつぶし">
            <a:extLst>
              <a:ext uri="{FF2B5EF4-FFF2-40B4-BE49-F238E27FC236}">
                <a16:creationId xmlns:a16="http://schemas.microsoft.com/office/drawing/2014/main" id="{E895D198-5F35-136D-4250-AAA0D4E62A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66157" y="3671765"/>
            <a:ext cx="241200" cy="241200"/>
          </a:xfrm>
          <a:prstGeom prst="rect">
            <a:avLst/>
          </a:prstGeom>
        </p:spPr>
      </p:pic>
      <p:pic>
        <p:nvPicPr>
          <p:cNvPr id="33" name="グラフィックス 32" descr="一時停止 枠線">
            <a:extLst>
              <a:ext uri="{FF2B5EF4-FFF2-40B4-BE49-F238E27FC236}">
                <a16:creationId xmlns:a16="http://schemas.microsoft.com/office/drawing/2014/main" id="{59DD0F45-BA0D-668A-F36B-BF070D2DE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3634362" y="2315952"/>
            <a:ext cx="313200" cy="313200"/>
          </a:xfrm>
          <a:prstGeom prst="rect">
            <a:avLst/>
          </a:prstGeom>
        </p:spPr>
      </p:pic>
      <p:pic>
        <p:nvPicPr>
          <p:cNvPr id="34" name="グラフィックス 33" descr="一時停止 枠線">
            <a:extLst>
              <a:ext uri="{FF2B5EF4-FFF2-40B4-BE49-F238E27FC236}">
                <a16:creationId xmlns:a16="http://schemas.microsoft.com/office/drawing/2014/main" id="{7EF165FA-9638-AF5E-5F96-44242B7069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3633331" y="3631029"/>
            <a:ext cx="313200" cy="313200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7C30EE0-E4BD-DB54-34AD-42161B9D7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3179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DFEC3CC-484E-7AFD-E2E0-9E40626E1565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3AB9746-42DB-A71D-FB69-443A7B42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Scope &amp; Objective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A4DF07-EF11-D0E8-1351-1F6D75892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/>
              <a:t>Goal: </a:t>
            </a:r>
            <a:r>
              <a:rPr kumimoji="1" lang="en-US" altLang="ja-JP" dirty="0"/>
              <a:t>Build an </a:t>
            </a:r>
            <a:r>
              <a:rPr kumimoji="1" lang="en-US" altLang="ja-JP" b="1" dirty="0">
                <a:solidFill>
                  <a:schemeClr val="accent1"/>
                </a:solidFill>
              </a:rPr>
              <a:t>image-based visibility predictor </a:t>
            </a:r>
            <a:r>
              <a:rPr kumimoji="1" lang="en-US" altLang="ja-JP" dirty="0"/>
              <a:t>for OST-AR</a:t>
            </a:r>
          </a:p>
          <a:p>
            <a:endParaRPr lang="en-US" altLang="ja-JP" dirty="0"/>
          </a:p>
          <a:p>
            <a:pPr>
              <a:lnSpc>
                <a:spcPct val="150000"/>
              </a:lnSpc>
            </a:pPr>
            <a:r>
              <a:rPr kumimoji="1" lang="en-US" altLang="ja-JP" b="1" dirty="0"/>
              <a:t>Three steps</a:t>
            </a:r>
          </a:p>
          <a:p>
            <a:pPr>
              <a:lnSpc>
                <a:spcPct val="150000"/>
              </a:lnSpc>
            </a:pPr>
            <a:r>
              <a:rPr lang="en-US" altLang="ja-JP" dirty="0"/>
              <a:t>1.  </a:t>
            </a:r>
            <a:r>
              <a:rPr lang="en-US" altLang="ja-JP" b="1" dirty="0">
                <a:solidFill>
                  <a:schemeClr val="accent5"/>
                </a:solidFill>
              </a:rPr>
              <a:t>Psychophysical Experiment : </a:t>
            </a:r>
            <a:r>
              <a:rPr lang="en-US" altLang="ja-JP" dirty="0"/>
              <a:t> Reveal HVS mechanism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/>
              <a:t>2.  </a:t>
            </a:r>
            <a:r>
              <a:rPr kumimoji="1" lang="en-US" altLang="ja-JP" b="1" dirty="0">
                <a:solidFill>
                  <a:schemeClr val="accent1"/>
                </a:solidFill>
              </a:rPr>
              <a:t>Model </a:t>
            </a:r>
            <a:r>
              <a:rPr lang="en-US" altLang="ja-JP" b="1" dirty="0">
                <a:solidFill>
                  <a:schemeClr val="accent1"/>
                </a:solidFill>
              </a:rPr>
              <a:t>Extension: </a:t>
            </a:r>
            <a:r>
              <a:rPr lang="en-US" altLang="ja-JP" dirty="0"/>
              <a:t>From 2D to OST-AR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/>
              <a:t>3. </a:t>
            </a:r>
            <a:r>
              <a:rPr kumimoji="1" lang="en-US" altLang="ja-JP" b="1" dirty="0"/>
              <a:t> </a:t>
            </a:r>
            <a:r>
              <a:rPr kumimoji="1" lang="en-US" altLang="ja-JP" b="1" dirty="0">
                <a:solidFill>
                  <a:schemeClr val="accent1"/>
                </a:solidFill>
              </a:rPr>
              <a:t>Model Validation</a:t>
            </a:r>
            <a:r>
              <a:rPr lang="en-US" altLang="ja-JP" b="1" dirty="0">
                <a:solidFill>
                  <a:schemeClr val="accent1"/>
                </a:solidFill>
              </a:rPr>
              <a:t>:</a:t>
            </a:r>
            <a:r>
              <a:rPr lang="en-US" altLang="ja-JP" dirty="0">
                <a:solidFill>
                  <a:schemeClr val="accent1"/>
                </a:solidFill>
              </a:rPr>
              <a:t> </a:t>
            </a:r>
            <a:r>
              <a:rPr lang="en-US" altLang="ja-JP" dirty="0"/>
              <a:t>model's predictions vs human ratings</a:t>
            </a:r>
          </a:p>
          <a:p>
            <a:endParaRPr kumimoji="1" lang="ja-JP" altLang="en-US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2AA8A07-34B2-991E-D2CA-AEBCB2D15A70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122D2E1-BF0D-2DF6-308A-5D57694A3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36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D974-1D81-4060-9944-D2CF983C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E5DFAA-9282-22EC-C13C-4F75ED57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Outline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3D6988-E357-90A7-42FC-8462D92B1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2"/>
                </a:solidFill>
              </a:rPr>
              <a:t>1.   </a:t>
            </a:r>
            <a:r>
              <a:rPr kumimoji="1"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1"/>
                </a:solidFill>
              </a:rPr>
              <a:t>2.   </a:t>
            </a:r>
            <a:r>
              <a:rPr kumimoji="1" lang="en-US" altLang="ja-JP" b="1" dirty="0"/>
              <a:t>Related Work </a:t>
            </a:r>
            <a:r>
              <a:rPr lang="en-US" altLang="ja-JP" sz="1800" dirty="0">
                <a:solidFill>
                  <a:schemeClr val="tx2"/>
                </a:solidFill>
              </a:rPr>
              <a:t>— four topics</a:t>
            </a:r>
            <a:endParaRPr kumimoji="1" lang="en-US" altLang="ja-JP" sz="1800" b="1" dirty="0"/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2"/>
                </a:solidFill>
              </a:rPr>
              <a:t>3.   </a:t>
            </a:r>
            <a:r>
              <a:rPr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Method</a:t>
            </a: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2"/>
                </a:solidFill>
              </a:rPr>
              <a:t>4.   </a:t>
            </a:r>
            <a:r>
              <a:rPr kumimoji="1"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Pilot Experiment</a:t>
            </a:r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2"/>
                </a:solidFill>
              </a:rPr>
              <a:t>5.   </a:t>
            </a:r>
            <a:r>
              <a:rPr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Conclusion &amp; Future Work</a:t>
            </a:r>
            <a:endParaRPr kumimoji="1" lang="ja-JP" alt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D77E8BC-A7D2-5477-8D8E-CC934BC26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18075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E59DC97-A3C1-8A55-9C67-20046760E8F1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6433D00-FBFB-9461-1612-138B4C64584F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57211A49-EE7B-26A4-F730-BCDB2664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Related Work (1): Contrast Perception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DAB2F1-17B6-D764-476F-CE5D748D0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49"/>
            <a:ext cx="8229600" cy="635943"/>
          </a:xfrm>
        </p:spPr>
        <p:txBody>
          <a:bodyPr/>
          <a:lstStyle/>
          <a:p>
            <a:pPr algn="ctr"/>
            <a:r>
              <a:rPr kumimoji="1" lang="en-US" altLang="ja-JP" dirty="0"/>
              <a:t>Visibility </a:t>
            </a:r>
            <a:r>
              <a:rPr kumimoji="1" lang="ja-JP" altLang="en-US" dirty="0"/>
              <a:t>← </a:t>
            </a:r>
            <a:r>
              <a:rPr kumimoji="1" lang="en-US" altLang="ja-JP" b="1" dirty="0">
                <a:solidFill>
                  <a:schemeClr val="accent1"/>
                </a:solidFill>
              </a:rPr>
              <a:t>Contrast Perception </a:t>
            </a:r>
            <a:r>
              <a:rPr kumimoji="1" lang="en-US" altLang="ja-JP" dirty="0"/>
              <a:t>| Two phenomena addressed </a:t>
            </a:r>
            <a:endParaRPr lang="en-US" altLang="ja-JP" dirty="0"/>
          </a:p>
          <a:p>
            <a:endParaRPr kumimoji="1" lang="ja-JP" altLang="en-US" b="1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54238E0E-6093-D6C2-9B87-6E4B5B8BB617}"/>
              </a:ext>
            </a:extLst>
          </p:cNvPr>
          <p:cNvGrpSpPr/>
          <p:nvPr/>
        </p:nvGrpSpPr>
        <p:grpSpPr>
          <a:xfrm>
            <a:off x="453196" y="2355750"/>
            <a:ext cx="2534801" cy="1889781"/>
            <a:chOff x="865121" y="2378869"/>
            <a:chExt cx="5405200" cy="4194353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D2B24296-F49B-933E-BACA-414AEB2A4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81883" y="2378869"/>
              <a:ext cx="3360420" cy="3373737"/>
            </a:xfrm>
            <a:prstGeom prst="rect">
              <a:avLst/>
            </a:prstGeom>
          </p:spPr>
        </p:pic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03734720-BA73-0858-99E8-2022CEF19F6C}"/>
                </a:ext>
              </a:extLst>
            </p:cNvPr>
            <p:cNvCxnSpPr>
              <a:cxnSpLocks/>
            </p:cNvCxnSpPr>
            <p:nvPr/>
          </p:nvCxnSpPr>
          <p:spPr>
            <a:xfrm>
              <a:off x="1567583" y="2378869"/>
              <a:ext cx="0" cy="337373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2B8466F3-6563-6D4B-19CB-B3B1C5B910E4}"/>
                </a:ext>
              </a:extLst>
            </p:cNvPr>
            <p:cNvSpPr txBox="1"/>
            <p:nvPr/>
          </p:nvSpPr>
          <p:spPr>
            <a:xfrm rot="16200000">
              <a:off x="25701" y="3606116"/>
              <a:ext cx="2400771" cy="721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/>
                <a:t>Contrast</a:t>
              </a:r>
              <a:endParaRPr kumimoji="1" lang="ja-JP" altLang="en-US" sz="1600" dirty="0"/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F51A3672-4A5F-7247-D325-CAEBA27B629E}"/>
                </a:ext>
              </a:extLst>
            </p:cNvPr>
            <p:cNvCxnSpPr>
              <a:cxnSpLocks/>
            </p:cNvCxnSpPr>
            <p:nvPr/>
          </p:nvCxnSpPr>
          <p:spPr>
            <a:xfrm>
              <a:off x="1681883" y="5860194"/>
              <a:ext cx="3360420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6E35D34-91ED-BCDE-5C12-11553EA72EE3}"/>
                </a:ext>
              </a:extLst>
            </p:cNvPr>
            <p:cNvSpPr txBox="1"/>
            <p:nvPr/>
          </p:nvSpPr>
          <p:spPr>
            <a:xfrm>
              <a:off x="1578516" y="5821804"/>
              <a:ext cx="4691805" cy="751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/>
                <a:t>Spatial frequency</a:t>
              </a:r>
              <a:endParaRPr kumimoji="1" lang="ja-JP" altLang="en-US" sz="1600" dirty="0"/>
            </a:p>
          </p:txBody>
        </p:sp>
      </p:grpSp>
      <p:pic>
        <p:nvPicPr>
          <p:cNvPr id="11" name="図 10">
            <a:extLst>
              <a:ext uri="{FF2B5EF4-FFF2-40B4-BE49-F238E27FC236}">
                <a16:creationId xmlns:a16="http://schemas.microsoft.com/office/drawing/2014/main" id="{2E63CAB1-4DE0-48B3-560E-05F5C3F9F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956" y="2355750"/>
            <a:ext cx="1760795" cy="17658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C441F31-879B-3757-356F-D0296DBC82D1}"/>
              </a:ext>
            </a:extLst>
          </p:cNvPr>
          <p:cNvSpPr txBox="1"/>
          <p:nvPr/>
        </p:nvSpPr>
        <p:spPr>
          <a:xfrm>
            <a:off x="457200" y="1867079"/>
            <a:ext cx="416640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100" dirty="0"/>
              <a:t>① </a:t>
            </a:r>
            <a:r>
              <a:rPr kumimoji="1" lang="en-US" altLang="ja-JP" sz="2100" dirty="0"/>
              <a:t>Frequency dependence (CSF) </a:t>
            </a:r>
            <a:endParaRPr kumimoji="1" lang="ja-JP" altLang="en-US" sz="21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0F1BF72-DB91-3FAA-D2D8-54E283EC8CAF}"/>
              </a:ext>
            </a:extLst>
          </p:cNvPr>
          <p:cNvSpPr txBox="1"/>
          <p:nvPr/>
        </p:nvSpPr>
        <p:spPr>
          <a:xfrm>
            <a:off x="4572000" y="1868252"/>
            <a:ext cx="416640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100" b="1" dirty="0"/>
              <a:t>② </a:t>
            </a:r>
            <a:r>
              <a:rPr kumimoji="1" lang="en-US" altLang="ja-JP" sz="2100" dirty="0"/>
              <a:t>Contrast masking</a:t>
            </a:r>
            <a:endParaRPr kumimoji="1" lang="ja-JP" altLang="en-US" sz="2100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ED84BE0A-7685-E11A-AF2B-AF34026D8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993" y="2355750"/>
            <a:ext cx="1773306" cy="1773306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9EBD0AD-8089-2F8C-C6E3-EE6FB1DAB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000" y="2355750"/>
            <a:ext cx="1765826" cy="1765826"/>
          </a:xfrm>
          <a:prstGeom prst="rect">
            <a:avLst/>
          </a:prstGeom>
        </p:spPr>
      </p:pic>
      <p:sp>
        <p:nvSpPr>
          <p:cNvPr id="23" name="コンテンツ プレースホルダー 9">
            <a:extLst>
              <a:ext uri="{FF2B5EF4-FFF2-40B4-BE49-F238E27FC236}">
                <a16:creationId xmlns:a16="http://schemas.microsoft.com/office/drawing/2014/main" id="{81B6C406-8678-C065-5B2F-6B13B3F9CA9B}"/>
              </a:ext>
            </a:extLst>
          </p:cNvPr>
          <p:cNvSpPr txBox="1">
            <a:spLocks/>
          </p:cNvSpPr>
          <p:nvPr/>
        </p:nvSpPr>
        <p:spPr>
          <a:xfrm>
            <a:off x="382254" y="4371750"/>
            <a:ext cx="8229600" cy="515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100" b="1" dirty="0"/>
              <a:t>→</a:t>
            </a:r>
            <a:r>
              <a:rPr lang="en-US" altLang="ja-JP" sz="2100" b="1" dirty="0"/>
              <a:t>This work mainly focus on </a:t>
            </a:r>
            <a:r>
              <a:rPr lang="ja-JP" altLang="en-US" sz="2100" b="1" dirty="0">
                <a:solidFill>
                  <a:schemeClr val="accent5"/>
                </a:solidFill>
              </a:rPr>
              <a:t>② </a:t>
            </a:r>
            <a:r>
              <a:rPr lang="en-US" altLang="ja-JP" sz="2100" b="1" dirty="0">
                <a:solidFill>
                  <a:schemeClr val="accent5"/>
                </a:solidFill>
              </a:rPr>
              <a:t>contrast masking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47EA014-3C2F-C852-A9EF-B79F3B48598D}"/>
              </a:ext>
            </a:extLst>
          </p:cNvPr>
          <p:cNvSpPr txBox="1"/>
          <p:nvPr/>
        </p:nvSpPr>
        <p:spPr>
          <a:xfrm>
            <a:off x="0" y="4889584"/>
            <a:ext cx="918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[1] </a:t>
            </a:r>
            <a:r>
              <a:rPr lang="en-US" altLang="ja-JP" sz="105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Fukiage</a:t>
            </a:r>
            <a:r>
              <a:rPr lang="en-US" altLang="ja-JP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et al.  “Visibility-based blending for real-time applications”</a:t>
            </a:r>
            <a:r>
              <a:rPr lang="ja-JP" altLang="en-US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2014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51D3639-A7B0-6E8C-8F4B-5E3C473926FC}"/>
              </a:ext>
            </a:extLst>
          </p:cNvPr>
          <p:cNvSpPr txBox="1"/>
          <p:nvPr/>
        </p:nvSpPr>
        <p:spPr>
          <a:xfrm>
            <a:off x="4316556" y="3875799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[1]</a:t>
            </a:r>
            <a:endParaRPr kumimoji="1" lang="ja-JP" altLang="en-US" sz="1200" dirty="0"/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5634B520-AB3F-B795-E7AF-770045A80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42298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A457BEB-7933-9C80-140B-276CB456F30A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2201685-FA7B-84B6-890F-569EA06C3297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696E-9B85-391C-5581-F9B666EF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Related Work (2): Single-Factor Models for OST-AR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5B8009-96F4-2B9F-CDAD-BB39FFFC6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504000"/>
          </a:xfrm>
        </p:spPr>
        <p:txBody>
          <a:bodyPr/>
          <a:lstStyle/>
          <a:p>
            <a:pPr algn="ctr"/>
            <a:r>
              <a:rPr kumimoji="1" lang="en-US" altLang="ja-JP" dirty="0"/>
              <a:t>Existin</a:t>
            </a:r>
            <a:r>
              <a:rPr lang="en-US" altLang="ja-JP" dirty="0"/>
              <a:t>g models each consider </a:t>
            </a:r>
            <a:r>
              <a:rPr lang="en-US" altLang="ja-JP" b="1" dirty="0">
                <a:solidFill>
                  <a:schemeClr val="accent1"/>
                </a:solidFill>
              </a:rPr>
              <a:t>one perceptual factor</a:t>
            </a:r>
            <a:endParaRPr kumimoji="1" lang="ja-JP" alt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404613F-48FF-2CB5-A311-6ED17A6C4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078010"/>
              </p:ext>
            </p:extLst>
          </p:nvPr>
        </p:nvGraphicFramePr>
        <p:xfrm>
          <a:off x="457200" y="1788422"/>
          <a:ext cx="8229600" cy="22953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8300">
                  <a:extLst>
                    <a:ext uri="{9D8B030D-6E8A-4147-A177-3AD203B41FA5}">
                      <a16:colId xmlns:a16="http://schemas.microsoft.com/office/drawing/2014/main" val="2297274464"/>
                    </a:ext>
                  </a:extLst>
                </a:gridCol>
                <a:gridCol w="5111300">
                  <a:extLst>
                    <a:ext uri="{9D8B030D-6E8A-4147-A177-3AD203B41FA5}">
                      <a16:colId xmlns:a16="http://schemas.microsoft.com/office/drawing/2014/main" val="1859057176"/>
                    </a:ext>
                  </a:extLst>
                </a:gridCol>
              </a:tblGrid>
              <a:tr h="390891">
                <a:tc>
                  <a:txBody>
                    <a:bodyPr/>
                    <a:lstStyle/>
                    <a:p>
                      <a:r>
                        <a:rPr kumimoji="1" lang="en-US" altLang="ja-JP" sz="1800" b="1" dirty="0">
                          <a:solidFill>
                            <a:schemeClr val="tx1"/>
                          </a:solidFill>
                        </a:rPr>
                        <a:t>Perceptual factor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1" dirty="0">
                          <a:solidFill>
                            <a:schemeClr val="tx1"/>
                          </a:solidFill>
                        </a:rPr>
                        <a:t>Reference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734967"/>
                  </a:ext>
                </a:extLst>
              </a:tr>
              <a:tr h="63481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1" dirty="0">
                          <a:solidFill>
                            <a:schemeClr val="accent1"/>
                          </a:solidFill>
                        </a:rPr>
                        <a:t>Color</a:t>
                      </a:r>
                      <a:endParaRPr kumimoji="1" lang="ja-JP" altLang="en-US" sz="1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Yoon et al., 2017</a:t>
                      </a:r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・</a:t>
                      </a:r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Zhang et al., TVCG 2022</a:t>
                      </a:r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14802"/>
                  </a:ext>
                </a:extLst>
              </a:tr>
              <a:tr h="63481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1" dirty="0">
                          <a:solidFill>
                            <a:schemeClr val="accent1"/>
                          </a:solidFill>
                        </a:rPr>
                        <a:t>Luminance/Illuminance</a:t>
                      </a:r>
                      <a:endParaRPr kumimoji="1" lang="ja-JP" altLang="en-US" sz="1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da-DK" altLang="ja-JP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Liu et al., ISMAR 2022</a:t>
                      </a:r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229234"/>
                  </a:ext>
                </a:extLst>
              </a:tr>
              <a:tr h="63481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1" dirty="0">
                          <a:solidFill>
                            <a:schemeClr val="accent1"/>
                          </a:solidFill>
                        </a:rPr>
                        <a:t>Transparency</a:t>
                      </a:r>
                      <a:endParaRPr kumimoji="1" lang="ja-JP" altLang="en-US" sz="1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Zhang &amp; Murdoch, 2021</a:t>
                      </a:r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655821"/>
                  </a:ext>
                </a:extLst>
              </a:tr>
            </a:tbl>
          </a:graphicData>
        </a:graphic>
      </p:graphicFrame>
      <p:sp>
        <p:nvSpPr>
          <p:cNvPr id="9" name="コンテンツ プレースホルダー 9">
            <a:extLst>
              <a:ext uri="{FF2B5EF4-FFF2-40B4-BE49-F238E27FC236}">
                <a16:creationId xmlns:a16="http://schemas.microsoft.com/office/drawing/2014/main" id="{DFCE3A5D-5638-52F7-225D-541452B0A7F7}"/>
              </a:ext>
            </a:extLst>
          </p:cNvPr>
          <p:cNvSpPr txBox="1">
            <a:spLocks/>
          </p:cNvSpPr>
          <p:nvPr/>
        </p:nvSpPr>
        <p:spPr>
          <a:xfrm>
            <a:off x="382254" y="4371750"/>
            <a:ext cx="8229600" cy="515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100" b="1" dirty="0"/>
              <a:t>→ No unified, multi-factor model exist</a:t>
            </a:r>
            <a:endParaRPr lang="en-US" altLang="ja-JP" sz="2100" b="1" dirty="0">
              <a:solidFill>
                <a:schemeClr val="accent5"/>
              </a:solidFill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64E2F6-1EB4-9155-74DD-F92053838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76794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AE92B-C880-AC31-782E-C53F665B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05401DE-9D4D-2AF9-E5BC-AF3728CEA8CA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657F982-1CF9-E9FC-52EE-B37CBF3EC348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3A14DA40-9AA1-6DA6-AFDC-B77416EA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Related Work (3): </a:t>
            </a:r>
            <a:r>
              <a:rPr lang="en-US" altLang="ja-JP" dirty="0"/>
              <a:t>IQA for OST-AR Visibility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0392A3-D812-DADB-F05A-651C1B796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504000"/>
          </a:xfrm>
        </p:spPr>
        <p:txBody>
          <a:bodyPr/>
          <a:lstStyle/>
          <a:p>
            <a:pPr algn="ctr"/>
            <a:r>
              <a:rPr lang="en-US" altLang="ja-JP" b="1" dirty="0"/>
              <a:t>IQA</a:t>
            </a:r>
            <a:r>
              <a:rPr lang="en-US" altLang="ja-JP" dirty="0"/>
              <a:t> closely relates to visibility — also in </a:t>
            </a:r>
            <a:r>
              <a:rPr lang="en-US" altLang="ja-JP" b="1" dirty="0">
                <a:solidFill>
                  <a:schemeClr val="accent5"/>
                </a:solidFill>
              </a:rPr>
              <a:t>existing-model limits</a:t>
            </a:r>
            <a:endParaRPr kumimoji="1" lang="ja-JP" altLang="en-US" b="1" dirty="0">
              <a:solidFill>
                <a:schemeClr val="accent5"/>
              </a:solidFill>
            </a:endParaRPr>
          </a:p>
        </p:txBody>
      </p:sp>
      <p:sp>
        <p:nvSpPr>
          <p:cNvPr id="9" name="コンテンツ プレースホルダー 9">
            <a:extLst>
              <a:ext uri="{FF2B5EF4-FFF2-40B4-BE49-F238E27FC236}">
                <a16:creationId xmlns:a16="http://schemas.microsoft.com/office/drawing/2014/main" id="{E15FCF8B-83FD-A8D3-FB22-27C2B35A1350}"/>
              </a:ext>
            </a:extLst>
          </p:cNvPr>
          <p:cNvSpPr txBox="1">
            <a:spLocks/>
          </p:cNvSpPr>
          <p:nvPr/>
        </p:nvSpPr>
        <p:spPr>
          <a:xfrm>
            <a:off x="382254" y="4371750"/>
            <a:ext cx="8229600" cy="515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100" b="1" dirty="0"/>
              <a:t>→ </a:t>
            </a:r>
            <a:r>
              <a:rPr lang="en-US" altLang="ja-JP" sz="2100" b="1" dirty="0">
                <a:solidFill>
                  <a:schemeClr val="accent1"/>
                </a:solidFill>
              </a:rPr>
              <a:t>OST-AR-specific perception </a:t>
            </a:r>
            <a:r>
              <a:rPr lang="en-US" altLang="ja-JP" sz="2100" b="1" dirty="0"/>
              <a:t>must be modeled.</a:t>
            </a:r>
            <a:endParaRPr lang="en-US" altLang="ja-JP" sz="2100" b="1" dirty="0">
              <a:solidFill>
                <a:schemeClr val="accent5"/>
              </a:solidFill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01438EB-E91C-6E5A-2E69-224FE31DA39A}"/>
              </a:ext>
            </a:extLst>
          </p:cNvPr>
          <p:cNvGrpSpPr/>
          <p:nvPr/>
        </p:nvGrpSpPr>
        <p:grpSpPr>
          <a:xfrm>
            <a:off x="1272340" y="1833934"/>
            <a:ext cx="2589652" cy="1933573"/>
            <a:chOff x="6138746" y="2697195"/>
            <a:chExt cx="4731912" cy="311851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9E40FE3F-DCFB-3927-E87D-1ED083192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2641"/>
            <a:stretch>
              <a:fillRect/>
            </a:stretch>
          </p:blipFill>
          <p:spPr>
            <a:xfrm>
              <a:off x="6138746" y="4092161"/>
              <a:ext cx="4731912" cy="17235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70DC3D3-78FB-8038-640B-57A2D9C6D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8279"/>
            <a:stretch>
              <a:fillRect/>
            </a:stretch>
          </p:blipFill>
          <p:spPr>
            <a:xfrm>
              <a:off x="6138746" y="2697195"/>
              <a:ext cx="4731912" cy="136833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小波 9">
              <a:extLst>
                <a:ext uri="{FF2B5EF4-FFF2-40B4-BE49-F238E27FC236}">
                  <a16:creationId xmlns:a16="http://schemas.microsoft.com/office/drawing/2014/main" id="{19D46737-B055-6657-FB3E-81073D1B8947}"/>
                </a:ext>
              </a:extLst>
            </p:cNvPr>
            <p:cNvSpPr/>
            <p:nvPr/>
          </p:nvSpPr>
          <p:spPr>
            <a:xfrm>
              <a:off x="6138746" y="4065526"/>
              <a:ext cx="4731912" cy="104900"/>
            </a:xfrm>
            <a:prstGeom prst="doubleWav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2B76B11B-B969-0B2C-C1ED-7A80442ED9A5}"/>
              </a:ext>
            </a:extLst>
          </p:cNvPr>
          <p:cNvSpPr txBox="1">
            <a:spLocks/>
          </p:cNvSpPr>
          <p:nvPr/>
        </p:nvSpPr>
        <p:spPr>
          <a:xfrm>
            <a:off x="1272341" y="3767508"/>
            <a:ext cx="2589651" cy="604242"/>
          </a:xfrm>
          <a:prstGeom prst="rect">
            <a:avLst/>
          </a:prstGeom>
        </p:spPr>
        <p:txBody>
          <a:bodyPr anchor="b"/>
          <a:lstStyle>
            <a:defPPr>
              <a:defRPr lang="ja-JP"/>
            </a:defPPr>
            <a:lvl1pPr marL="0" algn="l" defTabSz="914400" rtl="0" eaLnBrk="1" latinLnBrk="0" hangingPunct="1">
              <a:defRPr kumimoji="1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Limitation of existing IQA models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DC4E04D-F71F-0387-4F00-E79175350652}"/>
              </a:ext>
            </a:extLst>
          </p:cNvPr>
          <p:cNvCxnSpPr>
            <a:cxnSpLocks/>
          </p:cNvCxnSpPr>
          <p:nvPr/>
        </p:nvCxnSpPr>
        <p:spPr>
          <a:xfrm>
            <a:off x="3204000" y="1839784"/>
            <a:ext cx="0" cy="1739269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0CCF8200-1257-83D0-9CE7-65E229A41976}"/>
              </a:ext>
            </a:extLst>
          </p:cNvPr>
          <p:cNvCxnSpPr>
            <a:cxnSpLocks/>
          </p:cNvCxnSpPr>
          <p:nvPr/>
        </p:nvCxnSpPr>
        <p:spPr>
          <a:xfrm>
            <a:off x="3420000" y="1828470"/>
            <a:ext cx="0" cy="175058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A539F4F-C536-ACB8-9014-8578185BD069}"/>
              </a:ext>
            </a:extLst>
          </p:cNvPr>
          <p:cNvCxnSpPr>
            <a:cxnSpLocks/>
          </p:cNvCxnSpPr>
          <p:nvPr/>
        </p:nvCxnSpPr>
        <p:spPr>
          <a:xfrm>
            <a:off x="2772000" y="1839784"/>
            <a:ext cx="0" cy="173926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660FAD44-801B-D1DD-59C2-A622D76FA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010" y="1833934"/>
            <a:ext cx="2803277" cy="1933573"/>
          </a:xfrm>
          <a:prstGeom prst="rect">
            <a:avLst/>
          </a:prstGeom>
        </p:spPr>
      </p:pic>
      <p:sp>
        <p:nvSpPr>
          <p:cNvPr id="28" name="フッター プレースホルダー 4">
            <a:extLst>
              <a:ext uri="{FF2B5EF4-FFF2-40B4-BE49-F238E27FC236}">
                <a16:creationId xmlns:a16="http://schemas.microsoft.com/office/drawing/2014/main" id="{6AE8F32E-8818-279F-CFB7-87C087DBE60C}"/>
              </a:ext>
            </a:extLst>
          </p:cNvPr>
          <p:cNvSpPr txBox="1">
            <a:spLocks/>
          </p:cNvSpPr>
          <p:nvPr/>
        </p:nvSpPr>
        <p:spPr>
          <a:xfrm>
            <a:off x="5388822" y="3767507"/>
            <a:ext cx="2589651" cy="604242"/>
          </a:xfrm>
          <a:prstGeom prst="rect">
            <a:avLst/>
          </a:prstGeom>
        </p:spPr>
        <p:txBody>
          <a:bodyPr anchor="b"/>
          <a:lstStyle>
            <a:defPPr>
              <a:defRPr lang="ja-JP"/>
            </a:defPPr>
            <a:lvl1pPr marL="0" algn="l" defTabSz="914400" rtl="0" eaLnBrk="1" latinLnBrk="0" hangingPunct="1">
              <a:defRPr kumimoji="1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OST-AR specific</a:t>
            </a:r>
            <a:br>
              <a:rPr lang="en-US" sz="1800" dirty="0"/>
            </a:br>
            <a:r>
              <a:rPr lang="en-US" sz="1800" dirty="0"/>
              <a:t>contrast perception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3B197C-92DF-4CD9-59FE-E7B2E7E362D2}"/>
              </a:ext>
            </a:extLst>
          </p:cNvPr>
          <p:cNvSpPr txBox="1"/>
          <p:nvPr/>
        </p:nvSpPr>
        <p:spPr>
          <a:xfrm>
            <a:off x="3791835" y="3547422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[1]</a:t>
            </a:r>
            <a:endParaRPr kumimoji="1" lang="ja-JP" altLang="en-US" sz="12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851CD43-0561-CA83-06F8-96A40045F525}"/>
              </a:ext>
            </a:extLst>
          </p:cNvPr>
          <p:cNvSpPr txBox="1"/>
          <p:nvPr/>
        </p:nvSpPr>
        <p:spPr>
          <a:xfrm>
            <a:off x="8011601" y="3544253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[2]</a:t>
            </a:r>
            <a:endParaRPr kumimoji="1" lang="ja-JP" altLang="en-US" sz="12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B69C3DF-94C2-0B4A-2547-9C7B56331C9B}"/>
              </a:ext>
            </a:extLst>
          </p:cNvPr>
          <p:cNvSpPr txBox="1"/>
          <p:nvPr/>
        </p:nvSpPr>
        <p:spPr>
          <a:xfrm>
            <a:off x="0" y="4728002"/>
            <a:ext cx="918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[1] Chapiro, et al. “AR-DAVID: Augmented Reality Display Artifact Video Dataset.” 2024</a:t>
            </a:r>
          </a:p>
          <a:p>
            <a:r>
              <a:rPr lang="en-US" altLang="ja-JP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[2] Kim et al. “Supra-threshold Contrast Perception in Augmented Reality.” 2025 </a:t>
            </a:r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A034AD7D-7342-FF1C-B96A-D6CCFD2D0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565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19AC0-4051-94CB-487A-C167C528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AA7E752-136D-2516-7029-9EA6A63899D0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FABD172-A1DA-E7D9-AE51-2E81D1935D8C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0319546D-83B8-17DB-E194-28190A4A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Related Work (3): Fukiage</a:t>
            </a:r>
            <a:r>
              <a:rPr lang="en-US" altLang="ja-JP" dirty="0"/>
              <a:t>‘s Visibility Predictor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03EB09-63FA-D1E4-AF4C-9EBF4C20C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49"/>
            <a:ext cx="8229600" cy="635943"/>
          </a:xfrm>
        </p:spPr>
        <p:txBody>
          <a:bodyPr/>
          <a:lstStyle/>
          <a:p>
            <a:pPr algn="ctr"/>
            <a:r>
              <a:rPr lang="en-US" altLang="ja-JP" dirty="0"/>
              <a:t>Visibility predictor for </a:t>
            </a:r>
            <a:r>
              <a:rPr lang="en-US" altLang="ja-JP" b="1" dirty="0">
                <a:solidFill>
                  <a:schemeClr val="accent1"/>
                </a:solidFill>
              </a:rPr>
              <a:t>α-blended content </a:t>
            </a:r>
            <a:r>
              <a:rPr lang="en-US" altLang="ja-JP" dirty="0"/>
              <a:t>— promising for OST-AR</a:t>
            </a:r>
            <a:endParaRPr kumimoji="1" lang="ja-JP" altLang="en-US" b="1" dirty="0"/>
          </a:p>
        </p:txBody>
      </p:sp>
      <p:sp>
        <p:nvSpPr>
          <p:cNvPr id="23" name="コンテンツ プレースホルダー 9">
            <a:extLst>
              <a:ext uri="{FF2B5EF4-FFF2-40B4-BE49-F238E27FC236}">
                <a16:creationId xmlns:a16="http://schemas.microsoft.com/office/drawing/2014/main" id="{8430F468-969D-1A52-00B7-A7320F814699}"/>
              </a:ext>
            </a:extLst>
          </p:cNvPr>
          <p:cNvSpPr txBox="1">
            <a:spLocks/>
          </p:cNvSpPr>
          <p:nvPr/>
        </p:nvSpPr>
        <p:spPr>
          <a:xfrm>
            <a:off x="382254" y="4428664"/>
            <a:ext cx="8229600" cy="515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100" b="1" dirty="0"/>
              <a:t>→ But </a:t>
            </a:r>
            <a:r>
              <a:rPr lang="en-US" altLang="ja-JP" sz="2100" b="1" dirty="0">
                <a:solidFill>
                  <a:schemeClr val="accent5"/>
                </a:solidFill>
              </a:rPr>
              <a:t>some gaps </a:t>
            </a:r>
            <a:r>
              <a:rPr lang="en-US" altLang="ja-JP" sz="2100" b="1" dirty="0"/>
              <a:t>remain when applied to OST-AR</a:t>
            </a:r>
            <a:endParaRPr lang="en-US" altLang="ja-JP" sz="2100" b="1" dirty="0">
              <a:solidFill>
                <a:schemeClr val="accent5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71BF684-4710-5624-00FA-34531AD8B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324" y="2330942"/>
            <a:ext cx="6385351" cy="2040808"/>
          </a:xfrm>
          <a:prstGeom prst="rect">
            <a:avLst/>
          </a:prstGeom>
        </p:spPr>
      </p:pic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83393C29-3231-81BE-37CE-F9FAAD8A44FC}"/>
              </a:ext>
            </a:extLst>
          </p:cNvPr>
          <p:cNvSpPr txBox="1">
            <a:spLocks/>
          </p:cNvSpPr>
          <p:nvPr/>
        </p:nvSpPr>
        <p:spPr>
          <a:xfrm>
            <a:off x="457200" y="1847279"/>
            <a:ext cx="8229600" cy="515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b="1" dirty="0">
                <a:solidFill>
                  <a:schemeClr val="accent6"/>
                </a:solidFill>
              </a:rPr>
              <a:t>! </a:t>
            </a:r>
            <a:r>
              <a:rPr lang="en-US" altLang="ja-JP" dirty="0"/>
              <a:t>Considers </a:t>
            </a:r>
            <a:r>
              <a:rPr lang="en-US" altLang="ja-JP" b="1" dirty="0"/>
              <a:t>multiple perceptual factors</a:t>
            </a:r>
            <a:r>
              <a:rPr lang="en-US" altLang="ja-JP" dirty="0"/>
              <a:t> jointly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CA7D0-4BE0-4BA9-5350-A0908BC3CC6B}"/>
              </a:ext>
            </a:extLst>
          </p:cNvPr>
          <p:cNvSpPr txBox="1"/>
          <p:nvPr/>
        </p:nvSpPr>
        <p:spPr>
          <a:xfrm>
            <a:off x="0" y="4889584"/>
            <a:ext cx="918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[1] </a:t>
            </a:r>
            <a:r>
              <a:rPr lang="en-US" altLang="ja-JP" sz="105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Fukiage</a:t>
            </a:r>
            <a:r>
              <a:rPr lang="en-US" altLang="ja-JP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and Oishi. “A Content-adaptive Visibility Predictor for Perceptually Optimized Image Blending,” 2023</a:t>
            </a:r>
            <a:endParaRPr kumimoji="1" lang="ja-JP" altLang="en-US" sz="105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70FE24E-1C6A-8AFF-1D44-050064C88937}"/>
              </a:ext>
            </a:extLst>
          </p:cNvPr>
          <p:cNvSpPr txBox="1"/>
          <p:nvPr/>
        </p:nvSpPr>
        <p:spPr>
          <a:xfrm>
            <a:off x="7684243" y="4141983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[1]</a:t>
            </a:r>
            <a:endParaRPr kumimoji="1" lang="ja-JP" altLang="en-US" sz="1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1BE8A5-DE12-C31E-BC3B-249F5AC9D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5534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1374-CE65-1226-872B-1F41AC56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6B50ACC-3F16-38C7-38F0-9AEF49C9945B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E038D4F-5816-047E-A9D2-529EAE00F45E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E25EDE7F-B505-F547-0DBF-72644010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Related Work (4): Fukiage‘s Visibility Predictor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7EC0E3-41EC-12FC-3AEA-4CC28DDB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ja-JP" dirty="0"/>
              <a:t>The model assumes </a:t>
            </a:r>
            <a:r>
              <a:rPr lang="en-US" altLang="ja-JP" b="1" dirty="0"/>
              <a:t>α-blending — single 2D display </a:t>
            </a:r>
          </a:p>
          <a:p>
            <a:pPr algn="ctr"/>
            <a:r>
              <a:rPr lang="en-US" altLang="ja-JP" b="1" dirty="0"/>
              <a:t> </a:t>
            </a:r>
            <a:endParaRPr lang="ja-JP" altLang="en-US" b="1" dirty="0"/>
          </a:p>
          <a:p>
            <a:pPr>
              <a:lnSpc>
                <a:spcPct val="120000"/>
              </a:lnSpc>
            </a:pPr>
            <a:r>
              <a:rPr lang="en-US" altLang="ja-JP" dirty="0"/>
              <a:t>Four OST-AR specific gaps: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1.  </a:t>
            </a:r>
            <a:r>
              <a:rPr lang="en-US" altLang="ja-JP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Accommodation:</a:t>
            </a:r>
            <a:r>
              <a:rPr lang="en-US" altLang="ja-JP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dirty="0"/>
              <a:t>induces defocus blur</a:t>
            </a:r>
          </a:p>
          <a:p>
            <a:pPr>
              <a:lnSpc>
                <a:spcPct val="120000"/>
              </a:lnSpc>
            </a:pPr>
            <a:r>
              <a:rPr kumimoji="1" lang="en-US" altLang="ja-JP" dirty="0"/>
              <a:t>2.  </a:t>
            </a:r>
            <a:r>
              <a:rPr kumimoji="1" lang="en-US" altLang="ja-JP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  <a:r>
              <a:rPr lang="en-US" altLang="ja-JP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inocular disparity:</a:t>
            </a:r>
            <a:r>
              <a:rPr lang="en-US" altLang="ja-JP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dirty="0"/>
              <a:t>arises with depth difference</a:t>
            </a:r>
          </a:p>
          <a:p>
            <a:pPr>
              <a:lnSpc>
                <a:spcPct val="120000"/>
              </a:lnSpc>
            </a:pPr>
            <a:r>
              <a:rPr kumimoji="1" lang="en-US" altLang="ja-JP" dirty="0"/>
              <a:t>3. </a:t>
            </a:r>
            <a:r>
              <a:rPr kumimoji="1" lang="en-US" altLang="ja-JP" b="1" dirty="0"/>
              <a:t> </a:t>
            </a:r>
            <a:r>
              <a:rPr kumimoji="1" lang="en-US" altLang="ja-JP" b="1" dirty="0">
                <a:solidFill>
                  <a:schemeClr val="accent1"/>
                </a:solidFill>
              </a:rPr>
              <a:t>BG discounting:</a:t>
            </a:r>
            <a:r>
              <a:rPr lang="en-US" altLang="ja-JP" dirty="0">
                <a:solidFill>
                  <a:schemeClr val="accent1"/>
                </a:solidFill>
              </a:rPr>
              <a:t> </a:t>
            </a:r>
            <a:r>
              <a:rPr lang="en-US" altLang="ja-JP" dirty="0"/>
              <a:t>observers partly ignore the real BG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4.  </a:t>
            </a:r>
            <a:r>
              <a:rPr lang="en-US" altLang="ja-JP" b="1" dirty="0">
                <a:solidFill>
                  <a:schemeClr val="accent1"/>
                </a:solidFill>
              </a:rPr>
              <a:t>Optical addition: </a:t>
            </a:r>
            <a:r>
              <a:rPr lang="en-US" altLang="ja-JP" dirty="0"/>
              <a:t>HDR-range output</a:t>
            </a:r>
          </a:p>
          <a:p>
            <a:endParaRPr kumimoji="1" lang="ja-JP" altLang="en-US" dirty="0"/>
          </a:p>
        </p:txBody>
      </p:sp>
      <p:sp>
        <p:nvSpPr>
          <p:cNvPr id="4" name="コンテンツ プレースホルダー 9">
            <a:extLst>
              <a:ext uri="{FF2B5EF4-FFF2-40B4-BE49-F238E27FC236}">
                <a16:creationId xmlns:a16="http://schemas.microsoft.com/office/drawing/2014/main" id="{95716A3D-00EB-2B7D-40DD-1557379F1EF8}"/>
              </a:ext>
            </a:extLst>
          </p:cNvPr>
          <p:cNvSpPr txBox="1">
            <a:spLocks/>
          </p:cNvSpPr>
          <p:nvPr/>
        </p:nvSpPr>
        <p:spPr>
          <a:xfrm>
            <a:off x="382254" y="4428664"/>
            <a:ext cx="8229600" cy="515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100" dirty="0"/>
              <a:t>→ This work </a:t>
            </a:r>
            <a:r>
              <a:rPr lang="en-US" altLang="ja-JP" sz="2100" b="1" dirty="0">
                <a:solidFill>
                  <a:schemeClr val="accent5"/>
                </a:solidFill>
              </a:rPr>
              <a:t>bridges these gaps</a:t>
            </a:r>
            <a:r>
              <a:rPr lang="en-US" altLang="ja-JP" sz="2100" dirty="0"/>
              <a:t>, extending the model to OST-AR</a:t>
            </a:r>
            <a:endParaRPr lang="en-US" altLang="ja-JP" sz="2100" b="1" dirty="0">
              <a:solidFill>
                <a:schemeClr val="accent5"/>
              </a:solidFill>
            </a:endParaRP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CCA69B4-03DA-46BC-EC47-BA05C8B38E1D}"/>
              </a:ext>
            </a:extLst>
          </p:cNvPr>
          <p:cNvGrpSpPr/>
          <p:nvPr/>
        </p:nvGrpSpPr>
        <p:grpSpPr>
          <a:xfrm>
            <a:off x="6012000" y="1858399"/>
            <a:ext cx="2643538" cy="1281476"/>
            <a:chOff x="6012000" y="1858399"/>
            <a:chExt cx="2643538" cy="1281476"/>
          </a:xfrm>
        </p:grpSpPr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7C5491C9-DCD3-CD5F-449C-884178137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4062" y="1858399"/>
              <a:ext cx="1281476" cy="1281476"/>
            </a:xfrm>
            <a:prstGeom prst="rect">
              <a:avLst/>
            </a:prstGeom>
          </p:spPr>
        </p:pic>
        <p:pic>
          <p:nvPicPr>
            <p:cNvPr id="28" name="グラフィックス 27" descr="丘の光景 枠線">
              <a:extLst>
                <a:ext uri="{FF2B5EF4-FFF2-40B4-BE49-F238E27FC236}">
                  <a16:creationId xmlns:a16="http://schemas.microsoft.com/office/drawing/2014/main" id="{5757E71B-DCCB-9604-7854-913B300F55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12000" y="1979858"/>
              <a:ext cx="1087543" cy="1087543"/>
            </a:xfrm>
            <a:prstGeom prst="rect">
              <a:avLst/>
            </a:prstGeom>
          </p:spPr>
        </p:pic>
        <p:pic>
          <p:nvPicPr>
            <p:cNvPr id="30" name="グラフィックス 29" descr="右矢印 単色塗りつぶし">
              <a:extLst>
                <a:ext uri="{FF2B5EF4-FFF2-40B4-BE49-F238E27FC236}">
                  <a16:creationId xmlns:a16="http://schemas.microsoft.com/office/drawing/2014/main" id="{ADC41F06-27B9-DA16-1C53-14420EF998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92000" y="2375501"/>
              <a:ext cx="314331" cy="314331"/>
            </a:xfrm>
            <a:prstGeom prst="rect">
              <a:avLst/>
            </a:prstGeom>
          </p:spPr>
        </p:pic>
      </p:grp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8FA7D2-2B93-4107-36C2-C1951CB45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78910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3D48-18A8-8AF8-1C8E-4AE7CF4A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689226-6742-8F31-3DD7-3F48A835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Outline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F9C42B-9768-0181-F19B-5AF2692CA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2"/>
                </a:solidFill>
              </a:rPr>
              <a:t>1.   </a:t>
            </a:r>
            <a:r>
              <a:rPr kumimoji="1"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Introduction</a:t>
            </a: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2"/>
                </a:solidFill>
              </a:rPr>
              <a:t>2.   </a:t>
            </a:r>
            <a:r>
              <a:rPr kumimoji="1"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Related Work</a:t>
            </a:r>
          </a:p>
          <a:p>
            <a:pPr>
              <a:lnSpc>
                <a:spcPct val="150000"/>
              </a:lnSpc>
            </a:pPr>
            <a:r>
              <a:rPr lang="en-US" altLang="ja-JP" b="1" dirty="0">
                <a:solidFill>
                  <a:schemeClr val="accent1"/>
                </a:solidFill>
              </a:rPr>
              <a:t>3.   </a:t>
            </a:r>
            <a:r>
              <a:rPr lang="en-US" altLang="ja-JP" b="1" dirty="0"/>
              <a:t>Method</a:t>
            </a:r>
            <a:r>
              <a:rPr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1800" dirty="0">
                <a:solidFill>
                  <a:schemeClr val="tx2"/>
                </a:solidFill>
              </a:rPr>
              <a:t>— overview &amp; three steps</a:t>
            </a:r>
            <a:endParaRPr lang="en-US" altLang="ja-JP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2"/>
                </a:solidFill>
              </a:rPr>
              <a:t>4.   </a:t>
            </a:r>
            <a:r>
              <a:rPr kumimoji="1"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Pilot Experiment</a:t>
            </a:r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2"/>
                </a:solidFill>
              </a:rPr>
              <a:t>5.   </a:t>
            </a:r>
            <a:r>
              <a:rPr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Conclusion &amp; Future Work</a:t>
            </a:r>
            <a:endParaRPr kumimoji="1" lang="ja-JP" alt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4A6669-44A4-3B51-FDAC-E1F7BEED3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0497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8869B-ED5C-01D1-0504-D16039BC2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722592E-06FA-4FDE-FABA-3E0FCB9064F6}"/>
              </a:ext>
            </a:extLst>
          </p:cNvPr>
          <p:cNvSpPr txBox="1"/>
          <p:nvPr/>
        </p:nvSpPr>
        <p:spPr>
          <a:xfrm flipH="1">
            <a:off x="462600" y="3726509"/>
            <a:ext cx="8229601" cy="831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2100" b="1" u="heavy" dirty="0">
                <a:uFill>
                  <a:solidFill>
                    <a:schemeClr val="accent2"/>
                  </a:solidFill>
                </a:uFill>
              </a:rPr>
              <a:t>STEP 3  </a:t>
            </a:r>
            <a:r>
              <a:rPr lang="en-US" altLang="ja-JP" sz="2100" b="1" u="heavy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Model Validation</a:t>
            </a:r>
          </a:p>
          <a:p>
            <a:pPr>
              <a:lnSpc>
                <a:spcPct val="120000"/>
              </a:lnSpc>
            </a:pPr>
            <a:r>
              <a:rPr lang="en-US" altLang="ja-JP" sz="2100" dirty="0"/>
              <a:t>	       — Compare with human rating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EC35EF2-DC5F-255B-A5E6-FA7F1BEF944F}"/>
              </a:ext>
            </a:extLst>
          </p:cNvPr>
          <p:cNvSpPr txBox="1"/>
          <p:nvPr/>
        </p:nvSpPr>
        <p:spPr>
          <a:xfrm flipH="1">
            <a:off x="462600" y="1988215"/>
            <a:ext cx="8229601" cy="831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2100" b="1" u="heavy" dirty="0">
                <a:uFill>
                  <a:solidFill>
                    <a:schemeClr val="accent2"/>
                  </a:solidFill>
                </a:uFill>
              </a:rPr>
              <a:t>STEP 1  </a:t>
            </a:r>
            <a:r>
              <a:rPr lang="en-US" altLang="ja-JP" sz="2100" b="1" u="heavy" dirty="0">
                <a:solidFill>
                  <a:schemeClr val="accent5"/>
                </a:solidFill>
                <a:uFill>
                  <a:solidFill>
                    <a:schemeClr val="accent2"/>
                  </a:solidFill>
                </a:uFill>
              </a:rPr>
              <a:t>Visibility Evaluation Experiment</a:t>
            </a:r>
          </a:p>
          <a:p>
            <a:pPr>
              <a:lnSpc>
                <a:spcPct val="120000"/>
              </a:lnSpc>
            </a:pPr>
            <a:r>
              <a:rPr lang="en-US" altLang="ja-JP" sz="2100" dirty="0"/>
              <a:t>	       — Quantify perceptual effects on visibility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4FC85FC-A515-E5D7-A14D-699450BC25D9}"/>
              </a:ext>
            </a:extLst>
          </p:cNvPr>
          <p:cNvSpPr txBox="1"/>
          <p:nvPr/>
        </p:nvSpPr>
        <p:spPr>
          <a:xfrm flipH="1">
            <a:off x="462600" y="2857362"/>
            <a:ext cx="8229601" cy="831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2100" b="1" u="heavy" dirty="0">
                <a:uFill>
                  <a:solidFill>
                    <a:schemeClr val="accent2"/>
                  </a:solidFill>
                </a:uFill>
              </a:rPr>
              <a:t>STEP 2  </a:t>
            </a:r>
            <a:r>
              <a:rPr lang="en-US" altLang="ja-JP" sz="2100" b="1" u="heavy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Model Extension</a:t>
            </a:r>
          </a:p>
          <a:p>
            <a:pPr>
              <a:lnSpc>
                <a:spcPct val="120000"/>
              </a:lnSpc>
            </a:pPr>
            <a:r>
              <a:rPr lang="en-US" altLang="ja-JP" sz="2100" dirty="0"/>
              <a:t>	       — Extend input processing from results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BBB2350-75C2-62B4-6F70-FA065E7DA322}"/>
              </a:ext>
            </a:extLst>
          </p:cNvPr>
          <p:cNvCxnSpPr>
            <a:cxnSpLocks/>
          </p:cNvCxnSpPr>
          <p:nvPr/>
        </p:nvCxnSpPr>
        <p:spPr>
          <a:xfrm>
            <a:off x="936294" y="2355750"/>
            <a:ext cx="0" cy="612000"/>
          </a:xfrm>
          <a:prstGeom prst="line">
            <a:avLst/>
          </a:prstGeom>
          <a:ln w="107950">
            <a:solidFill>
              <a:schemeClr val="accent2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D4BEF3E-67CC-4A08-00C4-57E357DF767D}"/>
              </a:ext>
            </a:extLst>
          </p:cNvPr>
          <p:cNvCxnSpPr>
            <a:cxnSpLocks/>
          </p:cNvCxnSpPr>
          <p:nvPr/>
        </p:nvCxnSpPr>
        <p:spPr>
          <a:xfrm>
            <a:off x="936294" y="3219750"/>
            <a:ext cx="0" cy="612000"/>
          </a:xfrm>
          <a:prstGeom prst="line">
            <a:avLst/>
          </a:prstGeom>
          <a:ln w="107950">
            <a:solidFill>
              <a:schemeClr val="accent2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A4A9B196-5D33-33CE-A951-712DFB7694AC}"/>
              </a:ext>
            </a:extLst>
          </p:cNvPr>
          <p:cNvCxnSpPr>
            <a:cxnSpLocks/>
          </p:cNvCxnSpPr>
          <p:nvPr/>
        </p:nvCxnSpPr>
        <p:spPr>
          <a:xfrm>
            <a:off x="936294" y="4083750"/>
            <a:ext cx="0" cy="576000"/>
          </a:xfrm>
          <a:prstGeom prst="straightConnector1">
            <a:avLst/>
          </a:prstGeom>
          <a:ln w="107950">
            <a:solidFill>
              <a:schemeClr val="accent2"/>
            </a:solidFill>
            <a:headEnd type="none"/>
            <a:tailEnd type="stealth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3CF2F3D-8895-E49F-3ECD-8B7454C803C6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54D5D60-A8DA-AB7A-608F-6E6DD7A366EE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FE1AAA-0C1D-CCAF-6038-C8F9AC02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Method: Overview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337F9D-C88D-08FD-82DB-78434F4AE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504000"/>
          </a:xfrm>
        </p:spPr>
        <p:txBody>
          <a:bodyPr/>
          <a:lstStyle/>
          <a:p>
            <a:pPr algn="ctr"/>
            <a:r>
              <a:rPr lang="en-US" altLang="ja-JP" b="1" dirty="0">
                <a:solidFill>
                  <a:schemeClr val="accent1"/>
                </a:solidFill>
              </a:rPr>
              <a:t>Three steps </a:t>
            </a:r>
            <a:r>
              <a:rPr lang="en-US" altLang="ja-JP" dirty="0"/>
              <a:t>to extend  Fukiage’s model for OST-AR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E16B8B-1BFD-A93B-9A53-4676569C6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86235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5037-D6B3-8185-6261-5DF09677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E3083C1-AE12-48FD-19E4-8B8085AE19E9}"/>
              </a:ext>
            </a:extLst>
          </p:cNvPr>
          <p:cNvSpPr txBox="1"/>
          <p:nvPr/>
        </p:nvSpPr>
        <p:spPr>
          <a:xfrm flipH="1">
            <a:off x="6053400" y="1851750"/>
            <a:ext cx="2628000" cy="23882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Linear summation</a:t>
            </a:r>
          </a:p>
          <a:p>
            <a:pPr algn="ctr">
              <a:lnSpc>
                <a:spcPct val="120000"/>
              </a:lnSpc>
            </a:pPr>
            <a:endParaRPr lang="en-US" altLang="ja-JP" b="1" u="heavy" dirty="0">
              <a:solidFill>
                <a:schemeClr val="accent1"/>
              </a:solidFill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endParaRPr lang="en-US" altLang="ja-JP" b="1" u="heavy" dirty="0">
              <a:solidFill>
                <a:schemeClr val="accent1"/>
              </a:solidFill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endParaRPr lang="en-US" altLang="ja-JP" b="1" u="heavy" dirty="0">
              <a:solidFill>
                <a:schemeClr val="accent1"/>
              </a:solidFill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endParaRPr lang="en-US" altLang="ja-JP" b="1" u="heavy" dirty="0">
              <a:solidFill>
                <a:schemeClr val="accent1"/>
              </a:solidFill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r>
              <a:rPr lang="en-US" altLang="ja-JP" b="1" dirty="0">
                <a:uFill>
                  <a:solidFill>
                    <a:schemeClr val="accent2"/>
                  </a:solidFill>
                </a:uFill>
              </a:rPr>
              <a:t>Contrast perception</a:t>
            </a:r>
          </a:p>
          <a:p>
            <a:pPr algn="ctr">
              <a:lnSpc>
                <a:spcPct val="120000"/>
              </a:lnSpc>
            </a:pPr>
            <a:r>
              <a:rPr lang="en-US" altLang="ja-JP" b="1" dirty="0">
                <a:uFill>
                  <a:solidFill>
                    <a:schemeClr val="accent2"/>
                  </a:solidFill>
                </a:uFill>
              </a:rPr>
              <a:t>change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5A4A997-4F10-33A6-BF2F-2CA2E6AD71DB}"/>
              </a:ext>
            </a:extLst>
          </p:cNvPr>
          <p:cNvSpPr txBox="1"/>
          <p:nvPr/>
        </p:nvSpPr>
        <p:spPr>
          <a:xfrm flipH="1">
            <a:off x="462600" y="1851750"/>
            <a:ext cx="2628000" cy="23882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BG perception change</a:t>
            </a:r>
          </a:p>
          <a:p>
            <a:pPr algn="ctr">
              <a:lnSpc>
                <a:spcPct val="120000"/>
              </a:lnSpc>
            </a:pPr>
            <a:endParaRPr lang="en-US" altLang="ja-JP" b="1" u="heavy" dirty="0"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endParaRPr lang="en-US" altLang="ja-JP" b="1" u="heavy" dirty="0"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endParaRPr lang="en-US" altLang="ja-JP" b="1" u="heavy" dirty="0"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endParaRPr lang="en-US" altLang="ja-JP" b="1" u="heavy" dirty="0"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r>
              <a:rPr lang="en-US" altLang="ja-JP" b="1" dirty="0">
                <a:uFill>
                  <a:solidFill>
                    <a:schemeClr val="accent2"/>
                  </a:solidFill>
                </a:uFill>
              </a:rPr>
              <a:t>Defocus  </a:t>
            </a:r>
            <a:br>
              <a:rPr lang="en-US" altLang="ja-JP" b="1" dirty="0">
                <a:uFill>
                  <a:solidFill>
                    <a:schemeClr val="accent2"/>
                  </a:solidFill>
                </a:uFill>
              </a:rPr>
            </a:br>
            <a:r>
              <a:rPr lang="en-US" altLang="ja-JP" b="1" dirty="0">
                <a:uFill>
                  <a:solidFill>
                    <a:schemeClr val="accent2"/>
                  </a:solidFill>
                </a:uFill>
              </a:rPr>
              <a:t>+ Binocular disparity</a:t>
            </a:r>
            <a:endParaRPr lang="en-US" altLang="ja-JP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776E94C-BE28-83F3-7280-43B8ED9E2CB6}"/>
              </a:ext>
            </a:extLst>
          </p:cNvPr>
          <p:cNvSpPr txBox="1"/>
          <p:nvPr/>
        </p:nvSpPr>
        <p:spPr>
          <a:xfrm flipH="1">
            <a:off x="3248489" y="1857183"/>
            <a:ext cx="2628000" cy="23882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BG discounting</a:t>
            </a:r>
          </a:p>
          <a:p>
            <a:pPr algn="ctr">
              <a:lnSpc>
                <a:spcPct val="120000"/>
              </a:lnSpc>
            </a:pPr>
            <a:endParaRPr lang="en-US" altLang="ja-JP" b="1" u="heavy" dirty="0">
              <a:solidFill>
                <a:schemeClr val="accent1"/>
              </a:solidFill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endParaRPr lang="en-US" altLang="ja-JP" b="1" u="heavy" dirty="0">
              <a:solidFill>
                <a:schemeClr val="accent1"/>
              </a:solidFill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endParaRPr lang="en-US" altLang="ja-JP" b="1" u="heavy" dirty="0">
              <a:solidFill>
                <a:schemeClr val="accent1"/>
              </a:solidFill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endParaRPr lang="en-US" altLang="ja-JP" b="1" u="heavy" dirty="0">
              <a:solidFill>
                <a:schemeClr val="accent1"/>
              </a:solidFill>
              <a:uFill>
                <a:solidFill>
                  <a:schemeClr val="accent2"/>
                </a:solidFill>
              </a:uFill>
            </a:endParaRPr>
          </a:p>
          <a:p>
            <a:pPr algn="ctr">
              <a:lnSpc>
                <a:spcPct val="120000"/>
              </a:lnSpc>
            </a:pPr>
            <a:r>
              <a:rPr lang="en-US" altLang="ja-JP" b="1" dirty="0">
                <a:uFill>
                  <a:solidFill>
                    <a:schemeClr val="accent2"/>
                  </a:solidFill>
                </a:uFill>
              </a:rPr>
              <a:t>Non-optical perception change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0CCE0D-CF4B-2666-325E-60B1EA44D105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8FBCB01-3790-28DE-1EA8-37E184C49C4B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AF7F9D13-8CBD-3D7B-DF27-307FA665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Method </a:t>
            </a:r>
            <a:r>
              <a:rPr lang="en-US" altLang="ja-JP" dirty="0">
                <a:solidFill>
                  <a:schemeClr val="tx1"/>
                </a:solidFill>
              </a:rPr>
              <a:t>(1): Visibility Evaluation Experiment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C8EA4B-4C17-67A8-E5C9-F57559A77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504000"/>
          </a:xfrm>
        </p:spPr>
        <p:txBody>
          <a:bodyPr/>
          <a:lstStyle/>
          <a:p>
            <a:pPr algn="ctr"/>
            <a:r>
              <a:rPr lang="en-US" altLang="ja-JP" dirty="0"/>
              <a:t>Quantify </a:t>
            </a:r>
            <a:r>
              <a:rPr lang="en-US" altLang="ja-JP" b="1" dirty="0">
                <a:solidFill>
                  <a:schemeClr val="accent1"/>
                </a:solidFill>
              </a:rPr>
              <a:t>how each OST-AR specific factor affect visibility</a:t>
            </a:r>
          </a:p>
        </p:txBody>
      </p:sp>
      <p:sp>
        <p:nvSpPr>
          <p:cNvPr id="4" name="コンテンツ プレースホルダー 9">
            <a:extLst>
              <a:ext uri="{FF2B5EF4-FFF2-40B4-BE49-F238E27FC236}">
                <a16:creationId xmlns:a16="http://schemas.microsoft.com/office/drawing/2014/main" id="{12C62D54-374A-4D8D-D885-6067CBF960D2}"/>
              </a:ext>
            </a:extLst>
          </p:cNvPr>
          <p:cNvSpPr txBox="1">
            <a:spLocks/>
          </p:cNvSpPr>
          <p:nvPr/>
        </p:nvSpPr>
        <p:spPr>
          <a:xfrm>
            <a:off x="382254" y="4428664"/>
            <a:ext cx="8229600" cy="515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100" b="1" dirty="0">
                <a:solidFill>
                  <a:schemeClr val="accent5"/>
                </a:solidFill>
              </a:rPr>
              <a:t>→</a:t>
            </a:r>
            <a:r>
              <a:rPr lang="en-US" altLang="ja-JP" sz="2100" b="1" dirty="0">
                <a:solidFill>
                  <a:schemeClr val="accent5"/>
                </a:solidFill>
              </a:rPr>
              <a:t>Decide extensions</a:t>
            </a:r>
            <a:r>
              <a:rPr lang="en-US" altLang="ja-JP" sz="2100" dirty="0">
                <a:solidFill>
                  <a:schemeClr val="accent5"/>
                </a:solidFill>
              </a:rPr>
              <a:t> &amp; </a:t>
            </a:r>
            <a:r>
              <a:rPr lang="en-US" altLang="ja-JP" sz="2100" b="1" dirty="0">
                <a:solidFill>
                  <a:schemeClr val="accent5"/>
                </a:solidFill>
              </a:rPr>
              <a:t>fit parameters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E2629A49-085C-B4E4-AFE3-2E56169161FB}"/>
              </a:ext>
            </a:extLst>
          </p:cNvPr>
          <p:cNvGrpSpPr>
            <a:grpSpLocks noChangeAspect="1"/>
          </p:cNvGrpSpPr>
          <p:nvPr/>
        </p:nvGrpSpPr>
        <p:grpSpPr>
          <a:xfrm>
            <a:off x="589551" y="2355750"/>
            <a:ext cx="2374097" cy="1150862"/>
            <a:chOff x="6012000" y="1858399"/>
            <a:chExt cx="2643538" cy="1281476"/>
          </a:xfrm>
        </p:grpSpPr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2C270DF1-D975-AAC3-1B99-EF1562929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4062" y="1858399"/>
              <a:ext cx="1281476" cy="1281476"/>
            </a:xfrm>
            <a:prstGeom prst="rect">
              <a:avLst/>
            </a:prstGeom>
          </p:spPr>
        </p:pic>
        <p:pic>
          <p:nvPicPr>
            <p:cNvPr id="31" name="グラフィックス 30" descr="丘の光景 枠線">
              <a:extLst>
                <a:ext uri="{FF2B5EF4-FFF2-40B4-BE49-F238E27FC236}">
                  <a16:creationId xmlns:a16="http://schemas.microsoft.com/office/drawing/2014/main" id="{13171806-FE78-F370-2F2A-17693EFDEC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12000" y="1979858"/>
              <a:ext cx="1087543" cy="1087543"/>
            </a:xfrm>
            <a:prstGeom prst="rect">
              <a:avLst/>
            </a:prstGeom>
          </p:spPr>
        </p:pic>
        <p:pic>
          <p:nvPicPr>
            <p:cNvPr id="32" name="グラフィックス 31" descr="右矢印 単色塗りつぶし">
              <a:extLst>
                <a:ext uri="{FF2B5EF4-FFF2-40B4-BE49-F238E27FC236}">
                  <a16:creationId xmlns:a16="http://schemas.microsoft.com/office/drawing/2014/main" id="{26F5F652-5298-3F7C-3334-88B0BFCB8E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92000" y="2375501"/>
              <a:ext cx="314331" cy="314331"/>
            </a:xfrm>
            <a:prstGeom prst="rect">
              <a:avLst/>
            </a:prstGeom>
          </p:spPr>
        </p:pic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67297DDA-EDBC-F270-EFD8-E31B71601332}"/>
              </a:ext>
            </a:extLst>
          </p:cNvPr>
          <p:cNvGrpSpPr>
            <a:grpSpLocks noChangeAspect="1"/>
          </p:cNvGrpSpPr>
          <p:nvPr/>
        </p:nvGrpSpPr>
        <p:grpSpPr>
          <a:xfrm>
            <a:off x="3315431" y="2377795"/>
            <a:ext cx="2513137" cy="1158352"/>
            <a:chOff x="3155648" y="2445623"/>
            <a:chExt cx="2853009" cy="1315005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0A716A3F-CCD3-1486-AAFF-732C05731C8F}"/>
                </a:ext>
              </a:extLst>
            </p:cNvPr>
            <p:cNvGrpSpPr/>
            <p:nvPr/>
          </p:nvGrpSpPr>
          <p:grpSpPr>
            <a:xfrm>
              <a:off x="4445119" y="2445623"/>
              <a:ext cx="1563538" cy="1281476"/>
              <a:chOff x="7092000" y="1858399"/>
              <a:chExt cx="1563538" cy="1281476"/>
            </a:xfrm>
          </p:grpSpPr>
          <p:pic>
            <p:nvPicPr>
              <p:cNvPr id="35" name="図 34">
                <a:extLst>
                  <a:ext uri="{FF2B5EF4-FFF2-40B4-BE49-F238E27FC236}">
                    <a16:creationId xmlns:a16="http://schemas.microsoft.com/office/drawing/2014/main" id="{8AFECC70-EE92-7A44-E36D-9E2610D8D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37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colorTemperature colorTemp="62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374062" y="1858399"/>
                <a:ext cx="1281476" cy="1281476"/>
              </a:xfrm>
              <a:prstGeom prst="rect">
                <a:avLst/>
              </a:prstGeom>
              <a:effectLst>
                <a:reflection stA="45000" endPos="5000" dist="50800" dir="5400000" sy="-100000" algn="bl" rotWithShape="0"/>
              </a:effectLst>
            </p:spPr>
          </p:pic>
          <p:pic>
            <p:nvPicPr>
              <p:cNvPr id="37" name="グラフィックス 36" descr="右矢印 単色塗りつぶし">
                <a:extLst>
                  <a:ext uri="{FF2B5EF4-FFF2-40B4-BE49-F238E27FC236}">
                    <a16:creationId xmlns:a16="http://schemas.microsoft.com/office/drawing/2014/main" id="{EEE29A27-2AA4-3168-E357-E41D304A8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092000" y="2375501"/>
                <a:ext cx="314331" cy="314331"/>
              </a:xfrm>
              <a:prstGeom prst="rect">
                <a:avLst/>
              </a:prstGeom>
            </p:spPr>
          </p:pic>
        </p:grp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26AA108F-480E-6163-4CA1-4A52D0F48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5648" y="2479152"/>
              <a:ext cx="1281476" cy="1281476"/>
            </a:xfrm>
            <a:prstGeom prst="rect">
              <a:avLst/>
            </a:prstGeom>
          </p:spPr>
        </p:pic>
      </p:grpSp>
      <p:pic>
        <p:nvPicPr>
          <p:cNvPr id="40" name="図 39">
            <a:extLst>
              <a:ext uri="{FF2B5EF4-FFF2-40B4-BE49-F238E27FC236}">
                <a16:creationId xmlns:a16="http://schemas.microsoft.com/office/drawing/2014/main" id="{BED889AF-65A5-6352-D103-D8BD63FDF7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6426" y="2342865"/>
            <a:ext cx="1661244" cy="1145850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AE5FB15B-28A7-EBD7-3E21-6FCBAE996D75}"/>
              </a:ext>
            </a:extLst>
          </p:cNvPr>
          <p:cNvCxnSpPr>
            <a:cxnSpLocks/>
          </p:cNvCxnSpPr>
          <p:nvPr/>
        </p:nvCxnSpPr>
        <p:spPr>
          <a:xfrm>
            <a:off x="3169544" y="1846260"/>
            <a:ext cx="0" cy="2527844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8F5B29C-EB3E-8707-D965-F5F15765B589}"/>
              </a:ext>
            </a:extLst>
          </p:cNvPr>
          <p:cNvCxnSpPr>
            <a:cxnSpLocks/>
          </p:cNvCxnSpPr>
          <p:nvPr/>
        </p:nvCxnSpPr>
        <p:spPr>
          <a:xfrm>
            <a:off x="5964945" y="1846260"/>
            <a:ext cx="0" cy="2527844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369912B6-5802-B84E-8560-2091CE436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r>
              <a:rPr lang="en-US"/>
              <a:t>/28</a:t>
            </a:r>
            <a:endParaRPr lang="en-US" sz="18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579932-E669-0BA6-46F6-89D86249D6FE}"/>
              </a:ext>
            </a:extLst>
          </p:cNvPr>
          <p:cNvSpPr txBox="1"/>
          <p:nvPr/>
        </p:nvSpPr>
        <p:spPr>
          <a:xfrm>
            <a:off x="8145626" y="3280345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[1]</a:t>
            </a:r>
            <a:endParaRPr kumimoji="1"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2A2F7D3-DA16-F4FB-CD99-B8C66AAD8A4C}"/>
              </a:ext>
            </a:extLst>
          </p:cNvPr>
          <p:cNvSpPr txBox="1"/>
          <p:nvPr/>
        </p:nvSpPr>
        <p:spPr>
          <a:xfrm>
            <a:off x="0" y="4894716"/>
            <a:ext cx="918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[1] Kim et al. “Supra-threshold Contrast Perception in Augmented Reality.” 2025 </a:t>
            </a:r>
          </a:p>
        </p:txBody>
      </p:sp>
    </p:spTree>
    <p:extLst>
      <p:ext uri="{BB962C8B-B14F-4D97-AF65-F5344CB8AC3E}">
        <p14:creationId xmlns:p14="http://schemas.microsoft.com/office/powerpoint/2010/main" val="210767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14988-7CD5-9FE3-B5C9-3F339ED67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A9E58E-A882-CEBC-8479-788B717BA898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DA918F6-5C75-CE35-8E36-28B5895631C0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0C52A6-156A-0178-AB17-4D7E955FB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Method </a:t>
            </a:r>
            <a:r>
              <a:rPr lang="en-US" altLang="ja-JP" dirty="0">
                <a:solidFill>
                  <a:schemeClr val="tx1"/>
                </a:solidFill>
              </a:rPr>
              <a:t>(2): Model Extension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7236D3-76EE-A0CC-9798-129C2E762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504000"/>
          </a:xfrm>
        </p:spPr>
        <p:txBody>
          <a:bodyPr/>
          <a:lstStyle/>
          <a:p>
            <a:pPr algn="ctr"/>
            <a:r>
              <a:rPr lang="en-US" altLang="ja-JP" dirty="0"/>
              <a:t>Extend model pipeline with </a:t>
            </a:r>
            <a:r>
              <a:rPr lang="en-US" altLang="ja-JP" b="1" dirty="0">
                <a:solidFill>
                  <a:schemeClr val="accent1"/>
                </a:solidFill>
              </a:rPr>
              <a:t>four OST-AR-specific mechanisms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D2984E-D9FF-B904-1A7A-4AFBD83D50A7}"/>
              </a:ext>
            </a:extLst>
          </p:cNvPr>
          <p:cNvSpPr txBox="1"/>
          <p:nvPr/>
        </p:nvSpPr>
        <p:spPr>
          <a:xfrm flipH="1">
            <a:off x="462600" y="1988214"/>
            <a:ext cx="4037400" cy="45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①  </a:t>
            </a:r>
            <a:r>
              <a:rPr lang="en-US" altLang="ja-JP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Defocus blur </a:t>
            </a:r>
            <a:r>
              <a:rPr lang="en-US" altLang="ja-JP" sz="2100" dirty="0">
                <a:uFill>
                  <a:solidFill>
                    <a:schemeClr val="accent2"/>
                  </a:solidFill>
                </a:uFill>
              </a:rPr>
              <a:t>(Calculate PSF)</a:t>
            </a:r>
            <a:endParaRPr lang="en-US" altLang="ja-JP" sz="21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5E8AF06-6259-BA3E-77DA-5BFA296A29DF}"/>
              </a:ext>
            </a:extLst>
          </p:cNvPr>
          <p:cNvSpPr txBox="1"/>
          <p:nvPr/>
        </p:nvSpPr>
        <p:spPr>
          <a:xfrm flipH="1">
            <a:off x="4644000" y="1988214"/>
            <a:ext cx="4037400" cy="111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②  </a:t>
            </a:r>
            <a:r>
              <a:rPr lang="en-US" altLang="ja-JP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Disparity &amp; combination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    Geometric computation 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    &amp; existing-model selection</a:t>
            </a:r>
            <a:endParaRPr lang="en-US" altLang="ja-JP" sz="2100" b="1" dirty="0">
              <a:uFill>
                <a:solidFill>
                  <a:schemeClr val="accent2"/>
                </a:solidFill>
              </a:u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302EA0-9ED2-85A8-319C-BF4051D49EF7}"/>
              </a:ext>
            </a:extLst>
          </p:cNvPr>
          <p:cNvSpPr txBox="1"/>
          <p:nvPr/>
        </p:nvSpPr>
        <p:spPr>
          <a:xfrm flipH="1">
            <a:off x="468000" y="3316241"/>
            <a:ext cx="4037400" cy="45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③  </a:t>
            </a:r>
            <a:r>
              <a:rPr lang="en-US" altLang="ja-JP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HDR </a:t>
            </a:r>
            <a:r>
              <a:rPr lang="ja-JP" altLang="en-US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→ </a:t>
            </a:r>
            <a:r>
              <a:rPr lang="en-US" altLang="ja-JP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SDR </a:t>
            </a:r>
            <a:r>
              <a:rPr lang="en-US" altLang="ja-JP" sz="2100" dirty="0">
                <a:uFill>
                  <a:solidFill>
                    <a:schemeClr val="accent2"/>
                  </a:solidFill>
                </a:uFill>
              </a:rPr>
              <a:t>(Tone mapping)</a:t>
            </a:r>
            <a:endParaRPr lang="en-US" altLang="ja-JP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3CA3D81-0DBD-2693-0802-04C8F0A4A3F6}"/>
                  </a:ext>
                </a:extLst>
              </p:cNvPr>
              <p:cNvSpPr txBox="1"/>
              <p:nvPr/>
            </p:nvSpPr>
            <p:spPr>
              <a:xfrm>
                <a:off x="957784" y="2510330"/>
                <a:ext cx="3121046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e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3CA3D81-0DBD-2693-0802-04C8F0A4A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784" y="2510330"/>
                <a:ext cx="3121046" cy="617861"/>
              </a:xfrm>
              <a:prstGeom prst="rect">
                <a:avLst/>
              </a:prstGeom>
              <a:blipFill>
                <a:blip r:embed="rId2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8696AE8-13EC-C003-B3BA-1FC39D8B2CD3}"/>
              </a:ext>
            </a:extLst>
          </p:cNvPr>
          <p:cNvSpPr txBox="1"/>
          <p:nvPr/>
        </p:nvSpPr>
        <p:spPr>
          <a:xfrm flipH="1">
            <a:off x="4638600" y="3316996"/>
            <a:ext cx="4037400" cy="78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④  </a:t>
            </a:r>
            <a:r>
              <a:rPr lang="en-US" altLang="ja-JP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Background discounting 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    Fit the attenuation process</a:t>
            </a:r>
            <a:endParaRPr lang="en-US" altLang="ja-JP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F8522D4-9C50-A472-20BC-048275202075}"/>
                  </a:ext>
                </a:extLst>
              </p:cNvPr>
              <p:cNvSpPr txBox="1"/>
              <p:nvPr/>
            </p:nvSpPr>
            <p:spPr>
              <a:xfrm>
                <a:off x="1535560" y="3810560"/>
                <a:ext cx="1891480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ja-JP" altLang="en-US" i="1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F8522D4-9C50-A472-20BC-048275202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560" y="3810560"/>
                <a:ext cx="1891480" cy="576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9E4CE07-448F-5B18-AC79-9BFDA3D0604A}"/>
              </a:ext>
            </a:extLst>
          </p:cNvPr>
          <p:cNvCxnSpPr>
            <a:cxnSpLocks/>
          </p:cNvCxnSpPr>
          <p:nvPr/>
        </p:nvCxnSpPr>
        <p:spPr>
          <a:xfrm>
            <a:off x="4572000" y="1995750"/>
            <a:ext cx="0" cy="2527844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A0246F5-032D-AC99-00D1-E0BD576C0B79}"/>
              </a:ext>
            </a:extLst>
          </p:cNvPr>
          <p:cNvCxnSpPr>
            <a:cxnSpLocks/>
          </p:cNvCxnSpPr>
          <p:nvPr/>
        </p:nvCxnSpPr>
        <p:spPr>
          <a:xfrm flipH="1">
            <a:off x="478801" y="3219750"/>
            <a:ext cx="8186399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E8CBF86-8C62-8869-948B-5BB14F062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r>
              <a:rPr lang="en-US"/>
              <a:t>/28</a:t>
            </a:r>
            <a:endParaRPr lang="en-US" sz="18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03087CD-CBAE-7C4A-D77D-6CA3E2105E84}"/>
              </a:ext>
            </a:extLst>
          </p:cNvPr>
          <p:cNvSpPr txBox="1"/>
          <p:nvPr/>
        </p:nvSpPr>
        <p:spPr>
          <a:xfrm>
            <a:off x="3458026" y="4151886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[1]</a:t>
            </a:r>
            <a:endParaRPr kumimoji="1"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5F3A9B-DD85-E96E-C171-F12E9B59B363}"/>
              </a:ext>
            </a:extLst>
          </p:cNvPr>
          <p:cNvSpPr txBox="1"/>
          <p:nvPr/>
        </p:nvSpPr>
        <p:spPr>
          <a:xfrm>
            <a:off x="0" y="4894716"/>
            <a:ext cx="918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[1] Reinhard et al. “Photographic tone reproduction for digital images.” 2022</a:t>
            </a:r>
          </a:p>
        </p:txBody>
      </p:sp>
    </p:spTree>
    <p:extLst>
      <p:ext uri="{BB962C8B-B14F-4D97-AF65-F5344CB8AC3E}">
        <p14:creationId xmlns:p14="http://schemas.microsoft.com/office/powerpoint/2010/main" val="1116749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3F8B-ABD4-2930-F370-8BC5D307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B8119D2-9CE4-C732-0F56-1BBF8177F208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C3B3C7D-E7DD-ECB5-E255-5A7EF73333A8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74902BA3-2FED-A766-9933-E3CF8709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Method </a:t>
            </a:r>
            <a:r>
              <a:rPr lang="en-US" altLang="ja-JP" dirty="0"/>
              <a:t>(3): Model Validation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BF7D1D-0227-76B8-450C-23BD6C73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432000"/>
          </a:xfrm>
        </p:spPr>
        <p:txBody>
          <a:bodyPr/>
          <a:lstStyle/>
          <a:p>
            <a:pPr algn="ctr"/>
            <a:r>
              <a:rPr lang="en-US" altLang="ja-JP" dirty="0"/>
              <a:t>Evaluate the model by </a:t>
            </a:r>
            <a:r>
              <a:rPr lang="en-US" altLang="ja-JP" b="1" dirty="0">
                <a:solidFill>
                  <a:schemeClr val="accent1"/>
                </a:solidFill>
              </a:rPr>
              <a:t>comparing with human evaluation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944B874-8925-4343-21FA-A0254139B5A2}"/>
              </a:ext>
            </a:extLst>
          </p:cNvPr>
          <p:cNvSpPr/>
          <p:nvPr/>
        </p:nvSpPr>
        <p:spPr>
          <a:xfrm>
            <a:off x="457196" y="3350647"/>
            <a:ext cx="8229600" cy="123710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C39BF47-DAB8-ADCA-7FB7-1B32524470D3}"/>
              </a:ext>
            </a:extLst>
          </p:cNvPr>
          <p:cNvSpPr/>
          <p:nvPr/>
        </p:nvSpPr>
        <p:spPr>
          <a:xfrm>
            <a:off x="467999" y="2019878"/>
            <a:ext cx="8218797" cy="83987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0DDA6779-F3D1-432C-7FA6-C98559955886}"/>
              </a:ext>
            </a:extLst>
          </p:cNvPr>
          <p:cNvSpPr txBox="1">
            <a:spLocks/>
          </p:cNvSpPr>
          <p:nvPr/>
        </p:nvSpPr>
        <p:spPr>
          <a:xfrm>
            <a:off x="458419" y="2019878"/>
            <a:ext cx="8229600" cy="839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b="1" dirty="0">
                <a:solidFill>
                  <a:schemeClr val="accent1"/>
                </a:solidFill>
              </a:rPr>
              <a:t>Psychophysical experiment</a:t>
            </a:r>
          </a:p>
          <a:p>
            <a:r>
              <a:rPr lang="en-US" altLang="ja-JP" dirty="0"/>
              <a:t>Visibility evaluation in OST-AR, using </a:t>
            </a:r>
            <a:r>
              <a:rPr lang="en-US" altLang="ja-JP" b="1" dirty="0"/>
              <a:t>general texture images</a:t>
            </a:r>
            <a:r>
              <a:rPr lang="en-US" altLang="ja-JP" dirty="0"/>
              <a:t>.</a:t>
            </a:r>
            <a:endParaRPr lang="en-US" altLang="ja-JP" b="1" dirty="0">
              <a:solidFill>
                <a:schemeClr val="accent1"/>
              </a:solidFill>
            </a:endParaRPr>
          </a:p>
        </p:txBody>
      </p:sp>
      <p:sp>
        <p:nvSpPr>
          <p:cNvPr id="18" name="コンテンツ プレースホルダー 2">
            <a:extLst>
              <a:ext uri="{FF2B5EF4-FFF2-40B4-BE49-F238E27FC236}">
                <a16:creationId xmlns:a16="http://schemas.microsoft.com/office/drawing/2014/main" id="{A42FAEB1-F30B-4A20-DFC5-C05C2D980B11}"/>
              </a:ext>
            </a:extLst>
          </p:cNvPr>
          <p:cNvSpPr txBox="1">
            <a:spLocks/>
          </p:cNvSpPr>
          <p:nvPr/>
        </p:nvSpPr>
        <p:spPr>
          <a:xfrm>
            <a:off x="468000" y="3363749"/>
            <a:ext cx="8229600" cy="11388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b="1" dirty="0">
                <a:solidFill>
                  <a:schemeClr val="accent1"/>
                </a:solidFill>
              </a:rPr>
              <a:t>Model Evaluation </a:t>
            </a:r>
          </a:p>
          <a:p>
            <a:r>
              <a:rPr lang="en-US" altLang="ja-JP" dirty="0"/>
              <a:t>Quantitatively compare </a:t>
            </a:r>
            <a:r>
              <a:rPr lang="en-US" altLang="ja-JP" b="1" dirty="0"/>
              <a:t>human scores </a:t>
            </a:r>
            <a:r>
              <a:rPr lang="en-US" altLang="ja-JP" dirty="0"/>
              <a:t>with </a:t>
            </a:r>
            <a:r>
              <a:rPr lang="en-US" altLang="ja-JP" b="1" dirty="0"/>
              <a:t>model predictions</a:t>
            </a:r>
          </a:p>
          <a:p>
            <a:r>
              <a:rPr lang="en-US" altLang="ja-JP" b="1" dirty="0"/>
              <a:t>(e.g., R², SROCC)</a:t>
            </a:r>
          </a:p>
        </p:txBody>
      </p:sp>
      <p:sp>
        <p:nvSpPr>
          <p:cNvPr id="19" name="矢印: 下 18">
            <a:extLst>
              <a:ext uri="{FF2B5EF4-FFF2-40B4-BE49-F238E27FC236}">
                <a16:creationId xmlns:a16="http://schemas.microsoft.com/office/drawing/2014/main" id="{E90F1178-B5AB-4912-FE9F-4A1F9321E637}"/>
              </a:ext>
            </a:extLst>
          </p:cNvPr>
          <p:cNvSpPr/>
          <p:nvPr/>
        </p:nvSpPr>
        <p:spPr>
          <a:xfrm>
            <a:off x="4325484" y="2944853"/>
            <a:ext cx="484632" cy="346897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38F4BA-0DF9-BDC2-F504-2AD84E57A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17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00061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B939-D7E7-9566-5C3E-DF77B64F5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13B56E-8725-7968-0E3B-C1CCF14F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Outline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E70CE8-236A-F9DE-4E81-076119E30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2"/>
                </a:solidFill>
              </a:rPr>
              <a:t>1.   </a:t>
            </a:r>
            <a:r>
              <a:rPr kumimoji="1"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Introduction</a:t>
            </a: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2"/>
                </a:solidFill>
              </a:rPr>
              <a:t>2.   </a:t>
            </a:r>
            <a:r>
              <a:rPr kumimoji="1"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Related Work</a:t>
            </a:r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2"/>
                </a:solidFill>
              </a:rPr>
              <a:t>3.   </a:t>
            </a:r>
            <a:r>
              <a:rPr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Method</a:t>
            </a:r>
          </a:p>
          <a:p>
            <a:pPr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1"/>
                </a:solidFill>
              </a:rPr>
              <a:t>4.   </a:t>
            </a:r>
            <a:r>
              <a:rPr kumimoji="1" lang="en-US" altLang="ja-JP" b="1" dirty="0"/>
              <a:t>Pilot Experiment </a:t>
            </a:r>
            <a:r>
              <a:rPr lang="en-US" altLang="ja-JP" sz="1800" dirty="0">
                <a:solidFill>
                  <a:schemeClr val="tx2"/>
                </a:solidFill>
              </a:rPr>
              <a:t>— design</a:t>
            </a:r>
            <a:r>
              <a:rPr lang="en-US" altLang="ja-JP" sz="1800" dirty="0"/>
              <a:t>, results, discussion</a:t>
            </a:r>
            <a:endParaRPr kumimoji="1" lang="en-US" altLang="ja-JP" sz="1800" b="1" dirty="0"/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2"/>
                </a:solidFill>
              </a:rPr>
              <a:t>5.   </a:t>
            </a:r>
            <a:r>
              <a:rPr lang="en-US" altLang="ja-JP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Conclusion &amp; Future Work</a:t>
            </a:r>
            <a:endParaRPr kumimoji="1" lang="ja-JP" alt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20B41F6-835F-DB0F-4415-2B0AF9081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18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3892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7A97-F693-1057-1E06-4F051DBDD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7CD20C0-4BBC-13D5-D48C-4DD46D373E45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BC44186-617F-A1D7-52C7-9C3A1297299B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B47DA304-F86D-FFEC-486A-34E4B4D6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Pilot Experiment: Objective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9C1C8B-DEEC-F501-72D0-7CB667BB1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432000"/>
          </a:xfrm>
        </p:spPr>
        <p:txBody>
          <a:bodyPr/>
          <a:lstStyle/>
          <a:p>
            <a:pPr algn="ctr"/>
            <a:r>
              <a:rPr lang="en-US" altLang="ja-JP" dirty="0"/>
              <a:t>Identify the </a:t>
            </a:r>
            <a:r>
              <a:rPr lang="en-US" altLang="ja-JP" b="1" dirty="0">
                <a:solidFill>
                  <a:schemeClr val="accent1"/>
                </a:solidFill>
              </a:rPr>
              <a:t>parameters &amp; conditions </a:t>
            </a:r>
            <a:r>
              <a:rPr lang="en-US" altLang="ja-JP" dirty="0"/>
              <a:t>for the main experiment</a:t>
            </a:r>
            <a:endParaRPr lang="en-US" altLang="ja-JP" b="1" dirty="0">
              <a:solidFill>
                <a:schemeClr val="accent1"/>
              </a:solidFill>
            </a:endParaRPr>
          </a:p>
        </p:txBody>
      </p:sp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46BE6572-72B9-85B7-9273-9C7BAB1A7F56}"/>
              </a:ext>
            </a:extLst>
          </p:cNvPr>
          <p:cNvSpPr txBox="1">
            <a:spLocks/>
          </p:cNvSpPr>
          <p:nvPr/>
        </p:nvSpPr>
        <p:spPr>
          <a:xfrm>
            <a:off x="458419" y="2019878"/>
            <a:ext cx="8229600" cy="839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Quantify how </a:t>
            </a:r>
            <a:r>
              <a:rPr lang="en-US" altLang="ja-JP" b="1" dirty="0"/>
              <a:t>defocus blur</a:t>
            </a:r>
            <a:r>
              <a:rPr lang="en-US" altLang="ja-JP" dirty="0"/>
              <a:t> &amp; </a:t>
            </a:r>
            <a:r>
              <a:rPr lang="en-US" altLang="ja-JP" b="1" dirty="0"/>
              <a:t>uncrossed disparity</a:t>
            </a:r>
            <a:r>
              <a:rPr lang="en-US" altLang="ja-JP" dirty="0"/>
              <a:t> affect visibility,</a:t>
            </a:r>
          </a:p>
          <a:p>
            <a:r>
              <a:rPr lang="en-US" altLang="ja-JP" dirty="0"/>
              <a:t>across: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CDF952-2738-3BEC-8F1C-49C27E686AC8}"/>
              </a:ext>
            </a:extLst>
          </p:cNvPr>
          <p:cNvSpPr txBox="1"/>
          <p:nvPr/>
        </p:nvSpPr>
        <p:spPr>
          <a:xfrm flipH="1">
            <a:off x="468000" y="2808396"/>
            <a:ext cx="4037400" cy="1995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Stimulus parameters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ja-JP" sz="2100" dirty="0">
                <a:uFill>
                  <a:solidFill>
                    <a:schemeClr val="accent2"/>
                  </a:solidFill>
                </a:uFill>
              </a:rPr>
              <a:t>Spatial frequency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ja-JP" sz="2100" dirty="0">
                <a:uFill>
                  <a:solidFill>
                    <a:schemeClr val="accent2"/>
                  </a:solidFill>
                </a:uFill>
              </a:rPr>
              <a:t>FG / BG luminance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ja-JP" sz="2100" dirty="0">
                <a:uFill>
                  <a:solidFill>
                    <a:schemeClr val="accent2"/>
                  </a:solidFill>
                </a:uFill>
              </a:rPr>
              <a:t>BG contrast</a:t>
            </a:r>
          </a:p>
          <a:p>
            <a:pPr>
              <a:lnSpc>
                <a:spcPct val="120000"/>
              </a:lnSpc>
            </a:pPr>
            <a:endParaRPr lang="en-US" altLang="ja-JP" sz="21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F045C6-427D-3FE9-74B7-2461C435CB1E}"/>
              </a:ext>
            </a:extLst>
          </p:cNvPr>
          <p:cNvSpPr txBox="1"/>
          <p:nvPr/>
        </p:nvSpPr>
        <p:spPr>
          <a:xfrm flipH="1">
            <a:off x="4638600" y="2813685"/>
            <a:ext cx="4037400" cy="1219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2100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Viewing conditions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ja-JP" sz="2100" dirty="0">
                <a:uFill>
                  <a:solidFill>
                    <a:schemeClr val="accent2"/>
                  </a:solidFill>
                </a:uFill>
              </a:rPr>
              <a:t>Diopter difference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ja-JP" sz="2100" dirty="0">
                <a:uFill>
                  <a:solidFill>
                    <a:schemeClr val="accent2"/>
                  </a:solidFill>
                </a:uFill>
              </a:rPr>
              <a:t>Ocularity</a:t>
            </a:r>
            <a:endParaRPr lang="en-US" altLang="ja-JP" sz="210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AB20BF-A5AD-FAD9-D1F4-D9775116C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19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182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9B0EF-C11D-F118-7B73-F71BF734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D9934-7053-057D-C863-7947D161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Pilot Experiment: </a:t>
            </a:r>
            <a:r>
              <a:rPr lang="en-US" altLang="ja-JP" dirty="0"/>
              <a:t>Apparatus</a:t>
            </a:r>
            <a:endParaRPr kumimoji="1" lang="ja-JP" altLang="en-US" dirty="0"/>
          </a:p>
        </p:txBody>
      </p:sp>
      <p:sp>
        <p:nvSpPr>
          <p:cNvPr id="44" name="コンテンツ プレースホルダー 43">
            <a:extLst>
              <a:ext uri="{FF2B5EF4-FFF2-40B4-BE49-F238E27FC236}">
                <a16:creationId xmlns:a16="http://schemas.microsoft.com/office/drawing/2014/main" id="{A4D4297C-0846-F4EF-326C-F0EF6CB3D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3750"/>
            <a:ext cx="4096033" cy="3368250"/>
          </a:xfrm>
        </p:spPr>
        <p:txBody>
          <a:bodyPr/>
          <a:lstStyle/>
          <a:p>
            <a:r>
              <a:rPr lang="en-US" altLang="ja-JP" b="1" dirty="0">
                <a:solidFill>
                  <a:schemeClr val="accent1"/>
                </a:solidFill>
              </a:rPr>
              <a:t>Optical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Beam splitter: </a:t>
            </a:r>
            <a:br>
              <a:rPr lang="en-US" altLang="ja-JP" dirty="0"/>
            </a:br>
            <a:r>
              <a:rPr lang="en-US" altLang="ja-JP" dirty="0"/>
              <a:t>T 20–30%, R 50–60%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2× 27" LCD, 2560×1440</a:t>
            </a:r>
          </a:p>
          <a:p>
            <a:r>
              <a:rPr lang="en-US" altLang="ja-JP" b="1" dirty="0">
                <a:solidFill>
                  <a:schemeClr val="accent1"/>
                </a:solidFill>
              </a:rPr>
              <a:t>Luminance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FG max: 100 cd/m²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BG max: 30 cd/m²</a:t>
            </a:r>
          </a:p>
          <a:p>
            <a:r>
              <a:rPr lang="en-US" altLang="ja-JP" b="1" dirty="0">
                <a:solidFill>
                  <a:schemeClr val="accent1"/>
                </a:solidFill>
              </a:rPr>
              <a:t>Viewing geometry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Chin rest, dark room</a:t>
            </a:r>
          </a:p>
          <a:p>
            <a:endParaRPr lang="ja-JP" altLang="en-US" dirty="0"/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C1464E1D-6A7E-8854-E26E-915978940E89}"/>
              </a:ext>
            </a:extLst>
          </p:cNvPr>
          <p:cNvGrpSpPr/>
          <p:nvPr/>
        </p:nvGrpSpPr>
        <p:grpSpPr>
          <a:xfrm>
            <a:off x="4534976" y="1132707"/>
            <a:ext cx="4233015" cy="3736154"/>
            <a:chOff x="4534976" y="1132707"/>
            <a:chExt cx="4233015" cy="373615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9B6A433-F6BB-10DB-B3BD-093D18BE472E}"/>
                </a:ext>
              </a:extLst>
            </p:cNvPr>
            <p:cNvSpPr/>
            <p:nvPr/>
          </p:nvSpPr>
          <p:spPr>
            <a:xfrm>
              <a:off x="4959620" y="2117736"/>
              <a:ext cx="67574" cy="15070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FDBC706D-2529-67ED-1D30-A3A9DC935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7798" y="2134725"/>
              <a:ext cx="1434385" cy="1482435"/>
            </a:xfrm>
            <a:prstGeom prst="line">
              <a:avLst/>
            </a:prstGeom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52B3942F-3715-BBE2-0AED-2FD2E11C9668}"/>
                </a:ext>
              </a:extLst>
            </p:cNvPr>
            <p:cNvSpPr/>
            <p:nvPr/>
          </p:nvSpPr>
          <p:spPr>
            <a:xfrm>
              <a:off x="4755573" y="1441415"/>
              <a:ext cx="113792" cy="290788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26B0DD3F-F4CB-8F6E-E413-A3B4D262B273}"/>
                </a:ext>
              </a:extLst>
            </p:cNvPr>
            <p:cNvCxnSpPr>
              <a:cxnSpLocks/>
            </p:cNvCxnSpPr>
            <p:nvPr/>
          </p:nvCxnSpPr>
          <p:spPr>
            <a:xfrm>
              <a:off x="4957492" y="3617160"/>
              <a:ext cx="0" cy="125170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D2C44B49-162D-C4E0-ECE0-B97FBA75DC06}"/>
                </a:ext>
              </a:extLst>
            </p:cNvPr>
            <p:cNvCxnSpPr>
              <a:cxnSpLocks/>
            </p:cNvCxnSpPr>
            <p:nvPr/>
          </p:nvCxnSpPr>
          <p:spPr>
            <a:xfrm>
              <a:off x="5570859" y="3595726"/>
              <a:ext cx="6939" cy="60425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D3B0F85F-2E5E-1A03-4555-2CCE2613D86B}"/>
                </a:ext>
              </a:extLst>
            </p:cNvPr>
            <p:cNvCxnSpPr>
              <a:cxnSpLocks/>
            </p:cNvCxnSpPr>
            <p:nvPr/>
          </p:nvCxnSpPr>
          <p:spPr>
            <a:xfrm>
              <a:off x="5562987" y="3939750"/>
              <a:ext cx="227728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504D133-8F4C-4E4E-BA41-8D05A8ECB784}"/>
                </a:ext>
              </a:extLst>
            </p:cNvPr>
            <p:cNvSpPr txBox="1"/>
            <p:nvPr/>
          </p:nvSpPr>
          <p:spPr>
            <a:xfrm>
              <a:off x="6010044" y="4475560"/>
              <a:ext cx="192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70 ~ 150 cm</a:t>
              </a:r>
              <a:endParaRPr kumimoji="1" lang="ja-JP" altLang="en-US" dirty="0"/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6828FA2C-9884-7849-D0B0-D90E0510B78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86108" y="2134725"/>
              <a:ext cx="1268048" cy="1318012"/>
              <a:chOff x="7241131" y="2871217"/>
              <a:chExt cx="2008732" cy="2087880"/>
            </a:xfrm>
          </p:grpSpPr>
          <p:pic>
            <p:nvPicPr>
              <p:cNvPr id="19" name="グラフィックス 18" descr="咳 枠線">
                <a:extLst>
                  <a:ext uri="{FF2B5EF4-FFF2-40B4-BE49-F238E27FC236}">
                    <a16:creationId xmlns:a16="http://schemas.microsoft.com/office/drawing/2014/main" id="{2978F385-80D9-1376-AC0B-590C584C1B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1338" t="2861" r="9124" b="-2861"/>
              <a:stretch>
                <a:fillRect/>
              </a:stretch>
            </p:blipFill>
            <p:spPr>
              <a:xfrm flipH="1">
                <a:off x="7380424" y="2871217"/>
                <a:ext cx="1869439" cy="2087880"/>
              </a:xfrm>
              <a:prstGeom prst="rect">
                <a:avLst/>
              </a:prstGeom>
            </p:spPr>
          </p:pic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92B09087-33B1-7A0C-D7BE-24508F85596E}"/>
                  </a:ext>
                </a:extLst>
              </p:cNvPr>
              <p:cNvSpPr/>
              <p:nvPr/>
            </p:nvSpPr>
            <p:spPr>
              <a:xfrm>
                <a:off x="7241131" y="4037177"/>
                <a:ext cx="339543" cy="5221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8732CA24-C888-5D35-03DB-38E1A0C87CAE}"/>
                </a:ext>
              </a:extLst>
            </p:cNvPr>
            <p:cNvCxnSpPr>
              <a:cxnSpLocks/>
            </p:cNvCxnSpPr>
            <p:nvPr/>
          </p:nvCxnSpPr>
          <p:spPr>
            <a:xfrm>
              <a:off x="7840268" y="2648120"/>
              <a:ext cx="0" cy="222074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82B5C7D2-1763-72EE-E0CE-A1FEACE7C9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5365" y="4487004"/>
              <a:ext cx="2880648" cy="3979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9F7EEBF-9A54-2320-5420-E13B3F30CABE}"/>
                </a:ext>
              </a:extLst>
            </p:cNvPr>
            <p:cNvSpPr txBox="1"/>
            <p:nvPr/>
          </p:nvSpPr>
          <p:spPr>
            <a:xfrm>
              <a:off x="6012435" y="3913990"/>
              <a:ext cx="15616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50 ~ 130 cm</a:t>
              </a:r>
              <a:endParaRPr kumimoji="1" lang="ja-JP" altLang="en-US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3C9F26DB-59FE-789B-DABB-EC6827D1FADA}"/>
                </a:ext>
              </a:extLst>
            </p:cNvPr>
            <p:cNvSpPr txBox="1"/>
            <p:nvPr/>
          </p:nvSpPr>
          <p:spPr>
            <a:xfrm>
              <a:off x="4534976" y="1132707"/>
              <a:ext cx="700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Wall</a:t>
              </a:r>
              <a:endParaRPr kumimoji="1" lang="ja-JP" altLang="en-US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7B0B9C05-64DE-1DC1-B529-8DE4BA6DC63C}"/>
                </a:ext>
              </a:extLst>
            </p:cNvPr>
            <p:cNvSpPr txBox="1"/>
            <p:nvPr/>
          </p:nvSpPr>
          <p:spPr>
            <a:xfrm>
              <a:off x="4920732" y="1992285"/>
              <a:ext cx="15308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Background</a:t>
              </a:r>
            </a:p>
            <a:p>
              <a:pPr algn="ctr"/>
              <a:r>
                <a:rPr kumimoji="1" lang="en-US" altLang="ja-JP" dirty="0"/>
                <a:t> LCD display</a:t>
              </a:r>
              <a:endParaRPr kumimoji="1" lang="ja-JP" altLang="en-US" dirty="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A858772F-D307-D869-5968-B9D2E3AE1B6B}"/>
                </a:ext>
              </a:extLst>
            </p:cNvPr>
            <p:cNvSpPr txBox="1"/>
            <p:nvPr/>
          </p:nvSpPr>
          <p:spPr>
            <a:xfrm>
              <a:off x="6105194" y="2959385"/>
              <a:ext cx="16368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Foreground </a:t>
              </a:r>
            </a:p>
            <a:p>
              <a:pPr algn="ctr"/>
              <a:r>
                <a:rPr kumimoji="1" lang="en-US" altLang="ja-JP" dirty="0"/>
                <a:t>LCD display</a:t>
              </a:r>
              <a:endParaRPr kumimoji="1" lang="ja-JP" altLang="en-US" dirty="0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1CD23BB5-3E15-2CB4-63A7-D4D96CF4B5AA}"/>
                </a:ext>
              </a:extLst>
            </p:cNvPr>
            <p:cNvCxnSpPr>
              <a:cxnSpLocks/>
            </p:cNvCxnSpPr>
            <p:nvPr/>
          </p:nvCxnSpPr>
          <p:spPr>
            <a:xfrm>
              <a:off x="6510057" y="1431911"/>
              <a:ext cx="0" cy="120670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AB8C5731-1965-47CD-2B79-4B0220841B29}"/>
                </a:ext>
              </a:extLst>
            </p:cNvPr>
            <p:cNvSpPr txBox="1"/>
            <p:nvPr/>
          </p:nvSpPr>
          <p:spPr>
            <a:xfrm>
              <a:off x="5827641" y="1145148"/>
              <a:ext cx="1530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Beam splitter</a:t>
              </a:r>
              <a:endParaRPr kumimoji="1" lang="ja-JP" altLang="en-US" dirty="0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A1A76CC3-5C57-917D-34BF-C1BD2CF5C504}"/>
                </a:ext>
              </a:extLst>
            </p:cNvPr>
            <p:cNvSpPr/>
            <p:nvPr/>
          </p:nvSpPr>
          <p:spPr>
            <a:xfrm rot="5400000">
              <a:off x="6299751" y="2901515"/>
              <a:ext cx="67574" cy="15070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4C746F4C-88ED-E65D-9EA3-3F5F813D231B}"/>
                </a:ext>
              </a:extLst>
            </p:cNvPr>
            <p:cNvSpPr/>
            <p:nvPr/>
          </p:nvSpPr>
          <p:spPr>
            <a:xfrm>
              <a:off x="7746987" y="3103315"/>
              <a:ext cx="186563" cy="585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CCD94651-ADBE-42C2-1FBE-8B82F658E4C5}"/>
                </a:ext>
              </a:extLst>
            </p:cNvPr>
            <p:cNvSpPr txBox="1"/>
            <p:nvPr/>
          </p:nvSpPr>
          <p:spPr>
            <a:xfrm>
              <a:off x="6677440" y="1659951"/>
              <a:ext cx="2090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Forehead Support</a:t>
              </a:r>
              <a:endParaRPr kumimoji="1" lang="ja-JP" altLang="en-US" dirty="0"/>
            </a:p>
          </p:txBody>
        </p: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4298E405-81AF-BC7E-1D34-930F028838B1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>
              <a:off x="7236000" y="2009071"/>
              <a:ext cx="510987" cy="138700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0E914E8-358B-357C-3B00-99633592F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20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10816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DC4F3-0AA7-EE1B-1A20-D3EB44EE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EC4FB-FA10-6ACC-BDEA-41386B0D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Pilot Experiment: Procedure</a:t>
            </a:r>
            <a:endParaRPr kumimoji="1" lang="ja-JP" altLang="en-US" dirty="0"/>
          </a:p>
        </p:txBody>
      </p:sp>
      <p:sp>
        <p:nvSpPr>
          <p:cNvPr id="44" name="コンテンツ プレースホルダー 43">
            <a:extLst>
              <a:ext uri="{FF2B5EF4-FFF2-40B4-BE49-F238E27FC236}">
                <a16:creationId xmlns:a16="http://schemas.microsoft.com/office/drawing/2014/main" id="{2A210CB3-B2D5-D43E-5803-3217E6554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203750"/>
            <a:ext cx="4118246" cy="3368250"/>
          </a:xfrm>
        </p:spPr>
        <p:txBody>
          <a:bodyPr/>
          <a:lstStyle/>
          <a:p>
            <a:r>
              <a:rPr lang="en-US" altLang="ja-JP" b="1" dirty="0">
                <a:solidFill>
                  <a:schemeClr val="accent1"/>
                </a:solidFill>
              </a:rPr>
              <a:t>Rating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b="1" dirty="0"/>
              <a:t>1</a:t>
            </a:r>
            <a:r>
              <a:rPr lang="en-US" altLang="ja-JP" dirty="0"/>
              <a:t> Invisible — </a:t>
            </a:r>
            <a:r>
              <a:rPr lang="en-US" altLang="ja-JP" b="1" dirty="0"/>
              <a:t>5</a:t>
            </a:r>
            <a:r>
              <a:rPr lang="en-US" altLang="ja-JP" dirty="0"/>
              <a:t> Very clear</a:t>
            </a:r>
          </a:p>
          <a:p>
            <a:r>
              <a:rPr lang="en-US" altLang="ja-JP" b="1" dirty="0">
                <a:solidFill>
                  <a:schemeClr val="accent1"/>
                </a:solidFill>
              </a:rPr>
              <a:t>Stimulus pairing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b="1" dirty="0"/>
              <a:t>Reference</a:t>
            </a:r>
            <a:r>
              <a:rPr lang="en-US" altLang="ja-JP" dirty="0"/>
              <a:t>: Gabor patch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b="1" dirty="0"/>
              <a:t>Test</a:t>
            </a:r>
            <a:r>
              <a:rPr lang="en-US" altLang="ja-JP" dirty="0"/>
              <a:t>: Gabor + BG noise</a:t>
            </a:r>
          </a:p>
          <a:p>
            <a:r>
              <a:rPr lang="en-US" altLang="ja-JP" b="1" dirty="0">
                <a:solidFill>
                  <a:schemeClr val="accent1"/>
                </a:solidFill>
              </a:rPr>
              <a:t>Trials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All combinations × 2 repeats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Randomized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N = 1 observer (author)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F8D7E3EE-4BC3-957E-CD93-7BDFBB2CCEC7}"/>
              </a:ext>
            </a:extLst>
          </p:cNvPr>
          <p:cNvCxnSpPr>
            <a:cxnSpLocks/>
          </p:cNvCxnSpPr>
          <p:nvPr/>
        </p:nvCxnSpPr>
        <p:spPr>
          <a:xfrm>
            <a:off x="1081863" y="1347750"/>
            <a:ext cx="0" cy="3338549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142254C0-4E0B-B000-F623-9191471E19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00" r="25000"/>
          <a:stretch>
            <a:fillRect/>
          </a:stretch>
        </p:blipFill>
        <p:spPr>
          <a:xfrm>
            <a:off x="2188631" y="3004665"/>
            <a:ext cx="720000" cy="720000"/>
          </a:xfrm>
          <a:prstGeom prst="rect">
            <a:avLst/>
          </a:prstGeom>
          <a:effectLst/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F1A176DA-89A4-2F37-07F1-D7AC4A681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971" y="1334638"/>
            <a:ext cx="720000" cy="720000"/>
          </a:xfrm>
          <a:prstGeom prst="rect">
            <a:avLst/>
          </a:prstGeom>
          <a:effectLst/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A449A84-629E-A1F0-352B-E7B3716E6689}"/>
              </a:ext>
            </a:extLst>
          </p:cNvPr>
          <p:cNvSpPr>
            <a:spLocks noChangeAspect="1"/>
          </p:cNvSpPr>
          <p:nvPr/>
        </p:nvSpPr>
        <p:spPr>
          <a:xfrm>
            <a:off x="2188631" y="1334638"/>
            <a:ext cx="719848" cy="72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54BA44C5-9155-7306-69C7-0B3B2B88E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016" y="2167875"/>
            <a:ext cx="720000" cy="720000"/>
          </a:xfrm>
          <a:prstGeom prst="rect">
            <a:avLst/>
          </a:prstGeom>
          <a:effectLst/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EAF7140B-BB74-DA6B-F52C-010CED129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2640" y="3873404"/>
            <a:ext cx="1154400" cy="720000"/>
          </a:xfrm>
          <a:prstGeom prst="rect">
            <a:avLst/>
          </a:prstGeom>
          <a:effectLst/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F8C29B65-6CB1-7243-8526-30C203F7B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96" y="3004665"/>
            <a:ext cx="720000" cy="720000"/>
          </a:xfrm>
          <a:prstGeom prst="rect">
            <a:avLst/>
          </a:prstGeom>
          <a:effectLst/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DB54F95-C15D-A4CD-04FA-47CDE779770B}"/>
              </a:ext>
            </a:extLst>
          </p:cNvPr>
          <p:cNvSpPr>
            <a:spLocks noChangeAspect="1"/>
          </p:cNvSpPr>
          <p:nvPr/>
        </p:nvSpPr>
        <p:spPr>
          <a:xfrm>
            <a:off x="2188783" y="2167875"/>
            <a:ext cx="719848" cy="72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F0020E0-9089-919A-844A-CE3394904D87}"/>
              </a:ext>
            </a:extLst>
          </p:cNvPr>
          <p:cNvCxnSpPr/>
          <p:nvPr/>
        </p:nvCxnSpPr>
        <p:spPr>
          <a:xfrm>
            <a:off x="937863" y="1707750"/>
            <a:ext cx="288000" cy="0"/>
          </a:xfrm>
          <a:prstGeom prst="line">
            <a:avLst/>
          </a:prstGeom>
          <a:ln w="381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1CB72520-2E54-DE12-6DF2-0E54CC15FD7D}"/>
              </a:ext>
            </a:extLst>
          </p:cNvPr>
          <p:cNvCxnSpPr/>
          <p:nvPr/>
        </p:nvCxnSpPr>
        <p:spPr>
          <a:xfrm>
            <a:off x="937863" y="2530815"/>
            <a:ext cx="288000" cy="0"/>
          </a:xfrm>
          <a:prstGeom prst="line">
            <a:avLst/>
          </a:prstGeom>
          <a:ln w="381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7D30BDC4-C14A-DAE8-448F-31ED40334323}"/>
              </a:ext>
            </a:extLst>
          </p:cNvPr>
          <p:cNvCxnSpPr/>
          <p:nvPr/>
        </p:nvCxnSpPr>
        <p:spPr>
          <a:xfrm>
            <a:off x="937863" y="3363750"/>
            <a:ext cx="288000" cy="0"/>
          </a:xfrm>
          <a:prstGeom prst="line">
            <a:avLst/>
          </a:prstGeom>
          <a:ln w="381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ECB7256D-B224-2A4F-E357-B25CC8DE5E5A}"/>
              </a:ext>
            </a:extLst>
          </p:cNvPr>
          <p:cNvCxnSpPr/>
          <p:nvPr/>
        </p:nvCxnSpPr>
        <p:spPr>
          <a:xfrm>
            <a:off x="937863" y="4227750"/>
            <a:ext cx="288000" cy="0"/>
          </a:xfrm>
          <a:prstGeom prst="line">
            <a:avLst/>
          </a:prstGeom>
          <a:ln w="381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2A20FF0-D736-819E-5F0E-1FB22E42746F}"/>
              </a:ext>
            </a:extLst>
          </p:cNvPr>
          <p:cNvSpPr txBox="1"/>
          <p:nvPr/>
        </p:nvSpPr>
        <p:spPr>
          <a:xfrm>
            <a:off x="470882" y="1509972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0.0</a:t>
            </a:r>
            <a:endParaRPr kumimoji="1" lang="ja-JP" altLang="en-US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E264CE9D-157A-2B63-0ED2-444CA5473139}"/>
              </a:ext>
            </a:extLst>
          </p:cNvPr>
          <p:cNvSpPr txBox="1"/>
          <p:nvPr/>
        </p:nvSpPr>
        <p:spPr>
          <a:xfrm>
            <a:off x="470882" y="2346149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84EE27E8-F24D-416E-CCD5-203D05F3A453}"/>
              </a:ext>
            </a:extLst>
          </p:cNvPr>
          <p:cNvSpPr txBox="1"/>
          <p:nvPr/>
        </p:nvSpPr>
        <p:spPr>
          <a:xfrm>
            <a:off x="468000" y="3179084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1.5</a:t>
            </a:r>
            <a:endParaRPr kumimoji="1" lang="ja-JP" altLang="en-US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A4DA43B-6E22-85E6-617F-5A6CE62E29AB}"/>
              </a:ext>
            </a:extLst>
          </p:cNvPr>
          <p:cNvSpPr txBox="1"/>
          <p:nvPr/>
        </p:nvSpPr>
        <p:spPr>
          <a:xfrm>
            <a:off x="470882" y="4043084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2.5</a:t>
            </a:r>
            <a:endParaRPr kumimoji="1" lang="ja-JP" altLang="en-US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2C0685E-9DB7-6E96-AB1E-28D2E66FB5EB}"/>
              </a:ext>
            </a:extLst>
          </p:cNvPr>
          <p:cNvSpPr txBox="1"/>
          <p:nvPr/>
        </p:nvSpPr>
        <p:spPr>
          <a:xfrm>
            <a:off x="839649" y="466525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t(s)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BA9790-E2AB-DCE2-EAD7-A35D2F32D732}"/>
              </a:ext>
            </a:extLst>
          </p:cNvPr>
          <p:cNvSpPr txBox="1"/>
          <p:nvPr/>
        </p:nvSpPr>
        <p:spPr>
          <a:xfrm>
            <a:off x="1470782" y="1007540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FG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85524E-ABC4-AA54-8B9D-1B83F721C5DA}"/>
              </a:ext>
            </a:extLst>
          </p:cNvPr>
          <p:cNvSpPr txBox="1"/>
          <p:nvPr/>
        </p:nvSpPr>
        <p:spPr>
          <a:xfrm>
            <a:off x="2307622" y="10174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BG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94DC7A8-4B0D-88F1-4911-959F6C0335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232" y="3017024"/>
            <a:ext cx="720000" cy="72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8504141-643B-B074-D3B6-E4C824A3B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232" y="2170815"/>
            <a:ext cx="720000" cy="720000"/>
          </a:xfrm>
          <a:prstGeom prst="rect">
            <a:avLst/>
          </a:prstGeom>
          <a:effectLst/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B23AE1-353A-4D14-696A-E55C59D474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0339" y="1334638"/>
            <a:ext cx="720000" cy="72000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C124AF-797D-1A38-72F9-216CA1C5A132}"/>
              </a:ext>
            </a:extLst>
          </p:cNvPr>
          <p:cNvSpPr txBox="1"/>
          <p:nvPr/>
        </p:nvSpPr>
        <p:spPr>
          <a:xfrm>
            <a:off x="3087860" y="101908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Real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A4FF5BD-BDA5-0196-685D-189842FDBF32}"/>
              </a:ext>
            </a:extLst>
          </p:cNvPr>
          <p:cNvSpPr txBox="1"/>
          <p:nvPr/>
        </p:nvSpPr>
        <p:spPr>
          <a:xfrm>
            <a:off x="3742593" y="150997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Ref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A774D0D-20D4-FB8D-1D3F-7CA6407B4D6A}"/>
              </a:ext>
            </a:extLst>
          </p:cNvPr>
          <p:cNvSpPr txBox="1"/>
          <p:nvPr/>
        </p:nvSpPr>
        <p:spPr>
          <a:xfrm>
            <a:off x="3708000" y="3178788"/>
            <a:ext cx="577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Test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1F8F6D0-E066-BC82-89FD-D1681D26032F}"/>
              </a:ext>
            </a:extLst>
          </p:cNvPr>
          <p:cNvSpPr txBox="1"/>
          <p:nvPr/>
        </p:nvSpPr>
        <p:spPr>
          <a:xfrm>
            <a:off x="3750608" y="234614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BO</a:t>
            </a:r>
            <a:endParaRPr kumimoji="1" lang="ja-JP" altLang="en-US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3AECC97-6334-0BF0-7D04-14B7FCF15F16}"/>
              </a:ext>
            </a:extLst>
          </p:cNvPr>
          <p:cNvCxnSpPr>
            <a:cxnSpLocks/>
          </p:cNvCxnSpPr>
          <p:nvPr/>
        </p:nvCxnSpPr>
        <p:spPr>
          <a:xfrm>
            <a:off x="2974409" y="1131750"/>
            <a:ext cx="0" cy="2592915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C8D46B51-6467-3499-E920-C48359F1C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21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04355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D914-066D-1373-5107-B76F9F74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1D7F0-8D88-0626-3564-240EDBDB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Pilot Experiment: Stimuli</a:t>
            </a:r>
            <a:endParaRPr kumimoji="1" lang="ja-JP" altLang="en-US" dirty="0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64137785-9C35-A8BB-C848-878832D38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204144"/>
              </p:ext>
            </p:extLst>
          </p:nvPr>
        </p:nvGraphicFramePr>
        <p:xfrm>
          <a:off x="457200" y="1170960"/>
          <a:ext cx="8229600" cy="3368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4800">
                  <a:extLst>
                    <a:ext uri="{9D8B030D-6E8A-4147-A177-3AD203B41FA5}">
                      <a16:colId xmlns:a16="http://schemas.microsoft.com/office/drawing/2014/main" val="2297274464"/>
                    </a:ext>
                  </a:extLst>
                </a:gridCol>
                <a:gridCol w="3394800">
                  <a:extLst>
                    <a:ext uri="{9D8B030D-6E8A-4147-A177-3AD203B41FA5}">
                      <a16:colId xmlns:a16="http://schemas.microsoft.com/office/drawing/2014/main" val="1859057176"/>
                    </a:ext>
                  </a:extLst>
                </a:gridCol>
              </a:tblGrid>
              <a:tr h="421031">
                <a:tc>
                  <a:txBody>
                    <a:bodyPr/>
                    <a:lstStyle/>
                    <a:p>
                      <a:r>
                        <a:rPr kumimoji="1" lang="en-US" altLang="ja-JP" sz="1800" b="1" dirty="0">
                          <a:solidFill>
                            <a:schemeClr val="tx1"/>
                          </a:solidFill>
                        </a:rPr>
                        <a:t>Specification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1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734967"/>
                  </a:ext>
                </a:extLst>
              </a:tr>
              <a:tr h="421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Stimuli size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dirty="0">
                          <a:solidFill>
                            <a:schemeClr val="tx1"/>
                          </a:solidFill>
                        </a:rPr>
                        <a:t>7.9°× 7.9°</a:t>
                      </a: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14802"/>
                  </a:ext>
                </a:extLst>
              </a:tr>
              <a:tr h="421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Envelope of Gabor patch (σ) 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solidFill>
                            <a:schemeClr val="tx1"/>
                          </a:solidFill>
                        </a:rPr>
                        <a:t>1°× 1°</a:t>
                      </a: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229234"/>
                  </a:ext>
                </a:extLst>
              </a:tr>
              <a:tr h="421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Spatial frequency (SF, </a:t>
                      </a:r>
                      <a:r>
                        <a:rPr kumimoji="1" lang="en-US" altLang="ja-JP" sz="1800" b="0" dirty="0" err="1">
                          <a:solidFill>
                            <a:schemeClr val="tx1"/>
                          </a:solidFill>
                        </a:rPr>
                        <a:t>cpd</a:t>
                      </a:r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 in Gabor patch)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dirty="0">
                          <a:solidFill>
                            <a:schemeClr val="tx1"/>
                          </a:solidFill>
                        </a:rPr>
                        <a:t>2, 4, 6, 8 </a:t>
                      </a:r>
                      <a:r>
                        <a:rPr kumimoji="1" lang="en-US" altLang="ja-JP" sz="1800" dirty="0" err="1">
                          <a:solidFill>
                            <a:schemeClr val="tx1"/>
                          </a:solidFill>
                        </a:rPr>
                        <a:t>cpd</a:t>
                      </a: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941970"/>
                  </a:ext>
                </a:extLst>
              </a:tr>
              <a:tr h="421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Foreground luminance(Y</a:t>
                      </a:r>
                      <a:r>
                        <a:rPr kumimoji="1" lang="en-US" altLang="ja-JP" sz="1800" b="0" baseline="-25000" dirty="0">
                          <a:solidFill>
                            <a:schemeClr val="tx1"/>
                          </a:solidFill>
                        </a:rPr>
                        <a:t>FG</a:t>
                      </a:r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u="sng" dirty="0">
                          <a:solidFill>
                            <a:schemeClr val="tx1"/>
                          </a:solidFill>
                        </a:rPr>
                        <a:t>50 cd/m²</a:t>
                      </a:r>
                      <a:r>
                        <a:rPr kumimoji="1" lang="ja-JP" altLang="en-US" sz="1800" u="sng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8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en-US" altLang="ja-JP" dirty="0">
                          <a:solidFill>
                            <a:schemeClr val="tx1"/>
                          </a:solidFill>
                        </a:rPr>
                        <a:t> cd/m²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71132"/>
                  </a:ext>
                </a:extLst>
              </a:tr>
              <a:tr h="421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Background luminance(Y</a:t>
                      </a:r>
                      <a:r>
                        <a:rPr kumimoji="1" lang="en-US" altLang="ja-JP" sz="1800" b="0" baseline="-25000" dirty="0">
                          <a:solidFill>
                            <a:schemeClr val="tx1"/>
                          </a:solidFill>
                        </a:rPr>
                        <a:t>BG</a:t>
                      </a:r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>
                          <a:solidFill>
                            <a:schemeClr val="tx1"/>
                          </a:solidFill>
                        </a:rPr>
                        <a:t>15 cd/m²</a:t>
                      </a:r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8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en-US" altLang="ja-JP" dirty="0">
                          <a:solidFill>
                            <a:schemeClr val="tx1"/>
                          </a:solidFill>
                        </a:rPr>
                        <a:t> cd/m²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276360"/>
                  </a:ext>
                </a:extLst>
              </a:tr>
              <a:tr h="421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Foreground contrast(C</a:t>
                      </a:r>
                      <a:r>
                        <a:rPr kumimoji="1" lang="en-US" altLang="ja-JP" sz="1800" b="0" baseline="-25000" dirty="0">
                          <a:solidFill>
                            <a:schemeClr val="tx1"/>
                          </a:solidFill>
                        </a:rPr>
                        <a:t>FG</a:t>
                      </a:r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655821"/>
                  </a:ext>
                </a:extLst>
              </a:tr>
              <a:tr h="421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Background contrast(C</a:t>
                      </a:r>
                      <a:r>
                        <a:rPr kumimoji="1" lang="en-US" altLang="ja-JP" sz="1800" b="0" baseline="-25000" dirty="0">
                          <a:solidFill>
                            <a:schemeClr val="tx1"/>
                          </a:solidFill>
                        </a:rPr>
                        <a:t>BG</a:t>
                      </a:r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800" dirty="0">
                          <a:solidFill>
                            <a:schemeClr val="tx1"/>
                          </a:solidFill>
                        </a:rPr>
                        <a:t>1.0 or 0.0</a:t>
                      </a:r>
                      <a:endParaRPr kumimoji="1" lang="ja-JP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146091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F8F07E-01D2-2658-267C-3AC5AEE88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22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39422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0155-1CE3-A6E7-DBF2-7C08A883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4D3890-D262-5868-80E2-CB2E499AB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Pilot Experiment: </a:t>
            </a:r>
            <a:r>
              <a:rPr lang="en-US" altLang="ja-JP" dirty="0"/>
              <a:t>Conditions</a:t>
            </a:r>
            <a:endParaRPr kumimoji="1" lang="ja-JP" altLang="en-US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51B3A77-721D-A6D2-18C7-DB9520FB7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981590"/>
              </p:ext>
            </p:extLst>
          </p:nvPr>
        </p:nvGraphicFramePr>
        <p:xfrm>
          <a:off x="457200" y="1203750"/>
          <a:ext cx="8229600" cy="210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74816668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0500562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2929608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57561331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5791339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20867894"/>
                    </a:ext>
                  </a:extLst>
                </a:gridCol>
              </a:tblGrid>
              <a:tr h="42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1" dirty="0"/>
                        <a:t>Pair</a:t>
                      </a:r>
                      <a:r>
                        <a:rPr lang="ja-JP" altLang="en-US" b="1" dirty="0"/>
                        <a:t> </a:t>
                      </a:r>
                      <a:r>
                        <a:rPr lang="en-US" altLang="ja-JP" b="1" dirty="0"/>
                        <a:t>num</a:t>
                      </a:r>
                      <a:endParaRPr lang="ja-JP" alt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i="1" dirty="0" err="1"/>
                        <a:t>d</a:t>
                      </a:r>
                      <a:r>
                        <a:rPr lang="en-US" b="0" baseline="-25000" dirty="0" err="1"/>
                        <a:t>FG</a:t>
                      </a:r>
                      <a:r>
                        <a:rPr lang="en-US" b="0" dirty="0"/>
                        <a:t> [m]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i="1" dirty="0" err="1"/>
                        <a:t>d</a:t>
                      </a:r>
                      <a:r>
                        <a:rPr lang="en-US" b="0" baseline="-25000" dirty="0" err="1"/>
                        <a:t>BG</a:t>
                      </a:r>
                      <a:r>
                        <a:rPr lang="en-US" b="0" dirty="0"/>
                        <a:t> [m]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i="1" dirty="0"/>
                        <a:t>D</a:t>
                      </a:r>
                      <a:r>
                        <a:rPr lang="en-US" b="0" baseline="-25000" dirty="0"/>
                        <a:t>FG</a:t>
                      </a:r>
                      <a:r>
                        <a:rPr lang="en-US" b="0" dirty="0"/>
                        <a:t> [D]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i="1" dirty="0"/>
                        <a:t>D</a:t>
                      </a:r>
                      <a:r>
                        <a:rPr lang="en-US" b="0" baseline="-25000" dirty="0"/>
                        <a:t>BG</a:t>
                      </a:r>
                      <a:r>
                        <a:rPr lang="en-US" b="0" dirty="0"/>
                        <a:t> [D]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 i="1" dirty="0"/>
                        <a:t>Δ</a:t>
                      </a:r>
                      <a:r>
                        <a:rPr lang="en-US" b="1" i="1" dirty="0"/>
                        <a:t>D</a:t>
                      </a:r>
                      <a:r>
                        <a:rPr lang="en-US" b="1" dirty="0"/>
                        <a:t> [D]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079077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1" dirty="0"/>
                        <a:t>1</a:t>
                      </a:r>
                      <a:endParaRPr lang="ja-JP" alt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0.70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1.43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1" dirty="0"/>
                        <a:t>0.57</a:t>
                      </a:r>
                      <a:endParaRPr lang="ja-JP" alt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598894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1" dirty="0"/>
                        <a:t>2</a:t>
                      </a:r>
                      <a:endParaRPr lang="ja-JP" alt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1.23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0.67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1" dirty="0"/>
                        <a:t>0.57</a:t>
                      </a:r>
                      <a:endParaRPr lang="ja-JP" alt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258896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1" dirty="0"/>
                        <a:t>3</a:t>
                      </a:r>
                      <a:endParaRPr lang="ja-JP" alt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1" dirty="0"/>
                        <a:t>1.00</a:t>
                      </a:r>
                      <a:endParaRPr lang="ja-JP" alt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177011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1" dirty="0"/>
                        <a:t>4</a:t>
                      </a:r>
                      <a:endParaRPr lang="ja-JP" alt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1.67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0" dirty="0"/>
                        <a:t>0.67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b="1" dirty="0"/>
                        <a:t>1.00</a:t>
                      </a:r>
                      <a:endParaRPr lang="ja-JP" alt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373476"/>
                  </a:ext>
                </a:extLst>
              </a:tr>
            </a:tbl>
          </a:graphicData>
        </a:graphic>
      </p:graphicFrame>
      <p:sp>
        <p:nvSpPr>
          <p:cNvPr id="4" name="コンテンツ プレースホルダー 43">
            <a:extLst>
              <a:ext uri="{FF2B5EF4-FFF2-40B4-BE49-F238E27FC236}">
                <a16:creationId xmlns:a16="http://schemas.microsoft.com/office/drawing/2014/main" id="{38A6CE73-9263-B5F4-EA93-987AD7C1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3795750"/>
            <a:ext cx="8229600" cy="776250"/>
          </a:xfrm>
        </p:spPr>
        <p:txBody>
          <a:bodyPr/>
          <a:lstStyle/>
          <a:p>
            <a:r>
              <a:rPr lang="en-US" altLang="ja-JP" b="1" dirty="0">
                <a:solidFill>
                  <a:schemeClr val="accent1"/>
                </a:solidFill>
              </a:rPr>
              <a:t>Other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Monocular (no disparity) vs Binocular (disparity &amp; combination)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F10B9F-D066-7CE1-ECE7-580860F36ED0}"/>
              </a:ext>
            </a:extLst>
          </p:cNvPr>
          <p:cNvSpPr txBox="1"/>
          <p:nvPr/>
        </p:nvSpPr>
        <p:spPr>
          <a:xfrm>
            <a:off x="457200" y="32917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※Defocus blur arise </a:t>
            </a:r>
            <a:r>
              <a:rPr lang="en-US" altLang="ja-JP" b="1" dirty="0"/>
              <a:t>over 0.3 D</a:t>
            </a:r>
          </a:p>
          <a:p>
            <a:endParaRPr kumimoji="1" lang="ja-JP" alt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451FCB02-05B4-DB5A-F767-7EA56B7BC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23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14413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D9203-68AC-FEF0-70C3-E1CD2510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6AD3C8-9A90-C516-F9A4-CBC40F9A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Pilot Experiment: Result</a:t>
            </a:r>
            <a:r>
              <a:rPr lang="en-US" altLang="ja-JP" dirty="0"/>
              <a:t>s </a:t>
            </a:r>
            <a:r>
              <a:rPr lang="en-US" altLang="ja-JP" sz="2800" dirty="0"/>
              <a:t>— Monocular</a:t>
            </a:r>
            <a:endParaRPr kumimoji="1" lang="ja-JP" altLang="en-US" dirty="0"/>
          </a:p>
        </p:txBody>
      </p:sp>
      <p:sp>
        <p:nvSpPr>
          <p:cNvPr id="4" name="コンテンツ プレースホルダー 43">
            <a:extLst>
              <a:ext uri="{FF2B5EF4-FFF2-40B4-BE49-F238E27FC236}">
                <a16:creationId xmlns:a16="http://schemas.microsoft.com/office/drawing/2014/main" id="{C3F01EAE-0AED-C329-C3EF-1ECE2DD5E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3326029"/>
            <a:ext cx="4142400" cy="1245971"/>
          </a:xfrm>
        </p:spPr>
        <p:txBody>
          <a:bodyPr/>
          <a:lstStyle/>
          <a:p>
            <a:r>
              <a:rPr lang="en-US" altLang="ja-JP" b="1" dirty="0">
                <a:solidFill>
                  <a:schemeClr val="accent1"/>
                </a:solidFill>
              </a:rPr>
              <a:t>Key observations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Strongest degradation at (a)(b)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No consistent ΔD trend </a:t>
            </a:r>
            <a:endParaRPr lang="en-US" altLang="ja-JP" dirty="0">
              <a:solidFill>
                <a:schemeClr val="accent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1207FD-A880-EA7C-E021-E10A06705D69}"/>
              </a:ext>
            </a:extLst>
          </p:cNvPr>
          <p:cNvSpPr txBox="1"/>
          <p:nvPr/>
        </p:nvSpPr>
        <p:spPr>
          <a:xfrm>
            <a:off x="457199" y="2679698"/>
            <a:ext cx="2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(a) {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FG</a:t>
            </a:r>
            <a:r>
              <a:rPr lang="en-US" altLang="ja-JP" dirty="0"/>
              <a:t>,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BG</a:t>
            </a:r>
            <a:r>
              <a:rPr kumimoji="1" lang="en-US" altLang="ja-JP" dirty="0"/>
              <a:t>}</a:t>
            </a:r>
            <a:br>
              <a:rPr kumimoji="1" lang="en-US" altLang="ja-JP" dirty="0"/>
            </a:br>
            <a:r>
              <a:rPr kumimoji="1" lang="en-US" altLang="ja-JP" dirty="0"/>
              <a:t>={5.0,5.0} [</a:t>
            </a:r>
            <a:r>
              <a:rPr lang="en-US" altLang="ja-JP" dirty="0"/>
              <a:t>cd/m²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7DA430B-1B5F-A17B-D831-930FD83D9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799" y="1163810"/>
            <a:ext cx="2016000" cy="1512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C16E45A-F787-E588-CCB2-69A6A7189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163810"/>
            <a:ext cx="2016000" cy="1512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791779B-4C32-D675-F077-AA5998AC4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599" y="1163810"/>
            <a:ext cx="2016000" cy="15120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7801BB9-426F-DEC1-D886-538EC9E10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8399" y="1163810"/>
            <a:ext cx="2016000" cy="1512000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89C93AE-9C46-8748-1B4E-3D5B310AC763}"/>
              </a:ext>
            </a:extLst>
          </p:cNvPr>
          <p:cNvSpPr txBox="1"/>
          <p:nvPr/>
        </p:nvSpPr>
        <p:spPr>
          <a:xfrm>
            <a:off x="2528399" y="2679698"/>
            <a:ext cx="207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(b) {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FG</a:t>
            </a:r>
            <a:r>
              <a:rPr lang="en-US" altLang="ja-JP" dirty="0"/>
              <a:t>,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BG</a:t>
            </a:r>
            <a:r>
              <a:rPr kumimoji="1" lang="en-US" altLang="ja-JP" dirty="0"/>
              <a:t>}</a:t>
            </a:r>
            <a:br>
              <a:rPr kumimoji="1" lang="en-US" altLang="ja-JP" dirty="0"/>
            </a:br>
            <a:r>
              <a:rPr kumimoji="1" lang="en-US" altLang="ja-JP" dirty="0"/>
              <a:t>={5.0,15.0} [</a:t>
            </a:r>
            <a:r>
              <a:rPr lang="en-US" altLang="ja-JP" dirty="0"/>
              <a:t>cd/m²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759C100-1BBC-B095-E94A-316D7E8BE0BA}"/>
              </a:ext>
            </a:extLst>
          </p:cNvPr>
          <p:cNvSpPr txBox="1"/>
          <p:nvPr/>
        </p:nvSpPr>
        <p:spPr>
          <a:xfrm>
            <a:off x="4571999" y="2679698"/>
            <a:ext cx="207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(c) {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FG</a:t>
            </a:r>
            <a:r>
              <a:rPr lang="en-US" altLang="ja-JP" dirty="0"/>
              <a:t>,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BG</a:t>
            </a:r>
            <a:r>
              <a:rPr kumimoji="1" lang="en-US" altLang="ja-JP" dirty="0"/>
              <a:t>}</a:t>
            </a:r>
            <a:br>
              <a:rPr kumimoji="1" lang="en-US" altLang="ja-JP" dirty="0"/>
            </a:br>
            <a:r>
              <a:rPr kumimoji="1" lang="en-US" altLang="ja-JP" dirty="0"/>
              <a:t>={50.0,5.0} [</a:t>
            </a:r>
            <a:r>
              <a:rPr lang="en-US" altLang="ja-JP" dirty="0"/>
              <a:t>cd/m²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F66DEF-158E-976A-6A70-F325FA61204E}"/>
              </a:ext>
            </a:extLst>
          </p:cNvPr>
          <p:cNvSpPr txBox="1"/>
          <p:nvPr/>
        </p:nvSpPr>
        <p:spPr>
          <a:xfrm>
            <a:off x="6586547" y="2679698"/>
            <a:ext cx="2184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(d) {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FG</a:t>
            </a:r>
            <a:r>
              <a:rPr lang="en-US" altLang="ja-JP" dirty="0"/>
              <a:t>,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BG</a:t>
            </a:r>
            <a:r>
              <a:rPr kumimoji="1" lang="en-US" altLang="ja-JP" dirty="0"/>
              <a:t>}</a:t>
            </a:r>
            <a:br>
              <a:rPr kumimoji="1" lang="en-US" altLang="ja-JP" dirty="0"/>
            </a:br>
            <a:r>
              <a:rPr kumimoji="1" lang="en-US" altLang="ja-JP" dirty="0"/>
              <a:t>={50.0,15.0} [</a:t>
            </a:r>
            <a:r>
              <a:rPr lang="en-US" altLang="ja-JP" dirty="0"/>
              <a:t>cd/m²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23" name="コンテンツ プレースホルダー 43">
            <a:extLst>
              <a:ext uri="{FF2B5EF4-FFF2-40B4-BE49-F238E27FC236}">
                <a16:creationId xmlns:a16="http://schemas.microsoft.com/office/drawing/2014/main" id="{36DAEDF9-D3A2-5598-CC81-4387204EC95F}"/>
              </a:ext>
            </a:extLst>
          </p:cNvPr>
          <p:cNvSpPr txBox="1">
            <a:spLocks/>
          </p:cNvSpPr>
          <p:nvPr/>
        </p:nvSpPr>
        <p:spPr>
          <a:xfrm>
            <a:off x="4571999" y="3329917"/>
            <a:ext cx="4248002" cy="12459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Low SF (2–4 </a:t>
            </a:r>
            <a:r>
              <a:rPr lang="en-US" altLang="ja-JP" dirty="0" err="1"/>
              <a:t>cpd</a:t>
            </a:r>
            <a:r>
              <a:rPr lang="en-US" altLang="ja-JP" dirty="0"/>
              <a:t>) more affected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Some negative scores</a:t>
            </a:r>
            <a:endParaRPr lang="en-US" altLang="ja-JP" b="1" dirty="0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ー 24">
            <a:extLst>
              <a:ext uri="{FF2B5EF4-FFF2-40B4-BE49-F238E27FC236}">
                <a16:creationId xmlns:a16="http://schemas.microsoft.com/office/drawing/2014/main" id="{51A3DDC6-E0A7-C49E-D49D-D44A8FD8C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24</a:t>
            </a:fld>
            <a:r>
              <a:rPr lang="en-US"/>
              <a:t>/28</a:t>
            </a:r>
            <a:endParaRPr lang="en-US" sz="1800" dirty="0"/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5D33C80-F9B3-3920-DFBB-7570B8C6C8BB}"/>
              </a:ext>
            </a:extLst>
          </p:cNvPr>
          <p:cNvCxnSpPr>
            <a:cxnSpLocks/>
          </p:cNvCxnSpPr>
          <p:nvPr/>
        </p:nvCxnSpPr>
        <p:spPr>
          <a:xfrm flipH="1" flipV="1">
            <a:off x="407187" y="1178359"/>
            <a:ext cx="7886" cy="133594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6B1B09D-BEF2-5A39-CF70-76751076189A}"/>
              </a:ext>
            </a:extLst>
          </p:cNvPr>
          <p:cNvSpPr txBox="1"/>
          <p:nvPr/>
        </p:nvSpPr>
        <p:spPr>
          <a:xfrm rot="16200000">
            <a:off x="27745" y="1574473"/>
            <a:ext cx="503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SF</a:t>
            </a:r>
            <a:endParaRPr kumimoji="1" lang="ja-JP" altLang="en-US" sz="1600" dirty="0"/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EBDCB4E0-9F2B-788C-88C3-040B7C43274E}"/>
              </a:ext>
            </a:extLst>
          </p:cNvPr>
          <p:cNvCxnSpPr>
            <a:cxnSpLocks/>
          </p:cNvCxnSpPr>
          <p:nvPr/>
        </p:nvCxnSpPr>
        <p:spPr>
          <a:xfrm>
            <a:off x="612000" y="1131750"/>
            <a:ext cx="14400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865DE05-A7AA-58FC-299F-E4B50C0A70A2}"/>
              </a:ext>
            </a:extLst>
          </p:cNvPr>
          <p:cNvSpPr txBox="1"/>
          <p:nvPr/>
        </p:nvSpPr>
        <p:spPr>
          <a:xfrm>
            <a:off x="866273" y="865196"/>
            <a:ext cx="108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Pair num</a:t>
            </a:r>
            <a:endParaRPr kumimoji="1" lang="ja-JP" altLang="en-US" sz="1600" dirty="0"/>
          </a:p>
        </p:txBody>
      </p:sp>
      <p:sp>
        <p:nvSpPr>
          <p:cNvPr id="35" name="左大かっこ 34">
            <a:extLst>
              <a:ext uri="{FF2B5EF4-FFF2-40B4-BE49-F238E27FC236}">
                <a16:creationId xmlns:a16="http://schemas.microsoft.com/office/drawing/2014/main" id="{977E82FD-CB69-4251-C9FA-CD8060F5782F}"/>
              </a:ext>
            </a:extLst>
          </p:cNvPr>
          <p:cNvSpPr/>
          <p:nvPr/>
        </p:nvSpPr>
        <p:spPr>
          <a:xfrm rot="5400000">
            <a:off x="2990843" y="837308"/>
            <a:ext cx="73152" cy="698401"/>
          </a:xfrm>
          <a:prstGeom prst="leftBracket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左大かっこ 35">
            <a:extLst>
              <a:ext uri="{FF2B5EF4-FFF2-40B4-BE49-F238E27FC236}">
                <a16:creationId xmlns:a16="http://schemas.microsoft.com/office/drawing/2014/main" id="{A8F673AB-456F-4FAF-1711-CAE17C7CFE69}"/>
              </a:ext>
            </a:extLst>
          </p:cNvPr>
          <p:cNvSpPr/>
          <p:nvPr/>
        </p:nvSpPr>
        <p:spPr>
          <a:xfrm rot="5400000">
            <a:off x="3732278" y="839862"/>
            <a:ext cx="73152" cy="698401"/>
          </a:xfrm>
          <a:prstGeom prst="leftBracket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B8AFADF-A86D-F983-00C8-035EE5BF9687}"/>
              </a:ext>
            </a:extLst>
          </p:cNvPr>
          <p:cNvSpPr txBox="1"/>
          <p:nvPr/>
        </p:nvSpPr>
        <p:spPr>
          <a:xfrm>
            <a:off x="2670718" y="865196"/>
            <a:ext cx="804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0.57 D</a:t>
            </a:r>
            <a:endParaRPr kumimoji="1" lang="ja-JP" altLang="en-US" sz="16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0E8149F-3056-ECFD-58CA-A0C3F594038D}"/>
              </a:ext>
            </a:extLst>
          </p:cNvPr>
          <p:cNvSpPr txBox="1"/>
          <p:nvPr/>
        </p:nvSpPr>
        <p:spPr>
          <a:xfrm>
            <a:off x="3353024" y="859780"/>
            <a:ext cx="804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1.00 D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44811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BC3B5-6547-16B5-E045-B3E5D619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A6CF14-D723-F6FC-3978-281909AF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Pilot Experiment: Result</a:t>
            </a:r>
            <a:r>
              <a:rPr lang="en-US" altLang="ja-JP" dirty="0"/>
              <a:t>s </a:t>
            </a:r>
            <a:r>
              <a:rPr lang="en-US" altLang="ja-JP" sz="2800" dirty="0"/>
              <a:t>— Binocular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216785-89A8-21F4-D682-BA71411244AE}"/>
              </a:ext>
            </a:extLst>
          </p:cNvPr>
          <p:cNvSpPr txBox="1"/>
          <p:nvPr/>
        </p:nvSpPr>
        <p:spPr>
          <a:xfrm>
            <a:off x="457199" y="2679698"/>
            <a:ext cx="2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(a) {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FG</a:t>
            </a:r>
            <a:r>
              <a:rPr lang="en-US" altLang="ja-JP" dirty="0"/>
              <a:t>,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BG</a:t>
            </a:r>
            <a:r>
              <a:rPr kumimoji="1" lang="en-US" altLang="ja-JP" dirty="0"/>
              <a:t>}</a:t>
            </a:r>
            <a:br>
              <a:rPr kumimoji="1" lang="en-US" altLang="ja-JP" dirty="0"/>
            </a:br>
            <a:r>
              <a:rPr kumimoji="1" lang="en-US" altLang="ja-JP" dirty="0"/>
              <a:t>={5.0,5.0} [</a:t>
            </a:r>
            <a:r>
              <a:rPr lang="en-US" altLang="ja-JP" dirty="0"/>
              <a:t>cd/m²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1EE583E-D747-AEF0-A1C0-4BAB3A91852C}"/>
              </a:ext>
            </a:extLst>
          </p:cNvPr>
          <p:cNvSpPr txBox="1"/>
          <p:nvPr/>
        </p:nvSpPr>
        <p:spPr>
          <a:xfrm>
            <a:off x="2528399" y="2679698"/>
            <a:ext cx="207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(b) {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FG</a:t>
            </a:r>
            <a:r>
              <a:rPr lang="en-US" altLang="ja-JP" dirty="0"/>
              <a:t>,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BG</a:t>
            </a:r>
            <a:r>
              <a:rPr kumimoji="1" lang="en-US" altLang="ja-JP" dirty="0"/>
              <a:t>}</a:t>
            </a:r>
            <a:br>
              <a:rPr kumimoji="1" lang="en-US" altLang="ja-JP" dirty="0"/>
            </a:br>
            <a:r>
              <a:rPr kumimoji="1" lang="en-US" altLang="ja-JP" dirty="0"/>
              <a:t>={5.0,15.0} [</a:t>
            </a:r>
            <a:r>
              <a:rPr lang="en-US" altLang="ja-JP" dirty="0"/>
              <a:t>cd/m²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3D51522-7AE2-B592-C9F0-86CAEAAE0352}"/>
              </a:ext>
            </a:extLst>
          </p:cNvPr>
          <p:cNvSpPr txBox="1"/>
          <p:nvPr/>
        </p:nvSpPr>
        <p:spPr>
          <a:xfrm>
            <a:off x="4571999" y="2679698"/>
            <a:ext cx="207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(c) {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FG</a:t>
            </a:r>
            <a:r>
              <a:rPr lang="en-US" altLang="ja-JP" dirty="0"/>
              <a:t>,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BG</a:t>
            </a:r>
            <a:r>
              <a:rPr kumimoji="1" lang="en-US" altLang="ja-JP" dirty="0"/>
              <a:t>}</a:t>
            </a:r>
            <a:br>
              <a:rPr kumimoji="1" lang="en-US" altLang="ja-JP" dirty="0"/>
            </a:br>
            <a:r>
              <a:rPr kumimoji="1" lang="en-US" altLang="ja-JP" dirty="0"/>
              <a:t>={50.0,5.0} [</a:t>
            </a:r>
            <a:r>
              <a:rPr lang="en-US" altLang="ja-JP" dirty="0"/>
              <a:t>cd/m²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4AE44A4-0C9E-1ED7-7B18-AE2E25414D15}"/>
              </a:ext>
            </a:extLst>
          </p:cNvPr>
          <p:cNvSpPr txBox="1"/>
          <p:nvPr/>
        </p:nvSpPr>
        <p:spPr>
          <a:xfrm>
            <a:off x="6586547" y="2679698"/>
            <a:ext cx="2184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(d) {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FG</a:t>
            </a:r>
            <a:r>
              <a:rPr lang="en-US" altLang="ja-JP" dirty="0"/>
              <a:t>,</a:t>
            </a:r>
            <a:r>
              <a:rPr kumimoji="1" lang="en-US" altLang="ja-JP" dirty="0"/>
              <a:t>Y</a:t>
            </a:r>
            <a:r>
              <a:rPr kumimoji="1" lang="en-US" altLang="ja-JP" baseline="-25000" dirty="0"/>
              <a:t>BG</a:t>
            </a:r>
            <a:r>
              <a:rPr kumimoji="1" lang="en-US" altLang="ja-JP" dirty="0"/>
              <a:t>}</a:t>
            </a:r>
            <a:br>
              <a:rPr kumimoji="1" lang="en-US" altLang="ja-JP" dirty="0"/>
            </a:br>
            <a:r>
              <a:rPr kumimoji="1" lang="en-US" altLang="ja-JP" dirty="0"/>
              <a:t>={50.0,15.0} [</a:t>
            </a:r>
            <a:r>
              <a:rPr lang="en-US" altLang="ja-JP" dirty="0"/>
              <a:t>cd/m²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A3199C5-C16A-EA22-5E7A-1B01CF6B7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87" y="1165565"/>
            <a:ext cx="2016000" cy="1512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E3F29DE-CCDE-C199-FB45-8C7E9A731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816" y="1165565"/>
            <a:ext cx="2016000" cy="1512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8521985-B62B-4CB3-4F8D-D0B6FA36B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72" y="1165565"/>
            <a:ext cx="2016000" cy="151200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8F996B0-8FC8-3899-98AD-312B60C72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502" y="1165565"/>
            <a:ext cx="2016000" cy="1512000"/>
          </a:xfrm>
          <a:prstGeom prst="rect">
            <a:avLst/>
          </a:prstGeom>
        </p:spPr>
      </p:pic>
      <p:sp>
        <p:nvSpPr>
          <p:cNvPr id="25" name="コンテンツ プレースホルダー 43">
            <a:extLst>
              <a:ext uri="{FF2B5EF4-FFF2-40B4-BE49-F238E27FC236}">
                <a16:creationId xmlns:a16="http://schemas.microsoft.com/office/drawing/2014/main" id="{FD781E56-311A-C679-AB06-D90760CE3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3326029"/>
            <a:ext cx="4142400" cy="1245971"/>
          </a:xfrm>
        </p:spPr>
        <p:txBody>
          <a:bodyPr/>
          <a:lstStyle/>
          <a:p>
            <a:r>
              <a:rPr lang="en-US" altLang="ja-JP" b="1" dirty="0">
                <a:solidFill>
                  <a:schemeClr val="accent1"/>
                </a:solidFill>
              </a:rPr>
              <a:t>Key observations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Luminance, SF, negative scores patterns same as monocular</a:t>
            </a:r>
          </a:p>
        </p:txBody>
      </p:sp>
      <p:sp>
        <p:nvSpPr>
          <p:cNvPr id="26" name="コンテンツ プレースホルダー 43">
            <a:extLst>
              <a:ext uri="{FF2B5EF4-FFF2-40B4-BE49-F238E27FC236}">
                <a16:creationId xmlns:a16="http://schemas.microsoft.com/office/drawing/2014/main" id="{F7B641CF-DA7D-3840-49C8-E9CA10E176ED}"/>
              </a:ext>
            </a:extLst>
          </p:cNvPr>
          <p:cNvSpPr txBox="1">
            <a:spLocks/>
          </p:cNvSpPr>
          <p:nvPr/>
        </p:nvSpPr>
        <p:spPr>
          <a:xfrm>
            <a:off x="4571999" y="3329917"/>
            <a:ext cx="4248002" cy="12459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No consistent ΔD trend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No mono-bino difference</a:t>
            </a:r>
            <a:endParaRPr lang="en-US" altLang="ja-JP" b="1" dirty="0">
              <a:solidFill>
                <a:schemeClr val="accent1"/>
              </a:solidFill>
            </a:endParaRPr>
          </a:p>
        </p:txBody>
      </p:sp>
      <p:sp>
        <p:nvSpPr>
          <p:cNvPr id="28" name="スライド番号プレースホルダー 27">
            <a:extLst>
              <a:ext uri="{FF2B5EF4-FFF2-40B4-BE49-F238E27FC236}">
                <a16:creationId xmlns:a16="http://schemas.microsoft.com/office/drawing/2014/main" id="{F5589154-B15D-37D8-59D4-9D2249D2A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25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16518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724C4-8295-DBE3-70B6-CD6BA0E4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ED3CD42-BBA4-5BCC-C62E-E229C2B19662}"/>
              </a:ext>
            </a:extLst>
          </p:cNvPr>
          <p:cNvSpPr/>
          <p:nvPr/>
        </p:nvSpPr>
        <p:spPr>
          <a:xfrm>
            <a:off x="457200" y="1134367"/>
            <a:ext cx="8229600" cy="5733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9906CBF-8373-23D8-9237-9CBB2A57FA04}"/>
              </a:ext>
            </a:extLst>
          </p:cNvPr>
          <p:cNvCxnSpPr>
            <a:cxnSpLocks/>
          </p:cNvCxnSpPr>
          <p:nvPr/>
        </p:nvCxnSpPr>
        <p:spPr>
          <a:xfrm>
            <a:off x="468000" y="1131750"/>
            <a:ext cx="0" cy="5760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3BB40C-A1B7-5BFB-FE37-569390DD3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Pilot Experiment: </a:t>
            </a:r>
            <a:r>
              <a:rPr lang="en-US" altLang="ja-JP" dirty="0"/>
              <a:t>Discussion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FFD04C-753B-0CBF-45EF-18309C110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432000"/>
          </a:xfrm>
        </p:spPr>
        <p:txBody>
          <a:bodyPr/>
          <a:lstStyle/>
          <a:p>
            <a:pPr algn="ctr"/>
            <a:r>
              <a:rPr lang="en-US" altLang="ja-JP" b="1" dirty="0">
                <a:solidFill>
                  <a:schemeClr val="accent1"/>
                </a:solidFill>
              </a:rPr>
              <a:t>Four redesign directions </a:t>
            </a:r>
            <a:r>
              <a:rPr lang="en-US" altLang="ja-JP" dirty="0"/>
              <a:t>for the main experiment</a:t>
            </a:r>
            <a:endParaRPr lang="en-US" altLang="ja-JP" b="1" dirty="0">
              <a:solidFill>
                <a:schemeClr val="accent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EE96DE-CA83-8BD2-8BDA-C720FA37D5FF}"/>
              </a:ext>
            </a:extLst>
          </p:cNvPr>
          <p:cNvSpPr txBox="1"/>
          <p:nvPr/>
        </p:nvSpPr>
        <p:spPr>
          <a:xfrm flipH="1">
            <a:off x="462600" y="1988214"/>
            <a:ext cx="4037400" cy="1058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①  </a:t>
            </a: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Drop weak masking conditions</a:t>
            </a:r>
          </a:p>
          <a:p>
            <a:pPr>
              <a:lnSpc>
                <a:spcPct val="120000"/>
              </a:lnSpc>
            </a:pPr>
            <a:r>
              <a:rPr lang="en-US" altLang="ja-JP" b="1" dirty="0"/>
              <a:t>Discrete rating lacks resolution </a:t>
            </a:r>
            <a:r>
              <a:rPr lang="en-US" altLang="ja-JP" dirty="0"/>
              <a:t>where the true effect is small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D4C08B4-6774-B839-BEB0-C03038941EA2}"/>
              </a:ext>
            </a:extLst>
          </p:cNvPr>
          <p:cNvSpPr txBox="1"/>
          <p:nvPr/>
        </p:nvSpPr>
        <p:spPr>
          <a:xfrm flipH="1">
            <a:off x="4644000" y="1988214"/>
            <a:ext cx="4037400" cy="1058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Fix luminance &amp; spatial freq</a:t>
            </a:r>
          </a:p>
          <a:p>
            <a:pPr>
              <a:lnSpc>
                <a:spcPct val="120000"/>
              </a:lnSpc>
            </a:pPr>
            <a:r>
              <a:rPr lang="en-US" altLang="ja-JP" b="1" dirty="0"/>
              <a:t>High Y</a:t>
            </a:r>
            <a:r>
              <a:rPr lang="en-US" altLang="ja-JP" b="1" baseline="-25000" dirty="0"/>
              <a:t>BG</a:t>
            </a:r>
            <a:r>
              <a:rPr lang="en-US" altLang="ja-JP" b="1" dirty="0"/>
              <a:t>, mid Y</a:t>
            </a:r>
            <a:r>
              <a:rPr lang="en-US" altLang="ja-JP" b="1" baseline="-25000" dirty="0"/>
              <a:t>FG</a:t>
            </a:r>
            <a:r>
              <a:rPr lang="en-US" altLang="ja-JP" b="1" dirty="0"/>
              <a:t>, and low SF</a:t>
            </a:r>
          </a:p>
          <a:p>
            <a:pPr>
              <a:lnSpc>
                <a:spcPct val="120000"/>
              </a:lnSpc>
            </a:pPr>
            <a:r>
              <a:rPr lang="ja-JP" altLang="en-US" dirty="0"/>
              <a:t>→</a:t>
            </a:r>
            <a:r>
              <a:rPr lang="en-US" altLang="ja-JP" dirty="0"/>
              <a:t>reduce other axes</a:t>
            </a:r>
            <a:endParaRPr lang="en-US" altLang="ja-JP" b="1" dirty="0">
              <a:uFill>
                <a:solidFill>
                  <a:schemeClr val="accent2"/>
                </a:solidFill>
              </a:u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6C165CE-DE6C-5954-B143-90240B7DC746}"/>
              </a:ext>
            </a:extLst>
          </p:cNvPr>
          <p:cNvSpPr txBox="1"/>
          <p:nvPr/>
        </p:nvSpPr>
        <p:spPr>
          <a:xfrm flipH="1">
            <a:off x="468000" y="3316241"/>
            <a:ext cx="4104000" cy="1058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AutoNum type="circleNumDbPlain" startAt="3"/>
            </a:pP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Switch to matching method</a:t>
            </a:r>
          </a:p>
          <a:p>
            <a:pPr>
              <a:lnSpc>
                <a:spcPct val="120000"/>
              </a:lnSpc>
            </a:pPr>
            <a:r>
              <a:rPr lang="en-US" altLang="ja-JP" dirty="0">
                <a:uFill>
                  <a:solidFill>
                    <a:schemeClr val="accent2"/>
                  </a:solidFill>
                </a:uFill>
              </a:rPr>
              <a:t>Use </a:t>
            </a:r>
            <a:r>
              <a:rPr lang="en-US" altLang="ja-JP" b="1" dirty="0">
                <a:uFill>
                  <a:solidFill>
                    <a:schemeClr val="accent2"/>
                  </a:solidFill>
                </a:uFill>
              </a:rPr>
              <a:t>slower, but more accurate </a:t>
            </a:r>
            <a:r>
              <a:rPr lang="en-US" altLang="ja-JP" dirty="0">
                <a:uFill>
                  <a:solidFill>
                    <a:schemeClr val="accent2"/>
                  </a:solidFill>
                </a:uFill>
              </a:rPr>
              <a:t>method than discrete rating</a:t>
            </a:r>
            <a:endParaRPr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65DE04B-5BA0-F24C-785A-02AB44680EE7}"/>
              </a:ext>
            </a:extLst>
          </p:cNvPr>
          <p:cNvSpPr txBox="1"/>
          <p:nvPr/>
        </p:nvSpPr>
        <p:spPr>
          <a:xfrm flipH="1">
            <a:off x="4638600" y="3316996"/>
            <a:ext cx="4037400" cy="1058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④  </a:t>
            </a: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Add single-plane condition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Simulate </a:t>
            </a:r>
          </a:p>
          <a:p>
            <a:pPr>
              <a:lnSpc>
                <a:spcPct val="120000"/>
              </a:lnSpc>
            </a:pPr>
            <a:r>
              <a:rPr lang="en-US" altLang="ja-JP" b="1" dirty="0"/>
              <a:t>linear addition &amp; defocus blur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C204ADB-FDB7-2BE7-C463-4F725924B22B}"/>
              </a:ext>
            </a:extLst>
          </p:cNvPr>
          <p:cNvCxnSpPr>
            <a:cxnSpLocks/>
          </p:cNvCxnSpPr>
          <p:nvPr/>
        </p:nvCxnSpPr>
        <p:spPr>
          <a:xfrm>
            <a:off x="4572000" y="1995750"/>
            <a:ext cx="0" cy="2527844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7D241F1-561F-2F0F-B2C9-6B3578A3DD1B}"/>
              </a:ext>
            </a:extLst>
          </p:cNvPr>
          <p:cNvCxnSpPr>
            <a:cxnSpLocks/>
          </p:cNvCxnSpPr>
          <p:nvPr/>
        </p:nvCxnSpPr>
        <p:spPr>
          <a:xfrm flipH="1">
            <a:off x="478801" y="3219750"/>
            <a:ext cx="8186399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80CF42-DB2D-CBD1-C79D-085D5C2C8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26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69424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97867-C828-7101-07D9-E5B9BD0B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E67990-80EA-BDB9-0110-62C3E908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Outline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0AC56B-CE35-BCF7-CE85-3E995A189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1"/>
                </a:solidFill>
              </a:rPr>
              <a:t>1.   </a:t>
            </a:r>
            <a:r>
              <a:rPr kumimoji="1" lang="en-US" altLang="ja-JP" dirty="0"/>
              <a:t>Introduction</a:t>
            </a: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1"/>
                </a:solidFill>
              </a:rPr>
              <a:t>2.   </a:t>
            </a:r>
            <a:r>
              <a:rPr kumimoji="1" lang="en-US" altLang="ja-JP" dirty="0"/>
              <a:t>Related Work</a:t>
            </a:r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1"/>
                </a:solidFill>
              </a:rPr>
              <a:t>3.   </a:t>
            </a:r>
            <a:r>
              <a:rPr lang="en-US" altLang="ja-JP" dirty="0"/>
              <a:t>Method</a:t>
            </a:r>
          </a:p>
          <a:p>
            <a:pPr marL="0" indent="0">
              <a:lnSpc>
                <a:spcPct val="150000"/>
              </a:lnSpc>
            </a:pPr>
            <a:r>
              <a:rPr kumimoji="1" lang="en-US" altLang="ja-JP" b="1" dirty="0">
                <a:solidFill>
                  <a:schemeClr val="accent1"/>
                </a:solidFill>
              </a:rPr>
              <a:t>4.   </a:t>
            </a:r>
            <a:r>
              <a:rPr kumimoji="1" lang="en-US" altLang="ja-JP" dirty="0"/>
              <a:t>Pilot Experiment</a:t>
            </a:r>
          </a:p>
          <a:p>
            <a:pPr marL="0" indent="0">
              <a:lnSpc>
                <a:spcPct val="150000"/>
              </a:lnSpc>
            </a:pPr>
            <a:r>
              <a:rPr lang="en-US" altLang="ja-JP" b="1" dirty="0">
                <a:solidFill>
                  <a:schemeClr val="accent1"/>
                </a:solidFill>
              </a:rPr>
              <a:t>5.   </a:t>
            </a:r>
            <a:r>
              <a:rPr lang="en-US" altLang="ja-JP" dirty="0"/>
              <a:t>Conclusion &amp; Future Work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39BDAC-AB2D-2AA4-5520-66A242D29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27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35088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42CA-5D97-5D10-F001-A2A02EB2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4C5A41BF-AD14-CA94-85E8-342653DCF8EA}"/>
              </a:ext>
            </a:extLst>
          </p:cNvPr>
          <p:cNvSpPr/>
          <p:nvPr/>
        </p:nvSpPr>
        <p:spPr>
          <a:xfrm>
            <a:off x="6276547" y="3675878"/>
            <a:ext cx="2412000" cy="83987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A1EC717-9001-90C6-9964-271C1B62EA8F}"/>
              </a:ext>
            </a:extLst>
          </p:cNvPr>
          <p:cNvSpPr/>
          <p:nvPr/>
        </p:nvSpPr>
        <p:spPr>
          <a:xfrm>
            <a:off x="3366000" y="3675878"/>
            <a:ext cx="2412000" cy="83987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3353AD67-6D16-39B1-36D3-7303D43A21CE}"/>
              </a:ext>
            </a:extLst>
          </p:cNvPr>
          <p:cNvSpPr/>
          <p:nvPr/>
        </p:nvSpPr>
        <p:spPr>
          <a:xfrm>
            <a:off x="455453" y="3675878"/>
            <a:ext cx="2412000" cy="83987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324FB92-FF0E-A695-61EC-32D7A2B0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Conclusion &amp; Future Work</a:t>
            </a:r>
            <a:endParaRPr kumimoji="1"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045C03-34ED-84F4-6D7F-DA5B362C6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750"/>
            <a:ext cx="8229600" cy="2088000"/>
          </a:xfrm>
        </p:spPr>
        <p:txBody>
          <a:bodyPr/>
          <a:lstStyle/>
          <a:p>
            <a:r>
              <a:rPr lang="en-US" altLang="ja-JP" b="1" dirty="0">
                <a:solidFill>
                  <a:schemeClr val="accent1"/>
                </a:solidFill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800" b="1" dirty="0"/>
              <a:t>Goal:</a:t>
            </a:r>
            <a:r>
              <a:rPr lang="en-US" altLang="ja-JP" sz="1800" dirty="0"/>
              <a:t> extend Fukiage’s visibility predictor to OST-AR through an experiment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800" b="1" dirty="0"/>
              <a:t>Pilot experiment: </a:t>
            </a:r>
            <a:r>
              <a:rPr lang="en-US" altLang="ja-JP" sz="1800" dirty="0"/>
              <a:t>design study for that experiment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800" b="1" u="sng" dirty="0">
                <a:uFill>
                  <a:solidFill>
                    <a:schemeClr val="accent2"/>
                  </a:solidFill>
                </a:uFill>
              </a:rPr>
              <a:t>Pilot result:</a:t>
            </a:r>
            <a:r>
              <a:rPr lang="en-US" altLang="ja-JP" sz="1800" dirty="0"/>
              <a:t> identified the key factors and parameter ranges to target</a:t>
            </a:r>
          </a:p>
        </p:txBody>
      </p:sp>
      <p:sp>
        <p:nvSpPr>
          <p:cNvPr id="12" name="コンテンツ プレースホルダー 5">
            <a:extLst>
              <a:ext uri="{FF2B5EF4-FFF2-40B4-BE49-F238E27FC236}">
                <a16:creationId xmlns:a16="http://schemas.microsoft.com/office/drawing/2014/main" id="{105C6B6B-B7EC-6341-9454-44BD9BB2241B}"/>
              </a:ext>
            </a:extLst>
          </p:cNvPr>
          <p:cNvSpPr txBox="1">
            <a:spLocks/>
          </p:cNvSpPr>
          <p:nvPr/>
        </p:nvSpPr>
        <p:spPr>
          <a:xfrm>
            <a:off x="457200" y="3147751"/>
            <a:ext cx="8229600" cy="35757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b="1" dirty="0">
                <a:solidFill>
                  <a:schemeClr val="accent1"/>
                </a:solidFill>
              </a:rPr>
              <a:t>Future Work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5AE55D5-2FEE-F77C-1C04-F128E41EDE0B}"/>
              </a:ext>
            </a:extLst>
          </p:cNvPr>
          <p:cNvSpPr txBox="1"/>
          <p:nvPr/>
        </p:nvSpPr>
        <p:spPr>
          <a:xfrm flipH="1">
            <a:off x="6269400" y="3716950"/>
            <a:ext cx="2412000" cy="7262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Model Extension</a:t>
            </a:r>
            <a:b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</a:b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&amp; Validation</a:t>
            </a:r>
            <a:endParaRPr lang="en-US" altLang="ja-JP" b="1" dirty="0">
              <a:uFill>
                <a:solidFill>
                  <a:schemeClr val="accent2"/>
                </a:solidFill>
              </a:u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3DC2504-9FE2-8F9B-0F07-8A11EC15B26A}"/>
              </a:ext>
            </a:extLst>
          </p:cNvPr>
          <p:cNvSpPr txBox="1"/>
          <p:nvPr/>
        </p:nvSpPr>
        <p:spPr>
          <a:xfrm flipH="1">
            <a:off x="455452" y="3717817"/>
            <a:ext cx="2412000" cy="7262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Add pre-experiment</a:t>
            </a:r>
          </a:p>
          <a:p>
            <a:pPr algn="ctr">
              <a:lnSpc>
                <a:spcPct val="120000"/>
              </a:lnSpc>
            </a:pPr>
            <a:r>
              <a:rPr lang="en-US" altLang="ja-JP" dirty="0"/>
              <a:t>to check redesign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B701B7-8BA7-887D-8294-2105481177A8}"/>
              </a:ext>
            </a:extLst>
          </p:cNvPr>
          <p:cNvSpPr txBox="1"/>
          <p:nvPr/>
        </p:nvSpPr>
        <p:spPr>
          <a:xfrm flipH="1">
            <a:off x="3366000" y="3717461"/>
            <a:ext cx="2412000" cy="7262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chemeClr val="accent1"/>
                </a:solidFill>
                <a:uFill>
                  <a:solidFill>
                    <a:schemeClr val="accent2"/>
                  </a:solidFill>
                </a:uFill>
              </a:rPr>
              <a:t>Main experiment</a:t>
            </a:r>
          </a:p>
          <a:p>
            <a:pPr algn="ctr">
              <a:lnSpc>
                <a:spcPct val="120000"/>
              </a:lnSpc>
            </a:pPr>
            <a:r>
              <a:rPr lang="en-US" altLang="ja-JP" dirty="0">
                <a:uFill>
                  <a:solidFill>
                    <a:schemeClr val="accent2"/>
                  </a:solidFill>
                </a:uFill>
              </a:rPr>
              <a:t>after ethical review</a:t>
            </a:r>
          </a:p>
        </p:txBody>
      </p:sp>
      <p:sp>
        <p:nvSpPr>
          <p:cNvPr id="31" name="矢印: 下 30">
            <a:extLst>
              <a:ext uri="{FF2B5EF4-FFF2-40B4-BE49-F238E27FC236}">
                <a16:creationId xmlns:a16="http://schemas.microsoft.com/office/drawing/2014/main" id="{5DC45B4C-4931-D96B-3AB6-EF83E45C992B}"/>
              </a:ext>
            </a:extLst>
          </p:cNvPr>
          <p:cNvSpPr/>
          <p:nvPr/>
        </p:nvSpPr>
        <p:spPr>
          <a:xfrm rot="16200000">
            <a:off x="2877986" y="3922365"/>
            <a:ext cx="484632" cy="346897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EEE32596-DB57-B590-8C28-85FF5AF51C00}"/>
              </a:ext>
            </a:extLst>
          </p:cNvPr>
          <p:cNvSpPr/>
          <p:nvPr/>
        </p:nvSpPr>
        <p:spPr>
          <a:xfrm rot="16200000">
            <a:off x="5777811" y="3922364"/>
            <a:ext cx="484632" cy="346897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59B20B1-D316-A4F0-607C-BC866C354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28</a:t>
            </a:fld>
            <a:r>
              <a:rPr lang="en-US"/>
              <a:t>/28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36512980"/>
      </p:ext>
    </p:extLst>
  </p:cSld>
  <p:clrMapOvr>
    <a:masterClrMapping/>
  </p:clrMapOvr>
</p:sld>
</file>

<file path=ppt/theme/theme1.xml><?xml version="1.0" encoding="utf-8"?>
<a:theme xmlns:a="http://schemas.openxmlformats.org/drawingml/2006/main" name="浪裏">
  <a:themeElements>
    <a:clrScheme name="浪裏">
      <a:dk1>
        <a:srgbClr val="4E5461"/>
      </a:dk1>
      <a:lt1>
        <a:srgbClr val="F9F9FB"/>
      </a:lt1>
      <a:dk2>
        <a:srgbClr val="192F60"/>
      </a:dk2>
      <a:lt2>
        <a:srgbClr val="FCFAF2"/>
      </a:lt2>
      <a:accent1>
        <a:srgbClr val="4463AB"/>
      </a:accent1>
      <a:accent2>
        <a:srgbClr val="B1C0DE"/>
      </a:accent2>
      <a:accent3>
        <a:srgbClr val="DFE5F1"/>
      </a:accent3>
      <a:accent4>
        <a:srgbClr val="FFC342"/>
      </a:accent4>
      <a:accent5>
        <a:srgbClr val="E6AF3B"/>
      </a:accent5>
      <a:accent6>
        <a:srgbClr val="AB1100"/>
      </a:accent6>
      <a:hlink>
        <a:srgbClr val="4463AB"/>
      </a:hlink>
      <a:folHlink>
        <a:srgbClr val="611954"/>
      </a:folHlink>
    </a:clrScheme>
    <a:fontScheme name="ユーザー定義 1">
      <a:majorFont>
        <a:latin typeface="Segoe UI"/>
        <a:ea typeface="游ゴシック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浪裏" id="{6DBC3D7F-89B9-4340-9943-60A88C3A2EAA}" vid="{DC215AF6-271F-4506-B61D-1199FBA3623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浪裏</Template>
  <TotalTime>1619</TotalTime>
  <Words>1513</Words>
  <Application>Microsoft Office PowerPoint</Application>
  <PresentationFormat>画面に合わせる (16:9)</PresentationFormat>
  <Paragraphs>357</Paragraphs>
  <Slides>28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4" baseType="lpstr">
      <vt:lpstr>游ゴシック</vt:lpstr>
      <vt:lpstr>Arial</vt:lpstr>
      <vt:lpstr>Calibri</vt:lpstr>
      <vt:lpstr>Cambria Math</vt:lpstr>
      <vt:lpstr>Segoe UI</vt:lpstr>
      <vt:lpstr>浪裏</vt:lpstr>
      <vt:lpstr>Perceptual Visibility Prediction of  Overlaid Content in Optical See-Through  Augmented Reality</vt:lpstr>
      <vt:lpstr>Outline</vt:lpstr>
      <vt:lpstr>Outline</vt:lpstr>
      <vt:lpstr>Introduction: Optical See-Through AR</vt:lpstr>
      <vt:lpstr>Introduction: Visibility Depends on the Background</vt:lpstr>
      <vt:lpstr>Scope &amp; Objective</vt:lpstr>
      <vt:lpstr>Outline</vt:lpstr>
      <vt:lpstr>Related Work (1): Contrast Perception</vt:lpstr>
      <vt:lpstr>Related Work (2): Single-Factor Models for OST-AR</vt:lpstr>
      <vt:lpstr>Related Work (3): IQA for OST-AR Visibility</vt:lpstr>
      <vt:lpstr>Related Work (3): Fukiage‘s Visibility Predictor</vt:lpstr>
      <vt:lpstr>Related Work (4): Fukiage‘s Visibility Predictor</vt:lpstr>
      <vt:lpstr>Outline</vt:lpstr>
      <vt:lpstr>Method: Overview</vt:lpstr>
      <vt:lpstr>Method (1): Visibility Evaluation Experiment</vt:lpstr>
      <vt:lpstr>Method (2): Model Extension</vt:lpstr>
      <vt:lpstr>Method (3): Model Validation</vt:lpstr>
      <vt:lpstr>Outline</vt:lpstr>
      <vt:lpstr>Pilot Experiment: Objective</vt:lpstr>
      <vt:lpstr>Pilot Experiment: Apparatus</vt:lpstr>
      <vt:lpstr>Pilot Experiment: Procedure</vt:lpstr>
      <vt:lpstr>Pilot Experiment: Stimuli</vt:lpstr>
      <vt:lpstr>Pilot Experiment: Conditions</vt:lpstr>
      <vt:lpstr>Pilot Experiment: Results — Monocular</vt:lpstr>
      <vt:lpstr>Pilot Experiment: Results — Binocular</vt:lpstr>
      <vt:lpstr>Pilot Experiment: Discussion</vt:lpstr>
      <vt:lpstr>Outline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HamaKazu</dc:creator>
  <cp:keywords/>
  <dc:description>generated using python-pptx</dc:description>
  <cp:lastModifiedBy>濵田　和希</cp:lastModifiedBy>
  <cp:revision>18</cp:revision>
  <dcterms:created xsi:type="dcterms:W3CDTF">2013-01-27T09:14:16Z</dcterms:created>
  <dcterms:modified xsi:type="dcterms:W3CDTF">2026-05-12T11:26:59Z</dcterms:modified>
  <cp:category/>
</cp:coreProperties>
</file>