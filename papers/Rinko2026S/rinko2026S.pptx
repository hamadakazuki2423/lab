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handoutMasterIdLst>
    <p:handoutMasterId r:id="rId33"/>
  </p:handoutMasterIdLst>
  <p:sldIdLst>
    <p:sldId id="300" r:id="rId2"/>
    <p:sldId id="282" r:id="rId3"/>
    <p:sldId id="312" r:id="rId4"/>
    <p:sldId id="284" r:id="rId5"/>
    <p:sldId id="303" r:id="rId6"/>
    <p:sldId id="286" r:id="rId7"/>
    <p:sldId id="318" r:id="rId8"/>
    <p:sldId id="305" r:id="rId9"/>
    <p:sldId id="321" r:id="rId10"/>
    <p:sldId id="289" r:id="rId11"/>
    <p:sldId id="304" r:id="rId12"/>
    <p:sldId id="292" r:id="rId13"/>
    <p:sldId id="319" r:id="rId14"/>
    <p:sldId id="293" r:id="rId15"/>
    <p:sldId id="294" r:id="rId16"/>
    <p:sldId id="295" r:id="rId17"/>
    <p:sldId id="302" r:id="rId18"/>
    <p:sldId id="320" r:id="rId19"/>
    <p:sldId id="297" r:id="rId20"/>
    <p:sldId id="306" r:id="rId21"/>
    <p:sldId id="307" r:id="rId22"/>
    <p:sldId id="308" r:id="rId23"/>
    <p:sldId id="309" r:id="rId24"/>
    <p:sldId id="322" r:id="rId25"/>
    <p:sldId id="310" r:id="rId26"/>
    <p:sldId id="311" r:id="rId27"/>
    <p:sldId id="323" r:id="rId28"/>
    <p:sldId id="298" r:id="rId29"/>
    <p:sldId id="316" r:id="rId30"/>
    <p:sldId id="299" r:id="rId3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4" userDrawn="1">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FFFF"/>
    <a:srgbClr val="C0D3DD"/>
    <a:srgbClr val="AB1100"/>
    <a:srgbClr val="AB3022"/>
    <a:srgbClr val="CC1D00"/>
    <a:srgbClr val="E62100"/>
    <a:srgbClr val="B31A00"/>
    <a:srgbClr val="991600"/>
    <a:srgbClr val="FFA7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777" autoAdjust="0"/>
    <p:restoredTop sz="69376" autoAdjust="0"/>
  </p:normalViewPr>
  <p:slideViewPr>
    <p:cSldViewPr snapToObjects="1">
      <p:cViewPr>
        <p:scale>
          <a:sx n="95" d="100"/>
          <a:sy n="95" d="100"/>
        </p:scale>
        <p:origin x="53" y="53"/>
      </p:cViewPr>
      <p:guideLst>
        <p:guide orient="horz" pos="2164"/>
        <p:guide pos="2880"/>
      </p:guideLst>
    </p:cSldViewPr>
  </p:slideViewPr>
  <p:notesTextViewPr>
    <p:cViewPr>
      <p:scale>
        <a:sx n="100" d="100"/>
        <a:sy n="100" d="100"/>
      </p:scale>
      <p:origin x="0" y="0"/>
    </p:cViewPr>
  </p:notesTextViewPr>
  <p:notesViewPr>
    <p:cSldViewPr snapToObjects="1">
      <p:cViewPr varScale="1">
        <p:scale>
          <a:sx n="53" d="100"/>
          <a:sy n="53" d="100"/>
        </p:scale>
        <p:origin x="2648" y="52"/>
      </p:cViewPr>
      <p:guideLst/>
    </p:cSldViewPr>
  </p:notesViewPr>
  <p:gridSpacing cx="72000" cy="720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16CD76CD-1AE4-6FDD-A190-C51F7CD421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562A3DDB-6C65-FC8A-EA81-2D26CE9196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32C21CC-2330-4A49-A3CB-B70D8D4B56CC}" type="datetimeFigureOut">
              <a:rPr kumimoji="1" lang="ja-JP" altLang="en-US" smtClean="0"/>
              <a:t>2026/5/15</a:t>
            </a:fld>
            <a:endParaRPr kumimoji="1" lang="ja-JP" altLang="en-US"/>
          </a:p>
        </p:txBody>
      </p:sp>
      <p:sp>
        <p:nvSpPr>
          <p:cNvPr id="4" name="フッター プレースホルダー 3">
            <a:extLst>
              <a:ext uri="{FF2B5EF4-FFF2-40B4-BE49-F238E27FC236}">
                <a16:creationId xmlns:a16="http://schemas.microsoft.com/office/drawing/2014/main" id="{40E88AEA-1CD5-BEC7-674C-F3E305782D4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B2A9AB9B-136A-299A-6D17-4A9FE62F4C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B92182-5A13-4A19-87B2-C5422956313C}" type="slidenum">
              <a:rPr kumimoji="1" lang="ja-JP" altLang="en-US" smtClean="0"/>
              <a:t>‹#›</a:t>
            </a:fld>
            <a:endParaRPr kumimoji="1" lang="ja-JP" altLang="en-US"/>
          </a:p>
        </p:txBody>
      </p:sp>
    </p:spTree>
    <p:extLst>
      <p:ext uri="{BB962C8B-B14F-4D97-AF65-F5344CB8AC3E}">
        <p14:creationId xmlns:p14="http://schemas.microsoft.com/office/powerpoint/2010/main" val="38811261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2AE992-F63B-4BD7-962F-566830456BA1}" type="datetimeFigureOut">
              <a:rPr kumimoji="1" lang="ja-JP" altLang="en-US" smtClean="0"/>
              <a:t>2026/5/15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028F53-7CA7-4FB4-AAB2-5047F333C336}" type="slidenum">
              <a:rPr kumimoji="1" lang="ja-JP" altLang="en-US" smtClean="0"/>
              <a:t>‹#›</a:t>
            </a:fld>
            <a:endParaRPr kumimoji="1" lang="ja-JP" altLang="en-US"/>
          </a:p>
        </p:txBody>
      </p:sp>
    </p:spTree>
    <p:extLst>
      <p:ext uri="{BB962C8B-B14F-4D97-AF65-F5344CB8AC3E}">
        <p14:creationId xmlns:p14="http://schemas.microsoft.com/office/powerpoint/2010/main" val="26765395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大石研究室所属　修士二年の濵田和希です。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本日は、「</a:t>
            </a:r>
            <a:r>
              <a:rPr lang="ja-JP" altLang="en-US" sz="1200" dirty="0">
                <a:solidFill>
                  <a:schemeClr val="tx1"/>
                </a:solidFill>
              </a:rPr>
              <a:t>光学シースルー拡張現実における重畳コンテンツの知覚的視認性予測</a:t>
            </a:r>
            <a:r>
              <a:rPr kumimoji="1" lang="ja-JP" altLang="en-US" dirty="0"/>
              <a:t>」というテーマで成果発表をさせていただきます。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よろしくお願いします。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a:t>
            </a:fld>
            <a:endParaRPr kumimoji="1" lang="ja-JP" altLang="en-US"/>
          </a:p>
        </p:txBody>
      </p:sp>
    </p:spTree>
    <p:extLst>
      <p:ext uri="{BB962C8B-B14F-4D97-AF65-F5344CB8AC3E}">
        <p14:creationId xmlns:p14="http://schemas.microsoft.com/office/powerpoint/2010/main" val="838750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本日の発表のアウトラインはこちらになります。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a:t>
            </a:fld>
            <a:endParaRPr kumimoji="1" lang="ja-JP" altLang="en-US"/>
          </a:p>
        </p:txBody>
      </p:sp>
    </p:spTree>
    <p:extLst>
      <p:ext uri="{BB962C8B-B14F-4D97-AF65-F5344CB8AC3E}">
        <p14:creationId xmlns:p14="http://schemas.microsoft.com/office/powerpoint/2010/main" val="14161904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まず </a:t>
            </a:r>
            <a:r>
              <a:rPr lang="en-US" altLang="ja-JP" dirty="0"/>
              <a:t>Introduction </a:t>
            </a:r>
            <a:r>
              <a:rPr lang="ja-JP" altLang="en-US" dirty="0"/>
              <a:t>として、背景と目的を述べます。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3</a:t>
            </a:fld>
            <a:endParaRPr kumimoji="1" lang="ja-JP" altLang="en-US"/>
          </a:p>
        </p:txBody>
      </p:sp>
    </p:spTree>
    <p:extLst>
      <p:ext uri="{BB962C8B-B14F-4D97-AF65-F5344CB8AC3E}">
        <p14:creationId xmlns:p14="http://schemas.microsoft.com/office/powerpoint/2010/main" val="42592698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まず、本研究の対象は、光学シースルー方式の</a:t>
            </a:r>
            <a:r>
              <a:rPr kumimoji="1" lang="en-US" altLang="ja-JP" dirty="0"/>
              <a:t>AR</a:t>
            </a:r>
            <a:r>
              <a:rPr kumimoji="1" lang="ja-JP" altLang="en-US" dirty="0"/>
              <a:t>、いわゆる</a:t>
            </a:r>
            <a:r>
              <a:rPr kumimoji="1" lang="en-US" altLang="ja-JP" dirty="0"/>
              <a:t>OST-AR</a:t>
            </a:r>
            <a:r>
              <a:rPr kumimoji="1" lang="ja-JP" altLang="en-US" dirty="0"/>
              <a:t>です。</a:t>
            </a:r>
            <a:endParaRPr kumimoji="1" lang="en-US" altLang="ja-JP" dirty="0"/>
          </a:p>
          <a:p>
            <a:r>
              <a:rPr kumimoji="1" lang="ja-JP" altLang="en-US" dirty="0"/>
              <a:t>この方式では、右の図のように、ビームスプリッターを用いて、現実世界の背景と仮想表示とを、光学的に重畳して知覚させます。</a:t>
            </a:r>
            <a:endParaRPr kumimoji="1" lang="en-US" altLang="ja-JP" dirty="0"/>
          </a:p>
          <a:p>
            <a:r>
              <a:rPr kumimoji="1" lang="ja-JP" altLang="en-US" dirty="0"/>
              <a:t>この方式の利点として、</a:t>
            </a:r>
            <a:r>
              <a:rPr lang="ja-JP" altLang="en-US" dirty="0"/>
              <a:t>現実世界を直接視認できるため、インタラクション感覚や没入感が高いことが挙げられます。</a:t>
            </a:r>
            <a:endParaRPr lang="en-US" altLang="ja-JP" dirty="0"/>
          </a:p>
          <a:p>
            <a:r>
              <a:rPr kumimoji="1" lang="ja-JP" altLang="en-US" dirty="0"/>
              <a:t>一方課題として、現実世界の光と仮想表示の光が光学的に加算され、相互に干渉してしまうことです。</a:t>
            </a:r>
            <a:endParaRPr kumimoji="1" lang="en-US" altLang="ja-JP" dirty="0"/>
          </a:p>
          <a:p>
            <a:r>
              <a:rPr kumimoji="1" lang="ja-JP" altLang="en-US" dirty="0"/>
              <a:t>この性質が、本研究のテーマである、視認性の問題の要因です。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4</a:t>
            </a:fld>
            <a:endParaRPr kumimoji="1" lang="ja-JP" altLang="en-US"/>
          </a:p>
        </p:txBody>
      </p:sp>
    </p:spTree>
    <p:extLst>
      <p:ext uri="{BB962C8B-B14F-4D97-AF65-F5344CB8AC3E}">
        <p14:creationId xmlns:p14="http://schemas.microsoft.com/office/powerpoint/2010/main" val="488781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r>
              <a:rPr lang="ja-JP" altLang="en-US" dirty="0"/>
              <a:t>光学的な加算による視認性への影響は、背景によって異なります。 </a:t>
            </a:r>
            <a:endParaRPr lang="en-US" altLang="ja-JP" dirty="0"/>
          </a:p>
          <a:p>
            <a:r>
              <a:rPr lang="ja-JP" altLang="en-US" dirty="0"/>
              <a:t>図のように、同じ仮想表示に対しても、背景が異なることで、高い視認性が維持されたり、逆に視認性が大きく低下したりします。</a:t>
            </a:r>
            <a:endParaRPr lang="en-US" altLang="ja-JP" dirty="0"/>
          </a:p>
          <a:p>
            <a:r>
              <a:rPr lang="ja-JP" altLang="en-US" dirty="0"/>
              <a:t>そして、このような視認性の低下は、</a:t>
            </a:r>
            <a:r>
              <a:rPr lang="en-US" altLang="ja-JP" dirty="0"/>
              <a:t>UX</a:t>
            </a:r>
            <a:r>
              <a:rPr lang="ja-JP" altLang="en-US" dirty="0"/>
              <a:t>や安全性に悪影響を与えます。</a:t>
            </a:r>
            <a:endParaRPr lang="en-US" altLang="ja-JP" dirty="0"/>
          </a:p>
          <a:p>
            <a:r>
              <a:rPr lang="ja-JP" altLang="en-US" dirty="0"/>
              <a:t>したがって、前景および背景から、視認性を予測し、維持に繋げていくことが、</a:t>
            </a:r>
            <a:r>
              <a:rPr lang="en-US" altLang="ja-JP" dirty="0"/>
              <a:t>OST-AR</a:t>
            </a:r>
            <a:r>
              <a:rPr lang="ja-JP" altLang="en-US" dirty="0"/>
              <a:t>に求められています。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5</a:t>
            </a:fld>
            <a:endParaRPr kumimoji="1" lang="ja-JP" altLang="en-US"/>
          </a:p>
        </p:txBody>
      </p:sp>
    </p:spTree>
    <p:extLst>
      <p:ext uri="{BB962C8B-B14F-4D97-AF65-F5344CB8AC3E}">
        <p14:creationId xmlns:p14="http://schemas.microsoft.com/office/powerpoint/2010/main" val="29017605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このような背景を受け、本研究の目的は、</a:t>
            </a:r>
            <a:r>
              <a:rPr kumimoji="1" lang="en-US" altLang="ja-JP" dirty="0"/>
              <a:t>OST-AR</a:t>
            </a:r>
            <a:r>
              <a:rPr kumimoji="1" lang="ja-JP" altLang="en-US" dirty="0"/>
              <a:t>向けの画像ベースの視認性予測モデルを構築することです。</a:t>
            </a:r>
            <a:endParaRPr kumimoji="1" lang="en-US" altLang="ja-JP" dirty="0"/>
          </a:p>
          <a:p>
            <a:r>
              <a:rPr kumimoji="1" lang="ja-JP" altLang="en-US" dirty="0"/>
              <a:t>そのためのアプローチは、次の</a:t>
            </a:r>
            <a:r>
              <a:rPr kumimoji="1" lang="en-US" altLang="ja-JP" dirty="0"/>
              <a:t>3</a:t>
            </a:r>
            <a:r>
              <a:rPr kumimoji="1" lang="ja-JP" altLang="en-US" dirty="0"/>
              <a:t>ステップから成ります。</a:t>
            </a:r>
            <a:endParaRPr kumimoji="1" lang="en-US" altLang="ja-JP" dirty="0"/>
          </a:p>
          <a:p>
            <a:r>
              <a:rPr kumimoji="1" lang="en-US" altLang="ja-JP" dirty="0"/>
              <a:t>Step1</a:t>
            </a:r>
            <a:r>
              <a:rPr kumimoji="1" lang="ja-JP" altLang="en-US" dirty="0"/>
              <a:t>として、</a:t>
            </a:r>
            <a:r>
              <a:rPr lang="ja-JP" altLang="en-US" dirty="0"/>
              <a:t>心理物理学実験により、</a:t>
            </a:r>
            <a:r>
              <a:rPr lang="en-US" altLang="ja-JP" dirty="0"/>
              <a:t>OST-AR </a:t>
            </a:r>
            <a:r>
              <a:rPr lang="ja-JP" altLang="en-US" dirty="0"/>
              <a:t>環境における </a:t>
            </a:r>
            <a:r>
              <a:rPr lang="en-US" altLang="ja-JP" dirty="0"/>
              <a:t>Human vision system</a:t>
            </a:r>
            <a:r>
              <a:rPr lang="ja-JP" altLang="en-US" dirty="0"/>
              <a:t>の働きを定量化します。</a:t>
            </a:r>
            <a:endParaRPr lang="en-US" altLang="ja-JP" dirty="0"/>
          </a:p>
          <a:p>
            <a:r>
              <a:rPr lang="en-US" altLang="ja-JP" dirty="0"/>
              <a:t>Step 2 </a:t>
            </a:r>
            <a:r>
              <a:rPr lang="ja-JP" altLang="en-US" dirty="0"/>
              <a:t>では、その結果をもとに、</a:t>
            </a:r>
            <a:r>
              <a:rPr lang="en-US" altLang="ja-JP" dirty="0"/>
              <a:t>2D </a:t>
            </a:r>
            <a:r>
              <a:rPr lang="ja-JP" altLang="en-US" dirty="0"/>
              <a:t>表示を前提とした既存モデルを、 </a:t>
            </a:r>
            <a:r>
              <a:rPr lang="en-US" altLang="ja-JP" dirty="0"/>
              <a:t>OST-AR </a:t>
            </a:r>
            <a:r>
              <a:rPr lang="ja-JP" altLang="en-US" dirty="0"/>
              <a:t>向けに拡張します。 </a:t>
            </a:r>
            <a:endParaRPr lang="en-US" altLang="ja-JP" dirty="0"/>
          </a:p>
          <a:p>
            <a:r>
              <a:rPr lang="en-US" altLang="ja-JP" dirty="0"/>
              <a:t>Step 3 </a:t>
            </a:r>
            <a:r>
              <a:rPr lang="ja-JP" altLang="en-US" dirty="0"/>
              <a:t>では、新たな実験により得られる人間の視認性評価値と、モデルの視認性予測値を比較し、その精度を検証します。 </a:t>
            </a:r>
            <a:endParaRPr lang="en-US" altLang="ja-JP" dirty="0"/>
          </a:p>
          <a:p>
            <a:r>
              <a:rPr lang="ja-JP" altLang="en-US" dirty="0"/>
              <a:t>本日は、これまでの成果として、この </a:t>
            </a:r>
            <a:r>
              <a:rPr lang="en-US" altLang="ja-JP" dirty="0"/>
              <a:t>Step 1 </a:t>
            </a:r>
            <a:r>
              <a:rPr lang="ja-JP" altLang="en-US" dirty="0"/>
              <a:t>の準備として行った「予備実験」の内容を扱います。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6</a:t>
            </a:fld>
            <a:endParaRPr kumimoji="1" lang="ja-JP" altLang="en-US"/>
          </a:p>
        </p:txBody>
      </p:sp>
    </p:spTree>
    <p:extLst>
      <p:ext uri="{BB962C8B-B14F-4D97-AF65-F5344CB8AC3E}">
        <p14:creationId xmlns:p14="http://schemas.microsoft.com/office/powerpoint/2010/main" val="165948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次に、関連研究を</a:t>
            </a:r>
            <a:r>
              <a:rPr kumimoji="1" lang="en-US" altLang="ja-JP" dirty="0"/>
              <a:t>4</a:t>
            </a:r>
            <a:r>
              <a:rPr kumimoji="1" lang="ja-JP" altLang="en-US" dirty="0"/>
              <a:t>つのトピックで整理します。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7</a:t>
            </a:fld>
            <a:endParaRPr kumimoji="1" lang="ja-JP" altLang="en-US"/>
          </a:p>
        </p:txBody>
      </p:sp>
    </p:spTree>
    <p:extLst>
      <p:ext uri="{BB962C8B-B14F-4D97-AF65-F5344CB8AC3E}">
        <p14:creationId xmlns:p14="http://schemas.microsoft.com/office/powerpoint/2010/main" val="11833317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r>
              <a:rPr kumimoji="1" lang="ja-JP" altLang="en-US" dirty="0"/>
              <a:t>一つ目のトピックは、視認性知覚の基盤である、コントラスト知覚についてです。</a:t>
            </a:r>
            <a:endParaRPr kumimoji="1" lang="en-US" altLang="ja-JP" dirty="0"/>
          </a:p>
          <a:p>
            <a:r>
              <a:rPr kumimoji="1" lang="ja-JP" altLang="en-US" dirty="0"/>
              <a:t>本研究で扱うのは、このコントラスト知覚の周波数依存性と、コントラストマスキングと呼ばれる現象です。</a:t>
            </a:r>
            <a:endParaRPr kumimoji="1" lang="en-US" altLang="ja-JP" dirty="0"/>
          </a:p>
          <a:p>
            <a:r>
              <a:rPr kumimoji="1" lang="ja-JP" altLang="en-US" dirty="0"/>
              <a:t>コントラスト知覚の空間周波数依存性は</a:t>
            </a:r>
            <a:r>
              <a:rPr kumimoji="1" lang="en-US" altLang="ja-JP" dirty="0"/>
              <a:t>Contrast sensitivity function, CSF</a:t>
            </a:r>
            <a:r>
              <a:rPr kumimoji="1" lang="ja-JP" altLang="en-US" dirty="0"/>
              <a:t>として定義されています。</a:t>
            </a:r>
            <a:endParaRPr kumimoji="1" lang="en-US" altLang="ja-JP" dirty="0"/>
          </a:p>
          <a:p>
            <a:r>
              <a:rPr kumimoji="1" lang="ja-JP" altLang="en-US" dirty="0"/>
              <a:t>本研究では、こちらについては直接扱いませんが、実験やモデルにおいて、空間周波数ごとに刺激を扱うことで、空間周波数ごとの知覚差異を考慮しています。</a:t>
            </a:r>
            <a:endParaRPr kumimoji="1" lang="en-US" altLang="ja-JP" dirty="0"/>
          </a:p>
          <a:p>
            <a:r>
              <a:rPr kumimoji="1" lang="ja-JP" altLang="en-US" dirty="0"/>
              <a:t>コントラストマスキングは、右の図のように、</a:t>
            </a:r>
            <a:r>
              <a:rPr lang="ja-JP" altLang="en-US" dirty="0"/>
              <a:t>背景ノイズが 重なることで、前景パターンの見え方が大きく阻害される現象です。</a:t>
            </a:r>
            <a:r>
              <a:rPr kumimoji="1" lang="en-US" altLang="ja-JP" dirty="0"/>
              <a:t> </a:t>
            </a:r>
          </a:p>
          <a:p>
            <a:r>
              <a:rPr kumimoji="1" lang="ja-JP" altLang="en-US" dirty="0"/>
              <a:t>本研究では主にこちらの現象について扱います。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8</a:t>
            </a:fld>
            <a:endParaRPr kumimoji="1" lang="ja-JP" altLang="en-US"/>
          </a:p>
        </p:txBody>
      </p:sp>
    </p:spTree>
    <p:extLst>
      <p:ext uri="{BB962C8B-B14F-4D97-AF65-F5344CB8AC3E}">
        <p14:creationId xmlns:p14="http://schemas.microsoft.com/office/powerpoint/2010/main" val="3196768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二つ目のトピックは、</a:t>
            </a:r>
            <a:r>
              <a:rPr kumimoji="1" lang="en-US" altLang="ja-JP" dirty="0"/>
              <a:t>OST-AR</a:t>
            </a:r>
            <a:r>
              <a:rPr kumimoji="1" lang="ja-JP" altLang="en-US" dirty="0"/>
              <a:t>における、既存の視認性予測・維持のモデルです。</a:t>
            </a:r>
            <a:endParaRPr kumimoji="1" lang="en-US" altLang="ja-JP" dirty="0"/>
          </a:p>
          <a:p>
            <a:r>
              <a:rPr kumimoji="1" lang="ja-JP" altLang="en-US" dirty="0"/>
              <a:t>これまでも、色や輝度、透明度といった、単一の知覚要因について扱い、視認性の予測・維持を試みたモデルがいくつか提案されています。</a:t>
            </a:r>
            <a:endParaRPr kumimoji="1" lang="en-US" altLang="ja-JP" dirty="0"/>
          </a:p>
          <a:p>
            <a:r>
              <a:rPr kumimoji="1" lang="ja-JP" altLang="en-US" dirty="0"/>
              <a:t>しかし、実際の</a:t>
            </a:r>
            <a:r>
              <a:rPr kumimoji="1" lang="en-US" altLang="ja-JP" dirty="0"/>
              <a:t>HVS</a:t>
            </a:r>
            <a:r>
              <a:rPr kumimoji="1" lang="ja-JP" altLang="en-US" dirty="0"/>
              <a:t>のように、複数の要因を統合的に扱うモデルは、未だ確立されていません。</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9</a:t>
            </a:fld>
            <a:endParaRPr kumimoji="1" lang="ja-JP" altLang="en-US"/>
          </a:p>
        </p:txBody>
      </p:sp>
    </p:spTree>
    <p:extLst>
      <p:ext uri="{BB962C8B-B14F-4D97-AF65-F5344CB8AC3E}">
        <p14:creationId xmlns:p14="http://schemas.microsoft.com/office/powerpoint/2010/main" val="29642350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dirty="0"/>
              <a:t>つ目のトピックは、</a:t>
            </a:r>
            <a:r>
              <a:rPr kumimoji="1" lang="en-US" altLang="ja-JP" dirty="0"/>
              <a:t>Image quality Assessment, IQA</a:t>
            </a:r>
            <a:r>
              <a:rPr kumimoji="1" lang="ja-JP" altLang="en-US" dirty="0"/>
              <a:t>です。</a:t>
            </a:r>
            <a:endParaRPr kumimoji="1" lang="en-US" altLang="ja-JP" dirty="0"/>
          </a:p>
          <a:p>
            <a:r>
              <a:rPr kumimoji="1" lang="en-US" altLang="ja-JP" dirty="0"/>
              <a:t>IQA</a:t>
            </a:r>
            <a:r>
              <a:rPr kumimoji="1" lang="ja-JP" altLang="en-US" dirty="0"/>
              <a:t>では、</a:t>
            </a:r>
            <a:r>
              <a:rPr lang="ja-JP" altLang="en-US" dirty="0"/>
              <a:t>複数の知覚要素を考慮し，総合的な表示の品質を評価しており、近年</a:t>
            </a:r>
            <a:r>
              <a:rPr lang="en-US" altLang="ja-JP" dirty="0"/>
              <a:t>OST-AR</a:t>
            </a:r>
            <a:r>
              <a:rPr lang="ja-JP" altLang="en-US" dirty="0"/>
              <a:t>への展開が進んでいる点において、視認性予測と密接に関連する分野です。</a:t>
            </a:r>
            <a:endParaRPr lang="en-US" altLang="ja-JP" dirty="0"/>
          </a:p>
          <a:p>
            <a:r>
              <a:rPr kumimoji="1" lang="ja-JP" altLang="en-US" dirty="0"/>
              <a:t>左の図は、</a:t>
            </a:r>
            <a:r>
              <a:rPr kumimoji="1" lang="en-US" altLang="ja-JP" dirty="0"/>
              <a:t>OST-AR</a:t>
            </a:r>
            <a:r>
              <a:rPr kumimoji="1" lang="ja-JP" altLang="en-US" dirty="0"/>
              <a:t>環境における、既存</a:t>
            </a:r>
            <a:r>
              <a:rPr kumimoji="1" lang="en-US" altLang="ja-JP" dirty="0"/>
              <a:t>IQA</a:t>
            </a:r>
            <a:r>
              <a:rPr kumimoji="1" lang="ja-JP" altLang="en-US" dirty="0"/>
              <a:t>モデルの性能を評価した研究です。</a:t>
            </a:r>
            <a:endParaRPr kumimoji="1" lang="en-US" altLang="ja-JP" dirty="0"/>
          </a:p>
          <a:p>
            <a:r>
              <a:rPr kumimoji="1" lang="ja-JP" altLang="en-US" dirty="0"/>
              <a:t>この研究の中では、標準ディスプレイ用の既存モデルでは、</a:t>
            </a:r>
            <a:r>
              <a:rPr kumimoji="1" lang="en-US" altLang="ja-JP" dirty="0"/>
              <a:t>OST-AR</a:t>
            </a:r>
            <a:r>
              <a:rPr kumimoji="1" lang="ja-JP" altLang="en-US" dirty="0"/>
              <a:t>環境では予測精度が大きく落ち込むという結果が示されており、その限界が示唆されています。</a:t>
            </a:r>
            <a:endParaRPr kumimoji="1" lang="en-US" altLang="ja-JP" dirty="0"/>
          </a:p>
          <a:p>
            <a:r>
              <a:rPr kumimoji="1" lang="ja-JP" altLang="en-US" dirty="0"/>
              <a:t>右の図は、予測精度低下の一因として、輝度の線形加算による知覚コントラストの変化があるとした研究です。</a:t>
            </a:r>
            <a:endParaRPr kumimoji="1" lang="en-US" altLang="ja-JP" dirty="0"/>
          </a:p>
          <a:p>
            <a:r>
              <a:rPr kumimoji="1" lang="en-US" altLang="ja-JP" dirty="0"/>
              <a:t>OST-AR</a:t>
            </a:r>
            <a:r>
              <a:rPr kumimoji="1" lang="ja-JP" altLang="en-US" dirty="0"/>
              <a:t>環境においては、このような特有の知覚現象をモデルに組み込んでいくことが、</a:t>
            </a:r>
            <a:r>
              <a:rPr kumimoji="1" lang="en-US" altLang="ja-JP" dirty="0"/>
              <a:t>IQA</a:t>
            </a:r>
            <a:r>
              <a:rPr kumimoji="1" lang="ja-JP" altLang="en-US" dirty="0"/>
              <a:t>においても、視認性予測においても必要になります。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10</a:t>
            </a:fld>
            <a:endParaRPr kumimoji="1" lang="ja-JP" altLang="en-US"/>
          </a:p>
        </p:txBody>
      </p:sp>
    </p:spTree>
    <p:extLst>
      <p:ext uri="{BB962C8B-B14F-4D97-AF65-F5344CB8AC3E}">
        <p14:creationId xmlns:p14="http://schemas.microsoft.com/office/powerpoint/2010/main" val="38186462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11DCE-4ACE-4FE3-305A-4814CA21DF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3EB93E-8D29-4E3F-F891-965419B67C73}"/>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7C52A972-6AB7-9AA4-A504-DD3F6DC91D76}"/>
              </a:ext>
            </a:extLst>
          </p:cNvPr>
          <p:cNvSpPr>
            <a:spLocks noGrp="1"/>
          </p:cNvSpPr>
          <p:nvPr>
            <p:ph type="body" idx="1"/>
          </p:nvPr>
        </p:nvSpPr>
        <p:spPr/>
        <p:txBody>
          <a:bodyPr/>
          <a:lstStyle/>
          <a:p>
            <a:r>
              <a:rPr kumimoji="1" lang="en-US" altLang="ja-JP" dirty="0"/>
              <a:t>4</a:t>
            </a:r>
            <a:r>
              <a:rPr kumimoji="1" lang="ja-JP" altLang="en-US" dirty="0"/>
              <a:t>つ目のトピックは、本研究が拡張のベースとする、</a:t>
            </a:r>
            <a:r>
              <a:rPr kumimoji="1" lang="en-US" altLang="ja-JP" dirty="0" err="1"/>
              <a:t>Fukiaege</a:t>
            </a:r>
            <a:r>
              <a:rPr kumimoji="1" lang="ja-JP" altLang="en-US" dirty="0"/>
              <a:t>らによる「コンテンツ適応型の視認性予測モデル」です。</a:t>
            </a:r>
            <a:endParaRPr kumimoji="1" lang="en-US" altLang="ja-JP" dirty="0"/>
          </a:p>
          <a:p>
            <a:r>
              <a:rPr kumimoji="1" lang="ja-JP" altLang="en-US" dirty="0"/>
              <a:t>このモデルは、</a:t>
            </a:r>
            <a:r>
              <a:rPr kumimoji="1" lang="en-US" altLang="ja-JP" dirty="0"/>
              <a:t>α</a:t>
            </a:r>
            <a:r>
              <a:rPr kumimoji="1" lang="ja-JP" altLang="en-US" dirty="0"/>
              <a:t>ブレンドという、画像処理によって作られる半透明表示の視認性を予測し、そして維持するモデルです。</a:t>
            </a:r>
            <a:endParaRPr kumimoji="1" lang="en-US" altLang="ja-JP" dirty="0"/>
          </a:p>
          <a:p>
            <a:r>
              <a:rPr lang="ja-JP" altLang="en-US" dirty="0"/>
              <a:t>ラプラシアンピラミッド分解、ターゲット成分抽出、 除算正規化といったメカニズムにより、半透明表示における</a:t>
            </a:r>
            <a:r>
              <a:rPr lang="en-US" altLang="ja-JP" dirty="0"/>
              <a:t>HVS</a:t>
            </a:r>
            <a:r>
              <a:rPr lang="ja-JP" altLang="en-US" dirty="0"/>
              <a:t>のコントラスト知覚が、「複数の知覚要素を統合的に」再現されている点が、大きな特徴です。 </a:t>
            </a:r>
            <a:endParaRPr lang="en-US" altLang="ja-JP" dirty="0"/>
          </a:p>
          <a:p>
            <a:r>
              <a:rPr lang="ja-JP" altLang="en-US" dirty="0"/>
              <a:t>このもでるでは、</a:t>
            </a:r>
            <a:r>
              <a:rPr lang="en-US" altLang="ja-JP" dirty="0"/>
              <a:t>OST-AR</a:t>
            </a:r>
            <a:r>
              <a:rPr lang="ja-JP" altLang="en-US" dirty="0"/>
              <a:t>と類似した加算的合成を扱うため、 この分野への応用が期待されます。</a:t>
            </a:r>
            <a:endParaRPr lang="en-US" altLang="ja-JP" dirty="0"/>
          </a:p>
          <a:p>
            <a:r>
              <a:rPr lang="ja-JP" altLang="en-US" dirty="0"/>
              <a:t>しかし、その直接的な適用は難しく、いくつかのギャップが残されています。</a:t>
            </a:r>
            <a:endParaRPr kumimoji="1" lang="ja-JP" altLang="en-US" dirty="0"/>
          </a:p>
        </p:txBody>
      </p:sp>
      <p:sp>
        <p:nvSpPr>
          <p:cNvPr id="4" name="スライド番号プレースホルダー 3">
            <a:extLst>
              <a:ext uri="{FF2B5EF4-FFF2-40B4-BE49-F238E27FC236}">
                <a16:creationId xmlns:a16="http://schemas.microsoft.com/office/drawing/2014/main" id="{240A618B-B125-ADF5-5A29-32FF3E10F9E4}"/>
              </a:ext>
            </a:extLst>
          </p:cNvPr>
          <p:cNvSpPr>
            <a:spLocks noGrp="1"/>
          </p:cNvSpPr>
          <p:nvPr>
            <p:ph type="sldNum" sz="quarter" idx="5"/>
          </p:nvPr>
        </p:nvSpPr>
        <p:spPr/>
        <p:txBody>
          <a:bodyPr/>
          <a:lstStyle/>
          <a:p>
            <a:fld id="{1E028F53-7CA7-4FB4-AAB2-5047F333C336}" type="slidenum">
              <a:rPr kumimoji="1" lang="ja-JP" altLang="en-US" smtClean="0"/>
              <a:t>11</a:t>
            </a:fld>
            <a:endParaRPr kumimoji="1" lang="ja-JP" altLang="en-US"/>
          </a:p>
        </p:txBody>
      </p:sp>
    </p:spTree>
    <p:extLst>
      <p:ext uri="{BB962C8B-B14F-4D97-AF65-F5344CB8AC3E}">
        <p14:creationId xmlns:p14="http://schemas.microsoft.com/office/powerpoint/2010/main" val="17916429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主なギャップは、先程も触れた、</a:t>
            </a:r>
            <a:r>
              <a:rPr kumimoji="1" lang="en-US" altLang="ja-JP" dirty="0"/>
              <a:t>OST-AR</a:t>
            </a:r>
            <a:r>
              <a:rPr kumimoji="1" lang="ja-JP" altLang="en-US" dirty="0"/>
              <a:t>特有の知覚現象です。</a:t>
            </a:r>
            <a:endParaRPr kumimoji="1" lang="en-US" altLang="ja-JP" dirty="0"/>
          </a:p>
          <a:p>
            <a:r>
              <a:rPr kumimoji="1" lang="ja-JP" altLang="en-US" dirty="0"/>
              <a:t>本研究においては、</a:t>
            </a:r>
            <a:r>
              <a:rPr kumimoji="1" lang="en-US" altLang="ja-JP" dirty="0"/>
              <a:t>4</a:t>
            </a:r>
            <a:r>
              <a:rPr kumimoji="1" lang="ja-JP" altLang="en-US" dirty="0"/>
              <a:t>つのギャップを埋めていくことで、このモデルの拡張を行います。</a:t>
            </a:r>
            <a:endParaRPr kumimoji="1" lang="en-US" altLang="ja-JP" dirty="0"/>
          </a:p>
          <a:p>
            <a:r>
              <a:rPr kumimoji="1" lang="ja-JP" altLang="en-US" dirty="0"/>
              <a:t>一つ目は、眼の調節機能によるぼけ、二つ目は、両眼視差とその融合です。</a:t>
            </a:r>
            <a:endParaRPr kumimoji="1" lang="en-US" altLang="ja-JP" dirty="0"/>
          </a:p>
          <a:p>
            <a:r>
              <a:rPr kumimoji="1" lang="ja-JP" altLang="en-US" dirty="0"/>
              <a:t>この二つの要素よる背景知覚の変化に対応していきます。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三つ目は背景割引効果という現象です。この現象は、先程の</a:t>
            </a:r>
            <a:r>
              <a:rPr kumimoji="1" lang="en-US" altLang="ja-JP" dirty="0"/>
              <a:t>IQA</a:t>
            </a:r>
            <a:r>
              <a:rPr kumimoji="1" lang="ja-JP" altLang="en-US" dirty="0"/>
              <a:t>モデルについての研究においても確認された、光学的な背景知覚の変化以上に、人間が背景を軽視するという現象です。</a:t>
            </a:r>
            <a:endParaRPr kumimoji="1" lang="en-US" altLang="ja-JP" dirty="0"/>
          </a:p>
          <a:p>
            <a:r>
              <a:rPr kumimoji="1" lang="ja-JP" altLang="en-US" dirty="0"/>
              <a:t>そして四つ目は、画像処理的なギャップとして、</a:t>
            </a:r>
            <a:r>
              <a:rPr kumimoji="1" lang="en-US" altLang="ja-JP" dirty="0"/>
              <a:t>HDR</a:t>
            </a:r>
            <a:r>
              <a:rPr kumimoji="1" lang="ja-JP" altLang="en-US" dirty="0"/>
              <a:t>入力への対応があります。</a:t>
            </a:r>
            <a:endParaRPr kumimoji="1" lang="en-US" altLang="ja-JP" dirty="0"/>
          </a:p>
          <a:p>
            <a:r>
              <a:rPr kumimoji="1" lang="ja-JP" altLang="en-US" dirty="0"/>
              <a:t>以上四つのギャップが、本研究における、モデルの拡張要素です。</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12</a:t>
            </a:fld>
            <a:endParaRPr kumimoji="1" lang="ja-JP" altLang="en-US"/>
          </a:p>
        </p:txBody>
      </p:sp>
    </p:spTree>
    <p:extLst>
      <p:ext uri="{BB962C8B-B14F-4D97-AF65-F5344CB8AC3E}">
        <p14:creationId xmlns:p14="http://schemas.microsoft.com/office/powerpoint/2010/main" val="2869735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続いて、モデルの拡張等の方法についてお話しします。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13</a:t>
            </a:fld>
            <a:endParaRPr kumimoji="1" lang="ja-JP" altLang="en-US"/>
          </a:p>
        </p:txBody>
      </p:sp>
    </p:spTree>
    <p:extLst>
      <p:ext uri="{BB962C8B-B14F-4D97-AF65-F5344CB8AC3E}">
        <p14:creationId xmlns:p14="http://schemas.microsoft.com/office/powerpoint/2010/main" val="15652124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Objective</a:t>
            </a:r>
            <a:r>
              <a:rPr lang="ja-JP" altLang="en-US" dirty="0"/>
              <a:t>のページで挙げた</a:t>
            </a:r>
            <a:r>
              <a:rPr lang="en-US" altLang="ja-JP" dirty="0"/>
              <a:t>3</a:t>
            </a:r>
            <a:r>
              <a:rPr lang="ja-JP" altLang="en-US" dirty="0"/>
              <a:t>ステップを、改めて整理します。 </a:t>
            </a:r>
            <a:endParaRPr lang="en-US" altLang="ja-JP" dirty="0"/>
          </a:p>
          <a:p>
            <a:r>
              <a:rPr lang="ja-JP" altLang="en-US" dirty="0"/>
              <a:t>まず、の視認性評価実験で、</a:t>
            </a:r>
            <a:r>
              <a:rPr lang="en-US" altLang="ja-JP" dirty="0"/>
              <a:t>OST-AR</a:t>
            </a:r>
            <a:r>
              <a:rPr lang="ja-JP" altLang="en-US" dirty="0"/>
              <a:t>特有の要因が視認性に与える影響を「定量化」します。 </a:t>
            </a:r>
            <a:endParaRPr lang="en-US" altLang="ja-JP" dirty="0"/>
          </a:p>
          <a:p>
            <a:r>
              <a:rPr lang="ja-JP" altLang="en-US" dirty="0"/>
              <a:t>次にで、その結果に基づき、</a:t>
            </a:r>
            <a:r>
              <a:rPr lang="en-US" altLang="ja-JP" dirty="0" err="1"/>
              <a:t>Fukiage</a:t>
            </a:r>
            <a:r>
              <a:rPr lang="en-US" altLang="ja-JP" dirty="0"/>
              <a:t> </a:t>
            </a:r>
            <a:r>
              <a:rPr lang="ja-JP" altLang="en-US" dirty="0"/>
              <a:t>モデルの入力処理を 「拡張」します。 </a:t>
            </a:r>
            <a:endParaRPr lang="en-US" altLang="ja-JP" dirty="0"/>
          </a:p>
          <a:p>
            <a:r>
              <a:rPr lang="ja-JP" altLang="en-US" dirty="0"/>
              <a:t>最後に、追加の実験により得た人間の視認性評価値と、モデルの視認性予測値とを 比較し、「検証」します。 </a:t>
            </a:r>
            <a:endParaRPr lang="en-US" altLang="ja-JP" dirty="0"/>
          </a:p>
          <a:p>
            <a:r>
              <a:rPr lang="ja-JP" altLang="en-US" dirty="0"/>
              <a:t>これらのステップについて、順に中身を見ていきます。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14</a:t>
            </a:fld>
            <a:endParaRPr kumimoji="1" lang="ja-JP" altLang="en-US"/>
          </a:p>
        </p:txBody>
      </p:sp>
    </p:spTree>
    <p:extLst>
      <p:ext uri="{BB962C8B-B14F-4D97-AF65-F5344CB8AC3E}">
        <p14:creationId xmlns:p14="http://schemas.microsoft.com/office/powerpoint/2010/main" val="20980972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まず、</a:t>
            </a:r>
            <a:r>
              <a:rPr lang="en-US" altLang="ja-JP" dirty="0"/>
              <a:t>STEP1</a:t>
            </a:r>
            <a:r>
              <a:rPr lang="ja-JP" altLang="en-US" dirty="0"/>
              <a:t>の視認性評価実験では、</a:t>
            </a:r>
            <a:r>
              <a:rPr lang="en-US" altLang="ja-JP" dirty="0"/>
              <a:t>OST-AR</a:t>
            </a:r>
            <a:r>
              <a:rPr lang="ja-JP" altLang="en-US" dirty="0"/>
              <a:t>特有の各要因について、 「どれがどの程度」視認性に影響するかを定量化します。 </a:t>
            </a:r>
            <a:endParaRPr lang="en-US" altLang="ja-JP" dirty="0"/>
          </a:p>
          <a:p>
            <a:r>
              <a:rPr lang="ja-JP" altLang="en-US" dirty="0"/>
              <a:t>想定している要因は</a:t>
            </a:r>
            <a:r>
              <a:rPr lang="en-US" altLang="ja-JP" dirty="0"/>
              <a:t>3</a:t>
            </a:r>
            <a:r>
              <a:rPr lang="ja-JP" altLang="en-US" dirty="0"/>
              <a:t>つです。 </a:t>
            </a:r>
            <a:endParaRPr lang="en-US" altLang="ja-JP" dirty="0"/>
          </a:p>
          <a:p>
            <a:r>
              <a:rPr lang="ja-JP" altLang="en-US" dirty="0"/>
              <a:t>まず、ボケと両眼視差による「背景の見えそのものの変化」。 </a:t>
            </a:r>
            <a:endParaRPr lang="en-US" altLang="ja-JP" dirty="0"/>
          </a:p>
          <a:p>
            <a:r>
              <a:rPr lang="ja-JP" altLang="en-US" dirty="0"/>
              <a:t>二つ目は、光学的影響以上の背景知覚の変化、いわゆる背景割引。 </a:t>
            </a:r>
            <a:endParaRPr lang="en-US" altLang="ja-JP" dirty="0"/>
          </a:p>
          <a:p>
            <a:r>
              <a:rPr lang="ja-JP" altLang="en-US" dirty="0"/>
              <a:t>三つめは、輝度の線形加算による「コントラスト知覚そのものの変化」です。</a:t>
            </a:r>
            <a:endParaRPr lang="en-US" altLang="ja-JP" dirty="0"/>
          </a:p>
          <a:p>
            <a:r>
              <a:rPr lang="ja-JP" altLang="en-US" dirty="0"/>
              <a:t>これらを定量化することで、モデルに組み込むべき拡張処理を決め、 さらに、各処理のパラメータをフィッティングします。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15</a:t>
            </a:fld>
            <a:endParaRPr kumimoji="1" lang="ja-JP" altLang="en-US"/>
          </a:p>
        </p:txBody>
      </p:sp>
    </p:spTree>
    <p:extLst>
      <p:ext uri="{BB962C8B-B14F-4D97-AF65-F5344CB8AC3E}">
        <p14:creationId xmlns:p14="http://schemas.microsoft.com/office/powerpoint/2010/main" val="12931331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次に、</a:t>
            </a:r>
            <a:r>
              <a:rPr lang="en-US" altLang="ja-JP" dirty="0"/>
              <a:t>Step 2</a:t>
            </a:r>
            <a:r>
              <a:rPr lang="ja-JP" altLang="en-US" dirty="0"/>
              <a:t>のモデル拡張では、</a:t>
            </a:r>
            <a:r>
              <a:rPr lang="en-US" altLang="ja-JP" dirty="0"/>
              <a:t>Step 1 </a:t>
            </a:r>
            <a:r>
              <a:rPr lang="ja-JP" altLang="en-US" dirty="0"/>
              <a:t>の結果を踏まえ、</a:t>
            </a:r>
            <a:r>
              <a:rPr lang="en-US" altLang="ja-JP" dirty="0" err="1"/>
              <a:t>Fukiage</a:t>
            </a:r>
            <a:r>
              <a:rPr lang="en-US" altLang="ja-JP" dirty="0"/>
              <a:t> </a:t>
            </a:r>
            <a:r>
              <a:rPr lang="ja-JP" altLang="en-US" dirty="0"/>
              <a:t>モデルに、</a:t>
            </a:r>
            <a:r>
              <a:rPr lang="en-US" altLang="ja-JP" dirty="0"/>
              <a:t>4</a:t>
            </a:r>
            <a:r>
              <a:rPr lang="ja-JP" altLang="en-US" dirty="0"/>
              <a:t>つのメカニズムを追加します。 </a:t>
            </a:r>
            <a:endParaRPr lang="en-US" altLang="ja-JP" dirty="0"/>
          </a:p>
          <a:p>
            <a:r>
              <a:rPr lang="ja-JP" altLang="en-US" dirty="0"/>
              <a:t>①</a:t>
            </a:r>
            <a:r>
              <a:rPr lang="en-US" altLang="ja-JP" dirty="0"/>
              <a:t>Defocus blur</a:t>
            </a:r>
            <a:r>
              <a:rPr lang="ja-JP" altLang="en-US" dirty="0"/>
              <a:t>への対応は、瞳孔径とディオプトリ差から </a:t>
            </a:r>
            <a:r>
              <a:rPr lang="en-US" altLang="ja-JP" dirty="0"/>
              <a:t>PSF</a:t>
            </a:r>
            <a:r>
              <a:rPr lang="ja-JP" altLang="en-US" dirty="0"/>
              <a:t>、光学伝達関数を計算し、 背景に畳み込みます。 </a:t>
            </a:r>
            <a:endParaRPr lang="en-US" altLang="ja-JP" dirty="0"/>
          </a:p>
          <a:p>
            <a:r>
              <a:rPr lang="ja-JP" altLang="en-US" dirty="0"/>
              <a:t>②両眼視差、瞳孔間距離とディオプトリ差から幾何的に計算しつつ、両眼融合についての既存モデルを選定します。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③背景割引は、ディオプトリ差などをパラメータとした背景の減衰処理として実装し、</a:t>
            </a:r>
            <a:r>
              <a:rPr lang="en-US" altLang="ja-JP" dirty="0"/>
              <a:t>Step 1 </a:t>
            </a:r>
            <a:r>
              <a:rPr lang="ja-JP" altLang="en-US" dirty="0"/>
              <a:t>の結果でフィッティングします。</a:t>
            </a:r>
            <a:endParaRPr lang="en-US" altLang="ja-JP" dirty="0"/>
          </a:p>
          <a:p>
            <a:r>
              <a:rPr lang="ja-JP" altLang="en-US" dirty="0"/>
              <a:t>④</a:t>
            </a:r>
            <a:r>
              <a:rPr lang="en-US" altLang="ja-JP" dirty="0"/>
              <a:t>HDR</a:t>
            </a:r>
            <a:r>
              <a:rPr lang="ja-JP" altLang="en-US" dirty="0"/>
              <a:t>から</a:t>
            </a:r>
            <a:r>
              <a:rPr lang="en-US" altLang="ja-JP" dirty="0"/>
              <a:t>SDR </a:t>
            </a:r>
            <a:r>
              <a:rPr lang="ja-JP" altLang="en-US" dirty="0"/>
              <a:t>への変換は、代表できな手法である</a:t>
            </a:r>
            <a:r>
              <a:rPr lang="en-US" altLang="ja-JP" dirty="0"/>
              <a:t>Reinhard</a:t>
            </a:r>
            <a:r>
              <a:rPr lang="ja-JP" altLang="en-US" dirty="0"/>
              <a:t>らのトーンマッピングを軸としつつ、背景割引効果の影響なども見ながら検討を進めます。 </a:t>
            </a:r>
            <a:endParaRPr lang="en-US" altLang="ja-JP"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16</a:t>
            </a:fld>
            <a:endParaRPr kumimoji="1" lang="ja-JP" altLang="en-US"/>
          </a:p>
        </p:txBody>
      </p:sp>
    </p:spTree>
    <p:extLst>
      <p:ext uri="{BB962C8B-B14F-4D97-AF65-F5344CB8AC3E}">
        <p14:creationId xmlns:p14="http://schemas.microsoft.com/office/powerpoint/2010/main" val="1985937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Step 3 </a:t>
            </a:r>
            <a:r>
              <a:rPr lang="ja-JP" altLang="en-US" dirty="0"/>
              <a:t>のモデル検証では、「一般的なテクスチャ画像を用いた 視認性評価実験」を行い、ここで得られる人間の評価値と、拡張 モデルの予測値を定量比較します。 </a:t>
            </a:r>
            <a:endParaRPr lang="en-US" altLang="ja-JP" dirty="0"/>
          </a:p>
          <a:p>
            <a:r>
              <a:rPr lang="ja-JP" altLang="en-US" dirty="0"/>
              <a:t>これにより、拡張モデルが </a:t>
            </a:r>
            <a:r>
              <a:rPr lang="en-US" altLang="ja-JP" dirty="0"/>
              <a:t>OST-AR </a:t>
            </a:r>
            <a:r>
              <a:rPr lang="ja-JP" altLang="en-US" dirty="0"/>
              <a:t>環境において、人間の視認性を どの程度再現できるかを評価します。 </a:t>
            </a:r>
            <a:endParaRPr lang="en-US" altLang="ja-JP" dirty="0"/>
          </a:p>
          <a:p>
            <a:r>
              <a:rPr lang="ja-JP" altLang="en-US" dirty="0"/>
              <a:t>以上が、本研究全体の</a:t>
            </a:r>
            <a:r>
              <a:rPr lang="en-US" altLang="ja-JP" dirty="0"/>
              <a:t>3</a:t>
            </a:r>
            <a:r>
              <a:rPr lang="ja-JP" altLang="en-US" dirty="0"/>
              <a:t>ステップです。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17</a:t>
            </a:fld>
            <a:endParaRPr kumimoji="1" lang="ja-JP" altLang="en-US"/>
          </a:p>
        </p:txBody>
      </p:sp>
    </p:spTree>
    <p:extLst>
      <p:ext uri="{BB962C8B-B14F-4D97-AF65-F5344CB8AC3E}">
        <p14:creationId xmlns:p14="http://schemas.microsoft.com/office/powerpoint/2010/main" val="3576192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続いて、成果報告の中心となる、</a:t>
            </a:r>
            <a:r>
              <a:rPr lang="ja-JP" altLang="en-US" dirty="0"/>
              <a:t>「予備実験」について述べていきます。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18</a:t>
            </a:fld>
            <a:endParaRPr kumimoji="1" lang="ja-JP" altLang="en-US"/>
          </a:p>
        </p:txBody>
      </p:sp>
    </p:spTree>
    <p:extLst>
      <p:ext uri="{BB962C8B-B14F-4D97-AF65-F5344CB8AC3E}">
        <p14:creationId xmlns:p14="http://schemas.microsoft.com/office/powerpoint/2010/main" val="33453459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予備実験の目的は、「本実験において扱うべき操作パラメータと観察条件を特定すること」です。 </a:t>
            </a:r>
            <a:endParaRPr lang="en-US" altLang="ja-JP" dirty="0"/>
          </a:p>
          <a:p>
            <a:r>
              <a:rPr lang="ja-JP" altLang="en-US" dirty="0"/>
              <a:t>具体的には、ボケと非交錯視差が視認性に与える影響を、空間周波数、前景・背景輝度、背景コントラストと いった刺激パラメータ、そしてディオプトリ差と単眼</a:t>
            </a:r>
            <a:r>
              <a:rPr lang="en-US" altLang="ja-JP" dirty="0"/>
              <a:t>/</a:t>
            </a:r>
            <a:r>
              <a:rPr lang="ja-JP" altLang="en-US" dirty="0"/>
              <a:t>両眼という観察条件にわたって調べました。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19</a:t>
            </a:fld>
            <a:endParaRPr kumimoji="1" lang="ja-JP" altLang="en-US"/>
          </a:p>
        </p:txBody>
      </p:sp>
    </p:spTree>
    <p:extLst>
      <p:ext uri="{BB962C8B-B14F-4D97-AF65-F5344CB8AC3E}">
        <p14:creationId xmlns:p14="http://schemas.microsoft.com/office/powerpoint/2010/main" val="2757783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こちらの図は実験装置になります。</a:t>
            </a:r>
            <a:endParaRPr kumimoji="1" lang="en-US" altLang="ja-JP" dirty="0"/>
          </a:p>
          <a:p>
            <a:r>
              <a:rPr kumimoji="1" lang="ja-JP" altLang="en-US" dirty="0"/>
              <a:t>研究背景の最初のスライドでもお見せした図と同様に、ビームスプリッターを用いて、前景ディスプレイと背景ディスプレイの画像を光学的に加算し、被験者に観察させます。</a:t>
            </a:r>
            <a:endParaRPr kumimoji="1" lang="en-US" altLang="ja-JP" dirty="0"/>
          </a:p>
          <a:p>
            <a:r>
              <a:rPr kumimoji="1" lang="ja-JP" altLang="en-US" dirty="0"/>
              <a:t>ビームスプリッターには、</a:t>
            </a:r>
            <a:r>
              <a:rPr lang="ja-JP" altLang="en-US" dirty="0"/>
              <a:t>透過率</a:t>
            </a:r>
            <a:r>
              <a:rPr lang="en-US" altLang="ja-JP" dirty="0"/>
              <a:t>20〜30</a:t>
            </a:r>
            <a:r>
              <a:rPr lang="ja-JP" altLang="en-US" dirty="0"/>
              <a:t>％、反射率</a:t>
            </a:r>
            <a:r>
              <a:rPr lang="en-US" altLang="ja-JP" dirty="0"/>
              <a:t>50〜60</a:t>
            </a:r>
            <a:r>
              <a:rPr lang="ja-JP" altLang="en-US" dirty="0"/>
              <a:t>％のものを使用し、 前景・背景それぞれに</a:t>
            </a:r>
            <a:r>
              <a:rPr lang="en-US" altLang="ja-JP" dirty="0"/>
              <a:t>27</a:t>
            </a:r>
            <a:r>
              <a:rPr lang="ja-JP" altLang="en-US" dirty="0"/>
              <a:t>インチの</a:t>
            </a:r>
            <a:r>
              <a:rPr lang="en-US" altLang="ja-JP" dirty="0"/>
              <a:t>LCD</a:t>
            </a:r>
            <a:r>
              <a:rPr lang="ja-JP" altLang="en-US" dirty="0"/>
              <a:t>ディスプレイを配置しています。</a:t>
            </a:r>
            <a:endParaRPr lang="en-US" altLang="ja-JP" dirty="0"/>
          </a:p>
          <a:p>
            <a:r>
              <a:rPr lang="ja-JP" altLang="en-US" dirty="0"/>
              <a:t>ビームスプリッター越しの最大輝度は、前景</a:t>
            </a:r>
            <a:r>
              <a:rPr lang="en-US" altLang="ja-JP" dirty="0"/>
              <a:t>100</a:t>
            </a:r>
            <a:r>
              <a:rPr lang="ja-JP" altLang="en-US" dirty="0"/>
              <a:t>、背景</a:t>
            </a:r>
            <a:r>
              <a:rPr lang="en-US" altLang="ja-JP" dirty="0"/>
              <a:t>30 cd/m²</a:t>
            </a:r>
            <a:r>
              <a:rPr lang="ja-JP" altLang="en-US" dirty="0"/>
              <a:t>です。 </a:t>
            </a:r>
            <a:endParaRPr lang="en-US" altLang="ja-JP" dirty="0"/>
          </a:p>
          <a:p>
            <a:r>
              <a:rPr lang="ja-JP" altLang="en-US" dirty="0"/>
              <a:t>ディスプレイとの距離は、顎台で頭部を固定した観察者の眼球の位置を基準とし、前景は</a:t>
            </a:r>
            <a:r>
              <a:rPr lang="en-US" altLang="ja-JP" dirty="0"/>
              <a:t>50〜130 cm</a:t>
            </a:r>
            <a:r>
              <a:rPr lang="ja-JP" altLang="en-US" dirty="0"/>
              <a:t>、背景は</a:t>
            </a:r>
            <a:r>
              <a:rPr lang="en-US" altLang="ja-JP" dirty="0"/>
              <a:t>70〜150 cm </a:t>
            </a:r>
            <a:r>
              <a:rPr lang="ja-JP" altLang="en-US" dirty="0"/>
              <a:t>の 範囲で配置可能としています。</a:t>
            </a:r>
            <a:endParaRPr lang="en-US" altLang="ja-JP" dirty="0"/>
          </a:p>
          <a:p>
            <a:r>
              <a:rPr lang="ja-JP" altLang="en-US" dirty="0"/>
              <a:t>実験は暗室で行いました。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20</a:t>
            </a:fld>
            <a:endParaRPr kumimoji="1" lang="ja-JP" altLang="en-US"/>
          </a:p>
        </p:txBody>
      </p:sp>
    </p:spTree>
    <p:extLst>
      <p:ext uri="{BB962C8B-B14F-4D97-AF65-F5344CB8AC3E}">
        <p14:creationId xmlns:p14="http://schemas.microsoft.com/office/powerpoint/2010/main" val="23020406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具体出来な手順としては、「評価尺度法」 により、逐次提示される</a:t>
            </a:r>
            <a:r>
              <a:rPr lang="en-US" altLang="ja-JP" dirty="0"/>
              <a:t>reference</a:t>
            </a:r>
            <a:r>
              <a:rPr lang="ja-JP" altLang="en-US" dirty="0"/>
              <a:t>画像と</a:t>
            </a:r>
            <a:r>
              <a:rPr lang="en-US" altLang="ja-JP" dirty="0"/>
              <a:t>test</a:t>
            </a:r>
            <a:r>
              <a:rPr lang="ja-JP" altLang="en-US" dirty="0"/>
              <a:t>画像とを比較して、視認性の評価を行います。 </a:t>
            </a:r>
            <a:endParaRPr lang="en-US" altLang="ja-JP" dirty="0"/>
          </a:p>
          <a:p>
            <a:r>
              <a:rPr lang="ja-JP" altLang="en-US" dirty="0"/>
              <a:t>まず、</a:t>
            </a:r>
            <a:r>
              <a:rPr lang="en-US" altLang="ja-JP" dirty="0"/>
              <a:t>reference </a:t>
            </a:r>
            <a:r>
              <a:rPr lang="ja-JP" altLang="en-US" dirty="0"/>
              <a:t>として、前景にガボールパッチのみを</a:t>
            </a:r>
            <a:r>
              <a:rPr lang="en-US" altLang="ja-JP" dirty="0"/>
              <a:t>1.0</a:t>
            </a:r>
            <a:r>
              <a:rPr lang="ja-JP" altLang="en-US" dirty="0"/>
              <a:t>秒提示し、 </a:t>
            </a:r>
            <a:r>
              <a:rPr lang="en-US" altLang="ja-JP" dirty="0"/>
              <a:t>0.5</a:t>
            </a:r>
            <a:r>
              <a:rPr lang="ja-JP" altLang="en-US" dirty="0"/>
              <a:t>秒の暗転を挟んで、</a:t>
            </a:r>
            <a:r>
              <a:rPr lang="en-US" altLang="ja-JP" dirty="0"/>
              <a:t>test </a:t>
            </a:r>
            <a:r>
              <a:rPr lang="ja-JP" altLang="en-US" dirty="0"/>
              <a:t>として、前景にガボール、背景に ランダムノイズを重ねた刺激を</a:t>
            </a:r>
            <a:r>
              <a:rPr lang="en-US" altLang="ja-JP" dirty="0"/>
              <a:t>1.0</a:t>
            </a:r>
            <a:r>
              <a:rPr lang="ja-JP" altLang="en-US" dirty="0"/>
              <a:t>秒提示しました。</a:t>
            </a:r>
            <a:endParaRPr lang="en-US" altLang="ja-JP" dirty="0"/>
          </a:p>
          <a:p>
            <a:r>
              <a:rPr lang="ja-JP" altLang="en-US" dirty="0"/>
              <a:t> 観察者は、</a:t>
            </a:r>
            <a:r>
              <a:rPr lang="en-US" altLang="ja-JP" dirty="0"/>
              <a:t>reference </a:t>
            </a:r>
            <a:r>
              <a:rPr lang="ja-JP" altLang="en-US" dirty="0"/>
              <a:t>に対する </a:t>
            </a:r>
            <a:r>
              <a:rPr lang="en-US" altLang="ja-JP" dirty="0"/>
              <a:t>test </a:t>
            </a:r>
            <a:r>
              <a:rPr lang="ja-JP" altLang="en-US" dirty="0"/>
              <a:t>の見えやすさを、 </a:t>
            </a:r>
            <a:r>
              <a:rPr lang="en-US" altLang="ja-JP" dirty="0"/>
              <a:t>1</a:t>
            </a:r>
            <a:r>
              <a:rPr lang="ja-JP" altLang="en-US" dirty="0"/>
              <a:t>：</a:t>
            </a:r>
            <a:r>
              <a:rPr lang="en-US" altLang="ja-JP" dirty="0"/>
              <a:t>invisible</a:t>
            </a:r>
            <a:r>
              <a:rPr lang="ja-JP" altLang="en-US" dirty="0"/>
              <a:t>、から、</a:t>
            </a:r>
            <a:r>
              <a:rPr lang="en-US" altLang="ja-JP" dirty="0"/>
              <a:t>5</a:t>
            </a:r>
            <a:r>
              <a:rPr lang="ja-JP" altLang="en-US" dirty="0"/>
              <a:t>：</a:t>
            </a:r>
            <a:r>
              <a:rPr lang="en-US" altLang="ja-JP" dirty="0"/>
              <a:t>very clear</a:t>
            </a:r>
            <a:r>
              <a:rPr lang="ja-JP" altLang="en-US" dirty="0"/>
              <a:t>、までの</a:t>
            </a:r>
            <a:r>
              <a:rPr lang="en-US" altLang="ja-JP" dirty="0"/>
              <a:t>5</a:t>
            </a:r>
            <a:r>
              <a:rPr lang="ja-JP" altLang="en-US" dirty="0"/>
              <a:t>段階で評価します。</a:t>
            </a:r>
            <a:endParaRPr lang="en-US" altLang="ja-JP" dirty="0"/>
          </a:p>
          <a:p>
            <a:r>
              <a:rPr lang="ja-JP" altLang="en-US" dirty="0"/>
              <a:t> 全条件を</a:t>
            </a:r>
            <a:r>
              <a:rPr lang="en-US" altLang="ja-JP" dirty="0"/>
              <a:t>2</a:t>
            </a:r>
            <a:r>
              <a:rPr lang="ja-JP" altLang="en-US" dirty="0"/>
              <a:t>回ずつランダム順で提示しました。 なお、今回の予備実験における被験者数は著者</a:t>
            </a:r>
            <a:r>
              <a:rPr lang="en-US" altLang="ja-JP" dirty="0"/>
              <a:t>1</a:t>
            </a:r>
            <a:r>
              <a:rPr lang="ja-JP" altLang="en-US" dirty="0"/>
              <a:t>名です。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21</a:t>
            </a:fld>
            <a:endParaRPr kumimoji="1" lang="ja-JP" altLang="en-US"/>
          </a:p>
        </p:txBody>
      </p:sp>
    </p:spTree>
    <p:extLst>
      <p:ext uri="{BB962C8B-B14F-4D97-AF65-F5344CB8AC3E}">
        <p14:creationId xmlns:p14="http://schemas.microsoft.com/office/powerpoint/2010/main" val="21129916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続いて、今回の予備実験における刺激パラメータです。</a:t>
            </a:r>
            <a:endParaRPr kumimoji="1" lang="en-US" altLang="ja-JP" dirty="0"/>
          </a:p>
          <a:p>
            <a:r>
              <a:rPr kumimoji="1" lang="ja-JP" altLang="en-US" dirty="0"/>
              <a:t>この中で、空間周波数については、ガボールパッチの</a:t>
            </a:r>
            <a:r>
              <a:rPr kumimoji="1" lang="en-US" altLang="ja-JP" dirty="0"/>
              <a:t>sin</a:t>
            </a:r>
            <a:r>
              <a:rPr kumimoji="1" lang="ja-JP" altLang="en-US" dirty="0"/>
              <a:t>波の周波数に該当します。</a:t>
            </a:r>
            <a:endParaRPr kumimoji="1" lang="en-US" altLang="ja-JP" dirty="0"/>
          </a:p>
          <a:p>
            <a:r>
              <a:rPr kumimoji="1" lang="ja-JP" altLang="en-US" dirty="0"/>
              <a:t>また背景ノイズは、前景のガボールパッチの空間周波数を中心とした</a:t>
            </a:r>
            <a:r>
              <a:rPr kumimoji="1" lang="en-US" altLang="ja-JP" dirty="0"/>
              <a:t>1</a:t>
            </a:r>
            <a:r>
              <a:rPr kumimoji="1" lang="ja-JP" altLang="en-US" dirty="0"/>
              <a:t>オクターブのバンドパスフィルタを</a:t>
            </a:r>
            <a:r>
              <a:rPr kumimoji="1" lang="en-US" altLang="ja-JP" dirty="0"/>
              <a:t>,</a:t>
            </a:r>
            <a:r>
              <a:rPr kumimoji="1" lang="ja-JP" altLang="en-US" dirty="0"/>
              <a:t>ランダムノイズに掛けたものを使用しています。</a:t>
            </a:r>
            <a:endParaRPr kumimoji="1" lang="en-US" altLang="ja-JP" dirty="0"/>
          </a:p>
          <a:p>
            <a:r>
              <a:rPr kumimoji="1" lang="ja-JP" altLang="en-US" dirty="0"/>
              <a:t>輝度については、前景背景でそれぞれ二通り、計</a:t>
            </a:r>
            <a:r>
              <a:rPr kumimoji="1" lang="en-US" altLang="ja-JP" dirty="0"/>
              <a:t>4</a:t>
            </a:r>
            <a:r>
              <a:rPr kumimoji="1" lang="ja-JP" altLang="en-US" dirty="0"/>
              <a:t>通りの条件を用意しました。</a:t>
            </a:r>
            <a:endParaRPr kumimoji="1" lang="en-US" altLang="ja-JP" dirty="0"/>
          </a:p>
          <a:p>
            <a:r>
              <a:rPr kumimoji="1" lang="ja-JP" altLang="en-US" dirty="0"/>
              <a:t>なお、</a:t>
            </a:r>
            <a:r>
              <a:rPr kumimoji="1" lang="en-US" altLang="ja-JP" dirty="0" err="1"/>
              <a:t>refarence</a:t>
            </a:r>
            <a:r>
              <a:rPr kumimoji="1" lang="ja-JP" altLang="en-US" dirty="0"/>
              <a:t>画像は輝度は常に</a:t>
            </a:r>
            <a:r>
              <a:rPr kumimoji="1" lang="en-US" altLang="ja-JP" dirty="0"/>
              <a:t>50 cd/m^2</a:t>
            </a:r>
            <a:r>
              <a:rPr kumimoji="1" lang="ja-JP" altLang="en-US" dirty="0"/>
              <a:t>にすることで、同じ刺激を基準にした評価を下すようにしました。</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22</a:t>
            </a:fld>
            <a:endParaRPr kumimoji="1" lang="ja-JP" altLang="en-US"/>
          </a:p>
        </p:txBody>
      </p:sp>
    </p:spTree>
    <p:extLst>
      <p:ext uri="{BB962C8B-B14F-4D97-AF65-F5344CB8AC3E}">
        <p14:creationId xmlns:p14="http://schemas.microsoft.com/office/powerpoint/2010/main" val="20807303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こちらは、刺激以外の観察条件です。</a:t>
            </a:r>
            <a:endParaRPr lang="en-US" altLang="ja-JP" dirty="0"/>
          </a:p>
          <a:p>
            <a:r>
              <a:rPr lang="ja-JP" altLang="en-US" dirty="0"/>
              <a:t>前景・背景の距離を組み合わせは、ディオプトリ差</a:t>
            </a:r>
            <a:r>
              <a:rPr lang="en-US" altLang="ja-JP" dirty="0"/>
              <a:t>ΔD</a:t>
            </a:r>
            <a:r>
              <a:rPr lang="ja-JP" altLang="en-US" dirty="0"/>
              <a:t>が </a:t>
            </a:r>
            <a:r>
              <a:rPr lang="en-US" altLang="ja-JP" dirty="0"/>
              <a:t>0.57</a:t>
            </a:r>
            <a:r>
              <a:rPr lang="ja-JP" altLang="en-US" dirty="0"/>
              <a:t>と</a:t>
            </a:r>
            <a:r>
              <a:rPr lang="en-US" altLang="ja-JP" dirty="0"/>
              <a:t>1.00</a:t>
            </a:r>
            <a:r>
              <a:rPr lang="ja-JP" altLang="en-US" dirty="0"/>
              <a:t>となる条件を、それぞれ</a:t>
            </a:r>
            <a:r>
              <a:rPr lang="en-US" altLang="ja-JP" dirty="0"/>
              <a:t>2</a:t>
            </a:r>
            <a:r>
              <a:rPr lang="ja-JP" altLang="en-US" dirty="0"/>
              <a:t>通り設定しました。 </a:t>
            </a:r>
            <a:endParaRPr lang="en-US" altLang="ja-JP" dirty="0"/>
          </a:p>
          <a:p>
            <a:r>
              <a:rPr lang="ja-JP" altLang="en-US" dirty="0"/>
              <a:t>いずれの</a:t>
            </a:r>
            <a:r>
              <a:rPr lang="en-US" altLang="ja-JP" dirty="0"/>
              <a:t>ΔD</a:t>
            </a:r>
            <a:r>
              <a:rPr lang="ja-JP" altLang="en-US" dirty="0"/>
              <a:t>も、人間の眼の被写界深度とされる</a:t>
            </a:r>
            <a:r>
              <a:rPr lang="en-US" altLang="ja-JP" dirty="0"/>
              <a:t>0.3 D </a:t>
            </a:r>
            <a:r>
              <a:rPr lang="ja-JP" altLang="en-US" dirty="0"/>
              <a:t>を上回るため、 </a:t>
            </a:r>
            <a:r>
              <a:rPr lang="en-US" altLang="ja-JP" dirty="0"/>
              <a:t>defocus blur </a:t>
            </a:r>
            <a:r>
              <a:rPr lang="ja-JP" altLang="en-US" dirty="0"/>
              <a:t>が生じる条件です。 </a:t>
            </a:r>
            <a:endParaRPr lang="en-US" altLang="ja-JP" dirty="0"/>
          </a:p>
          <a:p>
            <a:r>
              <a:rPr lang="ja-JP" altLang="en-US" dirty="0"/>
              <a:t>さらに、両眼視差の有無を切り替えるため、単眼観察と 両眼観察の</a:t>
            </a:r>
            <a:r>
              <a:rPr lang="en-US" altLang="ja-JP" dirty="0"/>
              <a:t>2</a:t>
            </a:r>
            <a:r>
              <a:rPr lang="ja-JP" altLang="en-US" dirty="0"/>
              <a:t>条件を設定しました。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23</a:t>
            </a:fld>
            <a:endParaRPr kumimoji="1" lang="ja-JP" altLang="en-US"/>
          </a:p>
        </p:txBody>
      </p:sp>
    </p:spTree>
    <p:extLst>
      <p:ext uri="{BB962C8B-B14F-4D97-AF65-F5344CB8AC3E}">
        <p14:creationId xmlns:p14="http://schemas.microsoft.com/office/powerpoint/2010/main" val="2828838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実際の</a:t>
            </a:r>
            <a:r>
              <a:rPr kumimoji="1" lang="en-US" altLang="ja-JP" dirty="0"/>
              <a:t>test</a:t>
            </a:r>
            <a:r>
              <a:rPr kumimoji="1" lang="ja-JP" altLang="en-US" dirty="0"/>
              <a:t>刺激の例として、空間周波数</a:t>
            </a:r>
            <a:r>
              <a:rPr kumimoji="1" lang="en-US" altLang="ja-JP" dirty="0"/>
              <a:t>2 </a:t>
            </a:r>
            <a:r>
              <a:rPr kumimoji="1" lang="en-US" altLang="ja-JP" dirty="0" err="1"/>
              <a:t>cpd</a:t>
            </a:r>
            <a:r>
              <a:rPr kumimoji="1" lang="en-US" altLang="ja-JP" dirty="0"/>
              <a:t>, 6 </a:t>
            </a:r>
            <a:r>
              <a:rPr kumimoji="1" lang="en-US" altLang="ja-JP" dirty="0" err="1"/>
              <a:t>cpd</a:t>
            </a:r>
            <a:r>
              <a:rPr kumimoji="1" lang="ja-JP" altLang="en-US" dirty="0"/>
              <a:t>の各輝度条件における</a:t>
            </a:r>
            <a:r>
              <a:rPr kumimoji="1" lang="en-US" altLang="ja-JP" dirty="0"/>
              <a:t>test</a:t>
            </a:r>
            <a:r>
              <a:rPr kumimoji="1" lang="ja-JP" altLang="en-US" dirty="0"/>
              <a:t>刺激を撮影しました。</a:t>
            </a:r>
            <a:endParaRPr kumimoji="1" lang="en-US" altLang="ja-JP" dirty="0"/>
          </a:p>
          <a:p>
            <a:r>
              <a:rPr kumimoji="1" lang="ja-JP" altLang="en-US" dirty="0"/>
              <a:t>人間が知覚し、認識する刺激と全く同じものではありませんが、それぞれの輝度条件における視認性の低下が見て取れるかと思います。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24</a:t>
            </a:fld>
            <a:endParaRPr kumimoji="1" lang="ja-JP" altLang="en-US"/>
          </a:p>
        </p:txBody>
      </p:sp>
    </p:spTree>
    <p:extLst>
      <p:ext uri="{BB962C8B-B14F-4D97-AF65-F5344CB8AC3E}">
        <p14:creationId xmlns:p14="http://schemas.microsoft.com/office/powerpoint/2010/main" val="25345945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続いて、結果の説明に移ります。まず、単眼観察条件の結果です。 </a:t>
            </a:r>
            <a:endParaRPr lang="en-US" altLang="ja-JP" dirty="0"/>
          </a:p>
          <a:p>
            <a:r>
              <a:rPr lang="ja-JP" altLang="en-US" dirty="0"/>
              <a:t>各ヒートマップは、縦軸が空間周波数、横軸が距離条件に対応しており、左</a:t>
            </a:r>
            <a:r>
              <a:rPr lang="en-US" altLang="ja-JP" dirty="0"/>
              <a:t>2</a:t>
            </a:r>
            <a:r>
              <a:rPr lang="ja-JP" altLang="en-US" dirty="0"/>
              <a:t>列が </a:t>
            </a:r>
            <a:r>
              <a:rPr lang="en-US" altLang="ja-JP" dirty="0"/>
              <a:t>ΔD=0.57</a:t>
            </a:r>
            <a:r>
              <a:rPr lang="ja-JP" altLang="en-US" dirty="0"/>
              <a:t>、右</a:t>
            </a:r>
            <a:r>
              <a:rPr lang="en-US" altLang="ja-JP" dirty="0"/>
              <a:t>2</a:t>
            </a:r>
            <a:r>
              <a:rPr lang="ja-JP" altLang="en-US" dirty="0"/>
              <a:t>列が</a:t>
            </a:r>
            <a:r>
              <a:rPr lang="en-US" altLang="ja-JP" dirty="0"/>
              <a:t>ΔD=1.00 </a:t>
            </a:r>
            <a:r>
              <a:rPr lang="ja-JP" altLang="en-US" dirty="0"/>
              <a:t>を示しています。 </a:t>
            </a:r>
            <a:endParaRPr lang="en-US" altLang="ja-JP" dirty="0"/>
          </a:p>
          <a:p>
            <a:r>
              <a:rPr lang="ja-JP" altLang="en-US" dirty="0"/>
              <a:t>値は、背景コントラスト「あり」と「なし」の、視認性評価値の 差分で、「値が大きいほど視認性が低下」していることを意味します。</a:t>
            </a:r>
            <a:endParaRPr lang="en-US" altLang="ja-JP" dirty="0"/>
          </a:p>
          <a:p>
            <a:r>
              <a:rPr lang="ja-JP" altLang="en-US" dirty="0"/>
              <a:t>この結果のキーポイントは、次の </a:t>
            </a:r>
            <a:r>
              <a:rPr lang="en-US" altLang="ja-JP" dirty="0"/>
              <a:t>4</a:t>
            </a:r>
            <a:r>
              <a:rPr lang="ja-JP" altLang="en-US" dirty="0"/>
              <a:t>つです。</a:t>
            </a:r>
            <a:endParaRPr lang="en-US" altLang="ja-JP" dirty="0"/>
          </a:p>
          <a:p>
            <a:r>
              <a:rPr lang="ja-JP" altLang="en-US" dirty="0"/>
              <a:t>第</a:t>
            </a:r>
            <a:r>
              <a:rPr lang="en-US" altLang="ja-JP" dirty="0"/>
              <a:t>1</a:t>
            </a:r>
            <a:r>
              <a:rPr lang="ja-JP" altLang="en-US" dirty="0"/>
              <a:t>に、輝度条件</a:t>
            </a:r>
            <a:r>
              <a:rPr lang="en-US" altLang="ja-JP" dirty="0"/>
              <a:t>(a)(b)</a:t>
            </a:r>
            <a:r>
              <a:rPr lang="ja-JP" altLang="en-US" dirty="0"/>
              <a:t>、つまり前景が暗く、背景がやや明るい 条件で、視認性低下が最も顕著です。 </a:t>
            </a:r>
            <a:endParaRPr lang="en-US" altLang="ja-JP" dirty="0"/>
          </a:p>
          <a:p>
            <a:r>
              <a:rPr lang="ja-JP" altLang="en-US" dirty="0"/>
              <a:t>第</a:t>
            </a:r>
            <a:r>
              <a:rPr lang="en-US" altLang="ja-JP" dirty="0"/>
              <a:t>2</a:t>
            </a:r>
            <a:r>
              <a:rPr lang="ja-JP" altLang="en-US" dirty="0"/>
              <a:t>に、低空間周波数、</a:t>
            </a:r>
            <a:r>
              <a:rPr lang="en-US" altLang="ja-JP" dirty="0"/>
              <a:t>2〜4 </a:t>
            </a:r>
            <a:r>
              <a:rPr lang="en-US" altLang="ja-JP" dirty="0" err="1"/>
              <a:t>cpd</a:t>
            </a:r>
            <a:r>
              <a:rPr lang="en-US" altLang="ja-JP" dirty="0"/>
              <a:t> </a:t>
            </a:r>
            <a:r>
              <a:rPr lang="ja-JP" altLang="en-US" dirty="0"/>
              <a:t>でより強い低下が見られました。</a:t>
            </a:r>
            <a:endParaRPr lang="en-US" altLang="ja-JP" dirty="0"/>
          </a:p>
          <a:p>
            <a:r>
              <a:rPr lang="ja-JP" altLang="en-US" dirty="0"/>
              <a:t>第</a:t>
            </a:r>
            <a:r>
              <a:rPr lang="en-US" altLang="ja-JP" dirty="0"/>
              <a:t>3</a:t>
            </a:r>
            <a:r>
              <a:rPr lang="ja-JP" altLang="en-US" dirty="0"/>
              <a:t>に、</a:t>
            </a:r>
            <a:r>
              <a:rPr lang="en-US" altLang="ja-JP" dirty="0"/>
              <a:t>ΔD</a:t>
            </a:r>
            <a:r>
              <a:rPr lang="ja-JP" altLang="en-US" dirty="0"/>
              <a:t>による一貫した傾向は見られませんでした。</a:t>
            </a:r>
            <a:r>
              <a:rPr lang="en-US" altLang="ja-JP" dirty="0"/>
              <a:t>defocus blur </a:t>
            </a:r>
            <a:r>
              <a:rPr lang="ja-JP" altLang="en-US" dirty="0"/>
              <a:t>が視認性を下げるという仮説は、この条件下では確認できていません。</a:t>
            </a:r>
            <a:endParaRPr lang="en-US" altLang="ja-JP" dirty="0"/>
          </a:p>
          <a:p>
            <a:r>
              <a:rPr lang="ja-JP" altLang="en-US" dirty="0"/>
              <a:t>そして第</a:t>
            </a:r>
            <a:r>
              <a:rPr lang="en-US" altLang="ja-JP" dirty="0"/>
              <a:t>4</a:t>
            </a:r>
            <a:r>
              <a:rPr lang="ja-JP" altLang="en-US" dirty="0"/>
              <a:t>に、一部条件で「負のスコア」、つまり「背景があるほうが むしろ見やすい」という、マスキングと矛盾する結果が見られました。 </a:t>
            </a:r>
            <a:endParaRPr lang="en-US" altLang="ja-JP" dirty="0"/>
          </a:p>
          <a:p>
            <a:r>
              <a:rPr lang="ja-JP" altLang="en-US" dirty="0"/>
              <a:t>これは後ほどのディスカッションで扱います。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25</a:t>
            </a:fld>
            <a:endParaRPr kumimoji="1" lang="ja-JP" altLang="en-US"/>
          </a:p>
        </p:txBody>
      </p:sp>
    </p:spTree>
    <p:extLst>
      <p:ext uri="{BB962C8B-B14F-4D97-AF65-F5344CB8AC3E}">
        <p14:creationId xmlns:p14="http://schemas.microsoft.com/office/powerpoint/2010/main" val="5654958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a:t>
            </a:r>
            <a:r>
              <a:rPr lang="ja-JP" altLang="en-US" dirty="0"/>
              <a:t>両眼観察条件の結果です。 </a:t>
            </a:r>
            <a:endParaRPr lang="en-US" altLang="ja-JP" dirty="0"/>
          </a:p>
          <a:p>
            <a:r>
              <a:rPr lang="ja-JP" altLang="en-US" dirty="0"/>
              <a:t>輝度・空間周波数・負のスコアといったパターンは、単眼条件と ほぼ同じ傾向を示しました。</a:t>
            </a:r>
            <a:endParaRPr lang="en-US" altLang="ja-JP" dirty="0"/>
          </a:p>
          <a:p>
            <a:r>
              <a:rPr lang="ja-JP" altLang="en-US" dirty="0"/>
              <a:t> また、</a:t>
            </a:r>
            <a:r>
              <a:rPr lang="en-US" altLang="ja-JP" dirty="0"/>
              <a:t>ΔD</a:t>
            </a:r>
            <a:r>
              <a:rPr lang="ja-JP" altLang="en-US" dirty="0"/>
              <a:t>による一貫した傾向はこちらでも見られず、単眼と両眼の間にも、 明確な差は現れませんでした。 </a:t>
            </a:r>
            <a:endParaRPr lang="en-US" altLang="ja-JP" dirty="0"/>
          </a:p>
          <a:p>
            <a:r>
              <a:rPr lang="ja-JP" altLang="en-US" dirty="0"/>
              <a:t>つまり、両眼視差や両眼融合の効果も、本予備実験の条件下では 確認できていない、ということになります。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26</a:t>
            </a:fld>
            <a:endParaRPr kumimoji="1" lang="ja-JP" altLang="en-US"/>
          </a:p>
        </p:txBody>
      </p:sp>
    </p:spTree>
    <p:extLst>
      <p:ext uri="{BB962C8B-B14F-4D97-AF65-F5344CB8AC3E}">
        <p14:creationId xmlns:p14="http://schemas.microsoft.com/office/powerpoint/2010/main" val="28528761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ここで改めて、視認性の低下が顕著であった、前景低輝度、背景高輝度の条件における</a:t>
            </a:r>
            <a:r>
              <a:rPr kumimoji="1" lang="en-US" altLang="ja-JP" dirty="0"/>
              <a:t>reference</a:t>
            </a:r>
            <a:r>
              <a:rPr kumimoji="1" lang="ja-JP" altLang="en-US" dirty="0"/>
              <a:t>刺激と</a:t>
            </a:r>
            <a:r>
              <a:rPr kumimoji="1" lang="en-US" altLang="ja-JP" dirty="0"/>
              <a:t>test</a:t>
            </a:r>
            <a:r>
              <a:rPr kumimoji="1" lang="ja-JP" altLang="en-US" dirty="0"/>
              <a:t>刺激をお示しします。</a:t>
            </a:r>
            <a:endParaRPr kumimoji="1" lang="en-US" altLang="ja-JP" dirty="0"/>
          </a:p>
          <a:p>
            <a:r>
              <a:rPr kumimoji="1" lang="ja-JP" altLang="en-US" dirty="0"/>
              <a:t>この図からも、この輝度条件において、背景コントラストの追加による視認性の低下が顕著であることが分かります。</a:t>
            </a:r>
            <a:endParaRPr kumimoji="1" lang="en-US" altLang="ja-JP" dirty="0"/>
          </a:p>
          <a:p>
            <a:r>
              <a:rPr kumimoji="1" lang="ja-JP" altLang="en-US" dirty="0"/>
              <a:t>また、空間周波数が高い場合、背景輝度が追加された時点で視認性が大きく下がってしまい、本命であるコントラスト追加の影響が取りづらくなっています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27</a:t>
            </a:fld>
            <a:endParaRPr kumimoji="1" lang="ja-JP" altLang="en-US"/>
          </a:p>
        </p:txBody>
      </p:sp>
    </p:spTree>
    <p:extLst>
      <p:ext uri="{BB962C8B-B14F-4D97-AF65-F5344CB8AC3E}">
        <p14:creationId xmlns:p14="http://schemas.microsoft.com/office/powerpoint/2010/main" val="17941669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これらの結果を分析し、本実験への「</a:t>
            </a:r>
            <a:r>
              <a:rPr lang="en-US" altLang="ja-JP" dirty="0"/>
              <a:t>4</a:t>
            </a:r>
            <a:r>
              <a:rPr lang="ja-JP" altLang="en-US" dirty="0"/>
              <a:t>つの再設計方針」を 立てました。 </a:t>
            </a:r>
            <a:endParaRPr lang="en-US" altLang="ja-JP" dirty="0"/>
          </a:p>
          <a:p>
            <a:r>
              <a:rPr lang="ja-JP" altLang="en-US" dirty="0"/>
              <a:t>①まず、マスキング効果が弱い条件では、離散評価のスコア差が 小さく、観察者の評価ばらつきと区別ができません。</a:t>
            </a:r>
            <a:endParaRPr lang="en-US" altLang="ja-JP" dirty="0"/>
          </a:p>
          <a:p>
            <a:r>
              <a:rPr lang="ja-JP" altLang="en-US" dirty="0"/>
              <a:t>これが、 先ほどの「負のスコア」の正体です。よって、マスキングが弱い条件は、本実験から除外します。 </a:t>
            </a:r>
            <a:endParaRPr lang="en-US" altLang="ja-JP" dirty="0"/>
          </a:p>
          <a:p>
            <a:endParaRPr lang="en-US" altLang="ja-JP" dirty="0"/>
          </a:p>
          <a:p>
            <a:r>
              <a:rPr lang="ja-JP" altLang="en-US" dirty="0"/>
              <a:t>②輝度と空間周波数については、視認性低下が顕著だった条件、 すなわち、背景輝度を高く、前景輝度は中程度、空間周波数は 低めに絞り込みます。</a:t>
            </a:r>
            <a:endParaRPr lang="en-US" altLang="ja-JP" dirty="0"/>
          </a:p>
          <a:p>
            <a:r>
              <a:rPr lang="ja-JP" altLang="en-US" dirty="0"/>
              <a:t>これらの影響は、</a:t>
            </a:r>
            <a:r>
              <a:rPr lang="en-US" altLang="ja-JP" dirty="0"/>
              <a:t>defocus</a:t>
            </a:r>
            <a:r>
              <a:rPr lang="ja-JP" altLang="en-US" dirty="0"/>
              <a:t>・</a:t>
            </a:r>
            <a:r>
              <a:rPr lang="en-US" altLang="ja-JP" dirty="0"/>
              <a:t>disparity </a:t>
            </a:r>
            <a:r>
              <a:rPr lang="ja-JP" altLang="en-US" dirty="0"/>
              <a:t>の 効果から独立しているとみなせるため、この条件を削ることで、 実験を効率化できます。</a:t>
            </a:r>
            <a:endParaRPr lang="en-US" altLang="ja-JP" dirty="0"/>
          </a:p>
          <a:p>
            <a:r>
              <a:rPr lang="ja-JP" altLang="en-US" dirty="0"/>
              <a:t> </a:t>
            </a:r>
            <a:endParaRPr lang="en-US" altLang="ja-JP" dirty="0"/>
          </a:p>
          <a:p>
            <a:r>
              <a:rPr lang="ja-JP" altLang="en-US" dirty="0"/>
              <a:t>③また、①のもう一つの要因として、離散評価の解像度の低さがあります。</a:t>
            </a:r>
            <a:endParaRPr lang="en-US" altLang="ja-JP" dirty="0"/>
          </a:p>
          <a:p>
            <a:r>
              <a:rPr lang="ja-JP" altLang="en-US" dirty="0"/>
              <a:t>そこで、②の実験の効率化をうけ、評価手法を、「マッチング法」などの、時間はかかるものの、より精度高く知覚差を測定できる手法に切り替えます。</a:t>
            </a:r>
            <a:endParaRPr lang="en-US" altLang="ja-JP" dirty="0"/>
          </a:p>
          <a:p>
            <a:endParaRPr lang="en-US" altLang="ja-JP" dirty="0"/>
          </a:p>
          <a:p>
            <a:r>
              <a:rPr lang="ja-JP" altLang="en-US" dirty="0"/>
              <a:t>④また、実験の効率化を受け、「単一平面条件」を追加します。線形加算と </a:t>
            </a:r>
            <a:r>
              <a:rPr lang="en-US" altLang="ja-JP" dirty="0"/>
              <a:t>defocus blur </a:t>
            </a:r>
            <a:r>
              <a:rPr lang="ja-JP" altLang="en-US" dirty="0"/>
              <a:t>をシミュレートした単一平面条件と </a:t>
            </a:r>
            <a:r>
              <a:rPr lang="en-US" altLang="ja-JP" dirty="0"/>
              <a:t>OST-AR </a:t>
            </a:r>
            <a:r>
              <a:rPr lang="ja-JP" altLang="en-US" dirty="0"/>
              <a:t>条件を比較する ことで、</a:t>
            </a:r>
            <a:endParaRPr lang="en-US" altLang="ja-JP" dirty="0"/>
          </a:p>
          <a:p>
            <a:r>
              <a:rPr lang="ja-JP" altLang="en-US" dirty="0"/>
              <a:t>両眼視差や背景割引の独立した寄与を切り出すことが 可能になります。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28</a:t>
            </a:fld>
            <a:endParaRPr kumimoji="1" lang="ja-JP" altLang="en-US"/>
          </a:p>
        </p:txBody>
      </p:sp>
    </p:spTree>
    <p:extLst>
      <p:ext uri="{BB962C8B-B14F-4D97-AF65-F5344CB8AC3E}">
        <p14:creationId xmlns:p14="http://schemas.microsoft.com/office/powerpoint/2010/main" val="16043280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最後に、結論と今後の方針です。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29</a:t>
            </a:fld>
            <a:endParaRPr kumimoji="1" lang="ja-JP" altLang="en-US"/>
          </a:p>
        </p:txBody>
      </p:sp>
    </p:spTree>
    <p:extLst>
      <p:ext uri="{BB962C8B-B14F-4D97-AF65-F5344CB8AC3E}">
        <p14:creationId xmlns:p14="http://schemas.microsoft.com/office/powerpoint/2010/main" val="2757282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本研究の目標は、</a:t>
            </a:r>
            <a:r>
              <a:rPr lang="en-US" altLang="ja-JP" dirty="0"/>
              <a:t>OST-AR </a:t>
            </a:r>
            <a:r>
              <a:rPr lang="ja-JP" altLang="en-US" dirty="0"/>
              <a:t>環境における視認性予測モデルの構築です。 </a:t>
            </a:r>
            <a:endParaRPr lang="en-US" altLang="ja-JP" dirty="0"/>
          </a:p>
          <a:p>
            <a:r>
              <a:rPr lang="ja-JP" altLang="en-US" dirty="0"/>
              <a:t>そのため、心理物理学実験を通じて </a:t>
            </a:r>
            <a:r>
              <a:rPr lang="en-US" altLang="ja-JP" dirty="0" err="1"/>
              <a:t>Fukiage</a:t>
            </a:r>
            <a:r>
              <a:rPr lang="en-US" altLang="ja-JP" dirty="0"/>
              <a:t> </a:t>
            </a:r>
            <a:r>
              <a:rPr lang="ja-JP" altLang="en-US" dirty="0"/>
              <a:t>モデルを拡張する方針を立てました。 </a:t>
            </a:r>
            <a:endParaRPr lang="en-US" altLang="ja-JP" dirty="0"/>
          </a:p>
          <a:p>
            <a:r>
              <a:rPr lang="ja-JP" altLang="en-US" dirty="0"/>
              <a:t>今回ご報告した予備実験は、その本実験の設計を目的としたものでした。</a:t>
            </a:r>
            <a:endParaRPr lang="en-US" altLang="ja-JP" dirty="0"/>
          </a:p>
          <a:p>
            <a:r>
              <a:rPr lang="ja-JP" altLang="en-US" dirty="0"/>
              <a:t>結果として、本実験で重点的に扱うべき「主要な要因とパラメータの範囲を特定」することができました。</a:t>
            </a:r>
            <a:endParaRPr lang="en-US" altLang="ja-JP" dirty="0"/>
          </a:p>
          <a:p>
            <a:r>
              <a:rPr lang="ja-JP" altLang="en-US" dirty="0"/>
              <a:t>具体的には、輝度・空間周波数条件の絞り込み、評価手法のマッチング法への切り替え、そして単一平面条件の追加です。 </a:t>
            </a:r>
            <a:endParaRPr lang="en-US" altLang="ja-JP" dirty="0"/>
          </a:p>
          <a:p>
            <a:r>
              <a:rPr lang="ja-JP" altLang="en-US" dirty="0"/>
              <a:t>今後の方針としては、まず「追加の予備実験」で再設計の妥当性を検証し、 続いて「倫理審査を経て本実験を実施」します。</a:t>
            </a:r>
            <a:endParaRPr lang="en-US" altLang="ja-JP" dirty="0"/>
          </a:p>
          <a:p>
            <a:r>
              <a:rPr lang="ja-JP" altLang="en-US" dirty="0"/>
              <a:t>そして得られたデータをもとに 「モデルの拡張と検証」へと進めていきます。 以上で発表を終わります。ご清聴ありがとうございました。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30</a:t>
            </a:fld>
            <a:endParaRPr kumimoji="1" lang="ja-JP" altLang="en-US"/>
          </a:p>
        </p:txBody>
      </p:sp>
    </p:spTree>
    <p:extLst>
      <p:ext uri="{BB962C8B-B14F-4D97-AF65-F5344CB8AC3E}">
        <p14:creationId xmlns:p14="http://schemas.microsoft.com/office/powerpoint/2010/main" val="5828704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59411"/>
            <a:ext cx="7772400" cy="1470025"/>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371600" y="2215186"/>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457200" y="4685336"/>
            <a:ext cx="2133600" cy="365125"/>
          </a:xfrm>
        </p:spPr>
        <p:txBody>
          <a:bodyPr/>
          <a:lstStyle/>
          <a:p>
            <a:fld id="{D6677CC3-F2CB-4C79-9FC6-48E9AE9DF2B1}" type="datetime1">
              <a:rPr lang="en-US" altLang="ja-JP" smtClean="0"/>
              <a:t>5/15/2026</a:t>
            </a:fld>
            <a:endParaRPr lang="en-US" dirty="0"/>
          </a:p>
        </p:txBody>
      </p:sp>
      <p:sp>
        <p:nvSpPr>
          <p:cNvPr id="5" name="Footer Placeholder 4"/>
          <p:cNvSpPr>
            <a:spLocks noGrp="1"/>
          </p:cNvSpPr>
          <p:nvPr>
            <p:ph type="ftr" sz="quarter" idx="11"/>
          </p:nvPr>
        </p:nvSpPr>
        <p:spPr>
          <a:xfrm>
            <a:off x="3124200" y="4685336"/>
            <a:ext cx="2895600" cy="365125"/>
          </a:xfrm>
        </p:spPr>
        <p:txBody>
          <a:bodyPr/>
          <a:lstStyle/>
          <a:p>
            <a:endParaRPr lang="en-US" dirty="0"/>
          </a:p>
        </p:txBody>
      </p:sp>
      <p:sp>
        <p:nvSpPr>
          <p:cNvPr id="6" name="Slide Number Placeholder 5">
            <a:extLst>
              <a:ext uri="{FF2B5EF4-FFF2-40B4-BE49-F238E27FC236}">
                <a16:creationId xmlns:a16="http://schemas.microsoft.com/office/drawing/2014/main" id="{3A032FDD-A55E-DAD4-2873-8CEE51B9EF83}"/>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81692457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4638"/>
            <a:ext cx="8229600" cy="619665"/>
          </a:xfrm>
        </p:spPr>
        <p:txBody>
          <a:bodyPr/>
          <a:lstStyle>
            <a:lvl1pPr algn="l">
              <a:defRPr sz="2550" b="1">
                <a:solidFill>
                  <a:schemeClr val="tx1"/>
                </a:solidFill>
                <a:latin typeface="+mj-lt"/>
              </a:defRPr>
            </a:lvl1pPr>
          </a:lstStyle>
          <a:p>
            <a:r>
              <a:rPr lang="en-US" dirty="0"/>
              <a:t>Click to edit Master title style</a:t>
            </a:r>
          </a:p>
        </p:txBody>
      </p:sp>
      <p:sp>
        <p:nvSpPr>
          <p:cNvPr id="3" name="Content Placeholder 2"/>
          <p:cNvSpPr>
            <a:spLocks noGrp="1"/>
          </p:cNvSpPr>
          <p:nvPr>
            <p:ph idx="1"/>
          </p:nvPr>
        </p:nvSpPr>
        <p:spPr>
          <a:xfrm>
            <a:off x="457200" y="1203750"/>
            <a:ext cx="8229600" cy="3368250"/>
          </a:xfrm>
        </p:spPr>
        <p:txBody>
          <a:bodyPr>
            <a:noAutofit/>
          </a:bodyPr>
          <a:lstStyle>
            <a:lvl1pPr>
              <a:buNone/>
              <a:defRPr sz="2100"/>
            </a:lvl1pPr>
            <a:lvl2pPr>
              <a:buNone/>
              <a:defRPr sz="1800"/>
            </a:lvl2pPr>
          </a:lstStyle>
          <a:p>
            <a:pPr lvl="0"/>
            <a:endParaRPr lang="ja-JP" altLang="en-US" dirty="0"/>
          </a:p>
        </p:txBody>
      </p:sp>
      <p:sp>
        <p:nvSpPr>
          <p:cNvPr id="4" name="Date Placeholder 3"/>
          <p:cNvSpPr>
            <a:spLocks noGrp="1"/>
          </p:cNvSpPr>
          <p:nvPr>
            <p:ph type="dt" sz="half" idx="10"/>
          </p:nvPr>
        </p:nvSpPr>
        <p:spPr>
          <a:xfrm>
            <a:off x="457200" y="4686299"/>
            <a:ext cx="2133600" cy="365125"/>
          </a:xfrm>
        </p:spPr>
        <p:txBody>
          <a:bodyPr/>
          <a:lstStyle/>
          <a:p>
            <a:fld id="{5D4E27C8-D112-40B1-8992-2F4D5635A6E5}" type="datetime1">
              <a:rPr lang="en-US" altLang="ja-JP" smtClean="0"/>
              <a:t>5/15/2026</a:t>
            </a:fld>
            <a:endParaRPr lang="en-US" dirty="0"/>
          </a:p>
        </p:txBody>
      </p:sp>
      <p:sp>
        <p:nvSpPr>
          <p:cNvPr id="5" name="Footer Placeholder 4"/>
          <p:cNvSpPr>
            <a:spLocks noGrp="1"/>
          </p:cNvSpPr>
          <p:nvPr>
            <p:ph type="ftr" sz="quarter" idx="11"/>
          </p:nvPr>
        </p:nvSpPr>
        <p:spPr>
          <a:xfrm>
            <a:off x="3124200" y="4686299"/>
            <a:ext cx="2895600" cy="365125"/>
          </a:xfrm>
        </p:spPr>
        <p:txBody>
          <a:bodyPr/>
          <a:lstStyle/>
          <a:p>
            <a:endParaRPr lang="en-US" dirty="0"/>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457200" y="894303"/>
            <a:ext cx="82296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14EDE14B-1317-FC7E-DC47-CD88CFE8F195}"/>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242983353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FBC88E-426D-48E4-85AA-C41430526894}" type="datetime1">
              <a:rPr lang="en-US" altLang="ja-JP" smtClean="0"/>
              <a:t>5/15/2026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5">
            <a:extLst>
              <a:ext uri="{FF2B5EF4-FFF2-40B4-BE49-F238E27FC236}">
                <a16:creationId xmlns:a16="http://schemas.microsoft.com/office/drawing/2014/main" id="{36709B09-110E-5D7A-20FD-740105850A2F}"/>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664350558"/>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457200" y="1600200"/>
            <a:ext cx="8229600" cy="2994949"/>
          </a:xfrm>
          <a:prstGeom prst="rect">
            <a:avLst/>
          </a:prstGeom>
        </p:spPr>
        <p:txBody>
          <a:bodyPr vert="horz" lIns="91440" tIns="45720" rIns="91440" bIns="45720" rtlCol="0">
            <a:normAutofit/>
          </a:bodyPr>
          <a:lstStyle/>
          <a:p>
            <a:pPr lvl="0"/>
            <a:endParaRPr lang="en-US" dirty="0"/>
          </a:p>
        </p:txBody>
      </p:sp>
      <p:sp>
        <p:nvSpPr>
          <p:cNvPr id="4" name="Date Placeholder 3"/>
          <p:cNvSpPr>
            <a:spLocks noGrp="1"/>
          </p:cNvSpPr>
          <p:nvPr>
            <p:ph type="dt" sz="half" idx="2"/>
          </p:nvPr>
        </p:nvSpPr>
        <p:spPr>
          <a:xfrm>
            <a:off x="457200" y="4686299"/>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D228E7-8D5C-4DC8-A1A8-D044EF144F6B}" type="datetime1">
              <a:rPr lang="en-US" altLang="ja-JP" smtClean="0"/>
              <a:t>5/15/2026</a:t>
            </a:fld>
            <a:endParaRPr lang="en-US" dirty="0"/>
          </a:p>
        </p:txBody>
      </p:sp>
      <p:sp>
        <p:nvSpPr>
          <p:cNvPr id="5" name="Footer Placeholder 4"/>
          <p:cNvSpPr>
            <a:spLocks noGrp="1"/>
          </p:cNvSpPr>
          <p:nvPr>
            <p:ph type="ftr" sz="quarter" idx="3"/>
          </p:nvPr>
        </p:nvSpPr>
        <p:spPr>
          <a:xfrm>
            <a:off x="3124200" y="4686299"/>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7" name="Slide Number Placeholder 5">
            <a:extLst>
              <a:ext uri="{FF2B5EF4-FFF2-40B4-BE49-F238E27FC236}">
                <a16:creationId xmlns:a16="http://schemas.microsoft.com/office/drawing/2014/main" id="{13E4AEEC-01C2-B11F-4F2C-216AB21A4663}"/>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24332978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7" r:id="rId3"/>
  </p:sldLayoutIdLst>
  <p:hf hdr="0" ftr="0" dt="0"/>
  <p:txStyles>
    <p:titleStyle>
      <a:lvl1pPr algn="ctr" defTabSz="457200" rtl="0" eaLnBrk="1" latinLnBrk="0" hangingPunct="1">
        <a:spcBef>
          <a:spcPct val="0"/>
        </a:spcBef>
        <a:buNone/>
        <a:defRPr kumimoji="1" sz="4400" kern="1200">
          <a:solidFill>
            <a:schemeClr val="tx1"/>
          </a:solidFill>
          <a:latin typeface="+mj-lt"/>
          <a:ea typeface="+mj-ea"/>
          <a:cs typeface="+mj-cs"/>
        </a:defRPr>
      </a:lvl1pPr>
    </p:titleStyle>
    <p:bodyStyle>
      <a:lvl1pPr marL="0" indent="0" algn="l" defTabSz="457200" rtl="0" eaLnBrk="1" latinLnBrk="0" hangingPunct="1">
        <a:spcBef>
          <a:spcPct val="20000"/>
        </a:spcBef>
        <a:buFont typeface="Arial"/>
        <a:buNone/>
        <a:defRPr kumimoji="1"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kumimoji="1"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jpg"/><Relationship Id="rId7"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jpg"/><Relationship Id="rId5" Type="http://schemas.openxmlformats.org/officeDocument/2006/relationships/image" Target="../media/image5.tif"/><Relationship Id="rId4" Type="http://schemas.openxmlformats.org/officeDocument/2006/relationships/image" Target="../media/image4.jpg"/><Relationship Id="rId9" Type="http://schemas.openxmlformats.org/officeDocument/2006/relationships/image" Target="../media/image9.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jpg"/><Relationship Id="rId5" Type="http://schemas.openxmlformats.org/officeDocument/2006/relationships/image" Target="../media/image12.jp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microsoft.com/office/2007/relationships/hdphoto" Target="../media/hdphoto1.wdp"/><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28.png"/><Relationship Id="rId7" Type="http://schemas.openxmlformats.org/officeDocument/2006/relationships/image" Target="../media/image12.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5.jpg"/><Relationship Id="rId5" Type="http://schemas.openxmlformats.org/officeDocument/2006/relationships/image" Target="../media/image34.jpg"/><Relationship Id="rId10" Type="http://schemas.openxmlformats.org/officeDocument/2006/relationships/image" Target="../media/image39.jpg"/><Relationship Id="rId4" Type="http://schemas.openxmlformats.org/officeDocument/2006/relationships/image" Target="../media/image33.jpg"/><Relationship Id="rId9" Type="http://schemas.openxmlformats.org/officeDocument/2006/relationships/image" Target="../media/image38.jpg"/></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8" Type="http://schemas.openxmlformats.org/officeDocument/2006/relationships/image" Target="../media/image51.jpg"/><Relationship Id="rId3" Type="http://schemas.openxmlformats.org/officeDocument/2006/relationships/image" Target="../media/image33.jpg"/><Relationship Id="rId7" Type="http://schemas.openxmlformats.org/officeDocument/2006/relationships/image" Target="../media/image50.jp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9.jpg"/><Relationship Id="rId5" Type="http://schemas.openxmlformats.org/officeDocument/2006/relationships/image" Target="../media/image48.jpg"/><Relationship Id="rId4" Type="http://schemas.openxmlformats.org/officeDocument/2006/relationships/image" Target="../media/image37.jp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E2507F-4699-9F97-6D38-D3D69D954701}"/>
              </a:ext>
            </a:extLst>
          </p:cNvPr>
          <p:cNvSpPr>
            <a:spLocks noGrp="1"/>
          </p:cNvSpPr>
          <p:nvPr>
            <p:ph type="ctrTitle"/>
          </p:nvPr>
        </p:nvSpPr>
        <p:spPr>
          <a:xfrm>
            <a:off x="457200" y="741725"/>
            <a:ext cx="8229600" cy="1470025"/>
          </a:xfrm>
        </p:spPr>
        <p:txBody>
          <a:bodyPr>
            <a:noAutofit/>
          </a:bodyPr>
          <a:lstStyle/>
          <a:p>
            <a:pPr algn="l"/>
            <a:r>
              <a:rPr lang="en-US" altLang="ja-JP" sz="3000" b="1" dirty="0">
                <a:solidFill>
                  <a:schemeClr val="accent1"/>
                </a:solidFill>
                <a:ea typeface="Calibri" panose="020F0502020204030204" pitchFamily="34" charset="0"/>
                <a:cs typeface="Arial" panose="020B0604020202020204" pitchFamily="34" charset="0"/>
              </a:rPr>
              <a:t>Perceptual Visibility Prediction of </a:t>
            </a:r>
            <a:br>
              <a:rPr lang="en-US" altLang="ja-JP" sz="3000" b="1" dirty="0">
                <a:solidFill>
                  <a:schemeClr val="accent1"/>
                </a:solidFill>
                <a:ea typeface="Calibri" panose="020F0502020204030204" pitchFamily="34" charset="0"/>
                <a:cs typeface="Arial" panose="020B0604020202020204" pitchFamily="34" charset="0"/>
              </a:rPr>
            </a:br>
            <a:r>
              <a:rPr lang="en-US" altLang="ja-JP" sz="3000" b="1" dirty="0">
                <a:solidFill>
                  <a:schemeClr val="accent1"/>
                </a:solidFill>
                <a:ea typeface="Calibri" panose="020F0502020204030204" pitchFamily="34" charset="0"/>
                <a:cs typeface="Arial" panose="020B0604020202020204" pitchFamily="34" charset="0"/>
              </a:rPr>
              <a:t>Overlaid Content in Optical See-Through </a:t>
            </a:r>
            <a:br>
              <a:rPr lang="en-US" altLang="ja-JP" sz="3000" b="1" dirty="0">
                <a:solidFill>
                  <a:schemeClr val="accent1"/>
                </a:solidFill>
                <a:ea typeface="Calibri" panose="020F0502020204030204" pitchFamily="34" charset="0"/>
                <a:cs typeface="Arial" panose="020B0604020202020204" pitchFamily="34" charset="0"/>
              </a:rPr>
            </a:br>
            <a:r>
              <a:rPr lang="en-US" altLang="ja-JP" sz="3000" b="1" dirty="0">
                <a:solidFill>
                  <a:schemeClr val="accent1"/>
                </a:solidFill>
                <a:ea typeface="Calibri" panose="020F0502020204030204" pitchFamily="34" charset="0"/>
                <a:cs typeface="Arial" panose="020B0604020202020204" pitchFamily="34" charset="0"/>
              </a:rPr>
              <a:t>Augmented Reality</a:t>
            </a:r>
            <a:endParaRPr kumimoji="1" lang="ja-JP" altLang="en-US" sz="3000" b="1" dirty="0"/>
          </a:p>
        </p:txBody>
      </p:sp>
      <p:sp>
        <p:nvSpPr>
          <p:cNvPr id="3" name="字幕 2">
            <a:extLst>
              <a:ext uri="{FF2B5EF4-FFF2-40B4-BE49-F238E27FC236}">
                <a16:creationId xmlns:a16="http://schemas.microsoft.com/office/drawing/2014/main" id="{FC505CD5-39B7-9D7B-4C54-DC2B26763D5E}"/>
              </a:ext>
            </a:extLst>
          </p:cNvPr>
          <p:cNvSpPr>
            <a:spLocks noGrp="1"/>
          </p:cNvSpPr>
          <p:nvPr>
            <p:ph type="subTitle" idx="1"/>
          </p:nvPr>
        </p:nvSpPr>
        <p:spPr>
          <a:xfrm>
            <a:off x="484432" y="2355750"/>
            <a:ext cx="8229600" cy="2372564"/>
          </a:xfrm>
        </p:spPr>
        <p:txBody>
          <a:bodyPr>
            <a:noAutofit/>
          </a:bodyPr>
          <a:lstStyle/>
          <a:p>
            <a:pPr algn="l">
              <a:lnSpc>
                <a:spcPct val="120000"/>
              </a:lnSpc>
            </a:pPr>
            <a:r>
              <a:rPr lang="ja-JP" altLang="en-US" sz="2100" dirty="0">
                <a:solidFill>
                  <a:schemeClr val="tx1"/>
                </a:solidFill>
              </a:rPr>
              <a:t>光学シースルー拡張現実における </a:t>
            </a:r>
            <a:br>
              <a:rPr lang="ja-JP" altLang="en-US" sz="2100" dirty="0">
                <a:solidFill>
                  <a:schemeClr val="tx1"/>
                </a:solidFill>
              </a:rPr>
            </a:br>
            <a:r>
              <a:rPr lang="ja-JP" altLang="en-US" sz="2100" dirty="0">
                <a:solidFill>
                  <a:schemeClr val="tx1"/>
                </a:solidFill>
              </a:rPr>
              <a:t>重畳コンテンツの知覚的視認性予測</a:t>
            </a:r>
            <a:endParaRPr lang="en-US" altLang="ja-JP" sz="2100" dirty="0">
              <a:solidFill>
                <a:schemeClr val="tx1"/>
              </a:solidFill>
            </a:endParaRPr>
          </a:p>
          <a:p>
            <a:pPr algn="l">
              <a:lnSpc>
                <a:spcPct val="120000"/>
              </a:lnSpc>
            </a:pPr>
            <a:r>
              <a:rPr lang="en-US" altLang="ja-JP" sz="1800" dirty="0">
                <a:solidFill>
                  <a:schemeClr val="tx1">
                    <a:lumMod val="50000"/>
                  </a:schemeClr>
                </a:solidFill>
              </a:rPr>
              <a:t>Oishi-Lab M2 Kazuki Hamada</a:t>
            </a:r>
          </a:p>
          <a:p>
            <a:pPr algn="l">
              <a:lnSpc>
                <a:spcPct val="120000"/>
              </a:lnSpc>
            </a:pPr>
            <a:r>
              <a:rPr lang="en-US" altLang="ja-JP" sz="1600" dirty="0">
                <a:solidFill>
                  <a:schemeClr val="tx1"/>
                </a:solidFill>
              </a:rPr>
              <a:t>Department of Electrical Engineering and Information Systems</a:t>
            </a:r>
          </a:p>
          <a:p>
            <a:pPr algn="l">
              <a:lnSpc>
                <a:spcPct val="120000"/>
              </a:lnSpc>
            </a:pPr>
            <a:r>
              <a:rPr lang="en-US" altLang="ja-JP" sz="1600" dirty="0">
                <a:solidFill>
                  <a:schemeClr val="tx1"/>
                </a:solidFill>
              </a:rPr>
              <a:t>Graduate School of Engineering, The University of Tokyo </a:t>
            </a:r>
          </a:p>
          <a:p>
            <a:pPr algn="l">
              <a:lnSpc>
                <a:spcPct val="120000"/>
              </a:lnSpc>
            </a:pPr>
            <a:r>
              <a:rPr lang="en-US" altLang="ja-JP" sz="1800" dirty="0">
                <a:solidFill>
                  <a:schemeClr val="tx1">
                    <a:lumMod val="50000"/>
                  </a:schemeClr>
                </a:solidFill>
              </a:rPr>
              <a:t>2026/05/15</a:t>
            </a:r>
            <a:endParaRPr lang="en-US" altLang="ja-JP" sz="1800" dirty="0">
              <a:solidFill>
                <a:schemeClr val="tx1"/>
              </a:solidFill>
            </a:endParaRPr>
          </a:p>
          <a:p>
            <a:pPr algn="l"/>
            <a:endParaRPr lang="en-US" altLang="ja-JP" sz="1800" dirty="0">
              <a:solidFill>
                <a:schemeClr val="tx1"/>
              </a:solidFill>
            </a:endParaRPr>
          </a:p>
          <a:p>
            <a:pPr algn="l"/>
            <a:endParaRPr lang="ja-JP" altLang="en-US" sz="1800" dirty="0">
              <a:solidFill>
                <a:schemeClr val="tx1"/>
              </a:solidFill>
            </a:endParaRPr>
          </a:p>
        </p:txBody>
      </p:sp>
      <p:cxnSp>
        <p:nvCxnSpPr>
          <p:cNvPr id="7" name="直線コネクタ 6">
            <a:extLst>
              <a:ext uri="{FF2B5EF4-FFF2-40B4-BE49-F238E27FC236}">
                <a16:creationId xmlns:a16="http://schemas.microsoft.com/office/drawing/2014/main" id="{D9932128-1E8C-0CF8-096B-09DC0E54FC1F}"/>
              </a:ext>
            </a:extLst>
          </p:cNvPr>
          <p:cNvCxnSpPr>
            <a:cxnSpLocks/>
          </p:cNvCxnSpPr>
          <p:nvPr/>
        </p:nvCxnSpPr>
        <p:spPr>
          <a:xfrm>
            <a:off x="457200" y="3219750"/>
            <a:ext cx="8229600" cy="0"/>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スライド番号プレースホルダー 3">
            <a:extLst>
              <a:ext uri="{FF2B5EF4-FFF2-40B4-BE49-F238E27FC236}">
                <a16:creationId xmlns:a16="http://schemas.microsoft.com/office/drawing/2014/main" id="{278AB801-1484-0A00-5FB6-EADBB2958BCD}"/>
              </a:ext>
            </a:extLst>
          </p:cNvPr>
          <p:cNvSpPr>
            <a:spLocks noGrp="1"/>
          </p:cNvSpPr>
          <p:nvPr>
            <p:ph type="sldNum" sz="quarter" idx="4"/>
          </p:nvPr>
        </p:nvSpPr>
        <p:spPr/>
        <p:txBody>
          <a:bodyPr/>
          <a:lstStyle/>
          <a:p>
            <a:fld id="{C1FF6DA9-008F-8B48-92A6-B652298478BF}" type="slidenum">
              <a:rPr lang="en-US" smtClean="0"/>
              <a:pPr/>
              <a:t>1</a:t>
            </a:fld>
            <a:r>
              <a:rPr lang="en-US"/>
              <a:t>/30</a:t>
            </a:r>
            <a:endParaRPr lang="en-US" sz="1800" dirty="0"/>
          </a:p>
        </p:txBody>
      </p:sp>
    </p:spTree>
    <p:extLst>
      <p:ext uri="{BB962C8B-B14F-4D97-AF65-F5344CB8AC3E}">
        <p14:creationId xmlns:p14="http://schemas.microsoft.com/office/powerpoint/2010/main" val="20784079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DF454-DA49-B761-FEB4-7AF8F61FB97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2DEBAB-34BB-1873-021E-D82AC4A3C497}"/>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9660BA6A-2487-A778-81D6-A318D1B0E261}"/>
              </a:ext>
            </a:extLst>
          </p:cNvPr>
          <p:cNvSpPr>
            <a:spLocks noGrp="1"/>
          </p:cNvSpPr>
          <p:nvPr>
            <p:ph idx="1"/>
          </p:nvPr>
        </p:nvSpPr>
        <p:spPr/>
        <p:txBody>
          <a:bodyPr/>
          <a:lstStyle/>
          <a:p>
            <a:pPr>
              <a:lnSpc>
                <a:spcPct val="150000"/>
              </a:lnSpc>
            </a:pPr>
            <a:r>
              <a:rPr kumimoji="1" lang="en-US" altLang="ja-JP" b="1" dirty="0">
                <a:solidFill>
                  <a:schemeClr val="accent1"/>
                </a:solidFill>
              </a:rPr>
              <a:t>1.   </a:t>
            </a:r>
            <a:r>
              <a:rPr kumimoji="1" lang="en-US" altLang="ja-JP" dirty="0"/>
              <a:t>Introduction</a:t>
            </a:r>
          </a:p>
          <a:p>
            <a:pPr marL="0" indent="0">
              <a:lnSpc>
                <a:spcPct val="150000"/>
              </a:lnSpc>
            </a:pPr>
            <a:r>
              <a:rPr kumimoji="1" lang="en-US" altLang="ja-JP" b="1" dirty="0">
                <a:solidFill>
                  <a:schemeClr val="accent1"/>
                </a:solidFill>
              </a:rPr>
              <a:t>2.   </a:t>
            </a:r>
            <a:r>
              <a:rPr kumimoji="1" lang="en-US" altLang="ja-JP" dirty="0"/>
              <a:t>Related Work</a:t>
            </a:r>
          </a:p>
          <a:p>
            <a:pPr marL="0" indent="0">
              <a:lnSpc>
                <a:spcPct val="150000"/>
              </a:lnSpc>
            </a:pPr>
            <a:r>
              <a:rPr lang="en-US" altLang="ja-JP" b="1" dirty="0">
                <a:solidFill>
                  <a:schemeClr val="accent1"/>
                </a:solidFill>
              </a:rPr>
              <a:t>3.   </a:t>
            </a:r>
            <a:r>
              <a:rPr lang="en-US" altLang="ja-JP" dirty="0"/>
              <a:t>Method</a:t>
            </a:r>
          </a:p>
          <a:p>
            <a:pPr marL="0" indent="0">
              <a:lnSpc>
                <a:spcPct val="150000"/>
              </a:lnSpc>
            </a:pPr>
            <a:r>
              <a:rPr kumimoji="1" lang="en-US" altLang="ja-JP" b="1" dirty="0">
                <a:solidFill>
                  <a:schemeClr val="accent1"/>
                </a:solidFill>
              </a:rPr>
              <a:t>4.   </a:t>
            </a:r>
            <a:r>
              <a:rPr kumimoji="1" lang="en-US" altLang="ja-JP" dirty="0"/>
              <a:t>Pilot Experiment</a:t>
            </a:r>
          </a:p>
          <a:p>
            <a:pPr marL="0" indent="0">
              <a:lnSpc>
                <a:spcPct val="150000"/>
              </a:lnSpc>
            </a:pPr>
            <a:r>
              <a:rPr lang="en-US" altLang="ja-JP" b="1" dirty="0">
                <a:solidFill>
                  <a:schemeClr val="accent1"/>
                </a:solidFill>
              </a:rPr>
              <a:t>5.   </a:t>
            </a:r>
            <a:r>
              <a:rPr lang="en-US" altLang="ja-JP" dirty="0"/>
              <a:t>Conclusion &amp; Future Work</a:t>
            </a:r>
            <a:endParaRPr kumimoji="1" lang="ja-JP" altLang="en-US" dirty="0"/>
          </a:p>
        </p:txBody>
      </p:sp>
      <p:sp>
        <p:nvSpPr>
          <p:cNvPr id="4" name="スライド番号プレースホルダー 3">
            <a:extLst>
              <a:ext uri="{FF2B5EF4-FFF2-40B4-BE49-F238E27FC236}">
                <a16:creationId xmlns:a16="http://schemas.microsoft.com/office/drawing/2014/main" id="{919ABC56-C390-BA55-D22A-09180351A224}"/>
              </a:ext>
            </a:extLst>
          </p:cNvPr>
          <p:cNvSpPr>
            <a:spLocks noGrp="1"/>
          </p:cNvSpPr>
          <p:nvPr>
            <p:ph type="sldNum" sz="quarter" idx="4"/>
          </p:nvPr>
        </p:nvSpPr>
        <p:spPr/>
        <p:txBody>
          <a:bodyPr/>
          <a:lstStyle/>
          <a:p>
            <a:fld id="{C1FF6DA9-008F-8B48-92A6-B652298478BF}" type="slidenum">
              <a:rPr lang="en-US" smtClean="0"/>
              <a:pPr/>
              <a:t>2</a:t>
            </a:fld>
            <a:r>
              <a:rPr lang="en-US"/>
              <a:t>/30</a:t>
            </a:r>
            <a:endParaRPr lang="en-US" sz="1800" dirty="0"/>
          </a:p>
        </p:txBody>
      </p:sp>
    </p:spTree>
    <p:extLst>
      <p:ext uri="{BB962C8B-B14F-4D97-AF65-F5344CB8AC3E}">
        <p14:creationId xmlns:p14="http://schemas.microsoft.com/office/powerpoint/2010/main" val="29217208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EA395-964E-E5AB-0352-7AF83DBA71E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0214BE5-196F-A0AA-4067-2AF030CB25F0}"/>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52055F42-3B25-7250-1027-88D3D159018E}"/>
              </a:ext>
            </a:extLst>
          </p:cNvPr>
          <p:cNvSpPr>
            <a:spLocks noGrp="1"/>
          </p:cNvSpPr>
          <p:nvPr>
            <p:ph idx="1"/>
          </p:nvPr>
        </p:nvSpPr>
        <p:spPr/>
        <p:txBody>
          <a:bodyPr/>
          <a:lstStyle/>
          <a:p>
            <a:pPr>
              <a:lnSpc>
                <a:spcPct val="150000"/>
              </a:lnSpc>
            </a:pPr>
            <a:r>
              <a:rPr kumimoji="1" lang="en-US" altLang="ja-JP" b="1" dirty="0">
                <a:solidFill>
                  <a:schemeClr val="accent1"/>
                </a:solidFill>
              </a:rPr>
              <a:t>1.   </a:t>
            </a:r>
            <a:r>
              <a:rPr kumimoji="1" lang="en-US" altLang="ja-JP" b="1" dirty="0"/>
              <a:t>Introduction </a:t>
            </a:r>
            <a:r>
              <a:rPr lang="en-US" altLang="ja-JP" sz="1800" dirty="0">
                <a:solidFill>
                  <a:schemeClr val="tx2"/>
                </a:solidFill>
              </a:rPr>
              <a:t>— background, objective</a:t>
            </a:r>
            <a:endParaRPr kumimoji="1" lang="en-US" altLang="ja-JP" b="1" dirty="0">
              <a:solidFill>
                <a:schemeClr val="tx2"/>
              </a:solidFill>
            </a:endParaRPr>
          </a:p>
          <a:p>
            <a:pPr marL="0" indent="0">
              <a:lnSpc>
                <a:spcPct val="150000"/>
              </a:lnSpc>
            </a:pPr>
            <a:r>
              <a:rPr kumimoji="1" lang="en-US" altLang="ja-JP" b="1" dirty="0">
                <a:solidFill>
                  <a:schemeClr val="accent2"/>
                </a:solidFill>
              </a:rPr>
              <a:t>2.   </a:t>
            </a:r>
            <a:r>
              <a:rPr kumimoji="1" lang="en-US" altLang="ja-JP" dirty="0">
                <a:solidFill>
                  <a:schemeClr val="tx1">
                    <a:lumMod val="60000"/>
                    <a:lumOff val="40000"/>
                  </a:schemeClr>
                </a:solidFill>
              </a:rPr>
              <a:t>Related Work</a:t>
            </a:r>
          </a:p>
          <a:p>
            <a:pPr marL="0" indent="0">
              <a:lnSpc>
                <a:spcPct val="150000"/>
              </a:lnSpc>
            </a:pPr>
            <a:r>
              <a:rPr lang="en-US" altLang="ja-JP" b="1" dirty="0">
                <a:solidFill>
                  <a:schemeClr val="accent2"/>
                </a:solidFill>
              </a:rPr>
              <a:t>3.   </a:t>
            </a:r>
            <a:r>
              <a:rPr lang="en-US" altLang="ja-JP" dirty="0">
                <a:solidFill>
                  <a:schemeClr val="tx1">
                    <a:lumMod val="60000"/>
                    <a:lumOff val="40000"/>
                  </a:schemeClr>
                </a:solidFill>
              </a:rPr>
              <a:t>Method</a:t>
            </a:r>
          </a:p>
          <a:p>
            <a:pPr marL="0" indent="0">
              <a:lnSpc>
                <a:spcPct val="150000"/>
              </a:lnSpc>
            </a:pPr>
            <a:r>
              <a:rPr kumimoji="1" lang="en-US" altLang="ja-JP" b="1" dirty="0">
                <a:solidFill>
                  <a:schemeClr val="accent2"/>
                </a:solidFill>
              </a:rPr>
              <a:t>4.   </a:t>
            </a:r>
            <a:r>
              <a:rPr kumimoji="1" lang="en-US" altLang="ja-JP" dirty="0">
                <a:solidFill>
                  <a:schemeClr val="tx1">
                    <a:lumMod val="60000"/>
                    <a:lumOff val="40000"/>
                  </a:schemeClr>
                </a:solidFill>
              </a:rPr>
              <a:t>Pilot Experiment</a:t>
            </a:r>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8AAE1669-DBEA-0172-C6FF-5D519730CCCB}"/>
              </a:ext>
            </a:extLst>
          </p:cNvPr>
          <p:cNvSpPr>
            <a:spLocks noGrp="1"/>
          </p:cNvSpPr>
          <p:nvPr>
            <p:ph type="sldNum" sz="quarter" idx="4"/>
          </p:nvPr>
        </p:nvSpPr>
        <p:spPr/>
        <p:txBody>
          <a:bodyPr/>
          <a:lstStyle/>
          <a:p>
            <a:fld id="{C1FF6DA9-008F-8B48-92A6-B652298478BF}" type="slidenum">
              <a:rPr lang="en-US" smtClean="0"/>
              <a:pPr/>
              <a:t>3</a:t>
            </a:fld>
            <a:r>
              <a:rPr lang="en-US"/>
              <a:t>/30</a:t>
            </a:r>
            <a:endParaRPr lang="en-US" sz="1800" dirty="0"/>
          </a:p>
        </p:txBody>
      </p:sp>
    </p:spTree>
    <p:extLst>
      <p:ext uri="{BB962C8B-B14F-4D97-AF65-F5344CB8AC3E}">
        <p14:creationId xmlns:p14="http://schemas.microsoft.com/office/powerpoint/2010/main" val="24545789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3BF1B34B-4FEE-15A0-3AFA-D060CB73D63C}"/>
              </a:ext>
            </a:extLst>
          </p:cNvPr>
          <p:cNvSpPr/>
          <p:nvPr/>
        </p:nvSpPr>
        <p:spPr>
          <a:xfrm>
            <a:off x="457200" y="1118936"/>
            <a:ext cx="3891761" cy="1306681"/>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5E37BD8F-F5C0-BD70-9CCD-0BF7BDCB9A95}"/>
              </a:ext>
            </a:extLst>
          </p:cNvPr>
          <p:cNvSpPr>
            <a:spLocks noGrp="1"/>
          </p:cNvSpPr>
          <p:nvPr>
            <p:ph type="title"/>
          </p:nvPr>
        </p:nvSpPr>
        <p:spPr>
          <a:xfrm>
            <a:off x="484432" y="274638"/>
            <a:ext cx="8229600" cy="619665"/>
          </a:xfrm>
        </p:spPr>
        <p:txBody>
          <a:bodyPr/>
          <a:lstStyle/>
          <a:p>
            <a:r>
              <a:rPr kumimoji="1" lang="en-US" altLang="ja-JP" dirty="0"/>
              <a:t>Introduction: Optical See-Through AR</a:t>
            </a:r>
            <a:endParaRPr kumimoji="1" lang="ja-JP" altLang="en-US" dirty="0"/>
          </a:p>
        </p:txBody>
      </p:sp>
      <p:sp>
        <p:nvSpPr>
          <p:cNvPr id="3" name="コンテンツ プレースホルダー 2">
            <a:extLst>
              <a:ext uri="{FF2B5EF4-FFF2-40B4-BE49-F238E27FC236}">
                <a16:creationId xmlns:a16="http://schemas.microsoft.com/office/drawing/2014/main" id="{BB3515BA-B19C-A579-B2B3-D862BFA357FB}"/>
              </a:ext>
            </a:extLst>
          </p:cNvPr>
          <p:cNvSpPr>
            <a:spLocks noGrp="1"/>
          </p:cNvSpPr>
          <p:nvPr>
            <p:ph idx="1"/>
          </p:nvPr>
        </p:nvSpPr>
        <p:spPr/>
        <p:txBody>
          <a:bodyPr/>
          <a:lstStyle/>
          <a:p>
            <a:r>
              <a:rPr lang="en-US" altLang="ja-JP" sz="2100" dirty="0"/>
              <a:t>A virtual image is </a:t>
            </a:r>
            <a:br>
              <a:rPr lang="en-US" altLang="ja-JP" sz="2100" dirty="0"/>
            </a:br>
            <a:r>
              <a:rPr lang="en-US" altLang="ja-JP" sz="2100" b="1" dirty="0">
                <a:solidFill>
                  <a:schemeClr val="accent1"/>
                </a:solidFill>
              </a:rPr>
              <a:t>optically overlayed </a:t>
            </a:r>
          </a:p>
          <a:p>
            <a:r>
              <a:rPr lang="en-US" altLang="ja-JP" sz="2100" dirty="0"/>
              <a:t>on the real-world background</a:t>
            </a:r>
          </a:p>
          <a:p>
            <a:endParaRPr kumimoji="1" lang="en-US" altLang="ja-JP" sz="2100" dirty="0"/>
          </a:p>
          <a:p>
            <a:r>
              <a:rPr lang="en-US" altLang="ja-JP" sz="2100" b="1" u="sng" dirty="0"/>
              <a:t>Pros: </a:t>
            </a:r>
          </a:p>
          <a:p>
            <a:r>
              <a:rPr lang="en-US" altLang="ja-JP" sz="2100" dirty="0"/>
              <a:t>Direct perception of real world</a:t>
            </a:r>
          </a:p>
          <a:p>
            <a:endParaRPr lang="en-US" altLang="ja-JP" sz="2100" b="1" dirty="0"/>
          </a:p>
          <a:p>
            <a:r>
              <a:rPr kumimoji="1" lang="en-US" altLang="ja-JP" sz="2100" b="1" u="sng" dirty="0"/>
              <a:t>Cons: </a:t>
            </a:r>
          </a:p>
          <a:p>
            <a:r>
              <a:rPr kumimoji="1" lang="en-US" altLang="ja-JP" sz="2100" b="1" dirty="0">
                <a:solidFill>
                  <a:schemeClr val="accent5"/>
                </a:solidFill>
              </a:rPr>
              <a:t>Additive mixture </a:t>
            </a:r>
            <a:r>
              <a:rPr kumimoji="1" lang="en-US" altLang="ja-JP" sz="2100" dirty="0"/>
              <a:t>of FG &amp; BG</a:t>
            </a:r>
          </a:p>
        </p:txBody>
      </p:sp>
      <p:sp>
        <p:nvSpPr>
          <p:cNvPr id="37" name="矢印: 右カーブ 36">
            <a:extLst>
              <a:ext uri="{FF2B5EF4-FFF2-40B4-BE49-F238E27FC236}">
                <a16:creationId xmlns:a16="http://schemas.microsoft.com/office/drawing/2014/main" id="{3B2E9162-BECF-2EF3-75E2-2EC7ECDB11DE}"/>
              </a:ext>
            </a:extLst>
          </p:cNvPr>
          <p:cNvSpPr/>
          <p:nvPr/>
        </p:nvSpPr>
        <p:spPr>
          <a:xfrm>
            <a:off x="4867040" y="1275750"/>
            <a:ext cx="568960" cy="2105393"/>
          </a:xfrm>
          <a:prstGeom prst="curvedRightArrow">
            <a:avLst>
              <a:gd name="adj1" fmla="val 124554"/>
              <a:gd name="adj2" fmla="val 179464"/>
              <a:gd name="adj3" fmla="val 0"/>
            </a:avLst>
          </a:prstGeom>
          <a:solidFill>
            <a:srgbClr val="86B81B">
              <a:lumMod val="40000"/>
              <a:lumOff val="6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474A4D"/>
              </a:solidFill>
              <a:effectLst/>
              <a:uLnTx/>
              <a:uFillTx/>
              <a:latin typeface="Segoe UI"/>
              <a:ea typeface="游ゴシック Medium"/>
              <a:cs typeface="+mn-cs"/>
            </a:endParaRPr>
          </a:p>
        </p:txBody>
      </p:sp>
      <p:pic>
        <p:nvPicPr>
          <p:cNvPr id="38" name="グラフィックス 37" descr="りんご 枠線">
            <a:extLst>
              <a:ext uri="{FF2B5EF4-FFF2-40B4-BE49-F238E27FC236}">
                <a16:creationId xmlns:a16="http://schemas.microsoft.com/office/drawing/2014/main" id="{2888B4B6-79BB-15E9-BE4B-8197746C31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3600" y="3381143"/>
            <a:ext cx="914400" cy="914400"/>
          </a:xfrm>
          <a:prstGeom prst="rect">
            <a:avLst/>
          </a:prstGeom>
        </p:spPr>
      </p:pic>
      <p:grpSp>
        <p:nvGrpSpPr>
          <p:cNvPr id="39" name="グループ化 38">
            <a:extLst>
              <a:ext uri="{FF2B5EF4-FFF2-40B4-BE49-F238E27FC236}">
                <a16:creationId xmlns:a16="http://schemas.microsoft.com/office/drawing/2014/main" id="{73E60686-90A2-7C94-9CD8-9DA118E57A48}"/>
              </a:ext>
            </a:extLst>
          </p:cNvPr>
          <p:cNvGrpSpPr/>
          <p:nvPr/>
        </p:nvGrpSpPr>
        <p:grpSpPr>
          <a:xfrm>
            <a:off x="7300320" y="1688892"/>
            <a:ext cx="1476149" cy="1508760"/>
            <a:chOff x="7241131" y="2871217"/>
            <a:chExt cx="2008732" cy="2087880"/>
          </a:xfrm>
        </p:grpSpPr>
        <p:pic>
          <p:nvPicPr>
            <p:cNvPr id="46" name="グラフィックス 45" descr="咳 枠線">
              <a:extLst>
                <a:ext uri="{FF2B5EF4-FFF2-40B4-BE49-F238E27FC236}">
                  <a16:creationId xmlns:a16="http://schemas.microsoft.com/office/drawing/2014/main" id="{DE305BD9-B99C-E594-E87B-D91D11A36AD9}"/>
                </a:ext>
              </a:extLst>
            </p:cNvPr>
            <p:cNvPicPr>
              <a:picLocks noChangeAspect="1"/>
            </p:cNvPicPr>
            <p:nvPr/>
          </p:nvPicPr>
          <p:blipFill rotWithShape="1">
            <a:blip>
              <a:extLst>
                <a:ext uri="{96DAC541-7B7A-43D3-8B79-37D633B846F1}">
                  <asvg:svgBlip xmlns:asvg="http://schemas.microsoft.com/office/drawing/2016/SVG/main" r:embed="rId4"/>
                </a:ext>
              </a:extLst>
            </a:blip>
            <a:srcRect l="1338" t="2861" r="9124" b="-2861"/>
            <a:stretch>
              <a:fillRect/>
            </a:stretch>
          </p:blipFill>
          <p:spPr>
            <a:xfrm flipH="1">
              <a:off x="7380424" y="2871217"/>
              <a:ext cx="1869439" cy="2087880"/>
            </a:xfrm>
            <a:prstGeom prst="rect">
              <a:avLst/>
            </a:prstGeom>
          </p:spPr>
        </p:pic>
        <p:sp>
          <p:nvSpPr>
            <p:cNvPr id="47" name="正方形/長方形 46">
              <a:extLst>
                <a:ext uri="{FF2B5EF4-FFF2-40B4-BE49-F238E27FC236}">
                  <a16:creationId xmlns:a16="http://schemas.microsoft.com/office/drawing/2014/main" id="{DBD200D8-21BE-BED7-F944-B38B8B80803A}"/>
                </a:ext>
              </a:extLst>
            </p:cNvPr>
            <p:cNvSpPr/>
            <p:nvPr/>
          </p:nvSpPr>
          <p:spPr>
            <a:xfrm>
              <a:off x="7241131" y="4037177"/>
              <a:ext cx="339543" cy="522123"/>
            </a:xfrm>
            <a:prstGeom prst="rect">
              <a:avLst/>
            </a:prstGeom>
            <a:solidFill>
              <a:srgbClr val="F6F7F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F6F7F8"/>
                </a:solidFill>
                <a:effectLst/>
                <a:uLnTx/>
                <a:uFillTx/>
                <a:latin typeface="Segoe UI"/>
                <a:ea typeface="游ゴシック Medium"/>
                <a:cs typeface="+mn-cs"/>
              </a:endParaRPr>
            </a:p>
          </p:txBody>
        </p:sp>
      </p:grpSp>
      <p:sp>
        <p:nvSpPr>
          <p:cNvPr id="40" name="矢印: 下 39">
            <a:extLst>
              <a:ext uri="{FF2B5EF4-FFF2-40B4-BE49-F238E27FC236}">
                <a16:creationId xmlns:a16="http://schemas.microsoft.com/office/drawing/2014/main" id="{188F0664-A0DE-1A0A-776F-21AAA0B69B3F}"/>
              </a:ext>
            </a:extLst>
          </p:cNvPr>
          <p:cNvSpPr/>
          <p:nvPr/>
        </p:nvSpPr>
        <p:spPr>
          <a:xfrm rot="16200000">
            <a:off x="6213524" y="1268552"/>
            <a:ext cx="484632" cy="1893688"/>
          </a:xfrm>
          <a:prstGeom prst="downArrow">
            <a:avLst/>
          </a:prstGeom>
          <a:solidFill>
            <a:srgbClr val="86B81B">
              <a:lumMod val="40000"/>
              <a:lumOff val="6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F6F7F8"/>
              </a:solidFill>
              <a:effectLst/>
              <a:uLnTx/>
              <a:uFillTx/>
              <a:latin typeface="Segoe UI"/>
              <a:ea typeface="游ゴシック Medium"/>
              <a:cs typeface="+mn-cs"/>
            </a:endParaRPr>
          </a:p>
        </p:txBody>
      </p:sp>
      <p:cxnSp>
        <p:nvCxnSpPr>
          <p:cNvPr id="41" name="直線コネクタ 40">
            <a:extLst>
              <a:ext uri="{FF2B5EF4-FFF2-40B4-BE49-F238E27FC236}">
                <a16:creationId xmlns:a16="http://schemas.microsoft.com/office/drawing/2014/main" id="{F39C2B48-1AC2-D391-20CE-5ACDA7307826}"/>
              </a:ext>
            </a:extLst>
          </p:cNvPr>
          <p:cNvCxnSpPr>
            <a:cxnSpLocks/>
          </p:cNvCxnSpPr>
          <p:nvPr/>
        </p:nvCxnSpPr>
        <p:spPr>
          <a:xfrm flipV="1">
            <a:off x="5520771" y="1669847"/>
            <a:ext cx="995229" cy="1064691"/>
          </a:xfrm>
          <a:prstGeom prst="line">
            <a:avLst/>
          </a:prstGeom>
          <a:noFill/>
          <a:ln w="19050" cap="flat" cmpd="sng" algn="ctr">
            <a:solidFill>
              <a:srgbClr val="005BAA"/>
            </a:solidFill>
            <a:prstDash val="solid"/>
            <a:miter lim="800000"/>
          </a:ln>
          <a:effectLst/>
        </p:spPr>
      </p:cxnSp>
      <p:sp>
        <p:nvSpPr>
          <p:cNvPr id="42" name="テキスト ボックス 41">
            <a:extLst>
              <a:ext uri="{FF2B5EF4-FFF2-40B4-BE49-F238E27FC236}">
                <a16:creationId xmlns:a16="http://schemas.microsoft.com/office/drawing/2014/main" id="{BAE0BC44-E412-7B42-C553-4D71C9E2E3FD}"/>
              </a:ext>
            </a:extLst>
          </p:cNvPr>
          <p:cNvSpPr txBox="1"/>
          <p:nvPr/>
        </p:nvSpPr>
        <p:spPr>
          <a:xfrm>
            <a:off x="4572000" y="3251519"/>
            <a:ext cx="1136780" cy="415498"/>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2100" b="0" i="0" u="none" strike="noStrike" kern="0" cap="none" spc="0" normalizeH="0" baseline="0" noProof="0" dirty="0">
                <a:ln>
                  <a:noFill/>
                </a:ln>
                <a:solidFill>
                  <a:srgbClr val="474A4D"/>
                </a:solidFill>
                <a:effectLst/>
                <a:uLnTx/>
                <a:uFillTx/>
              </a:rPr>
              <a:t>Real BG</a:t>
            </a:r>
            <a:endParaRPr kumimoji="1" lang="ja-JP" altLang="en-US" sz="2100" b="0" i="0" u="none" strike="noStrike" kern="0" cap="none" spc="0" normalizeH="0" baseline="0" noProof="0" dirty="0">
              <a:ln>
                <a:noFill/>
              </a:ln>
              <a:solidFill>
                <a:srgbClr val="474A4D"/>
              </a:solidFill>
              <a:effectLst/>
              <a:uLnTx/>
              <a:uFillTx/>
            </a:endParaRPr>
          </a:p>
        </p:txBody>
      </p:sp>
      <p:sp>
        <p:nvSpPr>
          <p:cNvPr id="43" name="テキスト ボックス 42">
            <a:extLst>
              <a:ext uri="{FF2B5EF4-FFF2-40B4-BE49-F238E27FC236}">
                <a16:creationId xmlns:a16="http://schemas.microsoft.com/office/drawing/2014/main" id="{F983E339-518F-4214-8C48-1A5396078209}"/>
              </a:ext>
            </a:extLst>
          </p:cNvPr>
          <p:cNvSpPr txBox="1"/>
          <p:nvPr/>
        </p:nvSpPr>
        <p:spPr>
          <a:xfrm>
            <a:off x="6435756" y="3481287"/>
            <a:ext cx="1003476" cy="73866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2100" b="0" i="0" u="none" strike="noStrike" kern="0" cap="none" spc="0" normalizeH="0" baseline="0" noProof="0" dirty="0">
                <a:ln>
                  <a:noFill/>
                </a:ln>
                <a:solidFill>
                  <a:srgbClr val="474A4D"/>
                </a:solidFill>
                <a:effectLst/>
                <a:uLnTx/>
                <a:uFillTx/>
              </a:rPr>
              <a:t>Virtual</a:t>
            </a:r>
            <a:br>
              <a:rPr kumimoji="1" lang="en-US" altLang="ja-JP" sz="2100" b="0" i="0" u="none" strike="noStrike" kern="0" cap="none" spc="0" normalizeH="0" baseline="0" noProof="0" dirty="0">
                <a:ln>
                  <a:noFill/>
                </a:ln>
                <a:solidFill>
                  <a:srgbClr val="474A4D"/>
                </a:solidFill>
                <a:effectLst/>
                <a:uLnTx/>
                <a:uFillTx/>
              </a:rPr>
            </a:br>
            <a:r>
              <a:rPr kumimoji="1" lang="en-US" altLang="ja-JP" sz="2100" b="0" i="0" u="none" strike="noStrike" kern="0" cap="none" spc="0" normalizeH="0" baseline="0" noProof="0" dirty="0">
                <a:ln>
                  <a:noFill/>
                </a:ln>
                <a:solidFill>
                  <a:srgbClr val="474A4D"/>
                </a:solidFill>
                <a:effectLst/>
                <a:uLnTx/>
                <a:uFillTx/>
              </a:rPr>
              <a:t>Object</a:t>
            </a:r>
            <a:endParaRPr kumimoji="1" lang="ja-JP" altLang="en-US" sz="2100" b="0" i="0" u="none" strike="noStrike" kern="0" cap="none" spc="0" normalizeH="0" baseline="0" noProof="0" dirty="0">
              <a:ln>
                <a:noFill/>
              </a:ln>
              <a:solidFill>
                <a:srgbClr val="474A4D"/>
              </a:solidFill>
              <a:effectLst/>
              <a:uLnTx/>
              <a:uFillTx/>
            </a:endParaRPr>
          </a:p>
        </p:txBody>
      </p:sp>
      <p:sp>
        <p:nvSpPr>
          <p:cNvPr id="44" name="テキスト ボックス 43">
            <a:extLst>
              <a:ext uri="{FF2B5EF4-FFF2-40B4-BE49-F238E27FC236}">
                <a16:creationId xmlns:a16="http://schemas.microsoft.com/office/drawing/2014/main" id="{C53FE76C-757E-5B45-7AAC-A0379B732A6B}"/>
              </a:ext>
            </a:extLst>
          </p:cNvPr>
          <p:cNvSpPr txBox="1"/>
          <p:nvPr/>
        </p:nvSpPr>
        <p:spPr>
          <a:xfrm>
            <a:off x="5363999" y="1201133"/>
            <a:ext cx="1893689" cy="415498"/>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2100" b="0" i="0" u="none" strike="noStrike" kern="0" cap="none" spc="0" normalizeH="0" baseline="0" noProof="0" dirty="0">
                <a:ln>
                  <a:noFill/>
                </a:ln>
                <a:solidFill>
                  <a:srgbClr val="474A4D"/>
                </a:solidFill>
                <a:effectLst/>
                <a:uLnTx/>
                <a:uFillTx/>
              </a:rPr>
              <a:t>Beam Splitter</a:t>
            </a:r>
            <a:endParaRPr kumimoji="1" lang="ja-JP" altLang="en-US" sz="2100" b="0" i="0" u="none" strike="noStrike" kern="0" cap="none" spc="0" normalizeH="0" baseline="0" noProof="0" dirty="0">
              <a:ln>
                <a:noFill/>
              </a:ln>
              <a:solidFill>
                <a:srgbClr val="474A4D"/>
              </a:solidFill>
              <a:effectLst/>
              <a:uLnTx/>
              <a:uFillTx/>
            </a:endParaRPr>
          </a:p>
        </p:txBody>
      </p:sp>
      <p:sp>
        <p:nvSpPr>
          <p:cNvPr id="45" name="矢印: 上向き折線 44">
            <a:extLst>
              <a:ext uri="{FF2B5EF4-FFF2-40B4-BE49-F238E27FC236}">
                <a16:creationId xmlns:a16="http://schemas.microsoft.com/office/drawing/2014/main" id="{0D298BDE-A71D-1B75-D1C2-56EBD3BCAF61}"/>
              </a:ext>
            </a:extLst>
          </p:cNvPr>
          <p:cNvSpPr/>
          <p:nvPr/>
        </p:nvSpPr>
        <p:spPr>
          <a:xfrm rot="16200000" flipV="1">
            <a:off x="6120033" y="1895451"/>
            <a:ext cx="1139165" cy="1499232"/>
          </a:xfrm>
          <a:prstGeom prst="bentUpArrow">
            <a:avLst/>
          </a:prstGeom>
          <a:solidFill>
            <a:srgbClr val="71A4D9">
              <a:lumMod val="40000"/>
              <a:lumOff val="60000"/>
              <a:alpha val="5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F6F7F8"/>
              </a:solidFill>
              <a:effectLst/>
              <a:uLnTx/>
              <a:uFillTx/>
              <a:latin typeface="Segoe UI"/>
              <a:ea typeface="游ゴシック Medium"/>
              <a:cs typeface="+mn-cs"/>
            </a:endParaRPr>
          </a:p>
        </p:txBody>
      </p:sp>
      <p:sp>
        <p:nvSpPr>
          <p:cNvPr id="48" name="正方形/長方形 47">
            <a:extLst>
              <a:ext uri="{FF2B5EF4-FFF2-40B4-BE49-F238E27FC236}">
                <a16:creationId xmlns:a16="http://schemas.microsoft.com/office/drawing/2014/main" id="{29509A37-681D-AC6E-A0CB-3F0B9820A1FE}"/>
              </a:ext>
            </a:extLst>
          </p:cNvPr>
          <p:cNvSpPr/>
          <p:nvPr/>
        </p:nvSpPr>
        <p:spPr>
          <a:xfrm>
            <a:off x="5652128" y="3284189"/>
            <a:ext cx="1799872" cy="1064691"/>
          </a:xfrm>
          <a:prstGeom prst="rect">
            <a:avLst/>
          </a:prstGeom>
          <a:noFill/>
          <a:ln w="19050" cap="flat" cmpd="sng" algn="ctr">
            <a:solidFill>
              <a:srgbClr val="005BAA">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F6F7F8"/>
              </a:solidFill>
              <a:effectLst/>
              <a:uLnTx/>
              <a:uFillTx/>
              <a:latin typeface="Segoe UI"/>
              <a:ea typeface="游ゴシック Medium"/>
              <a:cs typeface="+mn-cs"/>
            </a:endParaRPr>
          </a:p>
        </p:txBody>
      </p:sp>
      <p:sp>
        <p:nvSpPr>
          <p:cNvPr id="49" name="テキスト ボックス 48">
            <a:extLst>
              <a:ext uri="{FF2B5EF4-FFF2-40B4-BE49-F238E27FC236}">
                <a16:creationId xmlns:a16="http://schemas.microsoft.com/office/drawing/2014/main" id="{35FB0C1D-B2CE-D014-A61E-660BF9EFB91C}"/>
              </a:ext>
            </a:extLst>
          </p:cNvPr>
          <p:cNvSpPr txBox="1"/>
          <p:nvPr/>
        </p:nvSpPr>
        <p:spPr>
          <a:xfrm>
            <a:off x="7452000" y="3812252"/>
            <a:ext cx="1151999" cy="415498"/>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2100" kern="0" dirty="0">
                <a:solidFill>
                  <a:srgbClr val="474A4D"/>
                </a:solidFill>
              </a:rPr>
              <a:t>Monitor</a:t>
            </a:r>
            <a:endParaRPr kumimoji="1" lang="ja-JP" altLang="en-US" sz="2100" b="0" i="0" u="none" strike="noStrike" kern="0" cap="none" spc="0" normalizeH="0" baseline="0" noProof="0" dirty="0">
              <a:ln>
                <a:noFill/>
              </a:ln>
              <a:solidFill>
                <a:srgbClr val="474A4D"/>
              </a:solidFill>
              <a:effectLst/>
              <a:uLnTx/>
              <a:uFillTx/>
            </a:endParaRPr>
          </a:p>
        </p:txBody>
      </p:sp>
      <p:sp>
        <p:nvSpPr>
          <p:cNvPr id="50" name="矢印: 下 49">
            <a:extLst>
              <a:ext uri="{FF2B5EF4-FFF2-40B4-BE49-F238E27FC236}">
                <a16:creationId xmlns:a16="http://schemas.microsoft.com/office/drawing/2014/main" id="{21F4FA0D-2068-D644-F767-9F560A4B022C}"/>
              </a:ext>
            </a:extLst>
          </p:cNvPr>
          <p:cNvSpPr/>
          <p:nvPr/>
        </p:nvSpPr>
        <p:spPr>
          <a:xfrm rot="10800000">
            <a:off x="5868000" y="1751963"/>
            <a:ext cx="456368" cy="1434728"/>
          </a:xfrm>
          <a:prstGeom prst="downArrow">
            <a:avLst>
              <a:gd name="adj1" fmla="val 63429"/>
              <a:gd name="adj2" fmla="val 33229"/>
            </a:avLst>
          </a:prstGeom>
          <a:solidFill>
            <a:srgbClr val="71A4D9">
              <a:lumMod val="40000"/>
              <a:lumOff val="60000"/>
              <a:alpha val="5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F6F7F8"/>
              </a:solidFill>
              <a:effectLst/>
              <a:uLnTx/>
              <a:uFillTx/>
              <a:latin typeface="Segoe UI"/>
              <a:ea typeface="游ゴシック Medium"/>
              <a:cs typeface="+mn-cs"/>
            </a:endParaRPr>
          </a:p>
        </p:txBody>
      </p:sp>
      <p:sp>
        <p:nvSpPr>
          <p:cNvPr id="51" name="矢印: 下 50">
            <a:extLst>
              <a:ext uri="{FF2B5EF4-FFF2-40B4-BE49-F238E27FC236}">
                <a16:creationId xmlns:a16="http://schemas.microsoft.com/office/drawing/2014/main" id="{462050BF-F23A-DE65-2F77-AE42C0530AF1}"/>
              </a:ext>
            </a:extLst>
          </p:cNvPr>
          <p:cNvSpPr/>
          <p:nvPr/>
        </p:nvSpPr>
        <p:spPr>
          <a:xfrm rot="10800000">
            <a:off x="5868000" y="2272287"/>
            <a:ext cx="456368" cy="1135520"/>
          </a:xfrm>
          <a:prstGeom prst="downArrow">
            <a:avLst>
              <a:gd name="adj1" fmla="val 63429"/>
              <a:gd name="adj2" fmla="val 0"/>
            </a:avLst>
          </a:prstGeom>
          <a:solidFill>
            <a:srgbClr val="71A4D9">
              <a:lumMod val="40000"/>
              <a:lumOff val="6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F6F7F8"/>
              </a:solidFill>
              <a:effectLst/>
              <a:uLnTx/>
              <a:uFillTx/>
              <a:latin typeface="Segoe UI"/>
              <a:ea typeface="游ゴシック Medium"/>
              <a:cs typeface="+mn-cs"/>
            </a:endParaRPr>
          </a:p>
        </p:txBody>
      </p:sp>
      <p:cxnSp>
        <p:nvCxnSpPr>
          <p:cNvPr id="58" name="直線コネクタ 57">
            <a:extLst>
              <a:ext uri="{FF2B5EF4-FFF2-40B4-BE49-F238E27FC236}">
                <a16:creationId xmlns:a16="http://schemas.microsoft.com/office/drawing/2014/main" id="{FBB8AE50-2FE8-EE28-C4F3-EB55DDD600CC}"/>
              </a:ext>
            </a:extLst>
          </p:cNvPr>
          <p:cNvCxnSpPr>
            <a:cxnSpLocks/>
          </p:cNvCxnSpPr>
          <p:nvPr/>
        </p:nvCxnSpPr>
        <p:spPr>
          <a:xfrm>
            <a:off x="468000" y="1116320"/>
            <a:ext cx="0" cy="131143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4" name="スライド番号プレースホルダー 3">
            <a:extLst>
              <a:ext uri="{FF2B5EF4-FFF2-40B4-BE49-F238E27FC236}">
                <a16:creationId xmlns:a16="http://schemas.microsoft.com/office/drawing/2014/main" id="{D9ED5722-E921-642B-7B7E-66EF28721257}"/>
              </a:ext>
            </a:extLst>
          </p:cNvPr>
          <p:cNvSpPr>
            <a:spLocks noGrp="1"/>
          </p:cNvSpPr>
          <p:nvPr>
            <p:ph type="sldNum" sz="quarter" idx="4"/>
          </p:nvPr>
        </p:nvSpPr>
        <p:spPr/>
        <p:txBody>
          <a:bodyPr/>
          <a:lstStyle/>
          <a:p>
            <a:fld id="{C1FF6DA9-008F-8B48-92A6-B652298478BF}" type="slidenum">
              <a:rPr lang="en-US" smtClean="0"/>
              <a:pPr/>
              <a:t>4</a:t>
            </a:fld>
            <a:r>
              <a:rPr lang="en-US"/>
              <a:t>/30</a:t>
            </a:r>
            <a:endParaRPr lang="en-US" sz="1800" dirty="0"/>
          </a:p>
        </p:txBody>
      </p:sp>
    </p:spTree>
    <p:extLst>
      <p:ext uri="{BB962C8B-B14F-4D97-AF65-F5344CB8AC3E}">
        <p14:creationId xmlns:p14="http://schemas.microsoft.com/office/powerpoint/2010/main" val="42296837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14AEA819-575F-390B-6331-DEC9E7BD84DC}"/>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4B994D57-7501-7935-323F-234DEE7294E4}"/>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41F6F991-4854-B8A2-366C-E878C390FB7D}"/>
              </a:ext>
            </a:extLst>
          </p:cNvPr>
          <p:cNvSpPr>
            <a:spLocks noGrp="1"/>
          </p:cNvSpPr>
          <p:nvPr>
            <p:ph type="title"/>
          </p:nvPr>
        </p:nvSpPr>
        <p:spPr/>
        <p:txBody>
          <a:bodyPr/>
          <a:lstStyle/>
          <a:p>
            <a:r>
              <a:rPr kumimoji="1" lang="en-US" altLang="ja-JP" dirty="0"/>
              <a:t>Introduction: Visibility Depends on the Background</a:t>
            </a:r>
            <a:endParaRPr kumimoji="1" lang="ja-JP" altLang="en-US" dirty="0"/>
          </a:p>
        </p:txBody>
      </p:sp>
      <p:sp>
        <p:nvSpPr>
          <p:cNvPr id="10" name="コンテンツ プレースホルダー 9">
            <a:extLst>
              <a:ext uri="{FF2B5EF4-FFF2-40B4-BE49-F238E27FC236}">
                <a16:creationId xmlns:a16="http://schemas.microsoft.com/office/drawing/2014/main" id="{F186FACE-6978-AE5B-46DB-020BB3181E49}"/>
              </a:ext>
            </a:extLst>
          </p:cNvPr>
          <p:cNvSpPr>
            <a:spLocks noGrp="1"/>
          </p:cNvSpPr>
          <p:nvPr>
            <p:ph idx="1"/>
          </p:nvPr>
        </p:nvSpPr>
        <p:spPr>
          <a:xfrm>
            <a:off x="457200" y="1203751"/>
            <a:ext cx="8229600" cy="365126"/>
          </a:xfrm>
        </p:spPr>
        <p:txBody>
          <a:bodyPr/>
          <a:lstStyle/>
          <a:p>
            <a:r>
              <a:rPr lang="en-US" altLang="ja-JP" sz="2100" b="1" dirty="0">
                <a:solidFill>
                  <a:schemeClr val="accent1"/>
                </a:solidFill>
              </a:rPr>
              <a:t>Visibility of overlayed content varies </a:t>
            </a:r>
            <a:r>
              <a:rPr lang="en-US" altLang="ja-JP" sz="2100" dirty="0"/>
              <a:t>depending on backgrounds </a:t>
            </a:r>
          </a:p>
          <a:p>
            <a:endParaRPr lang="en-US" altLang="ja-JP" sz="2100" dirty="0"/>
          </a:p>
          <a:p>
            <a:endParaRPr lang="en-US" altLang="ja-JP" sz="2100" dirty="0"/>
          </a:p>
          <a:p>
            <a:endParaRPr lang="en-US" altLang="ja-JP" sz="2100" dirty="0"/>
          </a:p>
          <a:p>
            <a:endParaRPr lang="en-US" altLang="ja-JP" sz="2100" dirty="0"/>
          </a:p>
          <a:p>
            <a:endParaRPr lang="en-US" altLang="ja-JP" sz="2100" dirty="0"/>
          </a:p>
          <a:p>
            <a:endParaRPr lang="en-US" altLang="ja-JP" sz="2100" dirty="0"/>
          </a:p>
        </p:txBody>
      </p:sp>
      <p:sp>
        <p:nvSpPr>
          <p:cNvPr id="15" name="コンテンツ プレースホルダー 9">
            <a:extLst>
              <a:ext uri="{FF2B5EF4-FFF2-40B4-BE49-F238E27FC236}">
                <a16:creationId xmlns:a16="http://schemas.microsoft.com/office/drawing/2014/main" id="{89FF0EDA-FC14-80CE-AD46-9ECF857646DF}"/>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spcBef>
                <a:spcPts val="600"/>
              </a:spcBef>
              <a:spcAft>
                <a:spcPts val="600"/>
              </a:spcAft>
              <a:defRPr sz="2200">
                <a:solidFill>
                  <a:srgbClr val="222222"/>
                </a:solidFill>
              </a:defRPr>
            </a:pPr>
            <a:r>
              <a:rPr lang="en-US" altLang="ja-JP" sz="2100" dirty="0"/>
              <a:t>→ Need to </a:t>
            </a:r>
            <a:r>
              <a:rPr lang="en-US" altLang="ja-JP" sz="2100" b="1" dirty="0">
                <a:solidFill>
                  <a:schemeClr val="accent5"/>
                </a:solidFill>
              </a:rPr>
              <a:t>predict visibility </a:t>
            </a:r>
            <a:r>
              <a:rPr lang="en-US" altLang="ja-JP" sz="2100" dirty="0"/>
              <a:t>from the FG/BG image</a:t>
            </a:r>
          </a:p>
          <a:p>
            <a:endParaRPr lang="en-US" altLang="ja-JP" sz="2100" dirty="0"/>
          </a:p>
          <a:p>
            <a:endParaRPr lang="en-US" altLang="ja-JP" sz="2100" dirty="0"/>
          </a:p>
          <a:p>
            <a:endParaRPr lang="en-US" altLang="ja-JP" sz="2100" dirty="0"/>
          </a:p>
          <a:p>
            <a:endParaRPr lang="en-US" altLang="ja-JP" sz="2100" dirty="0"/>
          </a:p>
          <a:p>
            <a:endParaRPr lang="en-US" altLang="ja-JP" sz="2100" dirty="0"/>
          </a:p>
        </p:txBody>
      </p:sp>
      <p:sp>
        <p:nvSpPr>
          <p:cNvPr id="17" name="コンテンツ プレースホルダー 9">
            <a:extLst>
              <a:ext uri="{FF2B5EF4-FFF2-40B4-BE49-F238E27FC236}">
                <a16:creationId xmlns:a16="http://schemas.microsoft.com/office/drawing/2014/main" id="{8D959611-D12E-E4CE-52DD-EAC4E1AC56BB}"/>
              </a:ext>
            </a:extLst>
          </p:cNvPr>
          <p:cNvSpPr txBox="1">
            <a:spLocks/>
          </p:cNvSpPr>
          <p:nvPr/>
        </p:nvSpPr>
        <p:spPr>
          <a:xfrm>
            <a:off x="5589290" y="2264267"/>
            <a:ext cx="2520000" cy="415541"/>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sz="2100" b="1" dirty="0"/>
              <a:t>High visibility</a:t>
            </a:r>
          </a:p>
          <a:p>
            <a:endParaRPr lang="en-US" altLang="ja-JP" sz="2100" dirty="0">
              <a:solidFill>
                <a:schemeClr val="accent5"/>
              </a:solidFill>
            </a:endParaRPr>
          </a:p>
          <a:p>
            <a:endParaRPr lang="en-US" altLang="ja-JP" sz="2100" dirty="0">
              <a:solidFill>
                <a:srgbClr val="CC1D00"/>
              </a:solidFill>
            </a:endParaRPr>
          </a:p>
          <a:p>
            <a:endParaRPr lang="en-US" altLang="ja-JP" sz="2100" dirty="0"/>
          </a:p>
          <a:p>
            <a:endParaRPr lang="en-US" altLang="ja-JP" sz="2100" dirty="0"/>
          </a:p>
          <a:p>
            <a:endParaRPr lang="en-US" altLang="ja-JP" sz="2100" dirty="0"/>
          </a:p>
          <a:p>
            <a:endParaRPr lang="en-US" altLang="ja-JP" sz="2100" dirty="0"/>
          </a:p>
        </p:txBody>
      </p:sp>
      <p:sp>
        <p:nvSpPr>
          <p:cNvPr id="19" name="コンテンツ プレースホルダー 9">
            <a:extLst>
              <a:ext uri="{FF2B5EF4-FFF2-40B4-BE49-F238E27FC236}">
                <a16:creationId xmlns:a16="http://schemas.microsoft.com/office/drawing/2014/main" id="{5064ADC0-09A2-8394-01D9-6853846E7B48}"/>
              </a:ext>
            </a:extLst>
          </p:cNvPr>
          <p:cNvSpPr txBox="1">
            <a:spLocks/>
          </p:cNvSpPr>
          <p:nvPr/>
        </p:nvSpPr>
        <p:spPr>
          <a:xfrm>
            <a:off x="5580000" y="3435751"/>
            <a:ext cx="2520000" cy="756877"/>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sz="2100" b="1" dirty="0"/>
              <a:t>Low visibility</a:t>
            </a:r>
          </a:p>
          <a:p>
            <a:r>
              <a:rPr lang="ja-JP" altLang="en-US" sz="2100" b="1" dirty="0">
                <a:solidFill>
                  <a:schemeClr val="accent1"/>
                </a:solidFill>
              </a:rPr>
              <a:t>→</a:t>
            </a:r>
            <a:r>
              <a:rPr lang="en-US" altLang="ja-JP" sz="2100" b="1" dirty="0">
                <a:solidFill>
                  <a:schemeClr val="accent1"/>
                </a:solidFill>
              </a:rPr>
              <a:t>Bad UX, Safety </a:t>
            </a:r>
            <a:endParaRPr lang="en-US" altLang="ja-JP" sz="2100" dirty="0">
              <a:solidFill>
                <a:schemeClr val="accent1"/>
              </a:solidFill>
            </a:endParaRPr>
          </a:p>
          <a:p>
            <a:endParaRPr lang="en-US" altLang="ja-JP" sz="2100" dirty="0">
              <a:solidFill>
                <a:schemeClr val="accent5"/>
              </a:solidFill>
            </a:endParaRPr>
          </a:p>
          <a:p>
            <a:endParaRPr lang="en-US" altLang="ja-JP" sz="2100" dirty="0"/>
          </a:p>
          <a:p>
            <a:endParaRPr lang="en-US" altLang="ja-JP" sz="2100" dirty="0"/>
          </a:p>
          <a:p>
            <a:endParaRPr lang="en-US" altLang="ja-JP" sz="2100" dirty="0"/>
          </a:p>
        </p:txBody>
      </p:sp>
      <p:pic>
        <p:nvPicPr>
          <p:cNvPr id="4" name="図 3">
            <a:extLst>
              <a:ext uri="{FF2B5EF4-FFF2-40B4-BE49-F238E27FC236}">
                <a16:creationId xmlns:a16="http://schemas.microsoft.com/office/drawing/2014/main" id="{FC121295-F4DE-409B-1ACC-A5EAC81178E3}"/>
              </a:ext>
            </a:extLst>
          </p:cNvPr>
          <p:cNvPicPr>
            <a:picLocks noChangeAspect="1"/>
          </p:cNvPicPr>
          <p:nvPr/>
        </p:nvPicPr>
        <p:blipFill>
          <a:blip r:embed="rId3"/>
          <a:stretch>
            <a:fillRect/>
          </a:stretch>
        </p:blipFill>
        <p:spPr>
          <a:xfrm flipH="1">
            <a:off x="459599" y="1896645"/>
            <a:ext cx="1296000" cy="1158767"/>
          </a:xfrm>
          <a:prstGeom prst="rect">
            <a:avLst/>
          </a:prstGeom>
        </p:spPr>
      </p:pic>
      <p:pic>
        <p:nvPicPr>
          <p:cNvPr id="9" name="図 8">
            <a:extLst>
              <a:ext uri="{FF2B5EF4-FFF2-40B4-BE49-F238E27FC236}">
                <a16:creationId xmlns:a16="http://schemas.microsoft.com/office/drawing/2014/main" id="{30D7DD98-2FFA-06EF-540B-985F7228507E}"/>
              </a:ext>
            </a:extLst>
          </p:cNvPr>
          <p:cNvPicPr>
            <a:picLocks noChangeAspect="1"/>
          </p:cNvPicPr>
          <p:nvPr/>
        </p:nvPicPr>
        <p:blipFill>
          <a:blip r:embed="rId4"/>
          <a:stretch>
            <a:fillRect/>
          </a:stretch>
        </p:blipFill>
        <p:spPr>
          <a:xfrm>
            <a:off x="2005532" y="1896644"/>
            <a:ext cx="1558468" cy="1158767"/>
          </a:xfrm>
          <a:prstGeom prst="rect">
            <a:avLst/>
          </a:prstGeom>
        </p:spPr>
      </p:pic>
      <p:pic>
        <p:nvPicPr>
          <p:cNvPr id="20" name="図 19">
            <a:extLst>
              <a:ext uri="{FF2B5EF4-FFF2-40B4-BE49-F238E27FC236}">
                <a16:creationId xmlns:a16="http://schemas.microsoft.com/office/drawing/2014/main" id="{BF842674-81B2-7AE9-0A9E-D286939470D2}"/>
              </a:ext>
            </a:extLst>
          </p:cNvPr>
          <p:cNvPicPr>
            <a:picLocks noChangeAspect="1"/>
          </p:cNvPicPr>
          <p:nvPr/>
        </p:nvPicPr>
        <p:blipFill>
          <a:blip r:embed="rId3"/>
          <a:stretch>
            <a:fillRect/>
          </a:stretch>
        </p:blipFill>
        <p:spPr>
          <a:xfrm flipH="1">
            <a:off x="456213" y="3212982"/>
            <a:ext cx="1296000" cy="1158767"/>
          </a:xfrm>
          <a:prstGeom prst="rect">
            <a:avLst/>
          </a:prstGeom>
        </p:spPr>
      </p:pic>
      <p:pic>
        <p:nvPicPr>
          <p:cNvPr id="22" name="図 21">
            <a:extLst>
              <a:ext uri="{FF2B5EF4-FFF2-40B4-BE49-F238E27FC236}">
                <a16:creationId xmlns:a16="http://schemas.microsoft.com/office/drawing/2014/main" id="{0EC48B3D-F504-15BB-F108-546B618416D1}"/>
              </a:ext>
            </a:extLst>
          </p:cNvPr>
          <p:cNvPicPr>
            <a:picLocks noChangeAspect="1"/>
          </p:cNvPicPr>
          <p:nvPr/>
        </p:nvPicPr>
        <p:blipFill>
          <a:blip r:embed="rId5"/>
          <a:stretch>
            <a:fillRect/>
          </a:stretch>
        </p:blipFill>
        <p:spPr>
          <a:xfrm>
            <a:off x="2005533" y="3212982"/>
            <a:ext cx="1545022" cy="1158767"/>
          </a:xfrm>
          <a:prstGeom prst="rect">
            <a:avLst/>
          </a:prstGeom>
        </p:spPr>
      </p:pic>
      <p:pic>
        <p:nvPicPr>
          <p:cNvPr id="24" name="図 23">
            <a:extLst>
              <a:ext uri="{FF2B5EF4-FFF2-40B4-BE49-F238E27FC236}">
                <a16:creationId xmlns:a16="http://schemas.microsoft.com/office/drawing/2014/main" id="{458FADD7-82B7-BF0C-5D11-07DFB27FBB5C}"/>
              </a:ext>
            </a:extLst>
          </p:cNvPr>
          <p:cNvPicPr>
            <a:picLocks noChangeAspect="1"/>
          </p:cNvPicPr>
          <p:nvPr/>
        </p:nvPicPr>
        <p:blipFill>
          <a:blip r:embed="rId6"/>
          <a:srcRect t="6605" b="8006"/>
          <a:stretch>
            <a:fillRect/>
          </a:stretch>
        </p:blipFill>
        <p:spPr>
          <a:xfrm>
            <a:off x="4006962" y="1892655"/>
            <a:ext cx="1357038" cy="1158766"/>
          </a:xfrm>
          <a:prstGeom prst="rect">
            <a:avLst/>
          </a:prstGeom>
        </p:spPr>
      </p:pic>
      <p:pic>
        <p:nvPicPr>
          <p:cNvPr id="26" name="図 25">
            <a:extLst>
              <a:ext uri="{FF2B5EF4-FFF2-40B4-BE49-F238E27FC236}">
                <a16:creationId xmlns:a16="http://schemas.microsoft.com/office/drawing/2014/main" id="{AB6FDA87-E666-BA27-F2A4-4E1886498F3C}"/>
              </a:ext>
            </a:extLst>
          </p:cNvPr>
          <p:cNvPicPr>
            <a:picLocks noChangeAspect="1"/>
          </p:cNvPicPr>
          <p:nvPr/>
        </p:nvPicPr>
        <p:blipFill>
          <a:blip r:embed="rId7"/>
          <a:srcRect l="6142" t="5339" r="4086" b="1790"/>
          <a:stretch>
            <a:fillRect/>
          </a:stretch>
        </p:blipFill>
        <p:spPr>
          <a:xfrm>
            <a:off x="3993310" y="3237354"/>
            <a:ext cx="1370690" cy="1134396"/>
          </a:xfrm>
          <a:prstGeom prst="rect">
            <a:avLst/>
          </a:prstGeom>
        </p:spPr>
      </p:pic>
      <p:pic>
        <p:nvPicPr>
          <p:cNvPr id="28" name="グラフィックス 27" descr="追加 単色塗りつぶし">
            <a:extLst>
              <a:ext uri="{FF2B5EF4-FFF2-40B4-BE49-F238E27FC236}">
                <a16:creationId xmlns:a16="http://schemas.microsoft.com/office/drawing/2014/main" id="{88A360D5-29CF-BB16-EB62-275EB5A4EDA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64000" y="2355959"/>
            <a:ext cx="241200" cy="241200"/>
          </a:xfrm>
          <a:prstGeom prst="rect">
            <a:avLst/>
          </a:prstGeom>
        </p:spPr>
      </p:pic>
      <p:pic>
        <p:nvPicPr>
          <p:cNvPr id="29" name="グラフィックス 28" descr="追加 単色塗りつぶし">
            <a:extLst>
              <a:ext uri="{FF2B5EF4-FFF2-40B4-BE49-F238E27FC236}">
                <a16:creationId xmlns:a16="http://schemas.microsoft.com/office/drawing/2014/main" id="{E895D198-5F35-136D-4250-AAA0D4E62A9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66157" y="3671765"/>
            <a:ext cx="241200" cy="241200"/>
          </a:xfrm>
          <a:prstGeom prst="rect">
            <a:avLst/>
          </a:prstGeom>
        </p:spPr>
      </p:pic>
      <p:pic>
        <p:nvPicPr>
          <p:cNvPr id="33" name="グラフィックス 32" descr="一時停止 枠線">
            <a:extLst>
              <a:ext uri="{FF2B5EF4-FFF2-40B4-BE49-F238E27FC236}">
                <a16:creationId xmlns:a16="http://schemas.microsoft.com/office/drawing/2014/main" id="{59DD0F45-BA0D-668A-F36B-BF070D2DEDE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3634362" y="2315952"/>
            <a:ext cx="313200" cy="313200"/>
          </a:xfrm>
          <a:prstGeom prst="rect">
            <a:avLst/>
          </a:prstGeom>
        </p:spPr>
      </p:pic>
      <p:pic>
        <p:nvPicPr>
          <p:cNvPr id="34" name="グラフィックス 33" descr="一時停止 枠線">
            <a:extLst>
              <a:ext uri="{FF2B5EF4-FFF2-40B4-BE49-F238E27FC236}">
                <a16:creationId xmlns:a16="http://schemas.microsoft.com/office/drawing/2014/main" id="{7EF165FA-9638-AF5E-5F96-44242B70693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3633331" y="3631029"/>
            <a:ext cx="313200" cy="313200"/>
          </a:xfrm>
          <a:prstGeom prst="rect">
            <a:avLst/>
          </a:prstGeom>
        </p:spPr>
      </p:pic>
      <p:sp>
        <p:nvSpPr>
          <p:cNvPr id="5" name="スライド番号プレースホルダー 4">
            <a:extLst>
              <a:ext uri="{FF2B5EF4-FFF2-40B4-BE49-F238E27FC236}">
                <a16:creationId xmlns:a16="http://schemas.microsoft.com/office/drawing/2014/main" id="{5296643B-4322-FF08-2392-D2B11614B60E}"/>
              </a:ext>
            </a:extLst>
          </p:cNvPr>
          <p:cNvSpPr>
            <a:spLocks noGrp="1"/>
          </p:cNvSpPr>
          <p:nvPr>
            <p:ph type="sldNum" sz="quarter" idx="4"/>
          </p:nvPr>
        </p:nvSpPr>
        <p:spPr/>
        <p:txBody>
          <a:bodyPr/>
          <a:lstStyle/>
          <a:p>
            <a:fld id="{C1FF6DA9-008F-8B48-92A6-B652298478BF}" type="slidenum">
              <a:rPr lang="en-US" smtClean="0"/>
              <a:pPr/>
              <a:t>5</a:t>
            </a:fld>
            <a:r>
              <a:rPr lang="en-US"/>
              <a:t>/30</a:t>
            </a:r>
            <a:endParaRPr lang="en-US" sz="1800" dirty="0"/>
          </a:p>
        </p:txBody>
      </p:sp>
    </p:spTree>
    <p:extLst>
      <p:ext uri="{BB962C8B-B14F-4D97-AF65-F5344CB8AC3E}">
        <p14:creationId xmlns:p14="http://schemas.microsoft.com/office/powerpoint/2010/main" val="4131792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4DFEC3CC-484E-7AFD-E2E0-9E40626E1565}"/>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53AB9746-42DB-A71D-FB69-443A7B4204CD}"/>
              </a:ext>
            </a:extLst>
          </p:cNvPr>
          <p:cNvSpPr>
            <a:spLocks noGrp="1"/>
          </p:cNvSpPr>
          <p:nvPr>
            <p:ph type="title"/>
          </p:nvPr>
        </p:nvSpPr>
        <p:spPr/>
        <p:txBody>
          <a:bodyPr/>
          <a:lstStyle/>
          <a:p>
            <a:r>
              <a:rPr kumimoji="1" lang="en-US" altLang="ja-JP" dirty="0"/>
              <a:t>Objective</a:t>
            </a:r>
            <a:endParaRPr kumimoji="1" lang="ja-JP" altLang="en-US" dirty="0"/>
          </a:p>
        </p:txBody>
      </p:sp>
      <p:sp>
        <p:nvSpPr>
          <p:cNvPr id="3" name="コンテンツ プレースホルダー 2">
            <a:extLst>
              <a:ext uri="{FF2B5EF4-FFF2-40B4-BE49-F238E27FC236}">
                <a16:creationId xmlns:a16="http://schemas.microsoft.com/office/drawing/2014/main" id="{7CA4DF07-EF11-D0E8-1351-1F6D75892E55}"/>
              </a:ext>
            </a:extLst>
          </p:cNvPr>
          <p:cNvSpPr>
            <a:spLocks noGrp="1"/>
          </p:cNvSpPr>
          <p:nvPr>
            <p:ph idx="1"/>
          </p:nvPr>
        </p:nvSpPr>
        <p:spPr/>
        <p:txBody>
          <a:bodyPr/>
          <a:lstStyle/>
          <a:p>
            <a:r>
              <a:rPr kumimoji="1" lang="en-US" altLang="ja-JP" b="1" dirty="0"/>
              <a:t>Goal: </a:t>
            </a:r>
            <a:r>
              <a:rPr kumimoji="1" lang="en-US" altLang="ja-JP" dirty="0"/>
              <a:t>Build an </a:t>
            </a:r>
            <a:r>
              <a:rPr kumimoji="1" lang="en-US" altLang="ja-JP" b="1" dirty="0">
                <a:solidFill>
                  <a:schemeClr val="accent1"/>
                </a:solidFill>
              </a:rPr>
              <a:t>image-based visibility predictor </a:t>
            </a:r>
            <a:r>
              <a:rPr kumimoji="1" lang="en-US" altLang="ja-JP" dirty="0"/>
              <a:t>for OST-AR</a:t>
            </a:r>
          </a:p>
          <a:p>
            <a:endParaRPr lang="en-US" altLang="ja-JP" dirty="0"/>
          </a:p>
          <a:p>
            <a:pPr>
              <a:lnSpc>
                <a:spcPct val="150000"/>
              </a:lnSpc>
            </a:pPr>
            <a:r>
              <a:rPr kumimoji="1" lang="en-US" altLang="ja-JP" b="1" dirty="0"/>
              <a:t>Three steps</a:t>
            </a:r>
          </a:p>
          <a:p>
            <a:pPr>
              <a:lnSpc>
                <a:spcPct val="150000"/>
              </a:lnSpc>
            </a:pPr>
            <a:r>
              <a:rPr lang="en-US" altLang="ja-JP" dirty="0"/>
              <a:t>1.  </a:t>
            </a:r>
            <a:r>
              <a:rPr lang="en-US" altLang="ja-JP" b="1" dirty="0">
                <a:solidFill>
                  <a:schemeClr val="accent5"/>
                </a:solidFill>
              </a:rPr>
              <a:t>Psychophysical Experiment : </a:t>
            </a:r>
            <a:r>
              <a:rPr lang="en-US" altLang="ja-JP" dirty="0"/>
              <a:t> Reveal HVS mechanism</a:t>
            </a:r>
          </a:p>
          <a:p>
            <a:pPr>
              <a:lnSpc>
                <a:spcPct val="150000"/>
              </a:lnSpc>
            </a:pPr>
            <a:r>
              <a:rPr kumimoji="1" lang="en-US" altLang="ja-JP" dirty="0"/>
              <a:t>2.  </a:t>
            </a:r>
            <a:r>
              <a:rPr kumimoji="1" lang="en-US" altLang="ja-JP" b="1" dirty="0">
                <a:solidFill>
                  <a:schemeClr val="accent1"/>
                </a:solidFill>
              </a:rPr>
              <a:t>Model </a:t>
            </a:r>
            <a:r>
              <a:rPr lang="en-US" altLang="ja-JP" b="1" dirty="0">
                <a:solidFill>
                  <a:schemeClr val="accent1"/>
                </a:solidFill>
              </a:rPr>
              <a:t>Extension: </a:t>
            </a:r>
            <a:r>
              <a:rPr lang="en-US" altLang="ja-JP" dirty="0"/>
              <a:t>From 2D to OST-AR</a:t>
            </a:r>
          </a:p>
          <a:p>
            <a:pPr>
              <a:lnSpc>
                <a:spcPct val="150000"/>
              </a:lnSpc>
            </a:pPr>
            <a:r>
              <a:rPr kumimoji="1" lang="en-US" altLang="ja-JP" dirty="0"/>
              <a:t>3. </a:t>
            </a:r>
            <a:r>
              <a:rPr kumimoji="1" lang="en-US" altLang="ja-JP" b="1" dirty="0"/>
              <a:t> </a:t>
            </a:r>
            <a:r>
              <a:rPr kumimoji="1" lang="en-US" altLang="ja-JP" b="1" dirty="0">
                <a:solidFill>
                  <a:schemeClr val="accent1"/>
                </a:solidFill>
              </a:rPr>
              <a:t>Model Validation</a:t>
            </a:r>
            <a:r>
              <a:rPr lang="en-US" altLang="ja-JP" b="1" dirty="0">
                <a:solidFill>
                  <a:schemeClr val="accent1"/>
                </a:solidFill>
              </a:rPr>
              <a:t>:</a:t>
            </a:r>
            <a:r>
              <a:rPr lang="en-US" altLang="ja-JP" dirty="0">
                <a:solidFill>
                  <a:schemeClr val="accent1"/>
                </a:solidFill>
              </a:rPr>
              <a:t> </a:t>
            </a:r>
            <a:r>
              <a:rPr lang="en-US" altLang="ja-JP" dirty="0"/>
              <a:t>model's predictions vs human ratings</a:t>
            </a:r>
          </a:p>
          <a:p>
            <a:endParaRPr kumimoji="1" lang="ja-JP" altLang="en-US" dirty="0"/>
          </a:p>
        </p:txBody>
      </p:sp>
      <p:cxnSp>
        <p:nvCxnSpPr>
          <p:cNvPr id="7" name="直線コネクタ 6">
            <a:extLst>
              <a:ext uri="{FF2B5EF4-FFF2-40B4-BE49-F238E27FC236}">
                <a16:creationId xmlns:a16="http://schemas.microsoft.com/office/drawing/2014/main" id="{42AA8A07-34B2-991E-D2CA-AEBCB2D15A70}"/>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6" name="スライド番号プレースホルダー 5">
            <a:extLst>
              <a:ext uri="{FF2B5EF4-FFF2-40B4-BE49-F238E27FC236}">
                <a16:creationId xmlns:a16="http://schemas.microsoft.com/office/drawing/2014/main" id="{28E04C97-CBC2-9FEB-1BE4-104AA8AA006D}"/>
              </a:ext>
            </a:extLst>
          </p:cNvPr>
          <p:cNvSpPr>
            <a:spLocks noGrp="1"/>
          </p:cNvSpPr>
          <p:nvPr>
            <p:ph type="sldNum" sz="quarter" idx="4"/>
          </p:nvPr>
        </p:nvSpPr>
        <p:spPr/>
        <p:txBody>
          <a:bodyPr/>
          <a:lstStyle/>
          <a:p>
            <a:fld id="{C1FF6DA9-008F-8B48-92A6-B652298478BF}" type="slidenum">
              <a:rPr lang="en-US" smtClean="0"/>
              <a:pPr/>
              <a:t>6</a:t>
            </a:fld>
            <a:r>
              <a:rPr lang="en-US"/>
              <a:t>/30</a:t>
            </a:r>
            <a:endParaRPr lang="en-US" sz="1800" dirty="0"/>
          </a:p>
        </p:txBody>
      </p:sp>
    </p:spTree>
    <p:extLst>
      <p:ext uri="{BB962C8B-B14F-4D97-AF65-F5344CB8AC3E}">
        <p14:creationId xmlns:p14="http://schemas.microsoft.com/office/powerpoint/2010/main" val="4223646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0D974-1D81-4060-9944-D2CF983C04A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BE5DFAA-9282-22EC-C13C-4F75ED57B3FB}"/>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F33D6988-E357-90A7-42FC-8462D92B1F21}"/>
              </a:ext>
            </a:extLst>
          </p:cNvPr>
          <p:cNvSpPr>
            <a:spLocks noGrp="1"/>
          </p:cNvSpPr>
          <p:nvPr>
            <p:ph idx="1"/>
          </p:nvPr>
        </p:nvSpPr>
        <p:spPr/>
        <p:txBody>
          <a:bodyPr/>
          <a:lstStyle/>
          <a:p>
            <a:pPr>
              <a:lnSpc>
                <a:spcPct val="150000"/>
              </a:lnSpc>
            </a:pPr>
            <a:r>
              <a:rPr kumimoji="1" lang="en-US" altLang="ja-JP" b="1" dirty="0">
                <a:solidFill>
                  <a:schemeClr val="accent2"/>
                </a:solidFill>
              </a:rPr>
              <a:t>1.   </a:t>
            </a:r>
            <a:r>
              <a:rPr kumimoji="1" lang="en-US" altLang="ja-JP" dirty="0">
                <a:solidFill>
                  <a:schemeClr val="tx1">
                    <a:lumMod val="60000"/>
                    <a:lumOff val="40000"/>
                  </a:schemeClr>
                </a:solidFill>
              </a:rPr>
              <a:t>Introduction</a:t>
            </a:r>
          </a:p>
          <a:p>
            <a:pPr>
              <a:lnSpc>
                <a:spcPct val="150000"/>
              </a:lnSpc>
            </a:pPr>
            <a:r>
              <a:rPr kumimoji="1" lang="en-US" altLang="ja-JP" b="1" dirty="0">
                <a:solidFill>
                  <a:schemeClr val="accent1"/>
                </a:solidFill>
              </a:rPr>
              <a:t>2.   </a:t>
            </a:r>
            <a:r>
              <a:rPr kumimoji="1" lang="en-US" altLang="ja-JP" b="1" dirty="0"/>
              <a:t>Related Work </a:t>
            </a:r>
            <a:r>
              <a:rPr lang="en-US" altLang="ja-JP" sz="1800" dirty="0">
                <a:solidFill>
                  <a:schemeClr val="tx2"/>
                </a:solidFill>
              </a:rPr>
              <a:t>— four topics</a:t>
            </a:r>
            <a:endParaRPr kumimoji="1" lang="en-US" altLang="ja-JP" sz="1800" b="1" dirty="0"/>
          </a:p>
          <a:p>
            <a:pPr marL="0" indent="0">
              <a:lnSpc>
                <a:spcPct val="150000"/>
              </a:lnSpc>
            </a:pPr>
            <a:r>
              <a:rPr lang="en-US" altLang="ja-JP" b="1" dirty="0">
                <a:solidFill>
                  <a:schemeClr val="accent2"/>
                </a:solidFill>
              </a:rPr>
              <a:t>3.   </a:t>
            </a:r>
            <a:r>
              <a:rPr lang="en-US" altLang="ja-JP" dirty="0">
                <a:solidFill>
                  <a:schemeClr val="tx1">
                    <a:lumMod val="60000"/>
                    <a:lumOff val="40000"/>
                  </a:schemeClr>
                </a:solidFill>
              </a:rPr>
              <a:t>Method</a:t>
            </a:r>
          </a:p>
          <a:p>
            <a:pPr marL="0" indent="0">
              <a:lnSpc>
                <a:spcPct val="150000"/>
              </a:lnSpc>
            </a:pPr>
            <a:r>
              <a:rPr kumimoji="1" lang="en-US" altLang="ja-JP" b="1" dirty="0">
                <a:solidFill>
                  <a:schemeClr val="accent2"/>
                </a:solidFill>
              </a:rPr>
              <a:t>4.   </a:t>
            </a:r>
            <a:r>
              <a:rPr kumimoji="1" lang="en-US" altLang="ja-JP" dirty="0">
                <a:solidFill>
                  <a:schemeClr val="tx1">
                    <a:lumMod val="60000"/>
                    <a:lumOff val="40000"/>
                  </a:schemeClr>
                </a:solidFill>
              </a:rPr>
              <a:t>Pilot Experiment</a:t>
            </a:r>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A3CA7C60-BDF7-5875-5FA9-AFA2C442B0A6}"/>
              </a:ext>
            </a:extLst>
          </p:cNvPr>
          <p:cNvSpPr>
            <a:spLocks noGrp="1"/>
          </p:cNvSpPr>
          <p:nvPr>
            <p:ph type="sldNum" sz="quarter" idx="4"/>
          </p:nvPr>
        </p:nvSpPr>
        <p:spPr/>
        <p:txBody>
          <a:bodyPr/>
          <a:lstStyle/>
          <a:p>
            <a:fld id="{C1FF6DA9-008F-8B48-92A6-B652298478BF}" type="slidenum">
              <a:rPr lang="en-US" smtClean="0"/>
              <a:pPr/>
              <a:t>7</a:t>
            </a:fld>
            <a:r>
              <a:rPr lang="en-US"/>
              <a:t>/30</a:t>
            </a:r>
            <a:endParaRPr lang="en-US" sz="1800" dirty="0"/>
          </a:p>
        </p:txBody>
      </p:sp>
    </p:spTree>
    <p:extLst>
      <p:ext uri="{BB962C8B-B14F-4D97-AF65-F5344CB8AC3E}">
        <p14:creationId xmlns:p14="http://schemas.microsoft.com/office/powerpoint/2010/main" val="918075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1E59DC97-A3C1-8A55-9C67-20046760E8F1}"/>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46433D00-FBFB-9461-1612-138B4C64584F}"/>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57211A49-EE7B-26A4-F730-BCDB2664E69A}"/>
              </a:ext>
            </a:extLst>
          </p:cNvPr>
          <p:cNvSpPr>
            <a:spLocks noGrp="1"/>
          </p:cNvSpPr>
          <p:nvPr>
            <p:ph type="title"/>
          </p:nvPr>
        </p:nvSpPr>
        <p:spPr/>
        <p:txBody>
          <a:bodyPr/>
          <a:lstStyle/>
          <a:p>
            <a:r>
              <a:rPr kumimoji="1" lang="en-US" altLang="ja-JP" dirty="0"/>
              <a:t>Related Work (1): Contrast Perception</a:t>
            </a:r>
            <a:endParaRPr kumimoji="1" lang="ja-JP" altLang="en-US" dirty="0"/>
          </a:p>
        </p:txBody>
      </p:sp>
      <p:sp>
        <p:nvSpPr>
          <p:cNvPr id="3" name="コンテンツ プレースホルダー 2">
            <a:extLst>
              <a:ext uri="{FF2B5EF4-FFF2-40B4-BE49-F238E27FC236}">
                <a16:creationId xmlns:a16="http://schemas.microsoft.com/office/drawing/2014/main" id="{D3DAB2F1-17B6-D764-476F-CE5D748D0648}"/>
              </a:ext>
            </a:extLst>
          </p:cNvPr>
          <p:cNvSpPr>
            <a:spLocks noGrp="1"/>
          </p:cNvSpPr>
          <p:nvPr>
            <p:ph idx="1"/>
          </p:nvPr>
        </p:nvSpPr>
        <p:spPr>
          <a:xfrm>
            <a:off x="457200" y="1203749"/>
            <a:ext cx="8229600" cy="635943"/>
          </a:xfrm>
        </p:spPr>
        <p:txBody>
          <a:bodyPr/>
          <a:lstStyle/>
          <a:p>
            <a:pPr algn="ctr"/>
            <a:r>
              <a:rPr kumimoji="1" lang="en-US" altLang="ja-JP" dirty="0"/>
              <a:t>Visibility </a:t>
            </a:r>
            <a:r>
              <a:rPr kumimoji="1" lang="ja-JP" altLang="en-US" dirty="0"/>
              <a:t>← </a:t>
            </a:r>
            <a:r>
              <a:rPr kumimoji="1" lang="en-US" altLang="ja-JP" b="1" dirty="0">
                <a:solidFill>
                  <a:schemeClr val="accent1"/>
                </a:solidFill>
              </a:rPr>
              <a:t>Contrast Perception </a:t>
            </a:r>
            <a:r>
              <a:rPr kumimoji="1" lang="en-US" altLang="ja-JP" dirty="0"/>
              <a:t>| Two phenomena addressed </a:t>
            </a:r>
            <a:endParaRPr lang="en-US" altLang="ja-JP" dirty="0"/>
          </a:p>
          <a:p>
            <a:endParaRPr kumimoji="1" lang="ja-JP" altLang="en-US" b="1" dirty="0"/>
          </a:p>
        </p:txBody>
      </p:sp>
      <p:grpSp>
        <p:nvGrpSpPr>
          <p:cNvPr id="5" name="グループ化 4">
            <a:extLst>
              <a:ext uri="{FF2B5EF4-FFF2-40B4-BE49-F238E27FC236}">
                <a16:creationId xmlns:a16="http://schemas.microsoft.com/office/drawing/2014/main" id="{54238E0E-6093-D6C2-9B87-6E4B5B8BB617}"/>
              </a:ext>
            </a:extLst>
          </p:cNvPr>
          <p:cNvGrpSpPr/>
          <p:nvPr/>
        </p:nvGrpSpPr>
        <p:grpSpPr>
          <a:xfrm>
            <a:off x="453196" y="2355750"/>
            <a:ext cx="2534801" cy="1889781"/>
            <a:chOff x="865121" y="2378869"/>
            <a:chExt cx="5405200" cy="4194353"/>
          </a:xfrm>
        </p:grpSpPr>
        <p:pic>
          <p:nvPicPr>
            <p:cNvPr id="6" name="図 5">
              <a:extLst>
                <a:ext uri="{FF2B5EF4-FFF2-40B4-BE49-F238E27FC236}">
                  <a16:creationId xmlns:a16="http://schemas.microsoft.com/office/drawing/2014/main" id="{D2B24296-F49B-933E-BACA-414AEB2A45DD}"/>
                </a:ext>
              </a:extLst>
            </p:cNvPr>
            <p:cNvPicPr>
              <a:picLocks noChangeAspect="1"/>
            </p:cNvPicPr>
            <p:nvPr/>
          </p:nvPicPr>
          <p:blipFill>
            <a:blip r:embed="rId3"/>
            <a:stretch>
              <a:fillRect/>
            </a:stretch>
          </p:blipFill>
          <p:spPr>
            <a:xfrm>
              <a:off x="1681883" y="2378869"/>
              <a:ext cx="3360420" cy="3373737"/>
            </a:xfrm>
            <a:prstGeom prst="rect">
              <a:avLst/>
            </a:prstGeom>
          </p:spPr>
        </p:pic>
        <p:cxnSp>
          <p:nvCxnSpPr>
            <p:cNvPr id="7" name="直線矢印コネクタ 6">
              <a:extLst>
                <a:ext uri="{FF2B5EF4-FFF2-40B4-BE49-F238E27FC236}">
                  <a16:creationId xmlns:a16="http://schemas.microsoft.com/office/drawing/2014/main" id="{03734720-BA73-0858-99E8-2022CEF19F6C}"/>
                </a:ext>
              </a:extLst>
            </p:cNvPr>
            <p:cNvCxnSpPr>
              <a:cxnSpLocks/>
            </p:cNvCxnSpPr>
            <p:nvPr/>
          </p:nvCxnSpPr>
          <p:spPr>
            <a:xfrm>
              <a:off x="1567583" y="2378869"/>
              <a:ext cx="0" cy="3373737"/>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2B8466F3-6563-6D4B-19CB-B3B1C5B910E4}"/>
                </a:ext>
              </a:extLst>
            </p:cNvPr>
            <p:cNvSpPr txBox="1"/>
            <p:nvPr/>
          </p:nvSpPr>
          <p:spPr>
            <a:xfrm rot="16200000">
              <a:off x="25701" y="3606116"/>
              <a:ext cx="2400771" cy="721931"/>
            </a:xfrm>
            <a:prstGeom prst="rect">
              <a:avLst/>
            </a:prstGeom>
            <a:noFill/>
          </p:spPr>
          <p:txBody>
            <a:bodyPr wrap="square" rtlCol="0">
              <a:spAutoFit/>
            </a:bodyPr>
            <a:lstStyle/>
            <a:p>
              <a:r>
                <a:rPr kumimoji="1" lang="en-US" altLang="ja-JP" sz="1600" dirty="0"/>
                <a:t>Contrast</a:t>
              </a:r>
              <a:endParaRPr kumimoji="1" lang="ja-JP" altLang="en-US" sz="1600" dirty="0"/>
            </a:p>
          </p:txBody>
        </p:sp>
        <p:cxnSp>
          <p:nvCxnSpPr>
            <p:cNvPr id="9" name="直線矢印コネクタ 8">
              <a:extLst>
                <a:ext uri="{FF2B5EF4-FFF2-40B4-BE49-F238E27FC236}">
                  <a16:creationId xmlns:a16="http://schemas.microsoft.com/office/drawing/2014/main" id="{F51A3672-4A5F-7247-D325-CAEBA27B629E}"/>
                </a:ext>
              </a:extLst>
            </p:cNvPr>
            <p:cNvCxnSpPr>
              <a:cxnSpLocks/>
            </p:cNvCxnSpPr>
            <p:nvPr/>
          </p:nvCxnSpPr>
          <p:spPr>
            <a:xfrm>
              <a:off x="1681883" y="5860194"/>
              <a:ext cx="336042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0" name="テキスト ボックス 9">
              <a:extLst>
                <a:ext uri="{FF2B5EF4-FFF2-40B4-BE49-F238E27FC236}">
                  <a16:creationId xmlns:a16="http://schemas.microsoft.com/office/drawing/2014/main" id="{46E35D34-91ED-BCDE-5C12-11553EA72EE3}"/>
                </a:ext>
              </a:extLst>
            </p:cNvPr>
            <p:cNvSpPr txBox="1"/>
            <p:nvPr/>
          </p:nvSpPr>
          <p:spPr>
            <a:xfrm>
              <a:off x="1578516" y="5821804"/>
              <a:ext cx="4691805" cy="751418"/>
            </a:xfrm>
            <a:prstGeom prst="rect">
              <a:avLst/>
            </a:prstGeom>
            <a:noFill/>
          </p:spPr>
          <p:txBody>
            <a:bodyPr wrap="square" rtlCol="0">
              <a:spAutoFit/>
            </a:bodyPr>
            <a:lstStyle/>
            <a:p>
              <a:r>
                <a:rPr lang="en-US" altLang="ja-JP" sz="1600" dirty="0"/>
                <a:t>Spatial frequency</a:t>
              </a:r>
              <a:endParaRPr kumimoji="1" lang="ja-JP" altLang="en-US" sz="1600" dirty="0"/>
            </a:p>
          </p:txBody>
        </p:sp>
      </p:grpSp>
      <p:pic>
        <p:nvPicPr>
          <p:cNvPr id="11" name="図 10">
            <a:extLst>
              <a:ext uri="{FF2B5EF4-FFF2-40B4-BE49-F238E27FC236}">
                <a16:creationId xmlns:a16="http://schemas.microsoft.com/office/drawing/2014/main" id="{2E63CAB1-4DE0-48B3-560E-05F5C3F9FB52}"/>
              </a:ext>
            </a:extLst>
          </p:cNvPr>
          <p:cNvPicPr>
            <a:picLocks noChangeAspect="1"/>
          </p:cNvPicPr>
          <p:nvPr/>
        </p:nvPicPr>
        <p:blipFill>
          <a:blip r:embed="rId4"/>
          <a:stretch>
            <a:fillRect/>
          </a:stretch>
        </p:blipFill>
        <p:spPr>
          <a:xfrm>
            <a:off x="2606956" y="2355750"/>
            <a:ext cx="1760795" cy="1765826"/>
          </a:xfrm>
          <a:prstGeom prst="rect">
            <a:avLst/>
          </a:prstGeom>
          <a:ln>
            <a:solidFill>
              <a:schemeClr val="tx1"/>
            </a:solidFill>
          </a:ln>
        </p:spPr>
      </p:pic>
      <p:sp>
        <p:nvSpPr>
          <p:cNvPr id="13" name="テキスト ボックス 12">
            <a:extLst>
              <a:ext uri="{FF2B5EF4-FFF2-40B4-BE49-F238E27FC236}">
                <a16:creationId xmlns:a16="http://schemas.microsoft.com/office/drawing/2014/main" id="{8C441F31-879B-3757-356F-D0296DBC82D1}"/>
              </a:ext>
            </a:extLst>
          </p:cNvPr>
          <p:cNvSpPr txBox="1"/>
          <p:nvPr/>
        </p:nvSpPr>
        <p:spPr>
          <a:xfrm>
            <a:off x="457200" y="1867079"/>
            <a:ext cx="4166407" cy="415498"/>
          </a:xfrm>
          <a:prstGeom prst="rect">
            <a:avLst/>
          </a:prstGeom>
          <a:noFill/>
        </p:spPr>
        <p:txBody>
          <a:bodyPr wrap="square" rtlCol="0">
            <a:spAutoFit/>
          </a:bodyPr>
          <a:lstStyle/>
          <a:p>
            <a:r>
              <a:rPr kumimoji="1" lang="ja-JP" altLang="en-US" sz="2100" dirty="0"/>
              <a:t>① </a:t>
            </a:r>
            <a:r>
              <a:rPr kumimoji="1" lang="en-US" altLang="ja-JP" sz="2100" dirty="0"/>
              <a:t>Frequency dependence (CSF) </a:t>
            </a:r>
            <a:endParaRPr kumimoji="1" lang="ja-JP" altLang="en-US" sz="2100" dirty="0"/>
          </a:p>
        </p:txBody>
      </p:sp>
      <p:sp>
        <p:nvSpPr>
          <p:cNvPr id="14" name="テキスト ボックス 13">
            <a:extLst>
              <a:ext uri="{FF2B5EF4-FFF2-40B4-BE49-F238E27FC236}">
                <a16:creationId xmlns:a16="http://schemas.microsoft.com/office/drawing/2014/main" id="{50F1BF72-DB91-3FAA-D2D8-54E283EC8CAF}"/>
              </a:ext>
            </a:extLst>
          </p:cNvPr>
          <p:cNvSpPr txBox="1"/>
          <p:nvPr/>
        </p:nvSpPr>
        <p:spPr>
          <a:xfrm>
            <a:off x="4572000" y="1868252"/>
            <a:ext cx="4166407" cy="415498"/>
          </a:xfrm>
          <a:prstGeom prst="rect">
            <a:avLst/>
          </a:prstGeom>
          <a:noFill/>
        </p:spPr>
        <p:txBody>
          <a:bodyPr wrap="square" rtlCol="0">
            <a:spAutoFit/>
          </a:bodyPr>
          <a:lstStyle/>
          <a:p>
            <a:r>
              <a:rPr kumimoji="1" lang="ja-JP" altLang="en-US" sz="2100" b="1" dirty="0"/>
              <a:t>② </a:t>
            </a:r>
            <a:r>
              <a:rPr kumimoji="1" lang="en-US" altLang="ja-JP" sz="2100" dirty="0"/>
              <a:t>Contrast masking</a:t>
            </a:r>
            <a:endParaRPr kumimoji="1" lang="ja-JP" altLang="en-US" sz="2100" dirty="0"/>
          </a:p>
        </p:txBody>
      </p:sp>
      <p:pic>
        <p:nvPicPr>
          <p:cNvPr id="20" name="図 19">
            <a:extLst>
              <a:ext uri="{FF2B5EF4-FFF2-40B4-BE49-F238E27FC236}">
                <a16:creationId xmlns:a16="http://schemas.microsoft.com/office/drawing/2014/main" id="{ED84BE0A-7685-E11A-AF2B-AF34026D8ABA}"/>
              </a:ext>
            </a:extLst>
          </p:cNvPr>
          <p:cNvPicPr>
            <a:picLocks noChangeAspect="1"/>
          </p:cNvPicPr>
          <p:nvPr/>
        </p:nvPicPr>
        <p:blipFill>
          <a:blip r:embed="rId5"/>
          <a:stretch>
            <a:fillRect/>
          </a:stretch>
        </p:blipFill>
        <p:spPr>
          <a:xfrm>
            <a:off x="6744993" y="2355750"/>
            <a:ext cx="1773306" cy="1773306"/>
          </a:xfrm>
          <a:prstGeom prst="rect">
            <a:avLst/>
          </a:prstGeom>
        </p:spPr>
      </p:pic>
      <p:pic>
        <p:nvPicPr>
          <p:cNvPr id="22" name="図 21">
            <a:extLst>
              <a:ext uri="{FF2B5EF4-FFF2-40B4-BE49-F238E27FC236}">
                <a16:creationId xmlns:a16="http://schemas.microsoft.com/office/drawing/2014/main" id="{39EBD0AD-8089-2F8C-C6E3-EE6FB1DABBF2}"/>
              </a:ext>
            </a:extLst>
          </p:cNvPr>
          <p:cNvPicPr>
            <a:picLocks noChangeAspect="1"/>
          </p:cNvPicPr>
          <p:nvPr/>
        </p:nvPicPr>
        <p:blipFill>
          <a:blip r:embed="rId6"/>
          <a:stretch>
            <a:fillRect/>
          </a:stretch>
        </p:blipFill>
        <p:spPr>
          <a:xfrm>
            <a:off x="4860000" y="2355750"/>
            <a:ext cx="1765826" cy="1765826"/>
          </a:xfrm>
          <a:prstGeom prst="rect">
            <a:avLst/>
          </a:prstGeom>
        </p:spPr>
      </p:pic>
      <p:sp>
        <p:nvSpPr>
          <p:cNvPr id="23" name="コンテンツ プレースホルダー 9">
            <a:extLst>
              <a:ext uri="{FF2B5EF4-FFF2-40B4-BE49-F238E27FC236}">
                <a16:creationId xmlns:a16="http://schemas.microsoft.com/office/drawing/2014/main" id="{81B6C406-8678-C065-5B2F-6B13B3F9CA9B}"/>
              </a:ext>
            </a:extLst>
          </p:cNvPr>
          <p:cNvSpPr txBox="1">
            <a:spLocks/>
          </p:cNvSpPr>
          <p:nvPr/>
        </p:nvSpPr>
        <p:spPr>
          <a:xfrm>
            <a:off x="382254" y="4371750"/>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ja-JP" altLang="en-US" sz="2100" b="1" dirty="0"/>
              <a:t>→</a:t>
            </a:r>
            <a:r>
              <a:rPr lang="en-US" altLang="ja-JP" sz="2100" b="1" dirty="0"/>
              <a:t>This work mainly focus on </a:t>
            </a:r>
            <a:r>
              <a:rPr lang="ja-JP" altLang="en-US" sz="2100" b="1" dirty="0">
                <a:solidFill>
                  <a:schemeClr val="accent5"/>
                </a:solidFill>
              </a:rPr>
              <a:t>② </a:t>
            </a:r>
            <a:r>
              <a:rPr lang="en-US" altLang="ja-JP" sz="2100" b="1" dirty="0">
                <a:solidFill>
                  <a:schemeClr val="accent5"/>
                </a:solidFill>
              </a:rPr>
              <a:t>contrast masking</a:t>
            </a:r>
          </a:p>
        </p:txBody>
      </p:sp>
      <p:sp>
        <p:nvSpPr>
          <p:cNvPr id="16" name="テキスト ボックス 15">
            <a:extLst>
              <a:ext uri="{FF2B5EF4-FFF2-40B4-BE49-F238E27FC236}">
                <a16:creationId xmlns:a16="http://schemas.microsoft.com/office/drawing/2014/main" id="{F47EA014-3C2F-C852-A9EF-B79F3B48598D}"/>
              </a:ext>
            </a:extLst>
          </p:cNvPr>
          <p:cNvSpPr txBox="1"/>
          <p:nvPr/>
        </p:nvSpPr>
        <p:spPr>
          <a:xfrm>
            <a:off x="0" y="4889584"/>
            <a:ext cx="9180000" cy="253916"/>
          </a:xfrm>
          <a:prstGeom prst="rect">
            <a:avLst/>
          </a:prstGeom>
          <a:noFill/>
        </p:spPr>
        <p:txBody>
          <a:bodyPr wrap="square" rtlCol="0">
            <a:spAutoFit/>
          </a:bodyPr>
          <a:lstStyle/>
          <a:p>
            <a:r>
              <a:rPr lang="en-US" altLang="ja-JP" sz="1050" dirty="0">
                <a:solidFill>
                  <a:schemeClr val="tx1">
                    <a:lumMod val="60000"/>
                    <a:lumOff val="40000"/>
                  </a:schemeClr>
                </a:solidFill>
              </a:rPr>
              <a:t>[1] </a:t>
            </a:r>
            <a:r>
              <a:rPr lang="en-US" altLang="ja-JP" sz="1050" dirty="0" err="1">
                <a:solidFill>
                  <a:schemeClr val="tx1">
                    <a:lumMod val="60000"/>
                    <a:lumOff val="40000"/>
                  </a:schemeClr>
                </a:solidFill>
              </a:rPr>
              <a:t>Fukiage</a:t>
            </a:r>
            <a:r>
              <a:rPr lang="en-US" altLang="ja-JP" sz="1050" dirty="0">
                <a:solidFill>
                  <a:schemeClr val="tx1">
                    <a:lumMod val="60000"/>
                    <a:lumOff val="40000"/>
                  </a:schemeClr>
                </a:solidFill>
              </a:rPr>
              <a:t> et al.  “Visibility-based blending for real-time applications”</a:t>
            </a:r>
            <a:r>
              <a:rPr lang="ja-JP" altLang="en-US" sz="1050" dirty="0">
                <a:solidFill>
                  <a:schemeClr val="tx1">
                    <a:lumMod val="60000"/>
                    <a:lumOff val="40000"/>
                  </a:schemeClr>
                </a:solidFill>
              </a:rPr>
              <a:t> </a:t>
            </a:r>
            <a:r>
              <a:rPr lang="en-US" altLang="ja-JP" sz="1050" dirty="0">
                <a:solidFill>
                  <a:schemeClr val="tx1">
                    <a:lumMod val="60000"/>
                    <a:lumOff val="40000"/>
                  </a:schemeClr>
                </a:solidFill>
              </a:rPr>
              <a:t>2014</a:t>
            </a:r>
          </a:p>
        </p:txBody>
      </p:sp>
      <p:sp>
        <p:nvSpPr>
          <p:cNvPr id="17" name="テキスト ボックス 16">
            <a:extLst>
              <a:ext uri="{FF2B5EF4-FFF2-40B4-BE49-F238E27FC236}">
                <a16:creationId xmlns:a16="http://schemas.microsoft.com/office/drawing/2014/main" id="{C51D3639-A7B0-6E8C-8F4B-5E3C473926FC}"/>
              </a:ext>
            </a:extLst>
          </p:cNvPr>
          <p:cNvSpPr txBox="1"/>
          <p:nvPr/>
        </p:nvSpPr>
        <p:spPr>
          <a:xfrm>
            <a:off x="4316556" y="3875799"/>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5" name="スライド番号プレースホルダー 14">
            <a:extLst>
              <a:ext uri="{FF2B5EF4-FFF2-40B4-BE49-F238E27FC236}">
                <a16:creationId xmlns:a16="http://schemas.microsoft.com/office/drawing/2014/main" id="{E196F962-6DF1-7B6C-2A9A-537AF5B3EE20}"/>
              </a:ext>
            </a:extLst>
          </p:cNvPr>
          <p:cNvSpPr>
            <a:spLocks noGrp="1"/>
          </p:cNvSpPr>
          <p:nvPr>
            <p:ph type="sldNum" sz="quarter" idx="4"/>
          </p:nvPr>
        </p:nvSpPr>
        <p:spPr/>
        <p:txBody>
          <a:bodyPr/>
          <a:lstStyle/>
          <a:p>
            <a:fld id="{C1FF6DA9-008F-8B48-92A6-B652298478BF}" type="slidenum">
              <a:rPr lang="en-US" smtClean="0"/>
              <a:pPr/>
              <a:t>8</a:t>
            </a:fld>
            <a:r>
              <a:rPr lang="en-US"/>
              <a:t>/30</a:t>
            </a:r>
            <a:endParaRPr lang="en-US" sz="1800" dirty="0"/>
          </a:p>
        </p:txBody>
      </p:sp>
    </p:spTree>
    <p:extLst>
      <p:ext uri="{BB962C8B-B14F-4D97-AF65-F5344CB8AC3E}">
        <p14:creationId xmlns:p14="http://schemas.microsoft.com/office/powerpoint/2010/main" val="3742298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EE156-9CDB-3064-9EF3-191C4E8938F8}"/>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855A42F9-6602-655A-F951-EE830A80B17E}"/>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808003A7-5280-5432-E2F9-9B3C327D8A98}"/>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8ECB5503-F2B3-F9B4-C26B-3699DDEF1B63}"/>
              </a:ext>
            </a:extLst>
          </p:cNvPr>
          <p:cNvSpPr>
            <a:spLocks noGrp="1"/>
          </p:cNvSpPr>
          <p:nvPr>
            <p:ph type="title"/>
          </p:nvPr>
        </p:nvSpPr>
        <p:spPr/>
        <p:txBody>
          <a:bodyPr/>
          <a:lstStyle/>
          <a:p>
            <a:r>
              <a:rPr kumimoji="1" lang="en-US" altLang="ja-JP" dirty="0"/>
              <a:t>Related Work (2): Single-Factor Models for OST-AR</a:t>
            </a:r>
            <a:endParaRPr kumimoji="1" lang="ja-JP" altLang="en-US" dirty="0"/>
          </a:p>
        </p:txBody>
      </p:sp>
      <p:sp>
        <p:nvSpPr>
          <p:cNvPr id="3" name="コンテンツ プレースホルダー 2">
            <a:extLst>
              <a:ext uri="{FF2B5EF4-FFF2-40B4-BE49-F238E27FC236}">
                <a16:creationId xmlns:a16="http://schemas.microsoft.com/office/drawing/2014/main" id="{39F21CD7-31AD-98A3-3898-CC23D5F067FE}"/>
              </a:ext>
            </a:extLst>
          </p:cNvPr>
          <p:cNvSpPr>
            <a:spLocks noGrp="1"/>
          </p:cNvSpPr>
          <p:nvPr>
            <p:ph idx="1"/>
          </p:nvPr>
        </p:nvSpPr>
        <p:spPr>
          <a:xfrm>
            <a:off x="457200" y="1203750"/>
            <a:ext cx="8229600" cy="504000"/>
          </a:xfrm>
        </p:spPr>
        <p:txBody>
          <a:bodyPr/>
          <a:lstStyle/>
          <a:p>
            <a:pPr algn="ctr"/>
            <a:r>
              <a:rPr kumimoji="1" lang="en-US" altLang="ja-JP" dirty="0"/>
              <a:t>Existin</a:t>
            </a:r>
            <a:r>
              <a:rPr lang="en-US" altLang="ja-JP" dirty="0"/>
              <a:t>g models each consider </a:t>
            </a:r>
            <a:r>
              <a:rPr lang="en-US" altLang="ja-JP" b="1" dirty="0">
                <a:solidFill>
                  <a:schemeClr val="accent1"/>
                </a:solidFill>
              </a:rPr>
              <a:t>one perceptual factor</a:t>
            </a:r>
            <a:endParaRPr kumimoji="1" lang="ja-JP" altLang="en-US" b="1" dirty="0">
              <a:solidFill>
                <a:schemeClr val="accent1"/>
              </a:solidFill>
            </a:endParaRPr>
          </a:p>
        </p:txBody>
      </p:sp>
      <p:sp>
        <p:nvSpPr>
          <p:cNvPr id="9" name="コンテンツ プレースホルダー 9">
            <a:extLst>
              <a:ext uri="{FF2B5EF4-FFF2-40B4-BE49-F238E27FC236}">
                <a16:creationId xmlns:a16="http://schemas.microsoft.com/office/drawing/2014/main" id="{784CF8F1-A486-CBE9-0446-EA90A181B29F}"/>
              </a:ext>
            </a:extLst>
          </p:cNvPr>
          <p:cNvSpPr txBox="1">
            <a:spLocks/>
          </p:cNvSpPr>
          <p:nvPr/>
        </p:nvSpPr>
        <p:spPr>
          <a:xfrm>
            <a:off x="382254" y="4227750"/>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b="1" dirty="0"/>
              <a:t>→ No unified, multi-factor model exist</a:t>
            </a:r>
            <a:endParaRPr lang="en-US" altLang="ja-JP" sz="2100" b="1" dirty="0">
              <a:solidFill>
                <a:schemeClr val="accent5"/>
              </a:solidFill>
            </a:endParaRPr>
          </a:p>
        </p:txBody>
      </p:sp>
      <p:pic>
        <p:nvPicPr>
          <p:cNvPr id="10" name="図 9">
            <a:extLst>
              <a:ext uri="{FF2B5EF4-FFF2-40B4-BE49-F238E27FC236}">
                <a16:creationId xmlns:a16="http://schemas.microsoft.com/office/drawing/2014/main" id="{115670F3-5BD7-5C2B-606E-F4FFC5CBEBB7}"/>
              </a:ext>
            </a:extLst>
          </p:cNvPr>
          <p:cNvPicPr>
            <a:picLocks noChangeAspect="1"/>
          </p:cNvPicPr>
          <p:nvPr/>
        </p:nvPicPr>
        <p:blipFill>
          <a:blip r:embed="rId3"/>
          <a:stretch>
            <a:fillRect/>
          </a:stretch>
        </p:blipFill>
        <p:spPr>
          <a:xfrm>
            <a:off x="471952" y="2377357"/>
            <a:ext cx="2618648" cy="1471562"/>
          </a:xfrm>
          <a:prstGeom prst="rect">
            <a:avLst/>
          </a:prstGeom>
        </p:spPr>
      </p:pic>
      <p:pic>
        <p:nvPicPr>
          <p:cNvPr id="12" name="図 11">
            <a:extLst>
              <a:ext uri="{FF2B5EF4-FFF2-40B4-BE49-F238E27FC236}">
                <a16:creationId xmlns:a16="http://schemas.microsoft.com/office/drawing/2014/main" id="{B3166DB0-1128-7F33-8BAF-139F2DB55F05}"/>
              </a:ext>
            </a:extLst>
          </p:cNvPr>
          <p:cNvPicPr>
            <a:picLocks noChangeAspect="1"/>
          </p:cNvPicPr>
          <p:nvPr/>
        </p:nvPicPr>
        <p:blipFill>
          <a:blip r:embed="rId4"/>
          <a:stretch>
            <a:fillRect/>
          </a:stretch>
        </p:blipFill>
        <p:spPr>
          <a:xfrm>
            <a:off x="3267511" y="2371887"/>
            <a:ext cx="2608978" cy="1254316"/>
          </a:xfrm>
          <a:prstGeom prst="rect">
            <a:avLst/>
          </a:prstGeom>
        </p:spPr>
      </p:pic>
      <p:pic>
        <p:nvPicPr>
          <p:cNvPr id="14" name="図 13">
            <a:extLst>
              <a:ext uri="{FF2B5EF4-FFF2-40B4-BE49-F238E27FC236}">
                <a16:creationId xmlns:a16="http://schemas.microsoft.com/office/drawing/2014/main" id="{9231A788-B89D-A15B-B695-C793248F2C37}"/>
              </a:ext>
            </a:extLst>
          </p:cNvPr>
          <p:cNvPicPr>
            <a:picLocks noChangeAspect="1"/>
          </p:cNvPicPr>
          <p:nvPr/>
        </p:nvPicPr>
        <p:blipFill>
          <a:blip r:embed="rId5"/>
          <a:srcRect l="152" t="8866" r="-152" b="10692"/>
          <a:stretch>
            <a:fillRect/>
          </a:stretch>
        </p:blipFill>
        <p:spPr>
          <a:xfrm>
            <a:off x="6052846" y="2377357"/>
            <a:ext cx="2558454" cy="1728000"/>
          </a:xfrm>
          <a:prstGeom prst="rect">
            <a:avLst/>
          </a:prstGeom>
        </p:spPr>
      </p:pic>
      <p:sp>
        <p:nvSpPr>
          <p:cNvPr id="4" name="テキスト ボックス 3">
            <a:extLst>
              <a:ext uri="{FF2B5EF4-FFF2-40B4-BE49-F238E27FC236}">
                <a16:creationId xmlns:a16="http://schemas.microsoft.com/office/drawing/2014/main" id="{9D1A369E-36F2-3C2A-DE79-7D6E4033004A}"/>
              </a:ext>
            </a:extLst>
          </p:cNvPr>
          <p:cNvSpPr txBox="1"/>
          <p:nvPr/>
        </p:nvSpPr>
        <p:spPr>
          <a:xfrm flipH="1">
            <a:off x="6053400" y="1851750"/>
            <a:ext cx="2628000" cy="402995"/>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Transparency</a:t>
            </a:r>
          </a:p>
        </p:txBody>
      </p:sp>
      <p:sp>
        <p:nvSpPr>
          <p:cNvPr id="11" name="テキスト ボックス 10">
            <a:extLst>
              <a:ext uri="{FF2B5EF4-FFF2-40B4-BE49-F238E27FC236}">
                <a16:creationId xmlns:a16="http://schemas.microsoft.com/office/drawing/2014/main" id="{229FA213-BCAB-99CA-4950-07B788D70CF4}"/>
              </a:ext>
            </a:extLst>
          </p:cNvPr>
          <p:cNvSpPr txBox="1"/>
          <p:nvPr/>
        </p:nvSpPr>
        <p:spPr>
          <a:xfrm flipH="1">
            <a:off x="462600" y="1851750"/>
            <a:ext cx="2628000" cy="393890"/>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Color</a:t>
            </a:r>
            <a:endParaRPr lang="en-US" altLang="ja-JP" dirty="0"/>
          </a:p>
        </p:txBody>
      </p:sp>
      <p:sp>
        <p:nvSpPr>
          <p:cNvPr id="13" name="テキスト ボックス 12">
            <a:extLst>
              <a:ext uri="{FF2B5EF4-FFF2-40B4-BE49-F238E27FC236}">
                <a16:creationId xmlns:a16="http://schemas.microsoft.com/office/drawing/2014/main" id="{93FFFF5F-4777-DD60-731E-E8761FC64125}"/>
              </a:ext>
            </a:extLst>
          </p:cNvPr>
          <p:cNvSpPr txBox="1"/>
          <p:nvPr/>
        </p:nvSpPr>
        <p:spPr>
          <a:xfrm flipH="1">
            <a:off x="3248489" y="1857183"/>
            <a:ext cx="2628000" cy="393890"/>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Luminance</a:t>
            </a:r>
            <a:endParaRPr lang="en-US" altLang="ja-JP" b="1" u="heavy" dirty="0">
              <a:solidFill>
                <a:schemeClr val="accent1"/>
              </a:solidFill>
              <a:uFill>
                <a:solidFill>
                  <a:schemeClr val="accent2"/>
                </a:solidFill>
              </a:uFill>
            </a:endParaRPr>
          </a:p>
        </p:txBody>
      </p:sp>
      <p:sp>
        <p:nvSpPr>
          <p:cNvPr id="5" name="テキスト ボックス 4">
            <a:extLst>
              <a:ext uri="{FF2B5EF4-FFF2-40B4-BE49-F238E27FC236}">
                <a16:creationId xmlns:a16="http://schemas.microsoft.com/office/drawing/2014/main" id="{E7C26BAA-C85C-C63A-83A7-ABD6312B95FB}"/>
              </a:ext>
            </a:extLst>
          </p:cNvPr>
          <p:cNvSpPr txBox="1"/>
          <p:nvPr/>
        </p:nvSpPr>
        <p:spPr>
          <a:xfrm>
            <a:off x="0" y="4566419"/>
            <a:ext cx="9180000" cy="577081"/>
          </a:xfrm>
          <a:prstGeom prst="rect">
            <a:avLst/>
          </a:prstGeom>
          <a:noFill/>
        </p:spPr>
        <p:txBody>
          <a:bodyPr wrap="square" rtlCol="0">
            <a:spAutoFit/>
          </a:bodyPr>
          <a:lstStyle/>
          <a:p>
            <a:r>
              <a:rPr lang="en-US" altLang="ja-JP" sz="1050" dirty="0">
                <a:solidFill>
                  <a:schemeClr val="tx1">
                    <a:lumMod val="60000"/>
                    <a:lumOff val="40000"/>
                  </a:schemeClr>
                </a:solidFill>
              </a:rPr>
              <a:t>[1] Yoon et al. “Background scene dominant color based visibility enhancement of head-up display,”  2017</a:t>
            </a:r>
          </a:p>
          <a:p>
            <a:r>
              <a:rPr lang="en-US" altLang="ja-JP" sz="1050" dirty="0">
                <a:solidFill>
                  <a:schemeClr val="tx1">
                    <a:lumMod val="60000"/>
                    <a:lumOff val="40000"/>
                  </a:schemeClr>
                </a:solidFill>
              </a:rPr>
              <a:t>[2] Liu et al. “How bright should a virtual object be to appear opaque in optical see-through ar?”2022</a:t>
            </a:r>
          </a:p>
          <a:p>
            <a:r>
              <a:rPr lang="en-US" altLang="ja-JP" sz="1050" dirty="0">
                <a:solidFill>
                  <a:schemeClr val="tx1">
                    <a:lumMod val="60000"/>
                    <a:lumOff val="40000"/>
                  </a:schemeClr>
                </a:solidFill>
              </a:rPr>
              <a:t>[3] Zhang and Murdoch, “Perceived transparency in optical see-through augmented reality,” 2021</a:t>
            </a:r>
          </a:p>
        </p:txBody>
      </p:sp>
      <p:sp>
        <p:nvSpPr>
          <p:cNvPr id="15" name="テキスト ボックス 14">
            <a:extLst>
              <a:ext uri="{FF2B5EF4-FFF2-40B4-BE49-F238E27FC236}">
                <a16:creationId xmlns:a16="http://schemas.microsoft.com/office/drawing/2014/main" id="{14415352-AE5E-CFAE-CBFB-60A020F8B017}"/>
              </a:ext>
            </a:extLst>
          </p:cNvPr>
          <p:cNvSpPr txBox="1"/>
          <p:nvPr/>
        </p:nvSpPr>
        <p:spPr>
          <a:xfrm>
            <a:off x="2998281" y="3598800"/>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6" name="テキスト ボックス 15">
            <a:extLst>
              <a:ext uri="{FF2B5EF4-FFF2-40B4-BE49-F238E27FC236}">
                <a16:creationId xmlns:a16="http://schemas.microsoft.com/office/drawing/2014/main" id="{25273C70-B239-55CB-CCAA-86D2CA79139F}"/>
              </a:ext>
            </a:extLst>
          </p:cNvPr>
          <p:cNvSpPr txBox="1"/>
          <p:nvPr/>
        </p:nvSpPr>
        <p:spPr>
          <a:xfrm>
            <a:off x="5763093" y="3404496"/>
            <a:ext cx="360996" cy="276999"/>
          </a:xfrm>
          <a:prstGeom prst="rect">
            <a:avLst/>
          </a:prstGeom>
          <a:noFill/>
        </p:spPr>
        <p:txBody>
          <a:bodyPr wrap="none" rtlCol="0">
            <a:spAutoFit/>
          </a:bodyPr>
          <a:lstStyle/>
          <a:p>
            <a:r>
              <a:rPr kumimoji="1" lang="en-US" altLang="ja-JP" sz="1200" dirty="0"/>
              <a:t>[2]</a:t>
            </a:r>
            <a:endParaRPr kumimoji="1" lang="ja-JP" altLang="en-US" sz="1200" dirty="0"/>
          </a:p>
        </p:txBody>
      </p:sp>
      <p:sp>
        <p:nvSpPr>
          <p:cNvPr id="17" name="テキスト ボックス 16">
            <a:extLst>
              <a:ext uri="{FF2B5EF4-FFF2-40B4-BE49-F238E27FC236}">
                <a16:creationId xmlns:a16="http://schemas.microsoft.com/office/drawing/2014/main" id="{FEA492D1-4492-6448-8141-9955BECB28A0}"/>
              </a:ext>
            </a:extLst>
          </p:cNvPr>
          <p:cNvSpPr txBox="1"/>
          <p:nvPr/>
        </p:nvSpPr>
        <p:spPr>
          <a:xfrm>
            <a:off x="8506302" y="3857791"/>
            <a:ext cx="360996" cy="276999"/>
          </a:xfrm>
          <a:prstGeom prst="rect">
            <a:avLst/>
          </a:prstGeom>
          <a:noFill/>
        </p:spPr>
        <p:txBody>
          <a:bodyPr wrap="none" rtlCol="0">
            <a:spAutoFit/>
          </a:bodyPr>
          <a:lstStyle/>
          <a:p>
            <a:r>
              <a:rPr kumimoji="1" lang="en-US" altLang="ja-JP" sz="1200" dirty="0"/>
              <a:t>[3]</a:t>
            </a:r>
            <a:endParaRPr kumimoji="1" lang="ja-JP" altLang="en-US" sz="1200" dirty="0"/>
          </a:p>
        </p:txBody>
      </p:sp>
      <p:sp>
        <p:nvSpPr>
          <p:cNvPr id="18" name="スライド番号プレースホルダー 17">
            <a:extLst>
              <a:ext uri="{FF2B5EF4-FFF2-40B4-BE49-F238E27FC236}">
                <a16:creationId xmlns:a16="http://schemas.microsoft.com/office/drawing/2014/main" id="{5C0A4883-DB35-76C7-9D24-36B64A818479}"/>
              </a:ext>
            </a:extLst>
          </p:cNvPr>
          <p:cNvSpPr>
            <a:spLocks noGrp="1"/>
          </p:cNvSpPr>
          <p:nvPr>
            <p:ph type="sldNum" sz="quarter" idx="4"/>
          </p:nvPr>
        </p:nvSpPr>
        <p:spPr/>
        <p:txBody>
          <a:bodyPr/>
          <a:lstStyle/>
          <a:p>
            <a:fld id="{C1FF6DA9-008F-8B48-92A6-B652298478BF}" type="slidenum">
              <a:rPr lang="en-US" smtClean="0"/>
              <a:pPr/>
              <a:t>9</a:t>
            </a:fld>
            <a:r>
              <a:rPr lang="en-US"/>
              <a:t>/30</a:t>
            </a:r>
            <a:endParaRPr lang="en-US" sz="1800" dirty="0"/>
          </a:p>
        </p:txBody>
      </p:sp>
    </p:spTree>
    <p:extLst>
      <p:ext uri="{BB962C8B-B14F-4D97-AF65-F5344CB8AC3E}">
        <p14:creationId xmlns:p14="http://schemas.microsoft.com/office/powerpoint/2010/main" val="20124268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AE92B-C880-AC31-782E-C53F665B17EA}"/>
            </a:ext>
          </a:extLst>
        </p:cNvPr>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805401DE-9D4D-2AF9-E5BC-AF3728CEA8CA}"/>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B657F982-1CF9-E9FC-52EE-B37CBF3EC348}"/>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3A14DA40-9AA1-6DA6-AFDC-B77416EAAB2C}"/>
              </a:ext>
            </a:extLst>
          </p:cNvPr>
          <p:cNvSpPr>
            <a:spLocks noGrp="1"/>
          </p:cNvSpPr>
          <p:nvPr>
            <p:ph type="title"/>
          </p:nvPr>
        </p:nvSpPr>
        <p:spPr/>
        <p:txBody>
          <a:bodyPr>
            <a:normAutofit/>
          </a:bodyPr>
          <a:lstStyle/>
          <a:p>
            <a:r>
              <a:rPr kumimoji="1" lang="en-US" altLang="ja-JP" dirty="0"/>
              <a:t>Related Work (3): </a:t>
            </a:r>
            <a:r>
              <a:rPr lang="en-US" altLang="ja-JP" dirty="0"/>
              <a:t>IQA for OST-AR Visibility</a:t>
            </a:r>
            <a:endParaRPr kumimoji="1" lang="ja-JP" altLang="en-US" dirty="0"/>
          </a:p>
        </p:txBody>
      </p:sp>
      <p:sp>
        <p:nvSpPr>
          <p:cNvPr id="3" name="コンテンツ プレースホルダー 2">
            <a:extLst>
              <a:ext uri="{FF2B5EF4-FFF2-40B4-BE49-F238E27FC236}">
                <a16:creationId xmlns:a16="http://schemas.microsoft.com/office/drawing/2014/main" id="{4D0392A3-D812-DADB-F05A-651C1B796B6E}"/>
              </a:ext>
            </a:extLst>
          </p:cNvPr>
          <p:cNvSpPr>
            <a:spLocks noGrp="1"/>
          </p:cNvSpPr>
          <p:nvPr>
            <p:ph idx="1"/>
          </p:nvPr>
        </p:nvSpPr>
        <p:spPr>
          <a:xfrm>
            <a:off x="457200" y="1203750"/>
            <a:ext cx="8229600" cy="504000"/>
          </a:xfrm>
        </p:spPr>
        <p:txBody>
          <a:bodyPr/>
          <a:lstStyle/>
          <a:p>
            <a:pPr algn="ctr"/>
            <a:r>
              <a:rPr lang="en-US" altLang="ja-JP" b="1" dirty="0"/>
              <a:t>IQA(Image Quality Assessment)</a:t>
            </a:r>
            <a:r>
              <a:rPr lang="en-US" altLang="ja-JP" dirty="0"/>
              <a:t> closely relates to visibility </a:t>
            </a:r>
          </a:p>
        </p:txBody>
      </p:sp>
      <p:sp>
        <p:nvSpPr>
          <p:cNvPr id="9" name="コンテンツ プレースホルダー 9">
            <a:extLst>
              <a:ext uri="{FF2B5EF4-FFF2-40B4-BE49-F238E27FC236}">
                <a16:creationId xmlns:a16="http://schemas.microsoft.com/office/drawing/2014/main" id="{E15FCF8B-83FD-A8D3-FB22-27C2B35A1350}"/>
              </a:ext>
            </a:extLst>
          </p:cNvPr>
          <p:cNvSpPr txBox="1">
            <a:spLocks/>
          </p:cNvSpPr>
          <p:nvPr/>
        </p:nvSpPr>
        <p:spPr>
          <a:xfrm>
            <a:off x="382254" y="4371750"/>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b="1" dirty="0"/>
              <a:t>→ </a:t>
            </a:r>
            <a:r>
              <a:rPr lang="en-US" altLang="ja-JP" sz="2100" b="1" dirty="0">
                <a:solidFill>
                  <a:schemeClr val="accent1"/>
                </a:solidFill>
              </a:rPr>
              <a:t>OST-AR-specific perception </a:t>
            </a:r>
            <a:r>
              <a:rPr lang="en-US" altLang="ja-JP" sz="2100" b="1" dirty="0"/>
              <a:t>must be modeled.</a:t>
            </a:r>
            <a:endParaRPr lang="en-US" altLang="ja-JP" sz="2100" b="1" dirty="0">
              <a:solidFill>
                <a:schemeClr val="accent5"/>
              </a:solidFill>
            </a:endParaRPr>
          </a:p>
        </p:txBody>
      </p:sp>
      <p:sp>
        <p:nvSpPr>
          <p:cNvPr id="11" name="フッター プレースホルダー 4">
            <a:extLst>
              <a:ext uri="{FF2B5EF4-FFF2-40B4-BE49-F238E27FC236}">
                <a16:creationId xmlns:a16="http://schemas.microsoft.com/office/drawing/2014/main" id="{2B76B11B-B969-0B2C-C1ED-7A80442ED9A5}"/>
              </a:ext>
            </a:extLst>
          </p:cNvPr>
          <p:cNvSpPr txBox="1">
            <a:spLocks/>
          </p:cNvSpPr>
          <p:nvPr/>
        </p:nvSpPr>
        <p:spPr>
          <a:xfrm>
            <a:off x="429048" y="3460527"/>
            <a:ext cx="4019669" cy="695223"/>
          </a:xfrm>
          <a:prstGeom prst="rect">
            <a:avLst/>
          </a:prstGeom>
        </p:spPr>
        <p:txBody>
          <a:bodyPr anchor="b"/>
          <a:lstStyle>
            <a:defPPr>
              <a:defRPr lang="ja-JP"/>
            </a:defPPr>
            <a:lvl1pPr marL="0" algn="l" defTabSz="914400" rtl="0" eaLnBrk="1" latinLnBrk="0" hangingPunct="1">
              <a:defRPr kumimoji="1" sz="11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10000"/>
              </a:lnSpc>
            </a:pPr>
            <a:r>
              <a:rPr lang="en-US" altLang="ja-JP" sz="1800" dirty="0"/>
              <a:t>Evaluation of IQA models on OST-AR</a:t>
            </a:r>
            <a:br>
              <a:rPr lang="en-US" altLang="ja-JP" sz="1800" dirty="0"/>
            </a:br>
            <a:r>
              <a:rPr lang="ja-JP" altLang="en-US" sz="1800" b="1" dirty="0"/>
              <a:t>→ </a:t>
            </a:r>
            <a:r>
              <a:rPr lang="en-US" altLang="ja-JP" sz="1800" b="1" dirty="0"/>
              <a:t>limitation of existing model </a:t>
            </a:r>
            <a:endParaRPr lang="en-US" sz="1800" b="1" dirty="0"/>
          </a:p>
        </p:txBody>
      </p:sp>
      <p:sp>
        <p:nvSpPr>
          <p:cNvPr id="28" name="フッター プレースホルダー 4">
            <a:extLst>
              <a:ext uri="{FF2B5EF4-FFF2-40B4-BE49-F238E27FC236}">
                <a16:creationId xmlns:a16="http://schemas.microsoft.com/office/drawing/2014/main" id="{6AE8F32E-8818-279F-CFB7-87C087DBE60C}"/>
              </a:ext>
            </a:extLst>
          </p:cNvPr>
          <p:cNvSpPr txBox="1">
            <a:spLocks/>
          </p:cNvSpPr>
          <p:nvPr/>
        </p:nvSpPr>
        <p:spPr>
          <a:xfrm>
            <a:off x="4548603" y="3460527"/>
            <a:ext cx="4372698" cy="695223"/>
          </a:xfrm>
          <a:prstGeom prst="rect">
            <a:avLst/>
          </a:prstGeom>
        </p:spPr>
        <p:txBody>
          <a:bodyPr anchor="b"/>
          <a:lstStyle>
            <a:defPPr>
              <a:defRPr lang="ja-JP"/>
            </a:defPPr>
            <a:lvl1pPr marL="0" algn="l" defTabSz="914400" rtl="0" eaLnBrk="1" latinLnBrk="0" hangingPunct="1">
              <a:defRPr kumimoji="1" sz="11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10000"/>
              </a:lnSpc>
            </a:pPr>
            <a:r>
              <a:rPr lang="en-US" sz="1800" b="1" dirty="0"/>
              <a:t>OST-AR specific contrast perception</a:t>
            </a:r>
            <a:br>
              <a:rPr lang="en-US" sz="1800" dirty="0"/>
            </a:br>
            <a:r>
              <a:rPr lang="en-US" sz="1800" dirty="0"/>
              <a:t>(</a:t>
            </a:r>
            <a:r>
              <a:rPr lang="en-US" altLang="ja-JP" sz="1800" dirty="0"/>
              <a:t>A potential factor behind the limitation</a:t>
            </a:r>
            <a:r>
              <a:rPr lang="en-US" sz="1800" dirty="0"/>
              <a:t>)</a:t>
            </a:r>
          </a:p>
        </p:txBody>
      </p:sp>
      <p:sp>
        <p:nvSpPr>
          <p:cNvPr id="5" name="テキスト ボックス 4">
            <a:extLst>
              <a:ext uri="{FF2B5EF4-FFF2-40B4-BE49-F238E27FC236}">
                <a16:creationId xmlns:a16="http://schemas.microsoft.com/office/drawing/2014/main" id="{683B197C-92DF-4CD9-59FE-E7B2E7E362D2}"/>
              </a:ext>
            </a:extLst>
          </p:cNvPr>
          <p:cNvSpPr txBox="1"/>
          <p:nvPr/>
        </p:nvSpPr>
        <p:spPr>
          <a:xfrm>
            <a:off x="4347265" y="3197978"/>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7" name="テキスト ボックス 16">
            <a:extLst>
              <a:ext uri="{FF2B5EF4-FFF2-40B4-BE49-F238E27FC236}">
                <a16:creationId xmlns:a16="http://schemas.microsoft.com/office/drawing/2014/main" id="{1851CD43-0561-CA83-06F8-96A40045F525}"/>
              </a:ext>
            </a:extLst>
          </p:cNvPr>
          <p:cNvSpPr txBox="1"/>
          <p:nvPr/>
        </p:nvSpPr>
        <p:spPr>
          <a:xfrm>
            <a:off x="8611854" y="3200651"/>
            <a:ext cx="360996" cy="276999"/>
          </a:xfrm>
          <a:prstGeom prst="rect">
            <a:avLst/>
          </a:prstGeom>
          <a:noFill/>
        </p:spPr>
        <p:txBody>
          <a:bodyPr wrap="none" rtlCol="0">
            <a:spAutoFit/>
          </a:bodyPr>
          <a:lstStyle/>
          <a:p>
            <a:r>
              <a:rPr kumimoji="1" lang="en-US" altLang="ja-JP" sz="1200" dirty="0"/>
              <a:t>[2]</a:t>
            </a:r>
            <a:endParaRPr kumimoji="1" lang="ja-JP" altLang="en-US" sz="1200" dirty="0"/>
          </a:p>
        </p:txBody>
      </p:sp>
      <p:sp>
        <p:nvSpPr>
          <p:cNvPr id="19" name="テキスト ボックス 18">
            <a:extLst>
              <a:ext uri="{FF2B5EF4-FFF2-40B4-BE49-F238E27FC236}">
                <a16:creationId xmlns:a16="http://schemas.microsoft.com/office/drawing/2014/main" id="{8B69C3DF-94C2-0B4A-2547-9C7B56331C9B}"/>
              </a:ext>
            </a:extLst>
          </p:cNvPr>
          <p:cNvSpPr txBox="1"/>
          <p:nvPr/>
        </p:nvSpPr>
        <p:spPr>
          <a:xfrm>
            <a:off x="0" y="4728002"/>
            <a:ext cx="9180000" cy="415498"/>
          </a:xfrm>
          <a:prstGeom prst="rect">
            <a:avLst/>
          </a:prstGeom>
          <a:noFill/>
        </p:spPr>
        <p:txBody>
          <a:bodyPr wrap="square" rtlCol="0">
            <a:spAutoFit/>
          </a:bodyPr>
          <a:lstStyle/>
          <a:p>
            <a:r>
              <a:rPr lang="en-US" altLang="ja-JP" sz="1050" dirty="0">
                <a:solidFill>
                  <a:schemeClr val="tx1">
                    <a:lumMod val="60000"/>
                    <a:lumOff val="40000"/>
                  </a:schemeClr>
                </a:solidFill>
              </a:rPr>
              <a:t>[1] Chapiro, et al. “AR-DAVID: Augmented Reality Display Artifact Video Dataset.” 2024</a:t>
            </a:r>
          </a:p>
          <a:p>
            <a:r>
              <a:rPr lang="en-US" altLang="ja-JP" sz="1050" dirty="0">
                <a:solidFill>
                  <a:schemeClr val="tx1">
                    <a:lumMod val="60000"/>
                    <a:lumOff val="40000"/>
                  </a:schemeClr>
                </a:solidFill>
              </a:rPr>
              <a:t>[2] Kim et al. “Supra-threshold Contrast Perception in Augmented Reality.” 2025 </a:t>
            </a:r>
          </a:p>
        </p:txBody>
      </p:sp>
      <p:pic>
        <p:nvPicPr>
          <p:cNvPr id="26" name="図 25">
            <a:extLst>
              <a:ext uri="{FF2B5EF4-FFF2-40B4-BE49-F238E27FC236}">
                <a16:creationId xmlns:a16="http://schemas.microsoft.com/office/drawing/2014/main" id="{EBCF82D9-F1E5-4266-B053-CFE72BE39EF4}"/>
              </a:ext>
            </a:extLst>
          </p:cNvPr>
          <p:cNvPicPr>
            <a:picLocks noChangeAspect="1"/>
          </p:cNvPicPr>
          <p:nvPr/>
        </p:nvPicPr>
        <p:blipFill>
          <a:blip r:embed="rId3"/>
          <a:stretch>
            <a:fillRect/>
          </a:stretch>
        </p:blipFill>
        <p:spPr>
          <a:xfrm>
            <a:off x="4754952" y="2014940"/>
            <a:ext cx="3960000" cy="1446067"/>
          </a:xfrm>
          <a:prstGeom prst="rect">
            <a:avLst/>
          </a:prstGeom>
        </p:spPr>
      </p:pic>
      <p:pic>
        <p:nvPicPr>
          <p:cNvPr id="29" name="図 28">
            <a:extLst>
              <a:ext uri="{FF2B5EF4-FFF2-40B4-BE49-F238E27FC236}">
                <a16:creationId xmlns:a16="http://schemas.microsoft.com/office/drawing/2014/main" id="{CBB381AF-ACD4-6F53-EBA5-4C00E5C5EA81}"/>
              </a:ext>
            </a:extLst>
          </p:cNvPr>
          <p:cNvPicPr>
            <a:picLocks noChangeAspect="1"/>
          </p:cNvPicPr>
          <p:nvPr/>
        </p:nvPicPr>
        <p:blipFill>
          <a:blip r:embed="rId4"/>
          <a:stretch>
            <a:fillRect/>
          </a:stretch>
        </p:blipFill>
        <p:spPr>
          <a:xfrm>
            <a:off x="463877" y="1851750"/>
            <a:ext cx="3960000" cy="1612742"/>
          </a:xfrm>
          <a:prstGeom prst="rect">
            <a:avLst/>
          </a:prstGeom>
        </p:spPr>
      </p:pic>
      <p:sp>
        <p:nvSpPr>
          <p:cNvPr id="30" name="スライド番号プレースホルダー 29">
            <a:extLst>
              <a:ext uri="{FF2B5EF4-FFF2-40B4-BE49-F238E27FC236}">
                <a16:creationId xmlns:a16="http://schemas.microsoft.com/office/drawing/2014/main" id="{246B6689-360E-E7E1-697D-33F2FDD07647}"/>
              </a:ext>
            </a:extLst>
          </p:cNvPr>
          <p:cNvSpPr>
            <a:spLocks noGrp="1"/>
          </p:cNvSpPr>
          <p:nvPr>
            <p:ph type="sldNum" sz="quarter" idx="4"/>
          </p:nvPr>
        </p:nvSpPr>
        <p:spPr/>
        <p:txBody>
          <a:bodyPr/>
          <a:lstStyle/>
          <a:p>
            <a:fld id="{C1FF6DA9-008F-8B48-92A6-B652298478BF}" type="slidenum">
              <a:rPr lang="en-US" smtClean="0"/>
              <a:pPr/>
              <a:t>10</a:t>
            </a:fld>
            <a:r>
              <a:rPr lang="en-US"/>
              <a:t>/30</a:t>
            </a:r>
            <a:endParaRPr lang="en-US" sz="1800" dirty="0"/>
          </a:p>
        </p:txBody>
      </p:sp>
    </p:spTree>
    <p:extLst>
      <p:ext uri="{BB962C8B-B14F-4D97-AF65-F5344CB8AC3E}">
        <p14:creationId xmlns:p14="http://schemas.microsoft.com/office/powerpoint/2010/main" val="366565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19AC0-4051-94CB-487A-C167C528A75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0AA7E752-136D-2516-7029-9EA6A63899D0}"/>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EFABD172-A1DA-E7D9-AE51-2E81D1935D8C}"/>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0319546D-83B8-17DB-E194-28190A4AC8C1}"/>
              </a:ext>
            </a:extLst>
          </p:cNvPr>
          <p:cNvSpPr>
            <a:spLocks noGrp="1"/>
          </p:cNvSpPr>
          <p:nvPr>
            <p:ph type="title"/>
          </p:nvPr>
        </p:nvSpPr>
        <p:spPr/>
        <p:txBody>
          <a:bodyPr/>
          <a:lstStyle/>
          <a:p>
            <a:r>
              <a:rPr kumimoji="1" lang="en-US" altLang="ja-JP" dirty="0"/>
              <a:t>Related Work (3): Fukiage</a:t>
            </a:r>
            <a:r>
              <a:rPr lang="en-US" altLang="ja-JP" dirty="0"/>
              <a:t>‘s Visibility Predictor</a:t>
            </a:r>
            <a:endParaRPr kumimoji="1" lang="ja-JP" altLang="en-US" dirty="0"/>
          </a:p>
        </p:txBody>
      </p:sp>
      <p:sp>
        <p:nvSpPr>
          <p:cNvPr id="3" name="コンテンツ プレースホルダー 2">
            <a:extLst>
              <a:ext uri="{FF2B5EF4-FFF2-40B4-BE49-F238E27FC236}">
                <a16:creationId xmlns:a16="http://schemas.microsoft.com/office/drawing/2014/main" id="{CD03EB09-63FA-D1E4-AF4C-9EBF4C20CB9B}"/>
              </a:ext>
            </a:extLst>
          </p:cNvPr>
          <p:cNvSpPr>
            <a:spLocks noGrp="1"/>
          </p:cNvSpPr>
          <p:nvPr>
            <p:ph idx="1"/>
          </p:nvPr>
        </p:nvSpPr>
        <p:spPr>
          <a:xfrm>
            <a:off x="457200" y="1203749"/>
            <a:ext cx="8229600" cy="635943"/>
          </a:xfrm>
        </p:spPr>
        <p:txBody>
          <a:bodyPr/>
          <a:lstStyle/>
          <a:p>
            <a:pPr algn="ctr"/>
            <a:r>
              <a:rPr lang="en-US" altLang="ja-JP" dirty="0"/>
              <a:t>Visibility predictor for </a:t>
            </a:r>
            <a:r>
              <a:rPr lang="en-US" altLang="ja-JP" b="1" dirty="0">
                <a:solidFill>
                  <a:schemeClr val="accent1"/>
                </a:solidFill>
              </a:rPr>
              <a:t>α-blended content </a:t>
            </a:r>
            <a:r>
              <a:rPr lang="en-US" altLang="ja-JP" dirty="0"/>
              <a:t>— promising for OST-AR</a:t>
            </a:r>
            <a:endParaRPr kumimoji="1" lang="ja-JP" altLang="en-US" b="1" dirty="0"/>
          </a:p>
        </p:txBody>
      </p:sp>
      <p:sp>
        <p:nvSpPr>
          <p:cNvPr id="23" name="コンテンツ プレースホルダー 9">
            <a:extLst>
              <a:ext uri="{FF2B5EF4-FFF2-40B4-BE49-F238E27FC236}">
                <a16:creationId xmlns:a16="http://schemas.microsoft.com/office/drawing/2014/main" id="{8430F468-969D-1A52-00B7-A7320F814699}"/>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b="1" dirty="0"/>
              <a:t>→ But </a:t>
            </a:r>
            <a:r>
              <a:rPr lang="en-US" altLang="ja-JP" sz="2100" b="1" dirty="0">
                <a:solidFill>
                  <a:schemeClr val="accent5"/>
                </a:solidFill>
              </a:rPr>
              <a:t>some gaps </a:t>
            </a:r>
            <a:r>
              <a:rPr lang="en-US" altLang="ja-JP" sz="2100" b="1" dirty="0"/>
              <a:t>remain when applied to OST-AR</a:t>
            </a:r>
            <a:endParaRPr lang="en-US" altLang="ja-JP" sz="2100" b="1" dirty="0">
              <a:solidFill>
                <a:schemeClr val="accent5"/>
              </a:solidFill>
            </a:endParaRPr>
          </a:p>
        </p:txBody>
      </p:sp>
      <p:pic>
        <p:nvPicPr>
          <p:cNvPr id="12" name="図 11">
            <a:extLst>
              <a:ext uri="{FF2B5EF4-FFF2-40B4-BE49-F238E27FC236}">
                <a16:creationId xmlns:a16="http://schemas.microsoft.com/office/drawing/2014/main" id="{871BF684-4710-5624-00FA-34531AD8BFCA}"/>
              </a:ext>
            </a:extLst>
          </p:cNvPr>
          <p:cNvPicPr>
            <a:picLocks noChangeAspect="1"/>
          </p:cNvPicPr>
          <p:nvPr/>
        </p:nvPicPr>
        <p:blipFill>
          <a:blip r:embed="rId3"/>
          <a:stretch>
            <a:fillRect/>
          </a:stretch>
        </p:blipFill>
        <p:spPr>
          <a:xfrm>
            <a:off x="468000" y="2362548"/>
            <a:ext cx="6385351" cy="2040808"/>
          </a:xfrm>
          <a:prstGeom prst="rect">
            <a:avLst/>
          </a:prstGeom>
        </p:spPr>
      </p:pic>
      <p:sp>
        <p:nvSpPr>
          <p:cNvPr id="15" name="コンテンツ プレースホルダー 2">
            <a:extLst>
              <a:ext uri="{FF2B5EF4-FFF2-40B4-BE49-F238E27FC236}">
                <a16:creationId xmlns:a16="http://schemas.microsoft.com/office/drawing/2014/main" id="{83393C29-3231-81BE-37CE-F9FAAD8A44FC}"/>
              </a:ext>
            </a:extLst>
          </p:cNvPr>
          <p:cNvSpPr txBox="1">
            <a:spLocks/>
          </p:cNvSpPr>
          <p:nvPr/>
        </p:nvSpPr>
        <p:spPr>
          <a:xfrm>
            <a:off x="457200" y="1847279"/>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6"/>
                </a:solidFill>
              </a:rPr>
              <a:t>! </a:t>
            </a:r>
            <a:r>
              <a:rPr lang="en-US" altLang="ja-JP" dirty="0"/>
              <a:t>Considers </a:t>
            </a:r>
            <a:r>
              <a:rPr lang="en-US" altLang="ja-JP" b="1" dirty="0"/>
              <a:t>multiple perceptual factors</a:t>
            </a:r>
            <a:r>
              <a:rPr lang="en-US" altLang="ja-JP" dirty="0"/>
              <a:t> jointly</a:t>
            </a:r>
          </a:p>
        </p:txBody>
      </p:sp>
      <p:sp>
        <p:nvSpPr>
          <p:cNvPr id="8" name="テキスト ボックス 7">
            <a:extLst>
              <a:ext uri="{FF2B5EF4-FFF2-40B4-BE49-F238E27FC236}">
                <a16:creationId xmlns:a16="http://schemas.microsoft.com/office/drawing/2014/main" id="{677CA7D0-4BE0-4BA9-5350-A0908BC3CC6B}"/>
              </a:ext>
            </a:extLst>
          </p:cNvPr>
          <p:cNvSpPr txBox="1"/>
          <p:nvPr/>
        </p:nvSpPr>
        <p:spPr>
          <a:xfrm>
            <a:off x="0" y="4889584"/>
            <a:ext cx="9180000" cy="253916"/>
          </a:xfrm>
          <a:prstGeom prst="rect">
            <a:avLst/>
          </a:prstGeom>
          <a:noFill/>
        </p:spPr>
        <p:txBody>
          <a:bodyPr wrap="square" rtlCol="0">
            <a:spAutoFit/>
          </a:bodyPr>
          <a:lstStyle/>
          <a:p>
            <a:r>
              <a:rPr kumimoji="1" lang="en-US" altLang="ja-JP" sz="1050" dirty="0">
                <a:solidFill>
                  <a:schemeClr val="tx1">
                    <a:lumMod val="60000"/>
                    <a:lumOff val="40000"/>
                  </a:schemeClr>
                </a:solidFill>
              </a:rPr>
              <a:t>[1] </a:t>
            </a:r>
            <a:r>
              <a:rPr lang="en-US" altLang="ja-JP" sz="1050" dirty="0" err="1">
                <a:solidFill>
                  <a:schemeClr val="tx1">
                    <a:lumMod val="60000"/>
                    <a:lumOff val="40000"/>
                  </a:schemeClr>
                </a:solidFill>
              </a:rPr>
              <a:t>Fukiage</a:t>
            </a:r>
            <a:r>
              <a:rPr lang="en-US" altLang="ja-JP" sz="1050" dirty="0">
                <a:solidFill>
                  <a:schemeClr val="tx1">
                    <a:lumMod val="60000"/>
                    <a:lumOff val="40000"/>
                  </a:schemeClr>
                </a:solidFill>
              </a:rPr>
              <a:t> and Oishi. “A Content-adaptive Visibility Predictor for Perceptually Optimized Image Blending,” 2023</a:t>
            </a:r>
            <a:endParaRPr kumimoji="1" lang="ja-JP" altLang="en-US" sz="1050" dirty="0">
              <a:solidFill>
                <a:schemeClr val="tx1">
                  <a:lumMod val="60000"/>
                  <a:lumOff val="40000"/>
                </a:schemeClr>
              </a:solidFill>
            </a:endParaRPr>
          </a:p>
        </p:txBody>
      </p:sp>
      <p:sp>
        <p:nvSpPr>
          <p:cNvPr id="9" name="テキスト ボックス 8">
            <a:extLst>
              <a:ext uri="{FF2B5EF4-FFF2-40B4-BE49-F238E27FC236}">
                <a16:creationId xmlns:a16="http://schemas.microsoft.com/office/drawing/2014/main" id="{470FE24E-1C6A-8AFF-1D44-050064C88937}"/>
              </a:ext>
            </a:extLst>
          </p:cNvPr>
          <p:cNvSpPr txBox="1"/>
          <p:nvPr/>
        </p:nvSpPr>
        <p:spPr>
          <a:xfrm>
            <a:off x="8250858" y="4158222"/>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pic>
        <p:nvPicPr>
          <p:cNvPr id="10" name="図 9">
            <a:extLst>
              <a:ext uri="{FF2B5EF4-FFF2-40B4-BE49-F238E27FC236}">
                <a16:creationId xmlns:a16="http://schemas.microsoft.com/office/drawing/2014/main" id="{74864354-69EB-5429-F949-081FDA1F013C}"/>
              </a:ext>
            </a:extLst>
          </p:cNvPr>
          <p:cNvPicPr>
            <a:picLocks noChangeAspect="1"/>
          </p:cNvPicPr>
          <p:nvPr/>
        </p:nvPicPr>
        <p:blipFill>
          <a:blip r:embed="rId4"/>
          <a:stretch>
            <a:fillRect/>
          </a:stretch>
        </p:blipFill>
        <p:spPr>
          <a:xfrm>
            <a:off x="6767810" y="2261163"/>
            <a:ext cx="1572101" cy="1060522"/>
          </a:xfrm>
          <a:prstGeom prst="rect">
            <a:avLst/>
          </a:prstGeom>
        </p:spPr>
      </p:pic>
      <p:pic>
        <p:nvPicPr>
          <p:cNvPr id="13" name="図 12">
            <a:extLst>
              <a:ext uri="{FF2B5EF4-FFF2-40B4-BE49-F238E27FC236}">
                <a16:creationId xmlns:a16="http://schemas.microsoft.com/office/drawing/2014/main" id="{FBF72631-5315-62ED-2309-58DED1626805}"/>
              </a:ext>
            </a:extLst>
          </p:cNvPr>
          <p:cNvPicPr>
            <a:picLocks noChangeAspect="1"/>
          </p:cNvPicPr>
          <p:nvPr/>
        </p:nvPicPr>
        <p:blipFill>
          <a:blip r:embed="rId5"/>
          <a:stretch>
            <a:fillRect/>
          </a:stretch>
        </p:blipFill>
        <p:spPr>
          <a:xfrm>
            <a:off x="6767811" y="3355289"/>
            <a:ext cx="1572101" cy="1048067"/>
          </a:xfrm>
          <a:prstGeom prst="rect">
            <a:avLst/>
          </a:prstGeom>
        </p:spPr>
      </p:pic>
      <p:sp>
        <p:nvSpPr>
          <p:cNvPr id="7" name="スライド番号プレースホルダー 6">
            <a:extLst>
              <a:ext uri="{FF2B5EF4-FFF2-40B4-BE49-F238E27FC236}">
                <a16:creationId xmlns:a16="http://schemas.microsoft.com/office/drawing/2014/main" id="{FFFAE560-6617-D600-054C-6190FC42F93D}"/>
              </a:ext>
            </a:extLst>
          </p:cNvPr>
          <p:cNvSpPr>
            <a:spLocks noGrp="1"/>
          </p:cNvSpPr>
          <p:nvPr>
            <p:ph type="sldNum" sz="quarter" idx="4"/>
          </p:nvPr>
        </p:nvSpPr>
        <p:spPr/>
        <p:txBody>
          <a:bodyPr/>
          <a:lstStyle/>
          <a:p>
            <a:fld id="{C1FF6DA9-008F-8B48-92A6-B652298478BF}" type="slidenum">
              <a:rPr lang="en-US" smtClean="0"/>
              <a:pPr/>
              <a:t>11</a:t>
            </a:fld>
            <a:r>
              <a:rPr lang="en-US"/>
              <a:t>/30</a:t>
            </a:r>
            <a:endParaRPr lang="en-US" sz="1800" dirty="0"/>
          </a:p>
        </p:txBody>
      </p:sp>
    </p:spTree>
    <p:extLst>
      <p:ext uri="{BB962C8B-B14F-4D97-AF65-F5344CB8AC3E}">
        <p14:creationId xmlns:p14="http://schemas.microsoft.com/office/powerpoint/2010/main" val="20553448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41374-CE65-1226-872B-1F41AC565C25}"/>
            </a:ext>
          </a:extLst>
        </p:cNvPr>
        <p:cNvGrpSpPr/>
        <p:nvPr/>
      </p:nvGrpSpPr>
      <p:grpSpPr>
        <a:xfrm>
          <a:off x="0" y="0"/>
          <a:ext cx="0" cy="0"/>
          <a:chOff x="0" y="0"/>
          <a:chExt cx="0" cy="0"/>
        </a:xfrm>
      </p:grpSpPr>
      <p:sp>
        <p:nvSpPr>
          <p:cNvPr id="10" name="正方形/長方形 9">
            <a:extLst>
              <a:ext uri="{FF2B5EF4-FFF2-40B4-BE49-F238E27FC236}">
                <a16:creationId xmlns:a16="http://schemas.microsoft.com/office/drawing/2014/main" id="{56B50ACC-3F16-38C7-38F0-9AEF49C9945B}"/>
              </a:ext>
            </a:extLst>
          </p:cNvPr>
          <p:cNvSpPr/>
          <p:nvPr/>
        </p:nvSpPr>
        <p:spPr>
          <a:xfrm>
            <a:off x="457200" y="1134367"/>
            <a:ext cx="8229600" cy="57338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solidFill>
                <a:schemeClr val="accent2"/>
              </a:solidFill>
            </a:endParaRPr>
          </a:p>
        </p:txBody>
      </p:sp>
      <p:cxnSp>
        <p:nvCxnSpPr>
          <p:cNvPr id="11" name="直線コネクタ 10">
            <a:extLst>
              <a:ext uri="{FF2B5EF4-FFF2-40B4-BE49-F238E27FC236}">
                <a16:creationId xmlns:a16="http://schemas.microsoft.com/office/drawing/2014/main" id="{DE038D4F-5816-047E-A9D2-529EAE00F45E}"/>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E25EDE7F-B505-F547-0DBF-72644010E2A4}"/>
              </a:ext>
            </a:extLst>
          </p:cNvPr>
          <p:cNvSpPr>
            <a:spLocks noGrp="1"/>
          </p:cNvSpPr>
          <p:nvPr>
            <p:ph type="title"/>
          </p:nvPr>
        </p:nvSpPr>
        <p:spPr/>
        <p:txBody>
          <a:bodyPr/>
          <a:lstStyle/>
          <a:p>
            <a:r>
              <a:rPr lang="en-US" altLang="ja-JP" dirty="0"/>
              <a:t>Related Work (4): Fukiage‘s Visibility Predictor</a:t>
            </a:r>
            <a:endParaRPr kumimoji="1" lang="ja-JP" altLang="en-US" dirty="0"/>
          </a:p>
        </p:txBody>
      </p:sp>
      <p:sp>
        <p:nvSpPr>
          <p:cNvPr id="3" name="コンテンツ プレースホルダー 2">
            <a:extLst>
              <a:ext uri="{FF2B5EF4-FFF2-40B4-BE49-F238E27FC236}">
                <a16:creationId xmlns:a16="http://schemas.microsoft.com/office/drawing/2014/main" id="{977EC0E3-41EC-12FC-3AEA-4CC28DDB9534}"/>
              </a:ext>
            </a:extLst>
          </p:cNvPr>
          <p:cNvSpPr>
            <a:spLocks noGrp="1"/>
          </p:cNvSpPr>
          <p:nvPr>
            <p:ph idx="1"/>
          </p:nvPr>
        </p:nvSpPr>
        <p:spPr/>
        <p:txBody>
          <a:bodyPr/>
          <a:lstStyle/>
          <a:p>
            <a:pPr algn="ctr"/>
            <a:r>
              <a:rPr lang="en-US" altLang="ja-JP" dirty="0"/>
              <a:t>The model assumes </a:t>
            </a:r>
            <a:r>
              <a:rPr lang="en-US" altLang="ja-JP" b="1" dirty="0"/>
              <a:t>α-blending — single 2D display </a:t>
            </a:r>
          </a:p>
          <a:p>
            <a:pPr algn="ctr"/>
            <a:r>
              <a:rPr lang="en-US" altLang="ja-JP" b="1" dirty="0"/>
              <a:t> </a:t>
            </a:r>
            <a:endParaRPr lang="ja-JP" altLang="en-US" b="1" dirty="0"/>
          </a:p>
          <a:p>
            <a:pPr>
              <a:lnSpc>
                <a:spcPct val="120000"/>
              </a:lnSpc>
            </a:pPr>
            <a:r>
              <a:rPr lang="en-US" altLang="ja-JP" dirty="0"/>
              <a:t>Four OST-AR specific gaps:</a:t>
            </a:r>
          </a:p>
          <a:p>
            <a:pPr>
              <a:lnSpc>
                <a:spcPct val="120000"/>
              </a:lnSpc>
            </a:pPr>
            <a:r>
              <a:rPr lang="en-US" altLang="ja-JP" dirty="0"/>
              <a:t>1.  </a:t>
            </a:r>
            <a:r>
              <a:rPr lang="en-US" altLang="ja-JP" b="1" dirty="0">
                <a:solidFill>
                  <a:schemeClr val="accent1">
                    <a:lumMod val="60000"/>
                    <a:lumOff val="40000"/>
                  </a:schemeClr>
                </a:solidFill>
              </a:rPr>
              <a:t>Accommodation:</a:t>
            </a:r>
            <a:r>
              <a:rPr lang="en-US" altLang="ja-JP" dirty="0">
                <a:solidFill>
                  <a:schemeClr val="accent1">
                    <a:lumMod val="60000"/>
                    <a:lumOff val="40000"/>
                  </a:schemeClr>
                </a:solidFill>
              </a:rPr>
              <a:t> </a:t>
            </a:r>
            <a:r>
              <a:rPr lang="en-US" altLang="ja-JP" dirty="0"/>
              <a:t>induces defocus blur</a:t>
            </a:r>
          </a:p>
          <a:p>
            <a:pPr>
              <a:lnSpc>
                <a:spcPct val="120000"/>
              </a:lnSpc>
            </a:pPr>
            <a:r>
              <a:rPr kumimoji="1" lang="en-US" altLang="ja-JP" dirty="0"/>
              <a:t>2.  </a:t>
            </a:r>
            <a:r>
              <a:rPr kumimoji="1" lang="en-US" altLang="ja-JP" b="1" dirty="0">
                <a:solidFill>
                  <a:schemeClr val="accent1">
                    <a:lumMod val="60000"/>
                    <a:lumOff val="40000"/>
                  </a:schemeClr>
                </a:solidFill>
              </a:rPr>
              <a:t>B</a:t>
            </a:r>
            <a:r>
              <a:rPr lang="en-US" altLang="ja-JP" b="1" dirty="0">
                <a:solidFill>
                  <a:schemeClr val="accent1">
                    <a:lumMod val="60000"/>
                    <a:lumOff val="40000"/>
                  </a:schemeClr>
                </a:solidFill>
              </a:rPr>
              <a:t>inocular disparity:</a:t>
            </a:r>
            <a:r>
              <a:rPr lang="en-US" altLang="ja-JP" dirty="0">
                <a:solidFill>
                  <a:schemeClr val="accent1">
                    <a:lumMod val="60000"/>
                    <a:lumOff val="40000"/>
                  </a:schemeClr>
                </a:solidFill>
              </a:rPr>
              <a:t> </a:t>
            </a:r>
            <a:r>
              <a:rPr lang="en-US" altLang="ja-JP" dirty="0"/>
              <a:t>arises with depth difference</a:t>
            </a:r>
          </a:p>
          <a:p>
            <a:pPr>
              <a:lnSpc>
                <a:spcPct val="120000"/>
              </a:lnSpc>
            </a:pPr>
            <a:r>
              <a:rPr kumimoji="1" lang="en-US" altLang="ja-JP" dirty="0"/>
              <a:t>3. </a:t>
            </a:r>
            <a:r>
              <a:rPr kumimoji="1" lang="en-US" altLang="ja-JP" b="1" dirty="0"/>
              <a:t> </a:t>
            </a:r>
            <a:r>
              <a:rPr kumimoji="1" lang="en-US" altLang="ja-JP" b="1" dirty="0">
                <a:solidFill>
                  <a:schemeClr val="accent1"/>
                </a:solidFill>
              </a:rPr>
              <a:t>BG discounting:</a:t>
            </a:r>
            <a:r>
              <a:rPr lang="en-US" altLang="ja-JP" dirty="0">
                <a:solidFill>
                  <a:schemeClr val="accent1"/>
                </a:solidFill>
              </a:rPr>
              <a:t> </a:t>
            </a:r>
            <a:r>
              <a:rPr lang="en-US" altLang="ja-JP" dirty="0"/>
              <a:t>observers partly ignore the real BG</a:t>
            </a:r>
          </a:p>
          <a:p>
            <a:pPr>
              <a:lnSpc>
                <a:spcPct val="120000"/>
              </a:lnSpc>
            </a:pPr>
            <a:r>
              <a:rPr lang="en-US" altLang="ja-JP" dirty="0"/>
              <a:t>4.  </a:t>
            </a:r>
            <a:r>
              <a:rPr lang="en-US" altLang="ja-JP" b="1" dirty="0">
                <a:solidFill>
                  <a:schemeClr val="accent1"/>
                </a:solidFill>
              </a:rPr>
              <a:t>Optical addition: </a:t>
            </a:r>
            <a:r>
              <a:rPr lang="en-US" altLang="ja-JP" dirty="0"/>
              <a:t>HDR-range output</a:t>
            </a:r>
          </a:p>
          <a:p>
            <a:endParaRPr kumimoji="1" lang="ja-JP" altLang="en-US" dirty="0"/>
          </a:p>
        </p:txBody>
      </p:sp>
      <p:sp>
        <p:nvSpPr>
          <p:cNvPr id="4" name="コンテンツ プレースホルダー 9">
            <a:extLst>
              <a:ext uri="{FF2B5EF4-FFF2-40B4-BE49-F238E27FC236}">
                <a16:creationId xmlns:a16="http://schemas.microsoft.com/office/drawing/2014/main" id="{95716A3D-00EB-2B7D-40DD-1557379F1EF8}"/>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dirty="0"/>
              <a:t>→ This work </a:t>
            </a:r>
            <a:r>
              <a:rPr lang="en-US" altLang="ja-JP" sz="2100" b="1" dirty="0">
                <a:solidFill>
                  <a:schemeClr val="accent5"/>
                </a:solidFill>
              </a:rPr>
              <a:t>bridges these gaps</a:t>
            </a:r>
            <a:r>
              <a:rPr lang="en-US" altLang="ja-JP" sz="2100" dirty="0"/>
              <a:t>, extending the model to OST-AR</a:t>
            </a:r>
            <a:endParaRPr lang="en-US" altLang="ja-JP" sz="2100" b="1" dirty="0">
              <a:solidFill>
                <a:schemeClr val="accent5"/>
              </a:solidFill>
            </a:endParaRPr>
          </a:p>
        </p:txBody>
      </p:sp>
      <p:grpSp>
        <p:nvGrpSpPr>
          <p:cNvPr id="31" name="グループ化 30">
            <a:extLst>
              <a:ext uri="{FF2B5EF4-FFF2-40B4-BE49-F238E27FC236}">
                <a16:creationId xmlns:a16="http://schemas.microsoft.com/office/drawing/2014/main" id="{9CCA69B4-03DA-46BC-EC47-BA05C8B38E1D}"/>
              </a:ext>
            </a:extLst>
          </p:cNvPr>
          <p:cNvGrpSpPr/>
          <p:nvPr/>
        </p:nvGrpSpPr>
        <p:grpSpPr>
          <a:xfrm>
            <a:off x="6012000" y="1858399"/>
            <a:ext cx="2643538" cy="1281476"/>
            <a:chOff x="6012000" y="1858399"/>
            <a:chExt cx="2643538" cy="1281476"/>
          </a:xfrm>
        </p:grpSpPr>
        <p:pic>
          <p:nvPicPr>
            <p:cNvPr id="29" name="図 28">
              <a:extLst>
                <a:ext uri="{FF2B5EF4-FFF2-40B4-BE49-F238E27FC236}">
                  <a16:creationId xmlns:a16="http://schemas.microsoft.com/office/drawing/2014/main" id="{7C5491C9-DCD3-CD5F-449C-88417813749B}"/>
                </a:ext>
              </a:extLst>
            </p:cNvPr>
            <p:cNvPicPr>
              <a:picLocks noChangeAspect="1"/>
            </p:cNvPicPr>
            <p:nvPr/>
          </p:nvPicPr>
          <p:blipFill>
            <a:blip r:embed="rId3"/>
            <a:stretch>
              <a:fillRect/>
            </a:stretch>
          </p:blipFill>
          <p:spPr>
            <a:xfrm>
              <a:off x="7374062" y="1858399"/>
              <a:ext cx="1281476" cy="1281476"/>
            </a:xfrm>
            <a:prstGeom prst="rect">
              <a:avLst/>
            </a:prstGeom>
          </p:spPr>
        </p:pic>
        <p:pic>
          <p:nvPicPr>
            <p:cNvPr id="28" name="グラフィックス 27" descr="丘の光景 枠線">
              <a:extLst>
                <a:ext uri="{FF2B5EF4-FFF2-40B4-BE49-F238E27FC236}">
                  <a16:creationId xmlns:a16="http://schemas.microsoft.com/office/drawing/2014/main" id="{5757E71B-DCCB-9604-7854-913B300F55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2000" y="1979858"/>
              <a:ext cx="1087543" cy="1087543"/>
            </a:xfrm>
            <a:prstGeom prst="rect">
              <a:avLst/>
            </a:prstGeom>
          </p:spPr>
        </p:pic>
        <p:pic>
          <p:nvPicPr>
            <p:cNvPr id="30" name="グラフィックス 29" descr="右矢印 単色塗りつぶし">
              <a:extLst>
                <a:ext uri="{FF2B5EF4-FFF2-40B4-BE49-F238E27FC236}">
                  <a16:creationId xmlns:a16="http://schemas.microsoft.com/office/drawing/2014/main" id="{ADC41F06-27B9-DA16-1C53-14420EF998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2000" y="2375501"/>
              <a:ext cx="314331" cy="314331"/>
            </a:xfrm>
            <a:prstGeom prst="rect">
              <a:avLst/>
            </a:prstGeom>
          </p:spPr>
        </p:pic>
      </p:grpSp>
      <p:sp>
        <p:nvSpPr>
          <p:cNvPr id="6" name="スライド番号プレースホルダー 5">
            <a:extLst>
              <a:ext uri="{FF2B5EF4-FFF2-40B4-BE49-F238E27FC236}">
                <a16:creationId xmlns:a16="http://schemas.microsoft.com/office/drawing/2014/main" id="{D259F308-B787-6EA6-5BE4-81BF83F55B5E}"/>
              </a:ext>
            </a:extLst>
          </p:cNvPr>
          <p:cNvSpPr>
            <a:spLocks noGrp="1"/>
          </p:cNvSpPr>
          <p:nvPr>
            <p:ph type="sldNum" sz="quarter" idx="4"/>
          </p:nvPr>
        </p:nvSpPr>
        <p:spPr/>
        <p:txBody>
          <a:bodyPr/>
          <a:lstStyle/>
          <a:p>
            <a:fld id="{C1FF6DA9-008F-8B48-92A6-B652298478BF}" type="slidenum">
              <a:rPr lang="en-US" smtClean="0"/>
              <a:pPr/>
              <a:t>12</a:t>
            </a:fld>
            <a:r>
              <a:rPr lang="en-US"/>
              <a:t>/30</a:t>
            </a:r>
            <a:endParaRPr lang="en-US" sz="1800" dirty="0"/>
          </a:p>
        </p:txBody>
      </p:sp>
    </p:spTree>
    <p:extLst>
      <p:ext uri="{BB962C8B-B14F-4D97-AF65-F5344CB8AC3E}">
        <p14:creationId xmlns:p14="http://schemas.microsoft.com/office/powerpoint/2010/main" val="37789106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3D48-18A8-8AF8-1C8E-4AE7CF4A44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E689226-6742-8F31-3DD7-3F48A835C284}"/>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80F9C42B-9768-0181-F19B-5AF2692CA699}"/>
              </a:ext>
            </a:extLst>
          </p:cNvPr>
          <p:cNvSpPr>
            <a:spLocks noGrp="1"/>
          </p:cNvSpPr>
          <p:nvPr>
            <p:ph idx="1"/>
          </p:nvPr>
        </p:nvSpPr>
        <p:spPr/>
        <p:txBody>
          <a:bodyPr/>
          <a:lstStyle/>
          <a:p>
            <a:pPr>
              <a:lnSpc>
                <a:spcPct val="150000"/>
              </a:lnSpc>
            </a:pPr>
            <a:r>
              <a:rPr kumimoji="1" lang="en-US" altLang="ja-JP" b="1" dirty="0">
                <a:solidFill>
                  <a:schemeClr val="accent2"/>
                </a:solidFill>
              </a:rPr>
              <a:t>1.   </a:t>
            </a:r>
            <a:r>
              <a:rPr kumimoji="1" lang="en-US" altLang="ja-JP" dirty="0">
                <a:solidFill>
                  <a:schemeClr val="tx1">
                    <a:lumMod val="60000"/>
                    <a:lumOff val="40000"/>
                  </a:schemeClr>
                </a:solidFill>
              </a:rPr>
              <a:t>Introduction</a:t>
            </a:r>
          </a:p>
          <a:p>
            <a:pPr marL="0" indent="0">
              <a:lnSpc>
                <a:spcPct val="150000"/>
              </a:lnSpc>
            </a:pPr>
            <a:r>
              <a:rPr kumimoji="1" lang="en-US" altLang="ja-JP" b="1" dirty="0">
                <a:solidFill>
                  <a:schemeClr val="accent2"/>
                </a:solidFill>
              </a:rPr>
              <a:t>2.   </a:t>
            </a:r>
            <a:r>
              <a:rPr kumimoji="1" lang="en-US" altLang="ja-JP" dirty="0">
                <a:solidFill>
                  <a:schemeClr val="tx1">
                    <a:lumMod val="60000"/>
                    <a:lumOff val="40000"/>
                  </a:schemeClr>
                </a:solidFill>
              </a:rPr>
              <a:t>Related Work</a:t>
            </a:r>
          </a:p>
          <a:p>
            <a:pPr>
              <a:lnSpc>
                <a:spcPct val="150000"/>
              </a:lnSpc>
            </a:pPr>
            <a:r>
              <a:rPr lang="en-US" altLang="ja-JP" b="1" dirty="0">
                <a:solidFill>
                  <a:schemeClr val="accent1"/>
                </a:solidFill>
              </a:rPr>
              <a:t>3.   </a:t>
            </a:r>
            <a:r>
              <a:rPr lang="en-US" altLang="ja-JP" b="1" dirty="0"/>
              <a:t>Method</a:t>
            </a:r>
            <a:r>
              <a:rPr lang="en-US" altLang="ja-JP" dirty="0">
                <a:solidFill>
                  <a:schemeClr val="tx1">
                    <a:lumMod val="60000"/>
                    <a:lumOff val="40000"/>
                  </a:schemeClr>
                </a:solidFill>
              </a:rPr>
              <a:t> </a:t>
            </a:r>
            <a:r>
              <a:rPr lang="en-US" altLang="ja-JP" sz="1800" dirty="0">
                <a:solidFill>
                  <a:schemeClr val="tx2"/>
                </a:solidFill>
              </a:rPr>
              <a:t>— overview &amp; three steps</a:t>
            </a:r>
            <a:endParaRPr lang="en-US" altLang="ja-JP" dirty="0">
              <a:solidFill>
                <a:schemeClr val="tx1">
                  <a:lumMod val="60000"/>
                  <a:lumOff val="40000"/>
                </a:schemeClr>
              </a:solidFill>
            </a:endParaRPr>
          </a:p>
          <a:p>
            <a:pPr marL="0" indent="0">
              <a:lnSpc>
                <a:spcPct val="150000"/>
              </a:lnSpc>
            </a:pPr>
            <a:r>
              <a:rPr kumimoji="1" lang="en-US" altLang="ja-JP" b="1" dirty="0">
                <a:solidFill>
                  <a:schemeClr val="accent2"/>
                </a:solidFill>
              </a:rPr>
              <a:t>4.   </a:t>
            </a:r>
            <a:r>
              <a:rPr kumimoji="1" lang="en-US" altLang="ja-JP" dirty="0">
                <a:solidFill>
                  <a:schemeClr val="tx1">
                    <a:lumMod val="60000"/>
                    <a:lumOff val="40000"/>
                  </a:schemeClr>
                </a:solidFill>
              </a:rPr>
              <a:t>Pilot Experiment</a:t>
            </a:r>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21C9A80F-1A8D-FE81-C6EB-BDD507CBA14E}"/>
              </a:ext>
            </a:extLst>
          </p:cNvPr>
          <p:cNvSpPr>
            <a:spLocks noGrp="1"/>
          </p:cNvSpPr>
          <p:nvPr>
            <p:ph type="sldNum" sz="quarter" idx="4"/>
          </p:nvPr>
        </p:nvSpPr>
        <p:spPr/>
        <p:txBody>
          <a:bodyPr/>
          <a:lstStyle/>
          <a:p>
            <a:fld id="{C1FF6DA9-008F-8B48-92A6-B652298478BF}" type="slidenum">
              <a:rPr lang="en-US" smtClean="0"/>
              <a:pPr/>
              <a:t>13</a:t>
            </a:fld>
            <a:r>
              <a:rPr lang="en-US"/>
              <a:t>/30</a:t>
            </a:r>
            <a:endParaRPr lang="en-US" sz="1800" dirty="0"/>
          </a:p>
        </p:txBody>
      </p:sp>
    </p:spTree>
    <p:extLst>
      <p:ext uri="{BB962C8B-B14F-4D97-AF65-F5344CB8AC3E}">
        <p14:creationId xmlns:p14="http://schemas.microsoft.com/office/powerpoint/2010/main" val="6604975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8869B-ED5C-01D1-0504-D16039BC2FFD}"/>
            </a:ext>
          </a:extLst>
        </p:cNvPr>
        <p:cNvGrpSpPr/>
        <p:nvPr/>
      </p:nvGrpSpPr>
      <p:grpSpPr>
        <a:xfrm>
          <a:off x="0" y="0"/>
          <a:ext cx="0" cy="0"/>
          <a:chOff x="0" y="0"/>
          <a:chExt cx="0" cy="0"/>
        </a:xfrm>
      </p:grpSpPr>
      <p:sp>
        <p:nvSpPr>
          <p:cNvPr id="10" name="テキスト ボックス 9">
            <a:extLst>
              <a:ext uri="{FF2B5EF4-FFF2-40B4-BE49-F238E27FC236}">
                <a16:creationId xmlns:a16="http://schemas.microsoft.com/office/drawing/2014/main" id="{0722592E-06FA-4FDE-FABA-3E0FCB9064F6}"/>
              </a:ext>
            </a:extLst>
          </p:cNvPr>
          <p:cNvSpPr txBox="1"/>
          <p:nvPr/>
        </p:nvSpPr>
        <p:spPr>
          <a:xfrm flipH="1">
            <a:off x="462600" y="3726509"/>
            <a:ext cx="8229601" cy="831959"/>
          </a:xfrm>
          <a:prstGeom prst="rect">
            <a:avLst/>
          </a:prstGeom>
          <a:noFill/>
        </p:spPr>
        <p:txBody>
          <a:bodyPr wrap="square" rtlCol="0">
            <a:spAutoFit/>
          </a:bodyPr>
          <a:lstStyle/>
          <a:p>
            <a:pPr>
              <a:lnSpc>
                <a:spcPct val="120000"/>
              </a:lnSpc>
            </a:pPr>
            <a:r>
              <a:rPr lang="en-US" altLang="ja-JP" sz="2100" b="1" dirty="0">
                <a:uFill>
                  <a:solidFill>
                    <a:schemeClr val="accent2"/>
                  </a:solidFill>
                </a:uFill>
              </a:rPr>
              <a:t>STEP 3  </a:t>
            </a:r>
            <a:r>
              <a:rPr lang="en-US" altLang="ja-JP" sz="2100" b="1" dirty="0">
                <a:solidFill>
                  <a:schemeClr val="accent1"/>
                </a:solidFill>
                <a:uFill>
                  <a:solidFill>
                    <a:schemeClr val="accent2"/>
                  </a:solidFill>
                </a:uFill>
              </a:rPr>
              <a:t>Model Validation</a:t>
            </a:r>
          </a:p>
          <a:p>
            <a:pPr>
              <a:lnSpc>
                <a:spcPct val="120000"/>
              </a:lnSpc>
            </a:pPr>
            <a:r>
              <a:rPr lang="en-US" altLang="ja-JP" sz="2100" dirty="0"/>
              <a:t>	       — Compare with human rating</a:t>
            </a:r>
          </a:p>
        </p:txBody>
      </p:sp>
      <p:sp>
        <p:nvSpPr>
          <p:cNvPr id="22" name="テキスト ボックス 21">
            <a:extLst>
              <a:ext uri="{FF2B5EF4-FFF2-40B4-BE49-F238E27FC236}">
                <a16:creationId xmlns:a16="http://schemas.microsoft.com/office/drawing/2014/main" id="{DEC35EF2-DC5F-255B-A5E6-FA7F1BEF944F}"/>
              </a:ext>
            </a:extLst>
          </p:cNvPr>
          <p:cNvSpPr txBox="1"/>
          <p:nvPr/>
        </p:nvSpPr>
        <p:spPr>
          <a:xfrm flipH="1">
            <a:off x="462600" y="1988215"/>
            <a:ext cx="8229601" cy="831959"/>
          </a:xfrm>
          <a:prstGeom prst="rect">
            <a:avLst/>
          </a:prstGeom>
          <a:noFill/>
        </p:spPr>
        <p:txBody>
          <a:bodyPr wrap="square" rtlCol="0">
            <a:spAutoFit/>
          </a:bodyPr>
          <a:lstStyle/>
          <a:p>
            <a:pPr>
              <a:lnSpc>
                <a:spcPct val="120000"/>
              </a:lnSpc>
            </a:pPr>
            <a:r>
              <a:rPr lang="en-US" altLang="ja-JP" sz="2100" b="1" dirty="0">
                <a:uFill>
                  <a:solidFill>
                    <a:schemeClr val="accent2"/>
                  </a:solidFill>
                </a:uFill>
              </a:rPr>
              <a:t>STEP 1  </a:t>
            </a:r>
            <a:r>
              <a:rPr lang="en-US" altLang="ja-JP" sz="2100" b="1" dirty="0">
                <a:solidFill>
                  <a:schemeClr val="accent5"/>
                </a:solidFill>
                <a:uFill>
                  <a:solidFill>
                    <a:schemeClr val="accent2"/>
                  </a:solidFill>
                </a:uFill>
              </a:rPr>
              <a:t>Visibility Evaluation Experiment</a:t>
            </a:r>
          </a:p>
          <a:p>
            <a:pPr>
              <a:lnSpc>
                <a:spcPct val="120000"/>
              </a:lnSpc>
            </a:pPr>
            <a:r>
              <a:rPr lang="en-US" altLang="ja-JP" sz="2100" dirty="0"/>
              <a:t>	       — Quantify perceptual effects on visibility</a:t>
            </a:r>
          </a:p>
        </p:txBody>
      </p:sp>
      <p:sp>
        <p:nvSpPr>
          <p:cNvPr id="23" name="テキスト ボックス 22">
            <a:extLst>
              <a:ext uri="{FF2B5EF4-FFF2-40B4-BE49-F238E27FC236}">
                <a16:creationId xmlns:a16="http://schemas.microsoft.com/office/drawing/2014/main" id="{34FC85FC-A515-E5D7-A14D-699450BC25D9}"/>
              </a:ext>
            </a:extLst>
          </p:cNvPr>
          <p:cNvSpPr txBox="1"/>
          <p:nvPr/>
        </p:nvSpPr>
        <p:spPr>
          <a:xfrm flipH="1">
            <a:off x="462600" y="2857362"/>
            <a:ext cx="8229601" cy="831959"/>
          </a:xfrm>
          <a:prstGeom prst="rect">
            <a:avLst/>
          </a:prstGeom>
          <a:noFill/>
        </p:spPr>
        <p:txBody>
          <a:bodyPr wrap="square" rtlCol="0">
            <a:spAutoFit/>
          </a:bodyPr>
          <a:lstStyle/>
          <a:p>
            <a:pPr>
              <a:lnSpc>
                <a:spcPct val="120000"/>
              </a:lnSpc>
            </a:pPr>
            <a:r>
              <a:rPr lang="en-US" altLang="ja-JP" sz="2100" b="1" dirty="0">
                <a:uFill>
                  <a:solidFill>
                    <a:schemeClr val="accent2"/>
                  </a:solidFill>
                </a:uFill>
              </a:rPr>
              <a:t>STEP 2  </a:t>
            </a:r>
            <a:r>
              <a:rPr lang="en-US" altLang="ja-JP" sz="2100" b="1" dirty="0">
                <a:solidFill>
                  <a:schemeClr val="accent1"/>
                </a:solidFill>
                <a:uFill>
                  <a:solidFill>
                    <a:schemeClr val="accent2"/>
                  </a:solidFill>
                </a:uFill>
              </a:rPr>
              <a:t>Model Extension</a:t>
            </a:r>
          </a:p>
          <a:p>
            <a:pPr>
              <a:lnSpc>
                <a:spcPct val="120000"/>
              </a:lnSpc>
            </a:pPr>
            <a:r>
              <a:rPr lang="en-US" altLang="ja-JP" sz="2100" dirty="0"/>
              <a:t>	       — Extend input processing from results</a:t>
            </a:r>
          </a:p>
        </p:txBody>
      </p:sp>
      <p:cxnSp>
        <p:nvCxnSpPr>
          <p:cNvPr id="25" name="直線コネクタ 24">
            <a:extLst>
              <a:ext uri="{FF2B5EF4-FFF2-40B4-BE49-F238E27FC236}">
                <a16:creationId xmlns:a16="http://schemas.microsoft.com/office/drawing/2014/main" id="{BBBB2350-75C2-62B4-6F70-FA065E7DA322}"/>
              </a:ext>
            </a:extLst>
          </p:cNvPr>
          <p:cNvCxnSpPr>
            <a:cxnSpLocks/>
          </p:cNvCxnSpPr>
          <p:nvPr/>
        </p:nvCxnSpPr>
        <p:spPr>
          <a:xfrm>
            <a:off x="936294" y="2355750"/>
            <a:ext cx="0" cy="612000"/>
          </a:xfrm>
          <a:prstGeom prst="line">
            <a:avLst/>
          </a:prstGeom>
          <a:ln w="107950">
            <a:solidFill>
              <a:schemeClr val="accent2"/>
            </a:solidFill>
          </a:ln>
          <a:effectLst/>
        </p:spPr>
        <p:style>
          <a:lnRef idx="3">
            <a:schemeClr val="accent2"/>
          </a:lnRef>
          <a:fillRef idx="0">
            <a:schemeClr val="accent2"/>
          </a:fillRef>
          <a:effectRef idx="2">
            <a:schemeClr val="accent2"/>
          </a:effectRef>
          <a:fontRef idx="minor">
            <a:schemeClr val="tx1"/>
          </a:fontRef>
        </p:style>
      </p:cxnSp>
      <p:cxnSp>
        <p:nvCxnSpPr>
          <p:cNvPr id="26" name="直線コネクタ 25">
            <a:extLst>
              <a:ext uri="{FF2B5EF4-FFF2-40B4-BE49-F238E27FC236}">
                <a16:creationId xmlns:a16="http://schemas.microsoft.com/office/drawing/2014/main" id="{2D4BEF3E-67CC-4A08-00C4-57E357DF767D}"/>
              </a:ext>
            </a:extLst>
          </p:cNvPr>
          <p:cNvCxnSpPr>
            <a:cxnSpLocks/>
          </p:cNvCxnSpPr>
          <p:nvPr/>
        </p:nvCxnSpPr>
        <p:spPr>
          <a:xfrm>
            <a:off x="936294" y="3219750"/>
            <a:ext cx="0" cy="612000"/>
          </a:xfrm>
          <a:prstGeom prst="line">
            <a:avLst/>
          </a:prstGeom>
          <a:ln w="107950">
            <a:solidFill>
              <a:schemeClr val="accent2"/>
            </a:solidFill>
          </a:ln>
          <a:effectLst/>
        </p:spPr>
        <p:style>
          <a:lnRef idx="3">
            <a:schemeClr val="accent2"/>
          </a:lnRef>
          <a:fillRef idx="0">
            <a:schemeClr val="accent2"/>
          </a:fillRef>
          <a:effectRef idx="2">
            <a:schemeClr val="accent2"/>
          </a:effectRef>
          <a:fontRef idx="minor">
            <a:schemeClr val="tx1"/>
          </a:fontRef>
        </p:style>
      </p:cxnSp>
      <p:cxnSp>
        <p:nvCxnSpPr>
          <p:cNvPr id="24" name="直線矢印コネクタ 23">
            <a:extLst>
              <a:ext uri="{FF2B5EF4-FFF2-40B4-BE49-F238E27FC236}">
                <a16:creationId xmlns:a16="http://schemas.microsoft.com/office/drawing/2014/main" id="{A4A9B196-5D33-33CE-A951-712DFB7694AC}"/>
              </a:ext>
            </a:extLst>
          </p:cNvPr>
          <p:cNvCxnSpPr>
            <a:cxnSpLocks/>
          </p:cNvCxnSpPr>
          <p:nvPr/>
        </p:nvCxnSpPr>
        <p:spPr>
          <a:xfrm>
            <a:off x="936294" y="4083750"/>
            <a:ext cx="0" cy="576000"/>
          </a:xfrm>
          <a:prstGeom prst="straightConnector1">
            <a:avLst/>
          </a:prstGeom>
          <a:ln w="107950">
            <a:solidFill>
              <a:schemeClr val="accent2"/>
            </a:solidFill>
            <a:headEnd type="none"/>
            <a:tailEnd type="stealth"/>
          </a:ln>
          <a:effectLst/>
        </p:spPr>
        <p:style>
          <a:lnRef idx="3">
            <a:schemeClr val="accent1"/>
          </a:lnRef>
          <a:fillRef idx="0">
            <a:schemeClr val="accent1"/>
          </a:fillRef>
          <a:effectRef idx="2">
            <a:schemeClr val="accent1"/>
          </a:effectRef>
          <a:fontRef idx="minor">
            <a:schemeClr val="tx1"/>
          </a:fontRef>
        </p:style>
      </p:cxnSp>
      <p:sp>
        <p:nvSpPr>
          <p:cNvPr id="7" name="正方形/長方形 6">
            <a:extLst>
              <a:ext uri="{FF2B5EF4-FFF2-40B4-BE49-F238E27FC236}">
                <a16:creationId xmlns:a16="http://schemas.microsoft.com/office/drawing/2014/main" id="{53CF2F3D-8895-E49F-3ECD-8B7454C803C6}"/>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F54D5D60-A8DA-AB7A-608F-6E6DD7A366EE}"/>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F6FE1AAA-0C1D-CCAF-6038-C8F9AC027C39}"/>
              </a:ext>
            </a:extLst>
          </p:cNvPr>
          <p:cNvSpPr>
            <a:spLocks noGrp="1"/>
          </p:cNvSpPr>
          <p:nvPr>
            <p:ph type="title"/>
          </p:nvPr>
        </p:nvSpPr>
        <p:spPr/>
        <p:txBody>
          <a:bodyPr/>
          <a:lstStyle/>
          <a:p>
            <a:r>
              <a:rPr kumimoji="1" lang="en-US" altLang="ja-JP" dirty="0">
                <a:solidFill>
                  <a:schemeClr val="tx1"/>
                </a:solidFill>
              </a:rPr>
              <a:t>Method: Overview</a:t>
            </a:r>
            <a:endParaRPr kumimoji="1" lang="ja-JP" altLang="en-US" dirty="0">
              <a:solidFill>
                <a:schemeClr val="tx1"/>
              </a:solidFill>
            </a:endParaRPr>
          </a:p>
        </p:txBody>
      </p:sp>
      <p:sp>
        <p:nvSpPr>
          <p:cNvPr id="3" name="コンテンツ プレースホルダー 2">
            <a:extLst>
              <a:ext uri="{FF2B5EF4-FFF2-40B4-BE49-F238E27FC236}">
                <a16:creationId xmlns:a16="http://schemas.microsoft.com/office/drawing/2014/main" id="{AF337F9D-C88D-08FD-82DB-78434F4AEA9B}"/>
              </a:ext>
            </a:extLst>
          </p:cNvPr>
          <p:cNvSpPr>
            <a:spLocks noGrp="1"/>
          </p:cNvSpPr>
          <p:nvPr>
            <p:ph idx="1"/>
          </p:nvPr>
        </p:nvSpPr>
        <p:spPr>
          <a:xfrm>
            <a:off x="457200" y="1203750"/>
            <a:ext cx="8229600" cy="504000"/>
          </a:xfrm>
        </p:spPr>
        <p:txBody>
          <a:bodyPr/>
          <a:lstStyle/>
          <a:p>
            <a:pPr algn="ctr"/>
            <a:r>
              <a:rPr lang="en-US" altLang="ja-JP" b="1" dirty="0">
                <a:solidFill>
                  <a:schemeClr val="accent1"/>
                </a:solidFill>
              </a:rPr>
              <a:t>Three steps </a:t>
            </a:r>
            <a:r>
              <a:rPr lang="en-US" altLang="ja-JP" dirty="0"/>
              <a:t>to extend  Fukiage’s model for OST-AR</a:t>
            </a:r>
          </a:p>
        </p:txBody>
      </p:sp>
      <p:sp>
        <p:nvSpPr>
          <p:cNvPr id="5" name="スライド番号プレースホルダー 4">
            <a:extLst>
              <a:ext uri="{FF2B5EF4-FFF2-40B4-BE49-F238E27FC236}">
                <a16:creationId xmlns:a16="http://schemas.microsoft.com/office/drawing/2014/main" id="{671599AC-3673-88F0-B3A8-0BB1F919625B}"/>
              </a:ext>
            </a:extLst>
          </p:cNvPr>
          <p:cNvSpPr>
            <a:spLocks noGrp="1"/>
          </p:cNvSpPr>
          <p:nvPr>
            <p:ph type="sldNum" sz="quarter" idx="4"/>
          </p:nvPr>
        </p:nvSpPr>
        <p:spPr/>
        <p:txBody>
          <a:bodyPr/>
          <a:lstStyle/>
          <a:p>
            <a:fld id="{C1FF6DA9-008F-8B48-92A6-B652298478BF}" type="slidenum">
              <a:rPr lang="en-US" smtClean="0"/>
              <a:pPr/>
              <a:t>14</a:t>
            </a:fld>
            <a:r>
              <a:rPr lang="en-US"/>
              <a:t>/30</a:t>
            </a:r>
            <a:endParaRPr lang="en-US" sz="1800" dirty="0"/>
          </a:p>
        </p:txBody>
      </p:sp>
    </p:spTree>
    <p:extLst>
      <p:ext uri="{BB962C8B-B14F-4D97-AF65-F5344CB8AC3E}">
        <p14:creationId xmlns:p14="http://schemas.microsoft.com/office/powerpoint/2010/main" val="36862351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95037-D6B3-8185-6261-5DF09677D184}"/>
            </a:ext>
          </a:extLst>
        </p:cNvPr>
        <p:cNvGrpSpPr/>
        <p:nvPr/>
      </p:nvGrpSpPr>
      <p:grpSpPr>
        <a:xfrm>
          <a:off x="0" y="0"/>
          <a:ext cx="0" cy="0"/>
          <a:chOff x="0" y="0"/>
          <a:chExt cx="0" cy="0"/>
        </a:xfrm>
      </p:grpSpPr>
      <p:sp>
        <p:nvSpPr>
          <p:cNvPr id="10" name="テキスト ボックス 9">
            <a:extLst>
              <a:ext uri="{FF2B5EF4-FFF2-40B4-BE49-F238E27FC236}">
                <a16:creationId xmlns:a16="http://schemas.microsoft.com/office/drawing/2014/main" id="{3E3083C1-AE12-48FD-19E4-8B8085AE19E9}"/>
              </a:ext>
            </a:extLst>
          </p:cNvPr>
          <p:cNvSpPr txBox="1"/>
          <p:nvPr/>
        </p:nvSpPr>
        <p:spPr>
          <a:xfrm flipH="1">
            <a:off x="6053400" y="1851750"/>
            <a:ext cx="2628000" cy="2388283"/>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Linear summation</a:t>
            </a: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r>
              <a:rPr lang="en-US" altLang="ja-JP" b="1" dirty="0">
                <a:uFill>
                  <a:solidFill>
                    <a:schemeClr val="accent2"/>
                  </a:solidFill>
                </a:uFill>
              </a:rPr>
              <a:t>Contrast perception</a:t>
            </a:r>
          </a:p>
          <a:p>
            <a:pPr algn="ctr">
              <a:lnSpc>
                <a:spcPct val="120000"/>
              </a:lnSpc>
            </a:pPr>
            <a:r>
              <a:rPr lang="en-US" altLang="ja-JP" b="1" dirty="0">
                <a:uFill>
                  <a:solidFill>
                    <a:schemeClr val="accent2"/>
                  </a:solidFill>
                </a:uFill>
              </a:rPr>
              <a:t>change</a:t>
            </a:r>
          </a:p>
        </p:txBody>
      </p:sp>
      <p:sp>
        <p:nvSpPr>
          <p:cNvPr id="22" name="テキスト ボックス 21">
            <a:extLst>
              <a:ext uri="{FF2B5EF4-FFF2-40B4-BE49-F238E27FC236}">
                <a16:creationId xmlns:a16="http://schemas.microsoft.com/office/drawing/2014/main" id="{35A4A997-4F10-33A6-BF2F-2CA2E6AD71DB}"/>
              </a:ext>
            </a:extLst>
          </p:cNvPr>
          <p:cNvSpPr txBox="1"/>
          <p:nvPr/>
        </p:nvSpPr>
        <p:spPr>
          <a:xfrm flipH="1">
            <a:off x="462600" y="1851750"/>
            <a:ext cx="2628000" cy="2388283"/>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BG perception change</a:t>
            </a:r>
          </a:p>
          <a:p>
            <a:pPr algn="ctr">
              <a:lnSpc>
                <a:spcPct val="120000"/>
              </a:lnSpc>
            </a:pPr>
            <a:endParaRPr lang="en-US" altLang="ja-JP" b="1" u="heavy" dirty="0">
              <a:uFill>
                <a:solidFill>
                  <a:schemeClr val="accent2"/>
                </a:solidFill>
              </a:uFill>
            </a:endParaRPr>
          </a:p>
          <a:p>
            <a:pPr algn="ctr">
              <a:lnSpc>
                <a:spcPct val="120000"/>
              </a:lnSpc>
            </a:pPr>
            <a:endParaRPr lang="en-US" altLang="ja-JP" b="1" u="heavy" dirty="0">
              <a:uFill>
                <a:solidFill>
                  <a:schemeClr val="accent2"/>
                </a:solidFill>
              </a:uFill>
            </a:endParaRPr>
          </a:p>
          <a:p>
            <a:pPr algn="ctr">
              <a:lnSpc>
                <a:spcPct val="120000"/>
              </a:lnSpc>
            </a:pPr>
            <a:endParaRPr lang="en-US" altLang="ja-JP" b="1" u="heavy" dirty="0">
              <a:uFill>
                <a:solidFill>
                  <a:schemeClr val="accent2"/>
                </a:solidFill>
              </a:uFill>
            </a:endParaRPr>
          </a:p>
          <a:p>
            <a:pPr algn="ctr">
              <a:lnSpc>
                <a:spcPct val="120000"/>
              </a:lnSpc>
            </a:pPr>
            <a:endParaRPr lang="en-US" altLang="ja-JP" b="1" u="heavy" dirty="0">
              <a:uFill>
                <a:solidFill>
                  <a:schemeClr val="accent2"/>
                </a:solidFill>
              </a:uFill>
            </a:endParaRPr>
          </a:p>
          <a:p>
            <a:pPr algn="ctr">
              <a:lnSpc>
                <a:spcPct val="120000"/>
              </a:lnSpc>
            </a:pPr>
            <a:r>
              <a:rPr lang="en-US" altLang="ja-JP" b="1" dirty="0">
                <a:uFill>
                  <a:solidFill>
                    <a:schemeClr val="accent2"/>
                  </a:solidFill>
                </a:uFill>
              </a:rPr>
              <a:t>Defocus  </a:t>
            </a:r>
            <a:br>
              <a:rPr lang="en-US" altLang="ja-JP" b="1" dirty="0">
                <a:uFill>
                  <a:solidFill>
                    <a:schemeClr val="accent2"/>
                  </a:solidFill>
                </a:uFill>
              </a:rPr>
            </a:br>
            <a:r>
              <a:rPr lang="en-US" altLang="ja-JP" b="1" dirty="0">
                <a:uFill>
                  <a:solidFill>
                    <a:schemeClr val="accent2"/>
                  </a:solidFill>
                </a:uFill>
              </a:rPr>
              <a:t>+ Binocular disparity</a:t>
            </a:r>
            <a:endParaRPr lang="en-US" altLang="ja-JP" dirty="0"/>
          </a:p>
        </p:txBody>
      </p:sp>
      <p:sp>
        <p:nvSpPr>
          <p:cNvPr id="23" name="テキスト ボックス 22">
            <a:extLst>
              <a:ext uri="{FF2B5EF4-FFF2-40B4-BE49-F238E27FC236}">
                <a16:creationId xmlns:a16="http://schemas.microsoft.com/office/drawing/2014/main" id="{B776E94C-BE28-83F3-7280-43B8ED9E2CB6}"/>
              </a:ext>
            </a:extLst>
          </p:cNvPr>
          <p:cNvSpPr txBox="1"/>
          <p:nvPr/>
        </p:nvSpPr>
        <p:spPr>
          <a:xfrm flipH="1">
            <a:off x="3248489" y="1857183"/>
            <a:ext cx="2628000" cy="2388283"/>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BG discounting</a:t>
            </a: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r>
              <a:rPr lang="en-US" altLang="ja-JP" b="1" dirty="0">
                <a:uFill>
                  <a:solidFill>
                    <a:schemeClr val="accent2"/>
                  </a:solidFill>
                </a:uFill>
              </a:rPr>
              <a:t>Non-optical perception change</a:t>
            </a:r>
          </a:p>
        </p:txBody>
      </p:sp>
      <p:sp>
        <p:nvSpPr>
          <p:cNvPr id="7" name="正方形/長方形 6">
            <a:extLst>
              <a:ext uri="{FF2B5EF4-FFF2-40B4-BE49-F238E27FC236}">
                <a16:creationId xmlns:a16="http://schemas.microsoft.com/office/drawing/2014/main" id="{C80CCE0D-CF4B-2666-325E-60B1EA44D105}"/>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solidFill>
                <a:schemeClr val="accent2"/>
              </a:solidFill>
            </a:endParaRPr>
          </a:p>
        </p:txBody>
      </p:sp>
      <p:cxnSp>
        <p:nvCxnSpPr>
          <p:cNvPr id="9" name="直線コネクタ 8">
            <a:extLst>
              <a:ext uri="{FF2B5EF4-FFF2-40B4-BE49-F238E27FC236}">
                <a16:creationId xmlns:a16="http://schemas.microsoft.com/office/drawing/2014/main" id="{68FBCB01-3790-28DE-1EA8-37E184C49C4B}"/>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AF7F9D13-8CBD-3D7B-DF27-307FA66503DD}"/>
              </a:ext>
            </a:extLst>
          </p:cNvPr>
          <p:cNvSpPr>
            <a:spLocks noGrp="1"/>
          </p:cNvSpPr>
          <p:nvPr>
            <p:ph type="title"/>
          </p:nvPr>
        </p:nvSpPr>
        <p:spPr/>
        <p:txBody>
          <a:bodyPr/>
          <a:lstStyle/>
          <a:p>
            <a:r>
              <a:rPr kumimoji="1" lang="en-US" altLang="ja-JP" dirty="0">
                <a:solidFill>
                  <a:schemeClr val="tx1"/>
                </a:solidFill>
              </a:rPr>
              <a:t>Method </a:t>
            </a:r>
            <a:r>
              <a:rPr lang="en-US" altLang="ja-JP" dirty="0">
                <a:solidFill>
                  <a:schemeClr val="tx1"/>
                </a:solidFill>
              </a:rPr>
              <a:t>(1): Visibility Evaluation Experiment</a:t>
            </a:r>
            <a:endParaRPr kumimoji="1" lang="ja-JP" altLang="en-US" dirty="0">
              <a:solidFill>
                <a:schemeClr val="tx1"/>
              </a:solidFill>
            </a:endParaRPr>
          </a:p>
        </p:txBody>
      </p:sp>
      <p:sp>
        <p:nvSpPr>
          <p:cNvPr id="3" name="コンテンツ プレースホルダー 2">
            <a:extLst>
              <a:ext uri="{FF2B5EF4-FFF2-40B4-BE49-F238E27FC236}">
                <a16:creationId xmlns:a16="http://schemas.microsoft.com/office/drawing/2014/main" id="{B7C8EA4B-4C17-67A8-E5C9-F57559A7703F}"/>
              </a:ext>
            </a:extLst>
          </p:cNvPr>
          <p:cNvSpPr>
            <a:spLocks noGrp="1"/>
          </p:cNvSpPr>
          <p:nvPr>
            <p:ph idx="1"/>
          </p:nvPr>
        </p:nvSpPr>
        <p:spPr>
          <a:xfrm>
            <a:off x="457200" y="1203750"/>
            <a:ext cx="8229600" cy="504000"/>
          </a:xfrm>
        </p:spPr>
        <p:txBody>
          <a:bodyPr/>
          <a:lstStyle/>
          <a:p>
            <a:pPr algn="ctr"/>
            <a:r>
              <a:rPr lang="en-US" altLang="ja-JP" dirty="0"/>
              <a:t>Quantify </a:t>
            </a:r>
            <a:r>
              <a:rPr lang="en-US" altLang="ja-JP" b="1" dirty="0">
                <a:solidFill>
                  <a:schemeClr val="accent1"/>
                </a:solidFill>
              </a:rPr>
              <a:t>how each OST-AR specific factor affect visibility</a:t>
            </a:r>
          </a:p>
        </p:txBody>
      </p:sp>
      <p:sp>
        <p:nvSpPr>
          <p:cNvPr id="4" name="コンテンツ プレースホルダー 9">
            <a:extLst>
              <a:ext uri="{FF2B5EF4-FFF2-40B4-BE49-F238E27FC236}">
                <a16:creationId xmlns:a16="http://schemas.microsoft.com/office/drawing/2014/main" id="{12C62D54-374A-4D8D-D885-6067CBF960D2}"/>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ja-JP" altLang="en-US" sz="2100" b="1" dirty="0">
                <a:solidFill>
                  <a:schemeClr val="accent5"/>
                </a:solidFill>
              </a:rPr>
              <a:t>→</a:t>
            </a:r>
            <a:r>
              <a:rPr lang="en-US" altLang="ja-JP" sz="2100" b="1" dirty="0">
                <a:solidFill>
                  <a:schemeClr val="accent5"/>
                </a:solidFill>
              </a:rPr>
              <a:t>Decide extensions</a:t>
            </a:r>
            <a:r>
              <a:rPr lang="en-US" altLang="ja-JP" sz="2100" dirty="0">
                <a:solidFill>
                  <a:schemeClr val="accent5"/>
                </a:solidFill>
              </a:rPr>
              <a:t> &amp; </a:t>
            </a:r>
            <a:r>
              <a:rPr lang="en-US" altLang="ja-JP" sz="2100" b="1" dirty="0">
                <a:solidFill>
                  <a:schemeClr val="accent5"/>
                </a:solidFill>
              </a:rPr>
              <a:t>fit parameters</a:t>
            </a:r>
          </a:p>
        </p:txBody>
      </p:sp>
      <p:grpSp>
        <p:nvGrpSpPr>
          <p:cNvPr id="29" name="グループ化 28">
            <a:extLst>
              <a:ext uri="{FF2B5EF4-FFF2-40B4-BE49-F238E27FC236}">
                <a16:creationId xmlns:a16="http://schemas.microsoft.com/office/drawing/2014/main" id="{E2629A49-085C-B4E4-AFE3-2E56169161FB}"/>
              </a:ext>
            </a:extLst>
          </p:cNvPr>
          <p:cNvGrpSpPr>
            <a:grpSpLocks noChangeAspect="1"/>
          </p:cNvGrpSpPr>
          <p:nvPr/>
        </p:nvGrpSpPr>
        <p:grpSpPr>
          <a:xfrm>
            <a:off x="589551" y="2355750"/>
            <a:ext cx="2374097" cy="1150862"/>
            <a:chOff x="6012000" y="1858399"/>
            <a:chExt cx="2643538" cy="1281476"/>
          </a:xfrm>
        </p:grpSpPr>
        <p:pic>
          <p:nvPicPr>
            <p:cNvPr id="30" name="図 29">
              <a:extLst>
                <a:ext uri="{FF2B5EF4-FFF2-40B4-BE49-F238E27FC236}">
                  <a16:creationId xmlns:a16="http://schemas.microsoft.com/office/drawing/2014/main" id="{2C270DF1-D975-AAC3-1B99-EF1562929CF5}"/>
                </a:ext>
              </a:extLst>
            </p:cNvPr>
            <p:cNvPicPr>
              <a:picLocks noChangeAspect="1"/>
            </p:cNvPicPr>
            <p:nvPr/>
          </p:nvPicPr>
          <p:blipFill>
            <a:blip r:embed="rId3"/>
            <a:stretch>
              <a:fillRect/>
            </a:stretch>
          </p:blipFill>
          <p:spPr>
            <a:xfrm>
              <a:off x="7374062" y="1858399"/>
              <a:ext cx="1281476" cy="1281476"/>
            </a:xfrm>
            <a:prstGeom prst="rect">
              <a:avLst/>
            </a:prstGeom>
          </p:spPr>
        </p:pic>
        <p:pic>
          <p:nvPicPr>
            <p:cNvPr id="31" name="グラフィックス 30" descr="丘の光景 枠線">
              <a:extLst>
                <a:ext uri="{FF2B5EF4-FFF2-40B4-BE49-F238E27FC236}">
                  <a16:creationId xmlns:a16="http://schemas.microsoft.com/office/drawing/2014/main" id="{13171806-FE78-F370-2F2A-17693EFDEC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2000" y="1979858"/>
              <a:ext cx="1087543" cy="1087543"/>
            </a:xfrm>
            <a:prstGeom prst="rect">
              <a:avLst/>
            </a:prstGeom>
          </p:spPr>
        </p:pic>
        <p:pic>
          <p:nvPicPr>
            <p:cNvPr id="32" name="グラフィックス 31" descr="右矢印 単色塗りつぶし">
              <a:extLst>
                <a:ext uri="{FF2B5EF4-FFF2-40B4-BE49-F238E27FC236}">
                  <a16:creationId xmlns:a16="http://schemas.microsoft.com/office/drawing/2014/main" id="{26F5F652-5298-3F7C-3334-88B0BFCB8E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2000" y="2375501"/>
              <a:ext cx="314331" cy="314331"/>
            </a:xfrm>
            <a:prstGeom prst="rect">
              <a:avLst/>
            </a:prstGeom>
          </p:spPr>
        </p:pic>
      </p:grpSp>
      <p:grpSp>
        <p:nvGrpSpPr>
          <p:cNvPr id="39" name="グループ化 38">
            <a:extLst>
              <a:ext uri="{FF2B5EF4-FFF2-40B4-BE49-F238E27FC236}">
                <a16:creationId xmlns:a16="http://schemas.microsoft.com/office/drawing/2014/main" id="{67297DDA-EDBC-F270-EFD8-E31B71601332}"/>
              </a:ext>
            </a:extLst>
          </p:cNvPr>
          <p:cNvGrpSpPr>
            <a:grpSpLocks noChangeAspect="1"/>
          </p:cNvGrpSpPr>
          <p:nvPr/>
        </p:nvGrpSpPr>
        <p:grpSpPr>
          <a:xfrm>
            <a:off x="3315431" y="2377795"/>
            <a:ext cx="2513137" cy="1158352"/>
            <a:chOff x="3155648" y="2445623"/>
            <a:chExt cx="2853009" cy="1315005"/>
          </a:xfrm>
        </p:grpSpPr>
        <p:grpSp>
          <p:nvGrpSpPr>
            <p:cNvPr id="34" name="グループ化 33">
              <a:extLst>
                <a:ext uri="{FF2B5EF4-FFF2-40B4-BE49-F238E27FC236}">
                  <a16:creationId xmlns:a16="http://schemas.microsoft.com/office/drawing/2014/main" id="{0A716A3F-CCD3-1486-AAFF-732C05731C8F}"/>
                </a:ext>
              </a:extLst>
            </p:cNvPr>
            <p:cNvGrpSpPr/>
            <p:nvPr/>
          </p:nvGrpSpPr>
          <p:grpSpPr>
            <a:xfrm>
              <a:off x="4445119" y="2445623"/>
              <a:ext cx="1563538" cy="1281476"/>
              <a:chOff x="7092000" y="1858399"/>
              <a:chExt cx="1563538" cy="1281476"/>
            </a:xfrm>
          </p:grpSpPr>
          <p:pic>
            <p:nvPicPr>
              <p:cNvPr id="35" name="図 34">
                <a:extLst>
                  <a:ext uri="{FF2B5EF4-FFF2-40B4-BE49-F238E27FC236}">
                    <a16:creationId xmlns:a16="http://schemas.microsoft.com/office/drawing/2014/main" id="{8AFECC70-EE92-7A44-E36D-9E2610D8D5C3}"/>
                  </a:ext>
                </a:extLst>
              </p:cNvPr>
              <p:cNvPicPr>
                <a:picLocks noChangeAspect="1"/>
              </p:cNvPicPr>
              <p:nvPr/>
            </p:nvPicPr>
            <p:blipFill>
              <a:blip r:embed="rId6">
                <a:alphaModFix amt="37000"/>
                <a:extLst>
                  <a:ext uri="{BEBA8EAE-BF5A-486C-A8C5-ECC9F3942E4B}">
                    <a14:imgProps xmlns:a14="http://schemas.microsoft.com/office/drawing/2010/main">
                      <a14:imgLayer r:embed="rId7">
                        <a14:imgEffect>
                          <a14:colorTemperature colorTemp="6200"/>
                        </a14:imgEffect>
                      </a14:imgLayer>
                    </a14:imgProps>
                  </a:ext>
                </a:extLst>
              </a:blip>
              <a:stretch>
                <a:fillRect/>
              </a:stretch>
            </p:blipFill>
            <p:spPr>
              <a:xfrm>
                <a:off x="7374062" y="1858399"/>
                <a:ext cx="1281476" cy="1281476"/>
              </a:xfrm>
              <a:prstGeom prst="rect">
                <a:avLst/>
              </a:prstGeom>
              <a:effectLst>
                <a:reflection stA="45000" endPos="5000" dist="50800" dir="5400000" sy="-100000" algn="bl" rotWithShape="0"/>
              </a:effectLst>
            </p:spPr>
          </p:pic>
          <p:pic>
            <p:nvPicPr>
              <p:cNvPr id="37" name="グラフィックス 36" descr="右矢印 単色塗りつぶし">
                <a:extLst>
                  <a:ext uri="{FF2B5EF4-FFF2-40B4-BE49-F238E27FC236}">
                    <a16:creationId xmlns:a16="http://schemas.microsoft.com/office/drawing/2014/main" id="{EEE29A27-2AA4-3168-E357-E41D304A81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2000" y="2375501"/>
                <a:ext cx="314331" cy="314331"/>
              </a:xfrm>
              <a:prstGeom prst="rect">
                <a:avLst/>
              </a:prstGeom>
            </p:spPr>
          </p:pic>
        </p:grpSp>
        <p:pic>
          <p:nvPicPr>
            <p:cNvPr id="38" name="図 37">
              <a:extLst>
                <a:ext uri="{FF2B5EF4-FFF2-40B4-BE49-F238E27FC236}">
                  <a16:creationId xmlns:a16="http://schemas.microsoft.com/office/drawing/2014/main" id="{26AA108F-480E-6163-4CA1-4A52D0F48DA1}"/>
                </a:ext>
              </a:extLst>
            </p:cNvPr>
            <p:cNvPicPr>
              <a:picLocks noChangeAspect="1"/>
            </p:cNvPicPr>
            <p:nvPr/>
          </p:nvPicPr>
          <p:blipFill>
            <a:blip r:embed="rId3"/>
            <a:stretch>
              <a:fillRect/>
            </a:stretch>
          </p:blipFill>
          <p:spPr>
            <a:xfrm>
              <a:off x="3155648" y="2479152"/>
              <a:ext cx="1281476" cy="1281476"/>
            </a:xfrm>
            <a:prstGeom prst="rect">
              <a:avLst/>
            </a:prstGeom>
          </p:spPr>
        </p:pic>
      </p:grpSp>
      <p:pic>
        <p:nvPicPr>
          <p:cNvPr id="40" name="図 39">
            <a:extLst>
              <a:ext uri="{FF2B5EF4-FFF2-40B4-BE49-F238E27FC236}">
                <a16:creationId xmlns:a16="http://schemas.microsoft.com/office/drawing/2014/main" id="{BED889AF-65A5-6352-D103-D8BD63FDF735}"/>
              </a:ext>
            </a:extLst>
          </p:cNvPr>
          <p:cNvPicPr>
            <a:picLocks noChangeAspect="1"/>
          </p:cNvPicPr>
          <p:nvPr/>
        </p:nvPicPr>
        <p:blipFill>
          <a:blip r:embed="rId8"/>
          <a:stretch>
            <a:fillRect/>
          </a:stretch>
        </p:blipFill>
        <p:spPr>
          <a:xfrm>
            <a:off x="6576426" y="2342865"/>
            <a:ext cx="1661244" cy="1145850"/>
          </a:xfrm>
          <a:prstGeom prst="rect">
            <a:avLst/>
          </a:prstGeom>
        </p:spPr>
      </p:pic>
      <p:cxnSp>
        <p:nvCxnSpPr>
          <p:cNvPr id="5" name="直線コネクタ 4">
            <a:extLst>
              <a:ext uri="{FF2B5EF4-FFF2-40B4-BE49-F238E27FC236}">
                <a16:creationId xmlns:a16="http://schemas.microsoft.com/office/drawing/2014/main" id="{AE5FB15B-28A7-EBD7-3E21-6FCBAE996D75}"/>
              </a:ext>
            </a:extLst>
          </p:cNvPr>
          <p:cNvCxnSpPr>
            <a:cxnSpLocks/>
          </p:cNvCxnSpPr>
          <p:nvPr/>
        </p:nvCxnSpPr>
        <p:spPr>
          <a:xfrm>
            <a:off x="3169544" y="184626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6" name="直線コネクタ 5">
            <a:extLst>
              <a:ext uri="{FF2B5EF4-FFF2-40B4-BE49-F238E27FC236}">
                <a16:creationId xmlns:a16="http://schemas.microsoft.com/office/drawing/2014/main" id="{38F5B29C-EB3E-8707-D965-F5F15765B589}"/>
              </a:ext>
            </a:extLst>
          </p:cNvPr>
          <p:cNvCxnSpPr>
            <a:cxnSpLocks/>
          </p:cNvCxnSpPr>
          <p:nvPr/>
        </p:nvCxnSpPr>
        <p:spPr>
          <a:xfrm>
            <a:off x="5964945" y="184626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8F579932-E669-0BA6-46F6-89D86249D6FE}"/>
              </a:ext>
            </a:extLst>
          </p:cNvPr>
          <p:cNvSpPr txBox="1"/>
          <p:nvPr/>
        </p:nvSpPr>
        <p:spPr>
          <a:xfrm>
            <a:off x="8145626" y="3280345"/>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3" name="テキスト ボックス 12">
            <a:extLst>
              <a:ext uri="{FF2B5EF4-FFF2-40B4-BE49-F238E27FC236}">
                <a16:creationId xmlns:a16="http://schemas.microsoft.com/office/drawing/2014/main" id="{B2A2F7D3-DA16-F4FB-CD99-B8C66AAD8A4C}"/>
              </a:ext>
            </a:extLst>
          </p:cNvPr>
          <p:cNvSpPr txBox="1"/>
          <p:nvPr/>
        </p:nvSpPr>
        <p:spPr>
          <a:xfrm>
            <a:off x="0" y="4894716"/>
            <a:ext cx="9180000" cy="253916"/>
          </a:xfrm>
          <a:prstGeom prst="rect">
            <a:avLst/>
          </a:prstGeom>
          <a:noFill/>
        </p:spPr>
        <p:txBody>
          <a:bodyPr wrap="square" rtlCol="0">
            <a:spAutoFit/>
          </a:bodyPr>
          <a:lstStyle/>
          <a:p>
            <a:r>
              <a:rPr lang="en-US" altLang="ja-JP" sz="1050" dirty="0">
                <a:solidFill>
                  <a:schemeClr val="tx1">
                    <a:lumMod val="60000"/>
                    <a:lumOff val="40000"/>
                  </a:schemeClr>
                </a:solidFill>
              </a:rPr>
              <a:t>[1] Kim et al. “Supra-threshold Contrast Perception in Augmented Reality.” 2025 </a:t>
            </a:r>
          </a:p>
        </p:txBody>
      </p:sp>
      <p:sp>
        <p:nvSpPr>
          <p:cNvPr id="8" name="スライド番号プレースホルダー 7">
            <a:extLst>
              <a:ext uri="{FF2B5EF4-FFF2-40B4-BE49-F238E27FC236}">
                <a16:creationId xmlns:a16="http://schemas.microsoft.com/office/drawing/2014/main" id="{5ECA5770-D505-BE37-BAD2-D418FE134C9F}"/>
              </a:ext>
            </a:extLst>
          </p:cNvPr>
          <p:cNvSpPr>
            <a:spLocks noGrp="1"/>
          </p:cNvSpPr>
          <p:nvPr>
            <p:ph type="sldNum" sz="quarter" idx="4"/>
          </p:nvPr>
        </p:nvSpPr>
        <p:spPr/>
        <p:txBody>
          <a:bodyPr/>
          <a:lstStyle/>
          <a:p>
            <a:fld id="{C1FF6DA9-008F-8B48-92A6-B652298478BF}" type="slidenum">
              <a:rPr lang="en-US" smtClean="0"/>
              <a:pPr/>
              <a:t>15</a:t>
            </a:fld>
            <a:r>
              <a:rPr lang="en-US"/>
              <a:t>/30</a:t>
            </a:r>
            <a:endParaRPr lang="en-US" sz="1800" dirty="0"/>
          </a:p>
        </p:txBody>
      </p:sp>
    </p:spTree>
    <p:extLst>
      <p:ext uri="{BB962C8B-B14F-4D97-AF65-F5344CB8AC3E}">
        <p14:creationId xmlns:p14="http://schemas.microsoft.com/office/powerpoint/2010/main" val="2107678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14988-7CD5-9FE3-B5C9-3F339ED677E9}"/>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BAA9E58E-A882-CEBC-8479-788B717BA898}"/>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7DA918F6-5C75-CE35-8E36-28B5895631C0}"/>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600C52A6-156A-0178-AB17-4D7E955FBE27}"/>
              </a:ext>
            </a:extLst>
          </p:cNvPr>
          <p:cNvSpPr>
            <a:spLocks noGrp="1"/>
          </p:cNvSpPr>
          <p:nvPr>
            <p:ph type="title"/>
          </p:nvPr>
        </p:nvSpPr>
        <p:spPr/>
        <p:txBody>
          <a:bodyPr/>
          <a:lstStyle/>
          <a:p>
            <a:r>
              <a:rPr kumimoji="1" lang="en-US" altLang="ja-JP" dirty="0">
                <a:solidFill>
                  <a:schemeClr val="tx1"/>
                </a:solidFill>
              </a:rPr>
              <a:t>Method </a:t>
            </a:r>
            <a:r>
              <a:rPr lang="en-US" altLang="ja-JP" dirty="0">
                <a:solidFill>
                  <a:schemeClr val="tx1"/>
                </a:solidFill>
              </a:rPr>
              <a:t>(2): Model Extension</a:t>
            </a:r>
            <a:endParaRPr kumimoji="1" lang="ja-JP" altLang="en-US" dirty="0">
              <a:solidFill>
                <a:schemeClr val="tx1"/>
              </a:solidFill>
            </a:endParaRPr>
          </a:p>
        </p:txBody>
      </p:sp>
      <p:sp>
        <p:nvSpPr>
          <p:cNvPr id="3" name="コンテンツ プレースホルダー 2">
            <a:extLst>
              <a:ext uri="{FF2B5EF4-FFF2-40B4-BE49-F238E27FC236}">
                <a16:creationId xmlns:a16="http://schemas.microsoft.com/office/drawing/2014/main" id="{567236D3-76EE-A0CC-9798-129C2E76231B}"/>
              </a:ext>
            </a:extLst>
          </p:cNvPr>
          <p:cNvSpPr>
            <a:spLocks noGrp="1"/>
          </p:cNvSpPr>
          <p:nvPr>
            <p:ph idx="1"/>
          </p:nvPr>
        </p:nvSpPr>
        <p:spPr>
          <a:xfrm>
            <a:off x="457200" y="1203750"/>
            <a:ext cx="8229600" cy="504000"/>
          </a:xfrm>
        </p:spPr>
        <p:txBody>
          <a:bodyPr/>
          <a:lstStyle/>
          <a:p>
            <a:pPr algn="ctr"/>
            <a:r>
              <a:rPr lang="en-US" altLang="ja-JP" dirty="0"/>
              <a:t>Extend model pipeline with </a:t>
            </a:r>
            <a:r>
              <a:rPr lang="en-US" altLang="ja-JP" b="1" dirty="0">
                <a:solidFill>
                  <a:schemeClr val="accent1"/>
                </a:solidFill>
              </a:rPr>
              <a:t>four OST-AR-specific mechanisms</a:t>
            </a:r>
          </a:p>
        </p:txBody>
      </p:sp>
      <p:sp>
        <p:nvSpPr>
          <p:cNvPr id="5" name="テキスト ボックス 4">
            <a:extLst>
              <a:ext uri="{FF2B5EF4-FFF2-40B4-BE49-F238E27FC236}">
                <a16:creationId xmlns:a16="http://schemas.microsoft.com/office/drawing/2014/main" id="{11D2984E-D9FF-B904-1A7A-4AFBD83D50A7}"/>
              </a:ext>
            </a:extLst>
          </p:cNvPr>
          <p:cNvSpPr txBox="1"/>
          <p:nvPr/>
        </p:nvSpPr>
        <p:spPr>
          <a:xfrm flipH="1">
            <a:off x="462600" y="1988214"/>
            <a:ext cx="4037400" cy="454740"/>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①  </a:t>
            </a:r>
            <a:r>
              <a:rPr lang="en-US" altLang="ja-JP" sz="2100" b="1" dirty="0">
                <a:solidFill>
                  <a:schemeClr val="accent1"/>
                </a:solidFill>
                <a:uFill>
                  <a:solidFill>
                    <a:schemeClr val="accent2"/>
                  </a:solidFill>
                </a:uFill>
              </a:rPr>
              <a:t>Defocus blur </a:t>
            </a:r>
            <a:r>
              <a:rPr lang="en-US" altLang="ja-JP" sz="2100" dirty="0">
                <a:uFill>
                  <a:solidFill>
                    <a:schemeClr val="accent2"/>
                  </a:solidFill>
                </a:uFill>
              </a:rPr>
              <a:t>(Calculate PSF)</a:t>
            </a:r>
            <a:endParaRPr lang="en-US" altLang="ja-JP" sz="2100" dirty="0"/>
          </a:p>
        </p:txBody>
      </p:sp>
      <p:sp>
        <p:nvSpPr>
          <p:cNvPr id="6" name="テキスト ボックス 5">
            <a:extLst>
              <a:ext uri="{FF2B5EF4-FFF2-40B4-BE49-F238E27FC236}">
                <a16:creationId xmlns:a16="http://schemas.microsoft.com/office/drawing/2014/main" id="{25E8AF06-6259-BA3E-77DA-5BFA296A29DF}"/>
              </a:ext>
            </a:extLst>
          </p:cNvPr>
          <p:cNvSpPr txBox="1"/>
          <p:nvPr/>
        </p:nvSpPr>
        <p:spPr>
          <a:xfrm flipH="1">
            <a:off x="4644000" y="1988214"/>
            <a:ext cx="4037400" cy="1114088"/>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②  </a:t>
            </a:r>
            <a:r>
              <a:rPr lang="en-US" altLang="ja-JP" sz="2100" b="1" dirty="0">
                <a:solidFill>
                  <a:schemeClr val="accent1"/>
                </a:solidFill>
                <a:uFill>
                  <a:solidFill>
                    <a:schemeClr val="accent2"/>
                  </a:solidFill>
                </a:uFill>
              </a:rPr>
              <a:t>Disparity &amp; combination</a:t>
            </a:r>
          </a:p>
          <a:p>
            <a:pPr>
              <a:lnSpc>
                <a:spcPct val="120000"/>
              </a:lnSpc>
            </a:pPr>
            <a:r>
              <a:rPr lang="en-US" altLang="ja-JP" dirty="0"/>
              <a:t>    Geometric computation </a:t>
            </a:r>
          </a:p>
          <a:p>
            <a:pPr>
              <a:lnSpc>
                <a:spcPct val="120000"/>
              </a:lnSpc>
            </a:pPr>
            <a:r>
              <a:rPr lang="en-US" altLang="ja-JP" dirty="0"/>
              <a:t>    &amp; existing-model selection</a:t>
            </a:r>
            <a:endParaRPr lang="en-US" altLang="ja-JP" sz="2100" b="1" dirty="0">
              <a:uFill>
                <a:solidFill>
                  <a:schemeClr val="accent2"/>
                </a:solidFill>
              </a:uFill>
            </a:endParaRPr>
          </a:p>
        </p:txBody>
      </p:sp>
      <p:sp>
        <p:nvSpPr>
          <p:cNvPr id="11" name="テキスト ボックス 10">
            <a:extLst>
              <a:ext uri="{FF2B5EF4-FFF2-40B4-BE49-F238E27FC236}">
                <a16:creationId xmlns:a16="http://schemas.microsoft.com/office/drawing/2014/main" id="{11302EA0-9ED2-85A8-319C-BF4051D49EF7}"/>
              </a:ext>
            </a:extLst>
          </p:cNvPr>
          <p:cNvSpPr txBox="1"/>
          <p:nvPr/>
        </p:nvSpPr>
        <p:spPr>
          <a:xfrm flipH="1">
            <a:off x="4641415" y="3316241"/>
            <a:ext cx="4037400" cy="454740"/>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④  </a:t>
            </a:r>
            <a:r>
              <a:rPr lang="en-US" altLang="ja-JP" sz="2100" b="1" dirty="0">
                <a:solidFill>
                  <a:schemeClr val="accent1"/>
                </a:solidFill>
                <a:uFill>
                  <a:solidFill>
                    <a:schemeClr val="accent2"/>
                  </a:solidFill>
                </a:uFill>
              </a:rPr>
              <a:t>HDR </a:t>
            </a:r>
            <a:r>
              <a:rPr lang="ja-JP" altLang="en-US" sz="2100" b="1" dirty="0">
                <a:solidFill>
                  <a:schemeClr val="accent1"/>
                </a:solidFill>
                <a:uFill>
                  <a:solidFill>
                    <a:schemeClr val="accent2"/>
                  </a:solidFill>
                </a:uFill>
              </a:rPr>
              <a:t>→ </a:t>
            </a:r>
            <a:r>
              <a:rPr lang="en-US" altLang="ja-JP" sz="2100" b="1" dirty="0">
                <a:solidFill>
                  <a:schemeClr val="accent1"/>
                </a:solidFill>
                <a:uFill>
                  <a:solidFill>
                    <a:schemeClr val="accent2"/>
                  </a:solidFill>
                </a:uFill>
              </a:rPr>
              <a:t>SDR </a:t>
            </a:r>
            <a:r>
              <a:rPr lang="en-US" altLang="ja-JP" sz="2100" dirty="0">
                <a:uFill>
                  <a:solidFill>
                    <a:schemeClr val="accent2"/>
                  </a:solidFill>
                </a:uFill>
              </a:rPr>
              <a:t>(Tone mapping)</a:t>
            </a:r>
            <a:endParaRPr lang="en-US" altLang="ja-JP" sz="2100" dirty="0"/>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B3CA3D81-0DBD-2693-0802-04C8F0A4A3F6}"/>
                  </a:ext>
                </a:extLst>
              </p:cNvPr>
              <p:cNvSpPr txBox="1"/>
              <p:nvPr/>
            </p:nvSpPr>
            <p:spPr>
              <a:xfrm>
                <a:off x="957784" y="2510330"/>
                <a:ext cx="3121046"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h</m:t>
                      </m:r>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𝑢</m:t>
                          </m:r>
                        </m:e>
                      </m:acc>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𝐷</m:t>
                      </m:r>
                      <m:r>
                        <a:rPr kumimoji="1" lang="en-US" altLang="ja-JP" b="0" i="0" smtClean="0">
                          <a:latin typeface="Cambria Math" panose="02040503050406030204" pitchFamily="18" charset="0"/>
                        </a:rPr>
                        <m:t>,</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d>
                        <m:dPr>
                          <m:begChr m:val="{"/>
                          <m:endChr m:val=""/>
                          <m:ctrlPr>
                            <a:rPr kumimoji="1" lang="en-US" altLang="ja-JP" b="0" i="1" smtClean="0">
                              <a:latin typeface="Cambria Math" panose="02040503050406030204" pitchFamily="18" charset="0"/>
                            </a:rPr>
                          </m:ctrlPr>
                        </m:dPr>
                        <m:e>
                          <m:eqArr>
                            <m:eqArrPr>
                              <m:ctrlPr>
                                <a:rPr kumimoji="1" lang="en-US" altLang="ja-JP" b="0" i="1" smtClean="0">
                                  <a:latin typeface="Cambria Math" panose="02040503050406030204" pitchFamily="18" charset="0"/>
                                </a:rPr>
                              </m:ctrlPr>
                            </m:eqArrPr>
                            <m:e>
                              <m:r>
                                <a:rPr kumimoji="1" lang="en-US" altLang="ja-JP" b="0" i="1" smtClean="0">
                                  <a:latin typeface="Cambria Math" panose="02040503050406030204" pitchFamily="18" charset="0"/>
                                </a:rPr>
                                <m:t>1, </m:t>
                              </m:r>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𝑢</m:t>
                                      </m:r>
                                    </m:e>
                                  </m:acc>
                                </m:e>
                              </m:d>
                              <m:r>
                                <a:rPr kumimoji="1" lang="en-US" altLang="ja-JP" b="0" i="1" smtClean="0">
                                  <a:latin typeface="Cambria Math" panose="02040503050406030204" pitchFamily="18" charset="0"/>
                                </a:rPr>
                                <m:t>&lt;</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𝐷</m:t>
                              </m:r>
                              <m:r>
                                <a:rPr kumimoji="1" lang="en-US" altLang="ja-JP" b="0" i="1" smtClean="0">
                                  <a:latin typeface="Cambria Math" panose="02040503050406030204" pitchFamily="18" charset="0"/>
                                  <a:ea typeface="Cambria Math" panose="02040503050406030204" pitchFamily="18" charset="0"/>
                                </a:rPr>
                                <m:t>/2</m:t>
                              </m:r>
                            </m:e>
                            <m:e>
                              <m:r>
                                <a:rPr kumimoji="1" lang="en-US" altLang="ja-JP" b="0" i="1" smtClean="0">
                                  <a:latin typeface="Cambria Math" panose="02040503050406030204" pitchFamily="18" charset="0"/>
                                </a:rPr>
                                <m:t>0, </m:t>
                              </m:r>
                              <m:r>
                                <m:rPr>
                                  <m:sty m:val="p"/>
                                </m:rPr>
                                <a:rPr kumimoji="1" lang="en-US" altLang="ja-JP" b="0" i="1" smtClean="0">
                                  <a:latin typeface="Cambria Math" panose="02040503050406030204" pitchFamily="18" charset="0"/>
                                </a:rPr>
                                <m:t>otherwise</m:t>
                              </m:r>
                              <m:r>
                                <a:rPr kumimoji="1" lang="en-US" altLang="ja-JP" b="0" i="1" smtClean="0">
                                  <a:latin typeface="Cambria Math" panose="02040503050406030204" pitchFamily="18" charset="0"/>
                                </a:rPr>
                                <m:t>.</m:t>
                              </m:r>
                            </m:e>
                          </m:eqArr>
                        </m:e>
                      </m:d>
                    </m:oMath>
                  </m:oMathPara>
                </a14:m>
                <a:endParaRPr kumimoji="1" lang="ja-JP" altLang="en-US" dirty="0"/>
              </a:p>
            </p:txBody>
          </p:sp>
        </mc:Choice>
        <mc:Fallback xmlns="">
          <p:sp>
            <p:nvSpPr>
              <p:cNvPr id="12" name="テキスト ボックス 11">
                <a:extLst>
                  <a:ext uri="{FF2B5EF4-FFF2-40B4-BE49-F238E27FC236}">
                    <a16:creationId xmlns:a16="http://schemas.microsoft.com/office/drawing/2014/main" id="{B3CA3D81-0DBD-2693-0802-04C8F0A4A3F6}"/>
                  </a:ext>
                </a:extLst>
              </p:cNvPr>
              <p:cNvSpPr txBox="1">
                <a:spLocks noRot="1" noChangeAspect="1" noMove="1" noResize="1" noEditPoints="1" noAdjustHandles="1" noChangeArrowheads="1" noChangeShapeType="1" noTextEdit="1"/>
              </p:cNvSpPr>
              <p:nvPr/>
            </p:nvSpPr>
            <p:spPr>
              <a:xfrm>
                <a:off x="957784" y="2510330"/>
                <a:ext cx="3121046" cy="617861"/>
              </a:xfrm>
              <a:prstGeom prst="rect">
                <a:avLst/>
              </a:prstGeom>
              <a:blipFill>
                <a:blip r:embed="rId3"/>
                <a:stretch>
                  <a:fillRect b="-990"/>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D8696AE8-13EC-C003-B3BA-1FC39D8B2CD3}"/>
              </a:ext>
            </a:extLst>
          </p:cNvPr>
          <p:cNvSpPr txBox="1"/>
          <p:nvPr/>
        </p:nvSpPr>
        <p:spPr>
          <a:xfrm flipH="1">
            <a:off x="457200" y="3316996"/>
            <a:ext cx="4037400" cy="781945"/>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③  </a:t>
            </a:r>
            <a:r>
              <a:rPr lang="en-US" altLang="ja-JP" sz="2100" b="1" dirty="0">
                <a:solidFill>
                  <a:schemeClr val="accent1"/>
                </a:solidFill>
                <a:uFill>
                  <a:solidFill>
                    <a:schemeClr val="accent2"/>
                  </a:solidFill>
                </a:uFill>
              </a:rPr>
              <a:t>Background discounting </a:t>
            </a:r>
          </a:p>
          <a:p>
            <a:pPr>
              <a:lnSpc>
                <a:spcPct val="120000"/>
              </a:lnSpc>
            </a:pPr>
            <a:r>
              <a:rPr lang="en-US" altLang="ja-JP" dirty="0"/>
              <a:t>    Fit the attenuation process</a:t>
            </a:r>
            <a:endParaRPr lang="en-US" altLang="ja-JP" sz="2100" dirty="0"/>
          </a:p>
        </p:txBody>
      </p: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7F8522D4-9C50-A472-20BC-048275202075}"/>
                  </a:ext>
                </a:extLst>
              </p:cNvPr>
              <p:cNvSpPr txBox="1"/>
              <p:nvPr/>
            </p:nvSpPr>
            <p:spPr>
              <a:xfrm>
                <a:off x="5708975" y="3810560"/>
                <a:ext cx="1891480"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𝐿</m:t>
                          </m:r>
                        </m:e>
                        <m:sub>
                          <m:r>
                            <a:rPr kumimoji="1" lang="en-US" altLang="ja-JP" b="0" i="1" smtClean="0">
                              <a:latin typeface="Cambria Math" panose="02040503050406030204" pitchFamily="18" charset="0"/>
                            </a:rPr>
                            <m:t>𝑑</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 </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𝐿</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num>
                        <m:den>
                          <m:r>
                            <a:rPr kumimoji="1" lang="en-US" altLang="ja-JP" b="0" i="1" smtClean="0">
                              <a:latin typeface="Cambria Math" panose="02040503050406030204" pitchFamily="18" charset="0"/>
                            </a:rPr>
                            <m:t>1+</m:t>
                          </m:r>
                          <m:r>
                            <a:rPr kumimoji="1" lang="en-US" altLang="ja-JP" b="0" i="1" smtClean="0">
                              <a:latin typeface="Cambria Math" panose="02040503050406030204" pitchFamily="18" charset="0"/>
                            </a:rPr>
                            <m:t>𝐿</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den>
                      </m:f>
                    </m:oMath>
                  </m:oMathPara>
                </a14:m>
                <a:endParaRPr kumimoji="1" lang="ja-JP" altLang="en-US" i="1" dirty="0"/>
              </a:p>
            </p:txBody>
          </p:sp>
        </mc:Choice>
        <mc:Fallback xmlns="">
          <p:sp>
            <p:nvSpPr>
              <p:cNvPr id="19" name="テキスト ボックス 18">
                <a:extLst>
                  <a:ext uri="{FF2B5EF4-FFF2-40B4-BE49-F238E27FC236}">
                    <a16:creationId xmlns:a16="http://schemas.microsoft.com/office/drawing/2014/main" id="{7F8522D4-9C50-A472-20BC-048275202075}"/>
                  </a:ext>
                </a:extLst>
              </p:cNvPr>
              <p:cNvSpPr txBox="1">
                <a:spLocks noRot="1" noChangeAspect="1" noMove="1" noResize="1" noEditPoints="1" noAdjustHandles="1" noChangeArrowheads="1" noChangeShapeType="1" noTextEdit="1"/>
              </p:cNvSpPr>
              <p:nvPr/>
            </p:nvSpPr>
            <p:spPr>
              <a:xfrm>
                <a:off x="5708975" y="3810560"/>
                <a:ext cx="1891480" cy="576761"/>
              </a:xfrm>
              <a:prstGeom prst="rect">
                <a:avLst/>
              </a:prstGeom>
              <a:blipFill>
                <a:blip r:embed="rId4"/>
                <a:stretch>
                  <a:fillRect/>
                </a:stretch>
              </a:blipFill>
            </p:spPr>
            <p:txBody>
              <a:bodyPr/>
              <a:lstStyle/>
              <a:p>
                <a:r>
                  <a:rPr lang="ja-JP" altLang="en-US">
                    <a:noFill/>
                  </a:rPr>
                  <a:t> </a:t>
                </a:r>
              </a:p>
            </p:txBody>
          </p:sp>
        </mc:Fallback>
      </mc:AlternateContent>
      <p:cxnSp>
        <p:nvCxnSpPr>
          <p:cNvPr id="4" name="直線コネクタ 3">
            <a:extLst>
              <a:ext uri="{FF2B5EF4-FFF2-40B4-BE49-F238E27FC236}">
                <a16:creationId xmlns:a16="http://schemas.microsoft.com/office/drawing/2014/main" id="{E9E4CE07-448F-5B18-AC79-9BFDA3D0604A}"/>
              </a:ext>
            </a:extLst>
          </p:cNvPr>
          <p:cNvCxnSpPr>
            <a:cxnSpLocks/>
          </p:cNvCxnSpPr>
          <p:nvPr/>
        </p:nvCxnSpPr>
        <p:spPr>
          <a:xfrm>
            <a:off x="4572000" y="199575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4" name="直線コネクタ 13">
            <a:extLst>
              <a:ext uri="{FF2B5EF4-FFF2-40B4-BE49-F238E27FC236}">
                <a16:creationId xmlns:a16="http://schemas.microsoft.com/office/drawing/2014/main" id="{8A0246F5-032D-AC99-00D1-E0BD576C0B79}"/>
              </a:ext>
            </a:extLst>
          </p:cNvPr>
          <p:cNvCxnSpPr>
            <a:cxnSpLocks/>
          </p:cNvCxnSpPr>
          <p:nvPr/>
        </p:nvCxnSpPr>
        <p:spPr>
          <a:xfrm flipH="1">
            <a:off x="478801" y="3219750"/>
            <a:ext cx="8186399" cy="0"/>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403087CD-CBAE-7C4A-D77D-6CA3E2105E84}"/>
              </a:ext>
            </a:extLst>
          </p:cNvPr>
          <p:cNvSpPr txBox="1"/>
          <p:nvPr/>
        </p:nvSpPr>
        <p:spPr>
          <a:xfrm>
            <a:off x="7600455" y="4151886"/>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6" name="テキスト ボックス 15">
            <a:extLst>
              <a:ext uri="{FF2B5EF4-FFF2-40B4-BE49-F238E27FC236}">
                <a16:creationId xmlns:a16="http://schemas.microsoft.com/office/drawing/2014/main" id="{705F3A9B-DD85-E96E-C171-F12E9B59B363}"/>
              </a:ext>
            </a:extLst>
          </p:cNvPr>
          <p:cNvSpPr txBox="1"/>
          <p:nvPr/>
        </p:nvSpPr>
        <p:spPr>
          <a:xfrm>
            <a:off x="0" y="4894716"/>
            <a:ext cx="9180000" cy="253916"/>
          </a:xfrm>
          <a:prstGeom prst="rect">
            <a:avLst/>
          </a:prstGeom>
          <a:noFill/>
        </p:spPr>
        <p:txBody>
          <a:bodyPr wrap="square" rtlCol="0">
            <a:spAutoFit/>
          </a:bodyPr>
          <a:lstStyle/>
          <a:p>
            <a:r>
              <a:rPr lang="en-US" altLang="ja-JP" sz="1050" dirty="0">
                <a:solidFill>
                  <a:schemeClr val="tx1">
                    <a:lumMod val="60000"/>
                    <a:lumOff val="40000"/>
                  </a:schemeClr>
                </a:solidFill>
              </a:rPr>
              <a:t>[1] Reinhard et al. “Photographic tone reproduction for digital images.” 2022</a:t>
            </a:r>
          </a:p>
        </p:txBody>
      </p:sp>
      <p:sp>
        <p:nvSpPr>
          <p:cNvPr id="8" name="スライド番号プレースホルダー 7">
            <a:extLst>
              <a:ext uri="{FF2B5EF4-FFF2-40B4-BE49-F238E27FC236}">
                <a16:creationId xmlns:a16="http://schemas.microsoft.com/office/drawing/2014/main" id="{E8674365-A4C1-0FB8-2D32-2BA3A05814FE}"/>
              </a:ext>
            </a:extLst>
          </p:cNvPr>
          <p:cNvSpPr>
            <a:spLocks noGrp="1"/>
          </p:cNvSpPr>
          <p:nvPr>
            <p:ph type="sldNum" sz="quarter" idx="4"/>
          </p:nvPr>
        </p:nvSpPr>
        <p:spPr/>
        <p:txBody>
          <a:bodyPr/>
          <a:lstStyle/>
          <a:p>
            <a:fld id="{C1FF6DA9-008F-8B48-92A6-B652298478BF}" type="slidenum">
              <a:rPr lang="en-US" smtClean="0"/>
              <a:pPr/>
              <a:t>16</a:t>
            </a:fld>
            <a:r>
              <a:rPr lang="en-US"/>
              <a:t>/30</a:t>
            </a:r>
            <a:endParaRPr lang="en-US" sz="1800" dirty="0"/>
          </a:p>
        </p:txBody>
      </p:sp>
    </p:spTree>
    <p:extLst>
      <p:ext uri="{BB962C8B-B14F-4D97-AF65-F5344CB8AC3E}">
        <p14:creationId xmlns:p14="http://schemas.microsoft.com/office/powerpoint/2010/main" val="1116749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03F8B-ABD4-2930-F370-8BC5D30789F1}"/>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0B8119D2-9CE4-C732-0F56-1BBF8177F208}"/>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AC3B3C7D-E7DD-ECB5-E255-5A7EF73333A8}"/>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74902BA3-2FED-A766-9933-E3CF8709ED52}"/>
              </a:ext>
            </a:extLst>
          </p:cNvPr>
          <p:cNvSpPr>
            <a:spLocks noGrp="1"/>
          </p:cNvSpPr>
          <p:nvPr>
            <p:ph type="title"/>
          </p:nvPr>
        </p:nvSpPr>
        <p:spPr/>
        <p:txBody>
          <a:bodyPr/>
          <a:lstStyle/>
          <a:p>
            <a:r>
              <a:rPr kumimoji="1" lang="en-US" altLang="ja-JP" dirty="0"/>
              <a:t>Method </a:t>
            </a:r>
            <a:r>
              <a:rPr lang="en-US" altLang="ja-JP" dirty="0"/>
              <a:t>(3): Model Validation</a:t>
            </a:r>
            <a:endParaRPr kumimoji="1" lang="ja-JP" altLang="en-US" dirty="0"/>
          </a:p>
        </p:txBody>
      </p:sp>
      <p:sp>
        <p:nvSpPr>
          <p:cNvPr id="3" name="コンテンツ プレースホルダー 2">
            <a:extLst>
              <a:ext uri="{FF2B5EF4-FFF2-40B4-BE49-F238E27FC236}">
                <a16:creationId xmlns:a16="http://schemas.microsoft.com/office/drawing/2014/main" id="{8EBF7D1D-0227-76B8-450C-23BD6C730B9A}"/>
              </a:ext>
            </a:extLst>
          </p:cNvPr>
          <p:cNvSpPr>
            <a:spLocks noGrp="1"/>
          </p:cNvSpPr>
          <p:nvPr>
            <p:ph idx="1"/>
          </p:nvPr>
        </p:nvSpPr>
        <p:spPr>
          <a:xfrm>
            <a:off x="457200" y="1203750"/>
            <a:ext cx="8229600" cy="432000"/>
          </a:xfrm>
        </p:spPr>
        <p:txBody>
          <a:bodyPr/>
          <a:lstStyle/>
          <a:p>
            <a:pPr algn="ctr"/>
            <a:r>
              <a:rPr lang="en-US" altLang="ja-JP" dirty="0"/>
              <a:t>Evaluate the model by </a:t>
            </a:r>
            <a:r>
              <a:rPr lang="en-US" altLang="ja-JP" b="1" dirty="0">
                <a:solidFill>
                  <a:schemeClr val="accent1"/>
                </a:solidFill>
              </a:rPr>
              <a:t>comparing with human evaluation</a:t>
            </a:r>
          </a:p>
        </p:txBody>
      </p:sp>
      <p:sp>
        <p:nvSpPr>
          <p:cNvPr id="5" name="四角形: 角を丸くする 4">
            <a:extLst>
              <a:ext uri="{FF2B5EF4-FFF2-40B4-BE49-F238E27FC236}">
                <a16:creationId xmlns:a16="http://schemas.microsoft.com/office/drawing/2014/main" id="{7944B874-8925-4343-21FA-A0254139B5A2}"/>
              </a:ext>
            </a:extLst>
          </p:cNvPr>
          <p:cNvSpPr/>
          <p:nvPr/>
        </p:nvSpPr>
        <p:spPr>
          <a:xfrm>
            <a:off x="457196" y="3350647"/>
            <a:ext cx="8229600" cy="1237103"/>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C39BF47-DAB8-ADCA-7FB7-1B32524470D3}"/>
              </a:ext>
            </a:extLst>
          </p:cNvPr>
          <p:cNvSpPr/>
          <p:nvPr/>
        </p:nvSpPr>
        <p:spPr>
          <a:xfrm>
            <a:off x="467999" y="2019878"/>
            <a:ext cx="8218797"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17" name="コンテンツ プレースホルダー 2">
            <a:extLst>
              <a:ext uri="{FF2B5EF4-FFF2-40B4-BE49-F238E27FC236}">
                <a16:creationId xmlns:a16="http://schemas.microsoft.com/office/drawing/2014/main" id="{0DDA6779-F3D1-432C-7FA6-C98559955886}"/>
              </a:ext>
            </a:extLst>
          </p:cNvPr>
          <p:cNvSpPr txBox="1">
            <a:spLocks/>
          </p:cNvSpPr>
          <p:nvPr/>
        </p:nvSpPr>
        <p:spPr>
          <a:xfrm>
            <a:off x="458419" y="2019878"/>
            <a:ext cx="8229600" cy="839872"/>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1"/>
                </a:solidFill>
              </a:rPr>
              <a:t>Psychophysical experiment</a:t>
            </a:r>
          </a:p>
          <a:p>
            <a:r>
              <a:rPr lang="en-US" altLang="ja-JP" dirty="0"/>
              <a:t>Visibility evaluation in OST-AR, using </a:t>
            </a:r>
            <a:r>
              <a:rPr lang="en-US" altLang="ja-JP" b="1" dirty="0"/>
              <a:t>general texture images</a:t>
            </a:r>
            <a:r>
              <a:rPr lang="en-US" altLang="ja-JP" dirty="0"/>
              <a:t>.</a:t>
            </a:r>
            <a:endParaRPr lang="en-US" altLang="ja-JP" b="1" dirty="0">
              <a:solidFill>
                <a:schemeClr val="accent1"/>
              </a:solidFill>
            </a:endParaRPr>
          </a:p>
        </p:txBody>
      </p:sp>
      <p:sp>
        <p:nvSpPr>
          <p:cNvPr id="18" name="コンテンツ プレースホルダー 2">
            <a:extLst>
              <a:ext uri="{FF2B5EF4-FFF2-40B4-BE49-F238E27FC236}">
                <a16:creationId xmlns:a16="http://schemas.microsoft.com/office/drawing/2014/main" id="{A42FAEB1-F30B-4A20-DFC5-C05C2D980B11}"/>
              </a:ext>
            </a:extLst>
          </p:cNvPr>
          <p:cNvSpPr txBox="1">
            <a:spLocks/>
          </p:cNvSpPr>
          <p:nvPr/>
        </p:nvSpPr>
        <p:spPr>
          <a:xfrm>
            <a:off x="468000" y="3363749"/>
            <a:ext cx="8229600" cy="1138897"/>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1"/>
                </a:solidFill>
              </a:rPr>
              <a:t>Model Evaluation </a:t>
            </a:r>
          </a:p>
          <a:p>
            <a:r>
              <a:rPr lang="en-US" altLang="ja-JP" dirty="0"/>
              <a:t>Quantitatively compare </a:t>
            </a:r>
            <a:r>
              <a:rPr lang="en-US" altLang="ja-JP" b="1" dirty="0"/>
              <a:t>human scores </a:t>
            </a:r>
            <a:r>
              <a:rPr lang="en-US" altLang="ja-JP" dirty="0"/>
              <a:t>with </a:t>
            </a:r>
            <a:r>
              <a:rPr lang="en-US" altLang="ja-JP" b="1" dirty="0"/>
              <a:t>model predictions</a:t>
            </a:r>
          </a:p>
          <a:p>
            <a:r>
              <a:rPr lang="en-US" altLang="ja-JP" b="1" dirty="0"/>
              <a:t>(e.g., R², SROCC)</a:t>
            </a:r>
          </a:p>
        </p:txBody>
      </p:sp>
      <p:sp>
        <p:nvSpPr>
          <p:cNvPr id="19" name="矢印: 下 18">
            <a:extLst>
              <a:ext uri="{FF2B5EF4-FFF2-40B4-BE49-F238E27FC236}">
                <a16:creationId xmlns:a16="http://schemas.microsoft.com/office/drawing/2014/main" id="{E90F1178-B5AB-4912-FE9F-4A1F9321E637}"/>
              </a:ext>
            </a:extLst>
          </p:cNvPr>
          <p:cNvSpPr/>
          <p:nvPr/>
        </p:nvSpPr>
        <p:spPr>
          <a:xfrm>
            <a:off x="4325484" y="2944853"/>
            <a:ext cx="484632" cy="346897"/>
          </a:xfrm>
          <a:prstGeom prst="downArrow">
            <a:avLst/>
          </a:prstGeom>
          <a:solidFill>
            <a:schemeClr val="accent5"/>
          </a:solidFill>
          <a:ln>
            <a:solidFill>
              <a:schemeClr val="accent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6" name="スライド番号プレースホルダー 5">
            <a:extLst>
              <a:ext uri="{FF2B5EF4-FFF2-40B4-BE49-F238E27FC236}">
                <a16:creationId xmlns:a16="http://schemas.microsoft.com/office/drawing/2014/main" id="{467DD675-C9C3-E298-9C21-A28EA837B019}"/>
              </a:ext>
            </a:extLst>
          </p:cNvPr>
          <p:cNvSpPr>
            <a:spLocks noGrp="1"/>
          </p:cNvSpPr>
          <p:nvPr>
            <p:ph type="sldNum" sz="quarter" idx="4"/>
          </p:nvPr>
        </p:nvSpPr>
        <p:spPr/>
        <p:txBody>
          <a:bodyPr/>
          <a:lstStyle/>
          <a:p>
            <a:fld id="{C1FF6DA9-008F-8B48-92A6-B652298478BF}" type="slidenum">
              <a:rPr lang="en-US" smtClean="0"/>
              <a:pPr/>
              <a:t>17</a:t>
            </a:fld>
            <a:r>
              <a:rPr lang="en-US"/>
              <a:t>/30</a:t>
            </a:r>
            <a:endParaRPr lang="en-US" sz="1800" dirty="0"/>
          </a:p>
        </p:txBody>
      </p:sp>
    </p:spTree>
    <p:extLst>
      <p:ext uri="{BB962C8B-B14F-4D97-AF65-F5344CB8AC3E}">
        <p14:creationId xmlns:p14="http://schemas.microsoft.com/office/powerpoint/2010/main" val="1000061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6B939-D7E7-9566-5C3E-DF77B64F58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13B56E-8725-7968-0E3B-C1CCF14F006D}"/>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92E70CE8-236A-F9DE-4E81-076119E303DB}"/>
              </a:ext>
            </a:extLst>
          </p:cNvPr>
          <p:cNvSpPr>
            <a:spLocks noGrp="1"/>
          </p:cNvSpPr>
          <p:nvPr>
            <p:ph idx="1"/>
          </p:nvPr>
        </p:nvSpPr>
        <p:spPr/>
        <p:txBody>
          <a:bodyPr/>
          <a:lstStyle/>
          <a:p>
            <a:pPr>
              <a:lnSpc>
                <a:spcPct val="150000"/>
              </a:lnSpc>
            </a:pPr>
            <a:r>
              <a:rPr kumimoji="1" lang="en-US" altLang="ja-JP" b="1" dirty="0">
                <a:solidFill>
                  <a:schemeClr val="accent2"/>
                </a:solidFill>
              </a:rPr>
              <a:t>1.   </a:t>
            </a:r>
            <a:r>
              <a:rPr kumimoji="1" lang="en-US" altLang="ja-JP" dirty="0">
                <a:solidFill>
                  <a:schemeClr val="tx1">
                    <a:lumMod val="60000"/>
                    <a:lumOff val="40000"/>
                  </a:schemeClr>
                </a:solidFill>
              </a:rPr>
              <a:t>Introduction</a:t>
            </a:r>
          </a:p>
          <a:p>
            <a:pPr marL="0" indent="0">
              <a:lnSpc>
                <a:spcPct val="150000"/>
              </a:lnSpc>
            </a:pPr>
            <a:r>
              <a:rPr kumimoji="1" lang="en-US" altLang="ja-JP" b="1" dirty="0">
                <a:solidFill>
                  <a:schemeClr val="accent2"/>
                </a:solidFill>
              </a:rPr>
              <a:t>2.   </a:t>
            </a:r>
            <a:r>
              <a:rPr kumimoji="1" lang="en-US" altLang="ja-JP" dirty="0">
                <a:solidFill>
                  <a:schemeClr val="tx1">
                    <a:lumMod val="60000"/>
                    <a:lumOff val="40000"/>
                  </a:schemeClr>
                </a:solidFill>
              </a:rPr>
              <a:t>Related Work</a:t>
            </a:r>
          </a:p>
          <a:p>
            <a:pPr marL="0" indent="0">
              <a:lnSpc>
                <a:spcPct val="150000"/>
              </a:lnSpc>
            </a:pPr>
            <a:r>
              <a:rPr lang="en-US" altLang="ja-JP" b="1" dirty="0">
                <a:solidFill>
                  <a:schemeClr val="accent2"/>
                </a:solidFill>
              </a:rPr>
              <a:t>3.   </a:t>
            </a:r>
            <a:r>
              <a:rPr lang="en-US" altLang="ja-JP" dirty="0">
                <a:solidFill>
                  <a:schemeClr val="tx1">
                    <a:lumMod val="60000"/>
                    <a:lumOff val="40000"/>
                  </a:schemeClr>
                </a:solidFill>
              </a:rPr>
              <a:t>Method</a:t>
            </a:r>
          </a:p>
          <a:p>
            <a:pPr>
              <a:lnSpc>
                <a:spcPct val="150000"/>
              </a:lnSpc>
            </a:pPr>
            <a:r>
              <a:rPr kumimoji="1" lang="en-US" altLang="ja-JP" b="1" dirty="0">
                <a:solidFill>
                  <a:schemeClr val="accent1"/>
                </a:solidFill>
              </a:rPr>
              <a:t>4.   </a:t>
            </a:r>
            <a:r>
              <a:rPr kumimoji="1" lang="en-US" altLang="ja-JP" b="1" dirty="0"/>
              <a:t>Pilot Experiment </a:t>
            </a:r>
            <a:r>
              <a:rPr lang="en-US" altLang="ja-JP" sz="1800" dirty="0">
                <a:solidFill>
                  <a:schemeClr val="tx2"/>
                </a:solidFill>
              </a:rPr>
              <a:t>— design</a:t>
            </a:r>
            <a:r>
              <a:rPr lang="en-US" altLang="ja-JP" sz="1800" dirty="0"/>
              <a:t>, result, discussion</a:t>
            </a:r>
            <a:endParaRPr kumimoji="1" lang="en-US" altLang="ja-JP" sz="1800" b="1" dirty="0"/>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20D3D19D-2D4D-B510-4A7F-BD6468BF2DFB}"/>
              </a:ext>
            </a:extLst>
          </p:cNvPr>
          <p:cNvSpPr>
            <a:spLocks noGrp="1"/>
          </p:cNvSpPr>
          <p:nvPr>
            <p:ph type="sldNum" sz="quarter" idx="4"/>
          </p:nvPr>
        </p:nvSpPr>
        <p:spPr/>
        <p:txBody>
          <a:bodyPr/>
          <a:lstStyle/>
          <a:p>
            <a:fld id="{C1FF6DA9-008F-8B48-92A6-B652298478BF}" type="slidenum">
              <a:rPr lang="en-US" smtClean="0"/>
              <a:pPr/>
              <a:t>18</a:t>
            </a:fld>
            <a:r>
              <a:rPr lang="en-US"/>
              <a:t>/30</a:t>
            </a:r>
            <a:endParaRPr lang="en-US" sz="1800" dirty="0"/>
          </a:p>
        </p:txBody>
      </p:sp>
    </p:spTree>
    <p:extLst>
      <p:ext uri="{BB962C8B-B14F-4D97-AF65-F5344CB8AC3E}">
        <p14:creationId xmlns:p14="http://schemas.microsoft.com/office/powerpoint/2010/main" val="43892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47A97-F693-1057-1E06-4F051DBDDA46}"/>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E7CD20C0-4BBC-13D5-D48C-4DD46D373E45}"/>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8BC44186-617F-A1D7-52C7-9C3A1297299B}"/>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B47DA304-F86D-FFEC-486A-34E4B4D6F27A}"/>
              </a:ext>
            </a:extLst>
          </p:cNvPr>
          <p:cNvSpPr>
            <a:spLocks noGrp="1"/>
          </p:cNvSpPr>
          <p:nvPr>
            <p:ph type="title"/>
          </p:nvPr>
        </p:nvSpPr>
        <p:spPr/>
        <p:txBody>
          <a:bodyPr/>
          <a:lstStyle/>
          <a:p>
            <a:r>
              <a:rPr kumimoji="1" lang="en-US" altLang="ja-JP" dirty="0"/>
              <a:t>Pilot Experiment: Objective</a:t>
            </a:r>
            <a:endParaRPr kumimoji="1" lang="ja-JP" altLang="en-US" dirty="0"/>
          </a:p>
        </p:txBody>
      </p:sp>
      <p:sp>
        <p:nvSpPr>
          <p:cNvPr id="3" name="コンテンツ プレースホルダー 2">
            <a:extLst>
              <a:ext uri="{FF2B5EF4-FFF2-40B4-BE49-F238E27FC236}">
                <a16:creationId xmlns:a16="http://schemas.microsoft.com/office/drawing/2014/main" id="{DD9C1C8B-DEEC-F501-72D0-7CB667BB1487}"/>
              </a:ext>
            </a:extLst>
          </p:cNvPr>
          <p:cNvSpPr>
            <a:spLocks noGrp="1"/>
          </p:cNvSpPr>
          <p:nvPr>
            <p:ph idx="1"/>
          </p:nvPr>
        </p:nvSpPr>
        <p:spPr>
          <a:xfrm>
            <a:off x="457200" y="1203750"/>
            <a:ext cx="8229600" cy="432000"/>
          </a:xfrm>
        </p:spPr>
        <p:txBody>
          <a:bodyPr/>
          <a:lstStyle/>
          <a:p>
            <a:pPr algn="ctr"/>
            <a:r>
              <a:rPr lang="en-US" altLang="ja-JP" dirty="0"/>
              <a:t>Identify the </a:t>
            </a:r>
            <a:r>
              <a:rPr lang="en-US" altLang="ja-JP" b="1" dirty="0">
                <a:solidFill>
                  <a:schemeClr val="accent1"/>
                </a:solidFill>
              </a:rPr>
              <a:t>parameters &amp; conditions </a:t>
            </a:r>
            <a:r>
              <a:rPr lang="en-US" altLang="ja-JP" dirty="0"/>
              <a:t>for the main experiment</a:t>
            </a:r>
            <a:endParaRPr lang="en-US" altLang="ja-JP" b="1" dirty="0">
              <a:solidFill>
                <a:schemeClr val="accent1"/>
              </a:solidFill>
            </a:endParaRPr>
          </a:p>
        </p:txBody>
      </p:sp>
      <p:sp>
        <p:nvSpPr>
          <p:cNvPr id="17" name="コンテンツ プレースホルダー 2">
            <a:extLst>
              <a:ext uri="{FF2B5EF4-FFF2-40B4-BE49-F238E27FC236}">
                <a16:creationId xmlns:a16="http://schemas.microsoft.com/office/drawing/2014/main" id="{46BE6572-72B9-85B7-9273-9C7BAB1A7F56}"/>
              </a:ext>
            </a:extLst>
          </p:cNvPr>
          <p:cNvSpPr txBox="1">
            <a:spLocks/>
          </p:cNvSpPr>
          <p:nvPr/>
        </p:nvSpPr>
        <p:spPr>
          <a:xfrm>
            <a:off x="458419" y="2019878"/>
            <a:ext cx="8229600" cy="839872"/>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dirty="0"/>
              <a:t>Quantify how </a:t>
            </a:r>
            <a:r>
              <a:rPr lang="en-US" altLang="ja-JP" b="1" dirty="0"/>
              <a:t>defocus blur</a:t>
            </a:r>
            <a:r>
              <a:rPr lang="en-US" altLang="ja-JP" dirty="0"/>
              <a:t> &amp; </a:t>
            </a:r>
            <a:r>
              <a:rPr lang="en-US" altLang="ja-JP" b="1" dirty="0"/>
              <a:t>uncrossed disparity</a:t>
            </a:r>
            <a:r>
              <a:rPr lang="en-US" altLang="ja-JP" dirty="0"/>
              <a:t> affect visibility,</a:t>
            </a:r>
          </a:p>
          <a:p>
            <a:r>
              <a:rPr lang="en-US" altLang="ja-JP" dirty="0"/>
              <a:t>across: </a:t>
            </a:r>
          </a:p>
        </p:txBody>
      </p:sp>
      <p:sp>
        <p:nvSpPr>
          <p:cNvPr id="4" name="テキスト ボックス 3">
            <a:extLst>
              <a:ext uri="{FF2B5EF4-FFF2-40B4-BE49-F238E27FC236}">
                <a16:creationId xmlns:a16="http://schemas.microsoft.com/office/drawing/2014/main" id="{94CDF952-2738-3BEC-8F1C-49C27E686AC8}"/>
              </a:ext>
            </a:extLst>
          </p:cNvPr>
          <p:cNvSpPr txBox="1"/>
          <p:nvPr/>
        </p:nvSpPr>
        <p:spPr>
          <a:xfrm flipH="1">
            <a:off x="468000" y="2808396"/>
            <a:ext cx="4037400" cy="1995354"/>
          </a:xfrm>
          <a:prstGeom prst="rect">
            <a:avLst/>
          </a:prstGeom>
          <a:noFill/>
        </p:spPr>
        <p:txBody>
          <a:bodyPr wrap="square" rtlCol="0">
            <a:spAutoFit/>
          </a:bodyPr>
          <a:lstStyle/>
          <a:p>
            <a:pPr>
              <a:lnSpc>
                <a:spcPct val="120000"/>
              </a:lnSpc>
            </a:pPr>
            <a:r>
              <a:rPr lang="en-US" altLang="ja-JP" sz="2100" b="1" dirty="0">
                <a:solidFill>
                  <a:schemeClr val="accent1"/>
                </a:solidFill>
                <a:uFill>
                  <a:solidFill>
                    <a:schemeClr val="accent2"/>
                  </a:solidFill>
                </a:uFill>
              </a:rPr>
              <a:t>Stimulus parameters</a:t>
            </a:r>
          </a:p>
          <a:p>
            <a:pPr marL="342900" indent="-342900">
              <a:lnSpc>
                <a:spcPct val="120000"/>
              </a:lnSpc>
              <a:buFont typeface="Arial" panose="020B0604020202020204" pitchFamily="34" charset="0"/>
              <a:buChar char="•"/>
            </a:pPr>
            <a:r>
              <a:rPr lang="en-US" altLang="ja-JP" sz="2100" dirty="0">
                <a:uFill>
                  <a:solidFill>
                    <a:schemeClr val="accent2"/>
                  </a:solidFill>
                </a:uFill>
              </a:rPr>
              <a:t>Spatial frequency</a:t>
            </a:r>
          </a:p>
          <a:p>
            <a:pPr marL="342900" indent="-342900">
              <a:lnSpc>
                <a:spcPct val="120000"/>
              </a:lnSpc>
              <a:buFont typeface="Arial" panose="020B0604020202020204" pitchFamily="34" charset="0"/>
              <a:buChar char="•"/>
            </a:pPr>
            <a:r>
              <a:rPr lang="en-US" altLang="ja-JP" sz="2100" dirty="0">
                <a:uFill>
                  <a:solidFill>
                    <a:schemeClr val="accent2"/>
                  </a:solidFill>
                </a:uFill>
              </a:rPr>
              <a:t>FG / BG luminance</a:t>
            </a:r>
          </a:p>
          <a:p>
            <a:pPr marL="342900" indent="-342900">
              <a:lnSpc>
                <a:spcPct val="120000"/>
              </a:lnSpc>
              <a:buFont typeface="Arial" panose="020B0604020202020204" pitchFamily="34" charset="0"/>
              <a:buChar char="•"/>
            </a:pPr>
            <a:r>
              <a:rPr lang="en-US" altLang="ja-JP" sz="2100" dirty="0">
                <a:uFill>
                  <a:solidFill>
                    <a:schemeClr val="accent2"/>
                  </a:solidFill>
                </a:uFill>
              </a:rPr>
              <a:t>BG contrast</a:t>
            </a:r>
          </a:p>
          <a:p>
            <a:pPr>
              <a:lnSpc>
                <a:spcPct val="120000"/>
              </a:lnSpc>
            </a:pPr>
            <a:endParaRPr lang="en-US" altLang="ja-JP" sz="2100" dirty="0"/>
          </a:p>
        </p:txBody>
      </p:sp>
      <p:sp>
        <p:nvSpPr>
          <p:cNvPr id="6" name="テキスト ボックス 5">
            <a:extLst>
              <a:ext uri="{FF2B5EF4-FFF2-40B4-BE49-F238E27FC236}">
                <a16:creationId xmlns:a16="http://schemas.microsoft.com/office/drawing/2014/main" id="{75F045C6-427D-3FE9-74B7-2461C435CB1E}"/>
              </a:ext>
            </a:extLst>
          </p:cNvPr>
          <p:cNvSpPr txBox="1"/>
          <p:nvPr/>
        </p:nvSpPr>
        <p:spPr>
          <a:xfrm flipH="1">
            <a:off x="4638600" y="2813685"/>
            <a:ext cx="4037400" cy="1219757"/>
          </a:xfrm>
          <a:prstGeom prst="rect">
            <a:avLst/>
          </a:prstGeom>
          <a:noFill/>
        </p:spPr>
        <p:txBody>
          <a:bodyPr wrap="square" rtlCol="0">
            <a:spAutoFit/>
          </a:bodyPr>
          <a:lstStyle/>
          <a:p>
            <a:pPr>
              <a:lnSpc>
                <a:spcPct val="120000"/>
              </a:lnSpc>
            </a:pPr>
            <a:r>
              <a:rPr lang="en-US" altLang="ja-JP" sz="2100" b="1" dirty="0">
                <a:solidFill>
                  <a:schemeClr val="accent1"/>
                </a:solidFill>
                <a:uFill>
                  <a:solidFill>
                    <a:schemeClr val="accent2"/>
                  </a:solidFill>
                </a:uFill>
              </a:rPr>
              <a:t>Viewing conditions</a:t>
            </a:r>
          </a:p>
          <a:p>
            <a:pPr marL="342900" indent="-342900">
              <a:lnSpc>
                <a:spcPct val="120000"/>
              </a:lnSpc>
              <a:buFont typeface="Arial" panose="020B0604020202020204" pitchFamily="34" charset="0"/>
              <a:buChar char="•"/>
            </a:pPr>
            <a:r>
              <a:rPr lang="en-US" altLang="ja-JP" sz="2100" dirty="0">
                <a:uFill>
                  <a:solidFill>
                    <a:schemeClr val="accent2"/>
                  </a:solidFill>
                </a:uFill>
              </a:rPr>
              <a:t>Diopter difference</a:t>
            </a:r>
          </a:p>
          <a:p>
            <a:pPr marL="342900" indent="-342900">
              <a:lnSpc>
                <a:spcPct val="120000"/>
              </a:lnSpc>
              <a:buFont typeface="Arial" panose="020B0604020202020204" pitchFamily="34" charset="0"/>
              <a:buChar char="•"/>
            </a:pPr>
            <a:r>
              <a:rPr lang="en-US" altLang="ja-JP" sz="2100" dirty="0">
                <a:uFill>
                  <a:solidFill>
                    <a:schemeClr val="accent2"/>
                  </a:solidFill>
                </a:uFill>
              </a:rPr>
              <a:t>Ocularity</a:t>
            </a:r>
            <a:endParaRPr lang="en-US" altLang="ja-JP" sz="2100" dirty="0"/>
          </a:p>
        </p:txBody>
      </p:sp>
      <p:sp>
        <p:nvSpPr>
          <p:cNvPr id="8" name="スライド番号プレースホルダー 7">
            <a:extLst>
              <a:ext uri="{FF2B5EF4-FFF2-40B4-BE49-F238E27FC236}">
                <a16:creationId xmlns:a16="http://schemas.microsoft.com/office/drawing/2014/main" id="{5FFB233E-497E-C20A-948E-C037B096BDB7}"/>
              </a:ext>
            </a:extLst>
          </p:cNvPr>
          <p:cNvSpPr>
            <a:spLocks noGrp="1"/>
          </p:cNvSpPr>
          <p:nvPr>
            <p:ph type="sldNum" sz="quarter" idx="4"/>
          </p:nvPr>
        </p:nvSpPr>
        <p:spPr/>
        <p:txBody>
          <a:bodyPr/>
          <a:lstStyle/>
          <a:p>
            <a:fld id="{C1FF6DA9-008F-8B48-92A6-B652298478BF}" type="slidenum">
              <a:rPr lang="en-US" smtClean="0"/>
              <a:pPr/>
              <a:t>19</a:t>
            </a:fld>
            <a:r>
              <a:rPr lang="en-US"/>
              <a:t>/30</a:t>
            </a:r>
            <a:endParaRPr lang="en-US" sz="1800" dirty="0"/>
          </a:p>
        </p:txBody>
      </p:sp>
    </p:spTree>
    <p:extLst>
      <p:ext uri="{BB962C8B-B14F-4D97-AF65-F5344CB8AC3E}">
        <p14:creationId xmlns:p14="http://schemas.microsoft.com/office/powerpoint/2010/main" val="3461820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9B0EF-C11D-F118-7B73-F71BF73420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97D9934-7053-057D-C863-7947D16131FE}"/>
              </a:ext>
            </a:extLst>
          </p:cNvPr>
          <p:cNvSpPr>
            <a:spLocks noGrp="1"/>
          </p:cNvSpPr>
          <p:nvPr>
            <p:ph type="title"/>
          </p:nvPr>
        </p:nvSpPr>
        <p:spPr/>
        <p:txBody>
          <a:bodyPr/>
          <a:lstStyle/>
          <a:p>
            <a:r>
              <a:rPr kumimoji="1" lang="en-US" altLang="ja-JP" dirty="0"/>
              <a:t>Pilot Experiment: </a:t>
            </a:r>
            <a:r>
              <a:rPr lang="en-US" altLang="ja-JP" dirty="0"/>
              <a:t>Apparatus</a:t>
            </a:r>
            <a:endParaRPr kumimoji="1" lang="ja-JP" altLang="en-US" dirty="0"/>
          </a:p>
        </p:txBody>
      </p:sp>
      <p:sp>
        <p:nvSpPr>
          <p:cNvPr id="44" name="コンテンツ プレースホルダー 43">
            <a:extLst>
              <a:ext uri="{FF2B5EF4-FFF2-40B4-BE49-F238E27FC236}">
                <a16:creationId xmlns:a16="http://schemas.microsoft.com/office/drawing/2014/main" id="{A4D4297C-0846-F4EF-326C-F0EF6CB3D7D2}"/>
              </a:ext>
            </a:extLst>
          </p:cNvPr>
          <p:cNvSpPr>
            <a:spLocks noGrp="1"/>
          </p:cNvSpPr>
          <p:nvPr>
            <p:ph idx="1"/>
          </p:nvPr>
        </p:nvSpPr>
        <p:spPr>
          <a:xfrm>
            <a:off x="457199" y="1203750"/>
            <a:ext cx="4096033" cy="3368250"/>
          </a:xfrm>
        </p:spPr>
        <p:txBody>
          <a:bodyPr/>
          <a:lstStyle/>
          <a:p>
            <a:r>
              <a:rPr lang="en-US" altLang="ja-JP" b="1" dirty="0">
                <a:solidFill>
                  <a:schemeClr val="accent1"/>
                </a:solidFill>
              </a:rPr>
              <a:t>Optical components</a:t>
            </a:r>
          </a:p>
          <a:p>
            <a:pPr marL="342900" indent="-342900">
              <a:buFont typeface="Arial" panose="020B0604020202020204" pitchFamily="34" charset="0"/>
              <a:buChar char="•"/>
            </a:pPr>
            <a:r>
              <a:rPr lang="en-US" altLang="ja-JP" dirty="0"/>
              <a:t>Beam splitter: </a:t>
            </a:r>
            <a:br>
              <a:rPr lang="en-US" altLang="ja-JP" dirty="0"/>
            </a:br>
            <a:r>
              <a:rPr lang="en-US" altLang="ja-JP" dirty="0"/>
              <a:t>T 20–30%, R 50–60%</a:t>
            </a:r>
          </a:p>
          <a:p>
            <a:pPr marL="342900" indent="-342900">
              <a:buFont typeface="Arial" panose="020B0604020202020204" pitchFamily="34" charset="0"/>
              <a:buChar char="•"/>
            </a:pPr>
            <a:r>
              <a:rPr lang="en-US" altLang="ja-JP" dirty="0"/>
              <a:t>2× 27" LCD, 2560×1440</a:t>
            </a:r>
          </a:p>
          <a:p>
            <a:r>
              <a:rPr lang="en-US" altLang="ja-JP" b="1" dirty="0">
                <a:solidFill>
                  <a:schemeClr val="accent1"/>
                </a:solidFill>
              </a:rPr>
              <a:t>Luminance</a:t>
            </a:r>
          </a:p>
          <a:p>
            <a:pPr marL="342900" indent="-342900">
              <a:buFont typeface="Arial" panose="020B0604020202020204" pitchFamily="34" charset="0"/>
              <a:buChar char="•"/>
            </a:pPr>
            <a:r>
              <a:rPr lang="en-US" altLang="ja-JP" dirty="0"/>
              <a:t>FG max: 100 cd/m²</a:t>
            </a:r>
          </a:p>
          <a:p>
            <a:pPr marL="342900" indent="-342900">
              <a:buFont typeface="Arial" panose="020B0604020202020204" pitchFamily="34" charset="0"/>
              <a:buChar char="•"/>
            </a:pPr>
            <a:r>
              <a:rPr lang="en-US" altLang="ja-JP" dirty="0"/>
              <a:t>BG max: 30 cd/m²</a:t>
            </a:r>
          </a:p>
          <a:p>
            <a:r>
              <a:rPr lang="en-US" altLang="ja-JP" b="1" dirty="0">
                <a:solidFill>
                  <a:schemeClr val="accent1"/>
                </a:solidFill>
              </a:rPr>
              <a:t>Viewing geometry</a:t>
            </a:r>
          </a:p>
          <a:p>
            <a:pPr marL="342900" indent="-342900">
              <a:buFont typeface="Arial" panose="020B0604020202020204" pitchFamily="34" charset="0"/>
              <a:buChar char="•"/>
            </a:pPr>
            <a:r>
              <a:rPr lang="en-US" altLang="ja-JP" dirty="0"/>
              <a:t>Chin rest, dark room</a:t>
            </a:r>
          </a:p>
          <a:p>
            <a:endParaRPr lang="ja-JP" altLang="en-US" dirty="0"/>
          </a:p>
        </p:txBody>
      </p:sp>
      <p:grpSp>
        <p:nvGrpSpPr>
          <p:cNvPr id="9" name="グループ化 8">
            <a:extLst>
              <a:ext uri="{FF2B5EF4-FFF2-40B4-BE49-F238E27FC236}">
                <a16:creationId xmlns:a16="http://schemas.microsoft.com/office/drawing/2014/main" id="{9528266C-FA58-797B-9341-19F15FD93C22}"/>
              </a:ext>
            </a:extLst>
          </p:cNvPr>
          <p:cNvGrpSpPr/>
          <p:nvPr/>
        </p:nvGrpSpPr>
        <p:grpSpPr>
          <a:xfrm>
            <a:off x="4141787" y="1147687"/>
            <a:ext cx="4073491" cy="3548086"/>
            <a:chOff x="4141787" y="1147687"/>
            <a:chExt cx="4073491" cy="3548086"/>
          </a:xfrm>
        </p:grpSpPr>
        <p:pic>
          <p:nvPicPr>
            <p:cNvPr id="6" name="図 5">
              <a:extLst>
                <a:ext uri="{FF2B5EF4-FFF2-40B4-BE49-F238E27FC236}">
                  <a16:creationId xmlns:a16="http://schemas.microsoft.com/office/drawing/2014/main" id="{EB96CD15-D142-10F9-BECB-B5D4EFB88E29}"/>
                </a:ext>
              </a:extLst>
            </p:cNvPr>
            <p:cNvPicPr>
              <a:picLocks noChangeAspect="1"/>
            </p:cNvPicPr>
            <p:nvPr/>
          </p:nvPicPr>
          <p:blipFill>
            <a:blip r:embed="rId3"/>
            <a:stretch>
              <a:fillRect/>
            </a:stretch>
          </p:blipFill>
          <p:spPr>
            <a:xfrm>
              <a:off x="4301560" y="1801243"/>
              <a:ext cx="3913718" cy="2528101"/>
            </a:xfrm>
            <a:prstGeom prst="rect">
              <a:avLst/>
            </a:prstGeom>
          </p:spPr>
        </p:pic>
        <p:sp>
          <p:nvSpPr>
            <p:cNvPr id="25" name="テキスト ボックス 24">
              <a:extLst>
                <a:ext uri="{FF2B5EF4-FFF2-40B4-BE49-F238E27FC236}">
                  <a16:creationId xmlns:a16="http://schemas.microsoft.com/office/drawing/2014/main" id="{7B0B9C05-64DE-1DC1-B529-8DE4BA6DC63C}"/>
                </a:ext>
              </a:extLst>
            </p:cNvPr>
            <p:cNvSpPr txBox="1"/>
            <p:nvPr/>
          </p:nvSpPr>
          <p:spPr>
            <a:xfrm>
              <a:off x="6782655" y="1147687"/>
              <a:ext cx="1415618" cy="646331"/>
            </a:xfrm>
            <a:prstGeom prst="rect">
              <a:avLst/>
            </a:prstGeom>
            <a:noFill/>
          </p:spPr>
          <p:txBody>
            <a:bodyPr wrap="square" rtlCol="0">
              <a:spAutoFit/>
            </a:bodyPr>
            <a:lstStyle/>
            <a:p>
              <a:pPr algn="ctr"/>
              <a:r>
                <a:rPr kumimoji="1" lang="en-US" altLang="ja-JP" dirty="0"/>
                <a:t>Background</a:t>
              </a:r>
            </a:p>
            <a:p>
              <a:pPr algn="ctr"/>
              <a:r>
                <a:rPr kumimoji="1" lang="en-US" altLang="ja-JP" dirty="0"/>
                <a:t> LCD display</a:t>
              </a:r>
              <a:endParaRPr kumimoji="1" lang="ja-JP" altLang="en-US" dirty="0"/>
            </a:p>
          </p:txBody>
        </p:sp>
        <p:sp>
          <p:nvSpPr>
            <p:cNvPr id="26" name="テキスト ボックス 25">
              <a:extLst>
                <a:ext uri="{FF2B5EF4-FFF2-40B4-BE49-F238E27FC236}">
                  <a16:creationId xmlns:a16="http://schemas.microsoft.com/office/drawing/2014/main" id="{A858772F-D307-D869-5968-B9D2E3AE1B6B}"/>
                </a:ext>
              </a:extLst>
            </p:cNvPr>
            <p:cNvSpPr txBox="1"/>
            <p:nvPr/>
          </p:nvSpPr>
          <p:spPr>
            <a:xfrm>
              <a:off x="4644000" y="4326441"/>
              <a:ext cx="2960975" cy="369332"/>
            </a:xfrm>
            <a:prstGeom prst="rect">
              <a:avLst/>
            </a:prstGeom>
            <a:noFill/>
          </p:spPr>
          <p:txBody>
            <a:bodyPr wrap="square" rtlCol="0">
              <a:spAutoFit/>
            </a:bodyPr>
            <a:lstStyle/>
            <a:p>
              <a:pPr algn="ctr"/>
              <a:r>
                <a:rPr kumimoji="1" lang="en-US" altLang="ja-JP" dirty="0"/>
                <a:t>Foreground LCD display</a:t>
              </a:r>
              <a:endParaRPr kumimoji="1" lang="ja-JP" altLang="en-US" dirty="0"/>
            </a:p>
          </p:txBody>
        </p:sp>
        <p:cxnSp>
          <p:nvCxnSpPr>
            <p:cNvPr id="27" name="直線コネクタ 26">
              <a:extLst>
                <a:ext uri="{FF2B5EF4-FFF2-40B4-BE49-F238E27FC236}">
                  <a16:creationId xmlns:a16="http://schemas.microsoft.com/office/drawing/2014/main" id="{1CD23BB5-3E15-2CB4-63A7-D4D96CF4B5AA}"/>
                </a:ext>
              </a:extLst>
            </p:cNvPr>
            <p:cNvCxnSpPr>
              <a:cxnSpLocks/>
              <a:stCxn id="6" idx="0"/>
            </p:cNvCxnSpPr>
            <p:nvPr/>
          </p:nvCxnSpPr>
          <p:spPr>
            <a:xfrm flipH="1">
              <a:off x="5868000" y="1801243"/>
              <a:ext cx="390419" cy="1071330"/>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sp>
          <p:nvSpPr>
            <p:cNvPr id="28" name="テキスト ボックス 27">
              <a:extLst>
                <a:ext uri="{FF2B5EF4-FFF2-40B4-BE49-F238E27FC236}">
                  <a16:creationId xmlns:a16="http://schemas.microsoft.com/office/drawing/2014/main" id="{AB8C5731-1965-47CD-2B79-4B0220841B29}"/>
                </a:ext>
              </a:extLst>
            </p:cNvPr>
            <p:cNvSpPr txBox="1"/>
            <p:nvPr/>
          </p:nvSpPr>
          <p:spPr>
            <a:xfrm>
              <a:off x="5808729" y="1154912"/>
              <a:ext cx="899379" cy="646331"/>
            </a:xfrm>
            <a:prstGeom prst="rect">
              <a:avLst/>
            </a:prstGeom>
            <a:noFill/>
          </p:spPr>
          <p:txBody>
            <a:bodyPr wrap="square" rtlCol="0">
              <a:spAutoFit/>
            </a:bodyPr>
            <a:lstStyle/>
            <a:p>
              <a:r>
                <a:rPr kumimoji="1" lang="en-US" altLang="ja-JP" dirty="0"/>
                <a:t>Beam </a:t>
              </a:r>
            </a:p>
            <a:p>
              <a:r>
                <a:rPr kumimoji="1" lang="en-US" altLang="ja-JP" dirty="0"/>
                <a:t>splitter</a:t>
              </a:r>
              <a:endParaRPr kumimoji="1" lang="ja-JP" altLang="en-US" dirty="0"/>
            </a:p>
          </p:txBody>
        </p:sp>
        <p:sp>
          <p:nvSpPr>
            <p:cNvPr id="49" name="テキスト ボックス 48">
              <a:extLst>
                <a:ext uri="{FF2B5EF4-FFF2-40B4-BE49-F238E27FC236}">
                  <a16:creationId xmlns:a16="http://schemas.microsoft.com/office/drawing/2014/main" id="{CCD94651-ADBE-42C2-1FBE-8B82F658E4C5}"/>
                </a:ext>
              </a:extLst>
            </p:cNvPr>
            <p:cNvSpPr txBox="1"/>
            <p:nvPr/>
          </p:nvSpPr>
          <p:spPr>
            <a:xfrm>
              <a:off x="4141787" y="1147687"/>
              <a:ext cx="1326100" cy="646331"/>
            </a:xfrm>
            <a:prstGeom prst="rect">
              <a:avLst/>
            </a:prstGeom>
            <a:noFill/>
          </p:spPr>
          <p:txBody>
            <a:bodyPr wrap="square" rtlCol="0">
              <a:spAutoFit/>
            </a:bodyPr>
            <a:lstStyle/>
            <a:p>
              <a:pPr algn="ctr"/>
              <a:r>
                <a:rPr kumimoji="1" lang="en-US" altLang="ja-JP" dirty="0"/>
                <a:t>Forehead </a:t>
              </a:r>
            </a:p>
            <a:p>
              <a:pPr algn="ctr"/>
              <a:r>
                <a:rPr kumimoji="1" lang="en-US" altLang="ja-JP" dirty="0"/>
                <a:t>Support</a:t>
              </a:r>
              <a:endParaRPr kumimoji="1" lang="ja-JP" altLang="en-US" dirty="0"/>
            </a:p>
          </p:txBody>
        </p:sp>
        <p:cxnSp>
          <p:nvCxnSpPr>
            <p:cNvPr id="50" name="直線コネクタ 49">
              <a:extLst>
                <a:ext uri="{FF2B5EF4-FFF2-40B4-BE49-F238E27FC236}">
                  <a16:creationId xmlns:a16="http://schemas.microsoft.com/office/drawing/2014/main" id="{4298E405-81AF-BC7E-1D34-930F028838B1}"/>
                </a:ext>
              </a:extLst>
            </p:cNvPr>
            <p:cNvCxnSpPr>
              <a:cxnSpLocks/>
              <a:stCxn id="25" idx="2"/>
            </p:cNvCxnSpPr>
            <p:nvPr/>
          </p:nvCxnSpPr>
          <p:spPr>
            <a:xfrm>
              <a:off x="7490464" y="1794018"/>
              <a:ext cx="0" cy="554153"/>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39DF9373-2F58-8AA7-D8FA-F3B716171B6F}"/>
                </a:ext>
              </a:extLst>
            </p:cNvPr>
            <p:cNvCxnSpPr>
              <a:cxnSpLocks/>
            </p:cNvCxnSpPr>
            <p:nvPr/>
          </p:nvCxnSpPr>
          <p:spPr>
            <a:xfrm>
              <a:off x="5868000" y="3419501"/>
              <a:ext cx="0" cy="961730"/>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96C4FB34-569D-1D44-1A12-47EF9AE7A5C5}"/>
                </a:ext>
              </a:extLst>
            </p:cNvPr>
            <p:cNvCxnSpPr>
              <a:cxnSpLocks/>
            </p:cNvCxnSpPr>
            <p:nvPr/>
          </p:nvCxnSpPr>
          <p:spPr>
            <a:xfrm>
              <a:off x="4638738" y="1756521"/>
              <a:ext cx="0" cy="527229"/>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grpSp>
      <p:sp>
        <p:nvSpPr>
          <p:cNvPr id="4" name="スライド番号プレースホルダー 3">
            <a:extLst>
              <a:ext uri="{FF2B5EF4-FFF2-40B4-BE49-F238E27FC236}">
                <a16:creationId xmlns:a16="http://schemas.microsoft.com/office/drawing/2014/main" id="{1629C1C9-020A-7BF1-BE37-55EBA98D6661}"/>
              </a:ext>
            </a:extLst>
          </p:cNvPr>
          <p:cNvSpPr>
            <a:spLocks noGrp="1"/>
          </p:cNvSpPr>
          <p:nvPr>
            <p:ph type="sldNum" sz="quarter" idx="4"/>
          </p:nvPr>
        </p:nvSpPr>
        <p:spPr/>
        <p:txBody>
          <a:bodyPr/>
          <a:lstStyle/>
          <a:p>
            <a:fld id="{C1FF6DA9-008F-8B48-92A6-B652298478BF}" type="slidenum">
              <a:rPr lang="en-US" smtClean="0"/>
              <a:pPr/>
              <a:t>20</a:t>
            </a:fld>
            <a:r>
              <a:rPr lang="en-US"/>
              <a:t>/30</a:t>
            </a:r>
            <a:endParaRPr lang="en-US" sz="1800" dirty="0"/>
          </a:p>
        </p:txBody>
      </p:sp>
    </p:spTree>
    <p:extLst>
      <p:ext uri="{BB962C8B-B14F-4D97-AF65-F5344CB8AC3E}">
        <p14:creationId xmlns:p14="http://schemas.microsoft.com/office/powerpoint/2010/main" val="17108164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DC4F3-0AA7-EE1B-1A20-D3EB44EEED0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5EC4FB-FA10-6ACC-BDEA-41386B0DE091}"/>
              </a:ext>
            </a:extLst>
          </p:cNvPr>
          <p:cNvSpPr>
            <a:spLocks noGrp="1"/>
          </p:cNvSpPr>
          <p:nvPr>
            <p:ph type="title"/>
          </p:nvPr>
        </p:nvSpPr>
        <p:spPr/>
        <p:txBody>
          <a:bodyPr/>
          <a:lstStyle/>
          <a:p>
            <a:r>
              <a:rPr kumimoji="1" lang="en-US" altLang="ja-JP" dirty="0"/>
              <a:t>Pilot Experiment: Procedure</a:t>
            </a:r>
            <a:endParaRPr kumimoji="1" lang="ja-JP" altLang="en-US" dirty="0"/>
          </a:p>
        </p:txBody>
      </p:sp>
      <p:sp>
        <p:nvSpPr>
          <p:cNvPr id="44" name="コンテンツ プレースホルダー 43">
            <a:extLst>
              <a:ext uri="{FF2B5EF4-FFF2-40B4-BE49-F238E27FC236}">
                <a16:creationId xmlns:a16="http://schemas.microsoft.com/office/drawing/2014/main" id="{2A210CB3-B2D5-D43E-5803-3217E6554089}"/>
              </a:ext>
            </a:extLst>
          </p:cNvPr>
          <p:cNvSpPr>
            <a:spLocks noGrp="1"/>
          </p:cNvSpPr>
          <p:nvPr>
            <p:ph idx="1"/>
          </p:nvPr>
        </p:nvSpPr>
        <p:spPr>
          <a:xfrm>
            <a:off x="4572000" y="1203750"/>
            <a:ext cx="4118246" cy="3368250"/>
          </a:xfrm>
        </p:spPr>
        <p:txBody>
          <a:bodyPr/>
          <a:lstStyle/>
          <a:p>
            <a:r>
              <a:rPr lang="en-US" altLang="ja-JP" b="1" dirty="0">
                <a:solidFill>
                  <a:schemeClr val="accent1"/>
                </a:solidFill>
              </a:rPr>
              <a:t>Rating scale</a:t>
            </a:r>
          </a:p>
          <a:p>
            <a:pPr marL="342900" indent="-342900">
              <a:buFont typeface="Arial" panose="020B0604020202020204" pitchFamily="34" charset="0"/>
              <a:buChar char="•"/>
            </a:pPr>
            <a:r>
              <a:rPr lang="en-US" altLang="ja-JP" b="1" dirty="0"/>
              <a:t>1</a:t>
            </a:r>
            <a:r>
              <a:rPr lang="en-US" altLang="ja-JP" dirty="0"/>
              <a:t> Invisible — </a:t>
            </a:r>
            <a:r>
              <a:rPr lang="en-US" altLang="ja-JP" b="1" dirty="0"/>
              <a:t>5</a:t>
            </a:r>
            <a:r>
              <a:rPr lang="en-US" altLang="ja-JP" dirty="0"/>
              <a:t> Very clear</a:t>
            </a:r>
          </a:p>
          <a:p>
            <a:r>
              <a:rPr lang="en-US" altLang="ja-JP" b="1" dirty="0">
                <a:solidFill>
                  <a:schemeClr val="accent1"/>
                </a:solidFill>
              </a:rPr>
              <a:t>Stimulus pairing</a:t>
            </a:r>
          </a:p>
          <a:p>
            <a:pPr marL="342900" indent="-342900">
              <a:buFont typeface="Arial" panose="020B0604020202020204" pitchFamily="34" charset="0"/>
              <a:buChar char="•"/>
            </a:pPr>
            <a:r>
              <a:rPr lang="en-US" altLang="ja-JP" b="1" dirty="0"/>
              <a:t>Reference</a:t>
            </a:r>
            <a:r>
              <a:rPr lang="en-US" altLang="ja-JP" dirty="0"/>
              <a:t>: Gabor patch</a:t>
            </a:r>
          </a:p>
          <a:p>
            <a:pPr marL="342900" indent="-342900">
              <a:buFont typeface="Arial" panose="020B0604020202020204" pitchFamily="34" charset="0"/>
              <a:buChar char="•"/>
            </a:pPr>
            <a:r>
              <a:rPr lang="en-US" altLang="ja-JP" b="1" dirty="0"/>
              <a:t>Test</a:t>
            </a:r>
            <a:r>
              <a:rPr lang="en-US" altLang="ja-JP" dirty="0"/>
              <a:t>: Gabor + BG noise</a:t>
            </a:r>
          </a:p>
          <a:p>
            <a:r>
              <a:rPr lang="en-US" altLang="ja-JP" b="1" dirty="0">
                <a:solidFill>
                  <a:schemeClr val="accent1"/>
                </a:solidFill>
              </a:rPr>
              <a:t>Trials</a:t>
            </a:r>
          </a:p>
          <a:p>
            <a:pPr marL="342900" indent="-342900">
              <a:buFont typeface="Arial" panose="020B0604020202020204" pitchFamily="34" charset="0"/>
              <a:buChar char="•"/>
            </a:pPr>
            <a:r>
              <a:rPr lang="en-US" altLang="ja-JP" dirty="0"/>
              <a:t>All combinations × 2 repeats </a:t>
            </a:r>
          </a:p>
          <a:p>
            <a:pPr marL="342900" indent="-342900">
              <a:buFont typeface="Arial" panose="020B0604020202020204" pitchFamily="34" charset="0"/>
              <a:buChar char="•"/>
            </a:pPr>
            <a:r>
              <a:rPr lang="en-US" altLang="ja-JP" dirty="0"/>
              <a:t>Randomized</a:t>
            </a:r>
          </a:p>
          <a:p>
            <a:pPr marL="342900" indent="-342900">
              <a:buFont typeface="Arial" panose="020B0604020202020204" pitchFamily="34" charset="0"/>
              <a:buChar char="•"/>
            </a:pPr>
            <a:r>
              <a:rPr lang="en-US" altLang="ja-JP" dirty="0"/>
              <a:t>N = 1 observer (author)</a:t>
            </a:r>
          </a:p>
        </p:txBody>
      </p:sp>
      <p:cxnSp>
        <p:nvCxnSpPr>
          <p:cNvPr id="4" name="直線矢印コネクタ 3">
            <a:extLst>
              <a:ext uri="{FF2B5EF4-FFF2-40B4-BE49-F238E27FC236}">
                <a16:creationId xmlns:a16="http://schemas.microsoft.com/office/drawing/2014/main" id="{F8D7E3EE-4BC3-957E-CD93-7BDFBB2CCEC7}"/>
              </a:ext>
            </a:extLst>
          </p:cNvPr>
          <p:cNvCxnSpPr>
            <a:cxnSpLocks/>
          </p:cNvCxnSpPr>
          <p:nvPr/>
        </p:nvCxnSpPr>
        <p:spPr>
          <a:xfrm>
            <a:off x="1081863" y="1347750"/>
            <a:ext cx="0" cy="3338549"/>
          </a:xfrm>
          <a:prstGeom prst="straightConnector1">
            <a:avLst/>
          </a:prstGeom>
          <a:ln w="38100">
            <a:tailEnd type="triangle"/>
          </a:ln>
          <a:effectLst/>
        </p:spPr>
        <p:style>
          <a:lnRef idx="2">
            <a:schemeClr val="accent1"/>
          </a:lnRef>
          <a:fillRef idx="0">
            <a:schemeClr val="accent1"/>
          </a:fillRef>
          <a:effectRef idx="1">
            <a:schemeClr val="accent1"/>
          </a:effectRef>
          <a:fontRef idx="minor">
            <a:schemeClr val="tx1"/>
          </a:fontRef>
        </p:style>
      </p:cxnSp>
      <p:pic>
        <p:nvPicPr>
          <p:cNvPr id="7" name="図 6">
            <a:extLst>
              <a:ext uri="{FF2B5EF4-FFF2-40B4-BE49-F238E27FC236}">
                <a16:creationId xmlns:a16="http://schemas.microsoft.com/office/drawing/2014/main" id="{142254C0-4E0B-B000-F623-9191471E1956}"/>
              </a:ext>
            </a:extLst>
          </p:cNvPr>
          <p:cNvPicPr>
            <a:picLocks noChangeAspect="1"/>
          </p:cNvPicPr>
          <p:nvPr/>
        </p:nvPicPr>
        <p:blipFill rotWithShape="1">
          <a:blip r:embed="rId3"/>
          <a:srcRect l="25000" r="25000"/>
          <a:stretch>
            <a:fillRect/>
          </a:stretch>
        </p:blipFill>
        <p:spPr>
          <a:xfrm>
            <a:off x="2188631" y="3004665"/>
            <a:ext cx="720000" cy="720000"/>
          </a:xfrm>
          <a:prstGeom prst="rect">
            <a:avLst/>
          </a:prstGeom>
          <a:effectLst/>
        </p:spPr>
      </p:pic>
      <p:pic>
        <p:nvPicPr>
          <p:cNvPr id="16" name="図 15">
            <a:extLst>
              <a:ext uri="{FF2B5EF4-FFF2-40B4-BE49-F238E27FC236}">
                <a16:creationId xmlns:a16="http://schemas.microsoft.com/office/drawing/2014/main" id="{F1A176DA-89A4-2F37-07F1-D7AC4A681F93}"/>
              </a:ext>
            </a:extLst>
          </p:cNvPr>
          <p:cNvPicPr>
            <a:picLocks noChangeAspect="1"/>
          </p:cNvPicPr>
          <p:nvPr/>
        </p:nvPicPr>
        <p:blipFill>
          <a:blip r:embed="rId4"/>
          <a:stretch>
            <a:fillRect/>
          </a:stretch>
        </p:blipFill>
        <p:spPr>
          <a:xfrm>
            <a:off x="1334971" y="1334638"/>
            <a:ext cx="720000" cy="720000"/>
          </a:xfrm>
          <a:prstGeom prst="rect">
            <a:avLst/>
          </a:prstGeom>
          <a:effectLst/>
        </p:spPr>
      </p:pic>
      <p:sp>
        <p:nvSpPr>
          <p:cNvPr id="29" name="正方形/長方形 28">
            <a:extLst>
              <a:ext uri="{FF2B5EF4-FFF2-40B4-BE49-F238E27FC236}">
                <a16:creationId xmlns:a16="http://schemas.microsoft.com/office/drawing/2014/main" id="{CA449A84-629E-A1F0-352B-E7B3716E6689}"/>
              </a:ext>
            </a:extLst>
          </p:cNvPr>
          <p:cNvSpPr>
            <a:spLocks noChangeAspect="1"/>
          </p:cNvSpPr>
          <p:nvPr/>
        </p:nvSpPr>
        <p:spPr>
          <a:xfrm>
            <a:off x="2188631" y="1334638"/>
            <a:ext cx="719848" cy="720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pic>
        <p:nvPicPr>
          <p:cNvPr id="35" name="図 34">
            <a:extLst>
              <a:ext uri="{FF2B5EF4-FFF2-40B4-BE49-F238E27FC236}">
                <a16:creationId xmlns:a16="http://schemas.microsoft.com/office/drawing/2014/main" id="{54BA44C5-9155-7306-69C7-0B3B2B88EFDF}"/>
              </a:ext>
            </a:extLst>
          </p:cNvPr>
          <p:cNvPicPr>
            <a:picLocks noChangeAspect="1"/>
          </p:cNvPicPr>
          <p:nvPr/>
        </p:nvPicPr>
        <p:blipFill>
          <a:blip r:embed="rId5"/>
          <a:stretch>
            <a:fillRect/>
          </a:stretch>
        </p:blipFill>
        <p:spPr>
          <a:xfrm>
            <a:off x="1331016" y="2167875"/>
            <a:ext cx="720000" cy="720000"/>
          </a:xfrm>
          <a:prstGeom prst="rect">
            <a:avLst/>
          </a:prstGeom>
          <a:effectLst/>
        </p:spPr>
      </p:pic>
      <p:pic>
        <p:nvPicPr>
          <p:cNvPr id="37" name="図 36">
            <a:extLst>
              <a:ext uri="{FF2B5EF4-FFF2-40B4-BE49-F238E27FC236}">
                <a16:creationId xmlns:a16="http://schemas.microsoft.com/office/drawing/2014/main" id="{EAF7140B-BB74-DA6B-F52C-010CED129E55}"/>
              </a:ext>
            </a:extLst>
          </p:cNvPr>
          <p:cNvPicPr>
            <a:picLocks noChangeAspect="1"/>
          </p:cNvPicPr>
          <p:nvPr/>
        </p:nvPicPr>
        <p:blipFill>
          <a:blip r:embed="rId6"/>
          <a:stretch>
            <a:fillRect/>
          </a:stretch>
        </p:blipFill>
        <p:spPr>
          <a:xfrm>
            <a:off x="1972640" y="3873404"/>
            <a:ext cx="1154400" cy="720000"/>
          </a:xfrm>
          <a:prstGeom prst="rect">
            <a:avLst/>
          </a:prstGeom>
          <a:effectLst/>
        </p:spPr>
      </p:pic>
      <p:pic>
        <p:nvPicPr>
          <p:cNvPr id="38" name="図 37">
            <a:extLst>
              <a:ext uri="{FF2B5EF4-FFF2-40B4-BE49-F238E27FC236}">
                <a16:creationId xmlns:a16="http://schemas.microsoft.com/office/drawing/2014/main" id="{F8C29B65-6CB1-7243-8526-30C203F7B8BB}"/>
              </a:ext>
            </a:extLst>
          </p:cNvPr>
          <p:cNvPicPr>
            <a:picLocks noChangeAspect="1"/>
          </p:cNvPicPr>
          <p:nvPr/>
        </p:nvPicPr>
        <p:blipFill>
          <a:blip r:embed="rId4"/>
          <a:stretch>
            <a:fillRect/>
          </a:stretch>
        </p:blipFill>
        <p:spPr>
          <a:xfrm>
            <a:off x="1339196" y="3004665"/>
            <a:ext cx="720000" cy="720000"/>
          </a:xfrm>
          <a:prstGeom prst="rect">
            <a:avLst/>
          </a:prstGeom>
          <a:effectLst/>
        </p:spPr>
      </p:pic>
      <p:sp>
        <p:nvSpPr>
          <p:cNvPr id="39" name="正方形/長方形 38">
            <a:extLst>
              <a:ext uri="{FF2B5EF4-FFF2-40B4-BE49-F238E27FC236}">
                <a16:creationId xmlns:a16="http://schemas.microsoft.com/office/drawing/2014/main" id="{5DB54F95-C15D-A4CD-04FA-47CDE779770B}"/>
              </a:ext>
            </a:extLst>
          </p:cNvPr>
          <p:cNvSpPr>
            <a:spLocks noChangeAspect="1"/>
          </p:cNvSpPr>
          <p:nvPr/>
        </p:nvSpPr>
        <p:spPr>
          <a:xfrm>
            <a:off x="2188783" y="2167875"/>
            <a:ext cx="719848" cy="720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41" name="直線コネクタ 40">
            <a:extLst>
              <a:ext uri="{FF2B5EF4-FFF2-40B4-BE49-F238E27FC236}">
                <a16:creationId xmlns:a16="http://schemas.microsoft.com/office/drawing/2014/main" id="{BF0020E0-9089-919A-844A-CE3394904D87}"/>
              </a:ext>
            </a:extLst>
          </p:cNvPr>
          <p:cNvCxnSpPr/>
          <p:nvPr/>
        </p:nvCxnSpPr>
        <p:spPr>
          <a:xfrm>
            <a:off x="937863" y="1707750"/>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CB72520-2E54-DE12-6DF2-0E54CC15FD7D}"/>
              </a:ext>
            </a:extLst>
          </p:cNvPr>
          <p:cNvCxnSpPr/>
          <p:nvPr/>
        </p:nvCxnSpPr>
        <p:spPr>
          <a:xfrm>
            <a:off x="937863" y="2530815"/>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7D30BDC4-C14A-DAE8-448F-31ED40334323}"/>
              </a:ext>
            </a:extLst>
          </p:cNvPr>
          <p:cNvCxnSpPr/>
          <p:nvPr/>
        </p:nvCxnSpPr>
        <p:spPr>
          <a:xfrm>
            <a:off x="937863" y="3363750"/>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cxnSp>
        <p:nvCxnSpPr>
          <p:cNvPr id="46" name="直線コネクタ 45">
            <a:extLst>
              <a:ext uri="{FF2B5EF4-FFF2-40B4-BE49-F238E27FC236}">
                <a16:creationId xmlns:a16="http://schemas.microsoft.com/office/drawing/2014/main" id="{ECB7256D-B224-2A4F-E357-B25CC8DE5E5A}"/>
              </a:ext>
            </a:extLst>
          </p:cNvPr>
          <p:cNvCxnSpPr/>
          <p:nvPr/>
        </p:nvCxnSpPr>
        <p:spPr>
          <a:xfrm>
            <a:off x="937863" y="4227750"/>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F2A20FF0-D736-819E-5F0E-1FB22E42746F}"/>
              </a:ext>
            </a:extLst>
          </p:cNvPr>
          <p:cNvSpPr txBox="1"/>
          <p:nvPr/>
        </p:nvSpPr>
        <p:spPr>
          <a:xfrm>
            <a:off x="470882" y="1509972"/>
            <a:ext cx="484428" cy="369332"/>
          </a:xfrm>
          <a:prstGeom prst="rect">
            <a:avLst/>
          </a:prstGeom>
          <a:noFill/>
        </p:spPr>
        <p:txBody>
          <a:bodyPr wrap="none" rtlCol="0">
            <a:spAutoFit/>
          </a:bodyPr>
          <a:lstStyle/>
          <a:p>
            <a:r>
              <a:rPr kumimoji="1" lang="en-US" altLang="ja-JP" dirty="0"/>
              <a:t>0.0</a:t>
            </a:r>
            <a:endParaRPr kumimoji="1" lang="ja-JP" altLang="en-US" dirty="0"/>
          </a:p>
        </p:txBody>
      </p:sp>
      <p:sp>
        <p:nvSpPr>
          <p:cNvPr id="53" name="テキスト ボックス 52">
            <a:extLst>
              <a:ext uri="{FF2B5EF4-FFF2-40B4-BE49-F238E27FC236}">
                <a16:creationId xmlns:a16="http://schemas.microsoft.com/office/drawing/2014/main" id="{E264CE9D-157A-2B63-0ED2-444CA5473139}"/>
              </a:ext>
            </a:extLst>
          </p:cNvPr>
          <p:cNvSpPr txBox="1"/>
          <p:nvPr/>
        </p:nvSpPr>
        <p:spPr>
          <a:xfrm>
            <a:off x="470882" y="2346149"/>
            <a:ext cx="484428" cy="369332"/>
          </a:xfrm>
          <a:prstGeom prst="rect">
            <a:avLst/>
          </a:prstGeom>
          <a:noFill/>
        </p:spPr>
        <p:txBody>
          <a:bodyPr wrap="none" rtlCol="0">
            <a:spAutoFit/>
          </a:bodyPr>
          <a:lstStyle/>
          <a:p>
            <a:r>
              <a:rPr kumimoji="1" lang="en-US" altLang="ja-JP" dirty="0"/>
              <a:t>1.0</a:t>
            </a:r>
            <a:endParaRPr kumimoji="1" lang="ja-JP" altLang="en-US" dirty="0"/>
          </a:p>
        </p:txBody>
      </p:sp>
      <p:sp>
        <p:nvSpPr>
          <p:cNvPr id="54" name="テキスト ボックス 53">
            <a:extLst>
              <a:ext uri="{FF2B5EF4-FFF2-40B4-BE49-F238E27FC236}">
                <a16:creationId xmlns:a16="http://schemas.microsoft.com/office/drawing/2014/main" id="{84EE27E8-F24D-416E-CCD5-203D05F3A453}"/>
              </a:ext>
            </a:extLst>
          </p:cNvPr>
          <p:cNvSpPr txBox="1"/>
          <p:nvPr/>
        </p:nvSpPr>
        <p:spPr>
          <a:xfrm>
            <a:off x="468000" y="3179084"/>
            <a:ext cx="484428" cy="369332"/>
          </a:xfrm>
          <a:prstGeom prst="rect">
            <a:avLst/>
          </a:prstGeom>
          <a:noFill/>
        </p:spPr>
        <p:txBody>
          <a:bodyPr wrap="none" rtlCol="0">
            <a:spAutoFit/>
          </a:bodyPr>
          <a:lstStyle/>
          <a:p>
            <a:r>
              <a:rPr kumimoji="1" lang="en-US" altLang="ja-JP" dirty="0"/>
              <a:t>1.5</a:t>
            </a:r>
            <a:endParaRPr kumimoji="1" lang="ja-JP" altLang="en-US" dirty="0"/>
          </a:p>
        </p:txBody>
      </p:sp>
      <p:sp>
        <p:nvSpPr>
          <p:cNvPr id="55" name="テキスト ボックス 54">
            <a:extLst>
              <a:ext uri="{FF2B5EF4-FFF2-40B4-BE49-F238E27FC236}">
                <a16:creationId xmlns:a16="http://schemas.microsoft.com/office/drawing/2014/main" id="{5A4DA43B-6E22-85E6-617F-5A6CE62E29AB}"/>
              </a:ext>
            </a:extLst>
          </p:cNvPr>
          <p:cNvSpPr txBox="1"/>
          <p:nvPr/>
        </p:nvSpPr>
        <p:spPr>
          <a:xfrm>
            <a:off x="470882" y="4043084"/>
            <a:ext cx="484428" cy="369332"/>
          </a:xfrm>
          <a:prstGeom prst="rect">
            <a:avLst/>
          </a:prstGeom>
          <a:noFill/>
        </p:spPr>
        <p:txBody>
          <a:bodyPr wrap="none" rtlCol="0">
            <a:spAutoFit/>
          </a:bodyPr>
          <a:lstStyle/>
          <a:p>
            <a:r>
              <a:rPr kumimoji="1" lang="en-US" altLang="ja-JP" dirty="0"/>
              <a:t>2.5</a:t>
            </a:r>
            <a:endParaRPr kumimoji="1" lang="ja-JP" altLang="en-US" dirty="0"/>
          </a:p>
        </p:txBody>
      </p:sp>
      <p:sp>
        <p:nvSpPr>
          <p:cNvPr id="56" name="テキスト ボックス 55">
            <a:extLst>
              <a:ext uri="{FF2B5EF4-FFF2-40B4-BE49-F238E27FC236}">
                <a16:creationId xmlns:a16="http://schemas.microsoft.com/office/drawing/2014/main" id="{52C0685E-9DB7-6E96-AB1E-28D2E66FB5EB}"/>
              </a:ext>
            </a:extLst>
          </p:cNvPr>
          <p:cNvSpPr txBox="1"/>
          <p:nvPr/>
        </p:nvSpPr>
        <p:spPr>
          <a:xfrm>
            <a:off x="839649" y="4665256"/>
            <a:ext cx="498855" cy="369332"/>
          </a:xfrm>
          <a:prstGeom prst="rect">
            <a:avLst/>
          </a:prstGeom>
          <a:noFill/>
        </p:spPr>
        <p:txBody>
          <a:bodyPr wrap="none" rtlCol="0">
            <a:spAutoFit/>
          </a:bodyPr>
          <a:lstStyle/>
          <a:p>
            <a:r>
              <a:rPr kumimoji="1" lang="en-US" altLang="ja-JP" dirty="0"/>
              <a:t>t(s)</a:t>
            </a:r>
            <a:endParaRPr kumimoji="1" lang="ja-JP" altLang="en-US" dirty="0"/>
          </a:p>
        </p:txBody>
      </p:sp>
      <p:sp>
        <p:nvSpPr>
          <p:cNvPr id="3" name="テキスト ボックス 2">
            <a:extLst>
              <a:ext uri="{FF2B5EF4-FFF2-40B4-BE49-F238E27FC236}">
                <a16:creationId xmlns:a16="http://schemas.microsoft.com/office/drawing/2014/main" id="{D7BA9790-E2AB-DCE2-EAD7-A35D2F32D732}"/>
              </a:ext>
            </a:extLst>
          </p:cNvPr>
          <p:cNvSpPr txBox="1"/>
          <p:nvPr/>
        </p:nvSpPr>
        <p:spPr>
          <a:xfrm>
            <a:off x="1470782" y="1007540"/>
            <a:ext cx="455574" cy="369332"/>
          </a:xfrm>
          <a:prstGeom prst="rect">
            <a:avLst/>
          </a:prstGeom>
          <a:noFill/>
        </p:spPr>
        <p:txBody>
          <a:bodyPr wrap="none" rtlCol="0">
            <a:spAutoFit/>
          </a:bodyPr>
          <a:lstStyle/>
          <a:p>
            <a:r>
              <a:rPr kumimoji="1" lang="en-US" altLang="ja-JP" dirty="0"/>
              <a:t>FG</a:t>
            </a:r>
            <a:endParaRPr kumimoji="1" lang="ja-JP" altLang="en-US" dirty="0"/>
          </a:p>
        </p:txBody>
      </p:sp>
      <p:sp>
        <p:nvSpPr>
          <p:cNvPr id="5" name="テキスト ボックス 4">
            <a:extLst>
              <a:ext uri="{FF2B5EF4-FFF2-40B4-BE49-F238E27FC236}">
                <a16:creationId xmlns:a16="http://schemas.microsoft.com/office/drawing/2014/main" id="{BA85524E-ABC4-AA54-8B9D-1B83F721C5DA}"/>
              </a:ext>
            </a:extLst>
          </p:cNvPr>
          <p:cNvSpPr txBox="1"/>
          <p:nvPr/>
        </p:nvSpPr>
        <p:spPr>
          <a:xfrm>
            <a:off x="2307622" y="1017471"/>
            <a:ext cx="476412" cy="369332"/>
          </a:xfrm>
          <a:prstGeom prst="rect">
            <a:avLst/>
          </a:prstGeom>
          <a:noFill/>
        </p:spPr>
        <p:txBody>
          <a:bodyPr wrap="none" rtlCol="0">
            <a:spAutoFit/>
          </a:bodyPr>
          <a:lstStyle/>
          <a:p>
            <a:r>
              <a:rPr kumimoji="1" lang="en-US" altLang="ja-JP" dirty="0"/>
              <a:t>BG</a:t>
            </a:r>
            <a:endParaRPr kumimoji="1" lang="ja-JP" altLang="en-US" dirty="0"/>
          </a:p>
        </p:txBody>
      </p:sp>
      <p:pic>
        <p:nvPicPr>
          <p:cNvPr id="6" name="図 5">
            <a:extLst>
              <a:ext uri="{FF2B5EF4-FFF2-40B4-BE49-F238E27FC236}">
                <a16:creationId xmlns:a16="http://schemas.microsoft.com/office/drawing/2014/main" id="{494DC7A8-4B0D-88F1-4911-959F6C0335FC}"/>
              </a:ext>
            </a:extLst>
          </p:cNvPr>
          <p:cNvPicPr>
            <a:picLocks noChangeAspect="1"/>
          </p:cNvPicPr>
          <p:nvPr/>
        </p:nvPicPr>
        <p:blipFill>
          <a:blip r:embed="rId7"/>
          <a:stretch>
            <a:fillRect/>
          </a:stretch>
        </p:blipFill>
        <p:spPr>
          <a:xfrm>
            <a:off x="3033232" y="3017024"/>
            <a:ext cx="720000" cy="720000"/>
          </a:xfrm>
          <a:prstGeom prst="rect">
            <a:avLst/>
          </a:prstGeom>
        </p:spPr>
      </p:pic>
      <p:pic>
        <p:nvPicPr>
          <p:cNvPr id="9" name="図 8">
            <a:extLst>
              <a:ext uri="{FF2B5EF4-FFF2-40B4-BE49-F238E27FC236}">
                <a16:creationId xmlns:a16="http://schemas.microsoft.com/office/drawing/2014/main" id="{68504141-643B-B074-D3B6-E4C824A3B0D1}"/>
              </a:ext>
            </a:extLst>
          </p:cNvPr>
          <p:cNvPicPr>
            <a:picLocks noChangeAspect="1"/>
          </p:cNvPicPr>
          <p:nvPr/>
        </p:nvPicPr>
        <p:blipFill>
          <a:blip r:embed="rId5"/>
          <a:stretch>
            <a:fillRect/>
          </a:stretch>
        </p:blipFill>
        <p:spPr>
          <a:xfrm>
            <a:off x="3033232" y="2170815"/>
            <a:ext cx="720000" cy="720000"/>
          </a:xfrm>
          <a:prstGeom prst="rect">
            <a:avLst/>
          </a:prstGeom>
          <a:effectLst/>
        </p:spPr>
      </p:pic>
      <p:pic>
        <p:nvPicPr>
          <p:cNvPr id="10" name="図 9">
            <a:extLst>
              <a:ext uri="{FF2B5EF4-FFF2-40B4-BE49-F238E27FC236}">
                <a16:creationId xmlns:a16="http://schemas.microsoft.com/office/drawing/2014/main" id="{35B23AE1-353A-4D14-696A-E55C59D4744F}"/>
              </a:ext>
            </a:extLst>
          </p:cNvPr>
          <p:cNvPicPr>
            <a:picLocks noChangeAspect="1"/>
          </p:cNvPicPr>
          <p:nvPr/>
        </p:nvPicPr>
        <p:blipFill>
          <a:blip r:embed="rId8"/>
          <a:stretch>
            <a:fillRect/>
          </a:stretch>
        </p:blipFill>
        <p:spPr>
          <a:xfrm>
            <a:off x="3040339" y="1334638"/>
            <a:ext cx="720000" cy="720000"/>
          </a:xfrm>
          <a:prstGeom prst="rect">
            <a:avLst/>
          </a:prstGeom>
        </p:spPr>
      </p:pic>
      <p:sp>
        <p:nvSpPr>
          <p:cNvPr id="11" name="テキスト ボックス 10">
            <a:extLst>
              <a:ext uri="{FF2B5EF4-FFF2-40B4-BE49-F238E27FC236}">
                <a16:creationId xmlns:a16="http://schemas.microsoft.com/office/drawing/2014/main" id="{25C124AF-797D-1A38-72F9-216CA1C5A132}"/>
              </a:ext>
            </a:extLst>
          </p:cNvPr>
          <p:cNvSpPr txBox="1"/>
          <p:nvPr/>
        </p:nvSpPr>
        <p:spPr>
          <a:xfrm>
            <a:off x="3087860" y="1019084"/>
            <a:ext cx="609462" cy="369332"/>
          </a:xfrm>
          <a:prstGeom prst="rect">
            <a:avLst/>
          </a:prstGeom>
          <a:noFill/>
        </p:spPr>
        <p:txBody>
          <a:bodyPr wrap="none" rtlCol="0">
            <a:spAutoFit/>
          </a:bodyPr>
          <a:lstStyle/>
          <a:p>
            <a:r>
              <a:rPr kumimoji="1" lang="en-US" altLang="ja-JP" dirty="0"/>
              <a:t>Real</a:t>
            </a:r>
            <a:endParaRPr kumimoji="1" lang="ja-JP" altLang="en-US" dirty="0"/>
          </a:p>
        </p:txBody>
      </p:sp>
      <p:sp>
        <p:nvSpPr>
          <p:cNvPr id="13" name="テキスト ボックス 12">
            <a:extLst>
              <a:ext uri="{FF2B5EF4-FFF2-40B4-BE49-F238E27FC236}">
                <a16:creationId xmlns:a16="http://schemas.microsoft.com/office/drawing/2014/main" id="{4A4FF5BD-BDA5-0196-685D-189842FDBF32}"/>
              </a:ext>
            </a:extLst>
          </p:cNvPr>
          <p:cNvSpPr txBox="1"/>
          <p:nvPr/>
        </p:nvSpPr>
        <p:spPr>
          <a:xfrm>
            <a:off x="3742593" y="1509972"/>
            <a:ext cx="508473" cy="369332"/>
          </a:xfrm>
          <a:prstGeom prst="rect">
            <a:avLst/>
          </a:prstGeom>
          <a:noFill/>
        </p:spPr>
        <p:txBody>
          <a:bodyPr wrap="none" rtlCol="0">
            <a:spAutoFit/>
          </a:bodyPr>
          <a:lstStyle/>
          <a:p>
            <a:r>
              <a:rPr kumimoji="1" lang="en-US" altLang="ja-JP" dirty="0"/>
              <a:t>Ref</a:t>
            </a:r>
            <a:endParaRPr kumimoji="1" lang="ja-JP" altLang="en-US" dirty="0"/>
          </a:p>
        </p:txBody>
      </p:sp>
      <p:sp>
        <p:nvSpPr>
          <p:cNvPr id="14" name="テキスト ボックス 13">
            <a:extLst>
              <a:ext uri="{FF2B5EF4-FFF2-40B4-BE49-F238E27FC236}">
                <a16:creationId xmlns:a16="http://schemas.microsoft.com/office/drawing/2014/main" id="{BA774D0D-20D4-FB8D-1D3F-7CA6407B4D6A}"/>
              </a:ext>
            </a:extLst>
          </p:cNvPr>
          <p:cNvSpPr txBox="1"/>
          <p:nvPr/>
        </p:nvSpPr>
        <p:spPr>
          <a:xfrm>
            <a:off x="3708000" y="3178788"/>
            <a:ext cx="577659" cy="369332"/>
          </a:xfrm>
          <a:prstGeom prst="rect">
            <a:avLst/>
          </a:prstGeom>
          <a:noFill/>
        </p:spPr>
        <p:txBody>
          <a:bodyPr wrap="none" rtlCol="0">
            <a:spAutoFit/>
          </a:bodyPr>
          <a:lstStyle/>
          <a:p>
            <a:r>
              <a:rPr kumimoji="1" lang="en-US" altLang="ja-JP" dirty="0"/>
              <a:t>Test</a:t>
            </a:r>
            <a:endParaRPr kumimoji="1" lang="ja-JP" altLang="en-US" dirty="0"/>
          </a:p>
        </p:txBody>
      </p:sp>
      <p:sp>
        <p:nvSpPr>
          <p:cNvPr id="15" name="テキスト ボックス 14">
            <a:extLst>
              <a:ext uri="{FF2B5EF4-FFF2-40B4-BE49-F238E27FC236}">
                <a16:creationId xmlns:a16="http://schemas.microsoft.com/office/drawing/2014/main" id="{51F8F6D0-E066-BC82-89FD-D1681D26032F}"/>
              </a:ext>
            </a:extLst>
          </p:cNvPr>
          <p:cNvSpPr txBox="1"/>
          <p:nvPr/>
        </p:nvSpPr>
        <p:spPr>
          <a:xfrm>
            <a:off x="3750608" y="2346149"/>
            <a:ext cx="492443" cy="369332"/>
          </a:xfrm>
          <a:prstGeom prst="rect">
            <a:avLst/>
          </a:prstGeom>
          <a:noFill/>
        </p:spPr>
        <p:txBody>
          <a:bodyPr wrap="none" rtlCol="0">
            <a:spAutoFit/>
          </a:bodyPr>
          <a:lstStyle/>
          <a:p>
            <a:r>
              <a:rPr kumimoji="1" lang="en-US" altLang="ja-JP" dirty="0"/>
              <a:t>BO</a:t>
            </a:r>
            <a:endParaRPr kumimoji="1" lang="ja-JP" altLang="en-US" dirty="0"/>
          </a:p>
        </p:txBody>
      </p:sp>
      <p:cxnSp>
        <p:nvCxnSpPr>
          <p:cNvPr id="17" name="直線コネクタ 16">
            <a:extLst>
              <a:ext uri="{FF2B5EF4-FFF2-40B4-BE49-F238E27FC236}">
                <a16:creationId xmlns:a16="http://schemas.microsoft.com/office/drawing/2014/main" id="{A3AECC97-6334-0BF0-7D04-14B7FCF15F16}"/>
              </a:ext>
            </a:extLst>
          </p:cNvPr>
          <p:cNvCxnSpPr>
            <a:cxnSpLocks/>
          </p:cNvCxnSpPr>
          <p:nvPr/>
        </p:nvCxnSpPr>
        <p:spPr>
          <a:xfrm>
            <a:off x="2974409" y="1131750"/>
            <a:ext cx="0" cy="2592915"/>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
        <p:nvSpPr>
          <p:cNvPr id="8" name="スライド番号プレースホルダー 7">
            <a:extLst>
              <a:ext uri="{FF2B5EF4-FFF2-40B4-BE49-F238E27FC236}">
                <a16:creationId xmlns:a16="http://schemas.microsoft.com/office/drawing/2014/main" id="{74D3AEA4-CF6A-9D5F-ECEF-4F4DC646925D}"/>
              </a:ext>
            </a:extLst>
          </p:cNvPr>
          <p:cNvSpPr>
            <a:spLocks noGrp="1"/>
          </p:cNvSpPr>
          <p:nvPr>
            <p:ph type="sldNum" sz="quarter" idx="4"/>
          </p:nvPr>
        </p:nvSpPr>
        <p:spPr/>
        <p:txBody>
          <a:bodyPr/>
          <a:lstStyle/>
          <a:p>
            <a:fld id="{C1FF6DA9-008F-8B48-92A6-B652298478BF}" type="slidenum">
              <a:rPr lang="en-US" smtClean="0"/>
              <a:pPr/>
              <a:t>21</a:t>
            </a:fld>
            <a:r>
              <a:rPr lang="en-US"/>
              <a:t>/30</a:t>
            </a:r>
            <a:endParaRPr lang="en-US" sz="1800" dirty="0"/>
          </a:p>
        </p:txBody>
      </p:sp>
    </p:spTree>
    <p:extLst>
      <p:ext uri="{BB962C8B-B14F-4D97-AF65-F5344CB8AC3E}">
        <p14:creationId xmlns:p14="http://schemas.microsoft.com/office/powerpoint/2010/main" val="10043551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5D914-066D-1373-5107-B76F9F74EE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7C1D7F0-8D88-0626-3564-240EDBDBC3D6}"/>
              </a:ext>
            </a:extLst>
          </p:cNvPr>
          <p:cNvSpPr>
            <a:spLocks noGrp="1"/>
          </p:cNvSpPr>
          <p:nvPr>
            <p:ph type="title"/>
          </p:nvPr>
        </p:nvSpPr>
        <p:spPr/>
        <p:txBody>
          <a:bodyPr/>
          <a:lstStyle/>
          <a:p>
            <a:r>
              <a:rPr kumimoji="1" lang="en-US" altLang="ja-JP" dirty="0"/>
              <a:t>Pilot Experiment: Stimuli</a:t>
            </a:r>
            <a:endParaRPr kumimoji="1" lang="ja-JP" altLang="en-US" dirty="0"/>
          </a:p>
        </p:txBody>
      </p:sp>
      <p:graphicFrame>
        <p:nvGraphicFramePr>
          <p:cNvPr id="6" name="表 5">
            <a:extLst>
              <a:ext uri="{FF2B5EF4-FFF2-40B4-BE49-F238E27FC236}">
                <a16:creationId xmlns:a16="http://schemas.microsoft.com/office/drawing/2014/main" id="{64137785-9C35-A8BB-C848-878832D38884}"/>
              </a:ext>
            </a:extLst>
          </p:cNvPr>
          <p:cNvGraphicFramePr>
            <a:graphicFrameLocks noGrp="1"/>
          </p:cNvGraphicFramePr>
          <p:nvPr>
            <p:extLst>
              <p:ext uri="{D42A27DB-BD31-4B8C-83A1-F6EECF244321}">
                <p14:modId xmlns:p14="http://schemas.microsoft.com/office/powerpoint/2010/main" val="1992204144"/>
              </p:ext>
            </p:extLst>
          </p:nvPr>
        </p:nvGraphicFramePr>
        <p:xfrm>
          <a:off x="457200" y="1170960"/>
          <a:ext cx="8229600" cy="3368248"/>
        </p:xfrm>
        <a:graphic>
          <a:graphicData uri="http://schemas.openxmlformats.org/drawingml/2006/table">
            <a:tbl>
              <a:tblPr firstRow="1" bandRow="1">
                <a:tableStyleId>{5940675A-B579-460E-94D1-54222C63F5DA}</a:tableStyleId>
              </a:tblPr>
              <a:tblGrid>
                <a:gridCol w="4834800">
                  <a:extLst>
                    <a:ext uri="{9D8B030D-6E8A-4147-A177-3AD203B41FA5}">
                      <a16:colId xmlns:a16="http://schemas.microsoft.com/office/drawing/2014/main" val="2297274464"/>
                    </a:ext>
                  </a:extLst>
                </a:gridCol>
                <a:gridCol w="3394800">
                  <a:extLst>
                    <a:ext uri="{9D8B030D-6E8A-4147-A177-3AD203B41FA5}">
                      <a16:colId xmlns:a16="http://schemas.microsoft.com/office/drawing/2014/main" val="1859057176"/>
                    </a:ext>
                  </a:extLst>
                </a:gridCol>
              </a:tblGrid>
              <a:tr h="421031">
                <a:tc>
                  <a:txBody>
                    <a:bodyPr/>
                    <a:lstStyle/>
                    <a:p>
                      <a:r>
                        <a:rPr kumimoji="1" lang="en-US" altLang="ja-JP" sz="1800" b="1" dirty="0">
                          <a:solidFill>
                            <a:schemeClr val="tx1"/>
                          </a:solidFill>
                        </a:rPr>
                        <a:t>Specification</a:t>
                      </a:r>
                      <a:endParaRPr kumimoji="1" lang="ja-JP" altLang="en-US" sz="1800" b="1"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kumimoji="1" lang="en-US" altLang="ja-JP" sz="1800" b="1" dirty="0">
                          <a:solidFill>
                            <a:schemeClr val="tx1"/>
                          </a:solidFill>
                        </a:rPr>
                        <a:t>Value</a:t>
                      </a:r>
                      <a:endParaRPr kumimoji="1" lang="ja-JP" altLang="en-US" sz="1800" b="1"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81734967"/>
                  </a:ext>
                </a:extLst>
              </a:tr>
              <a:tr h="421031">
                <a:tc>
                  <a:txBody>
                    <a:bodyPr/>
                    <a:lstStyle/>
                    <a:p>
                      <a:pPr algn="l"/>
                      <a:r>
                        <a:rPr kumimoji="1" lang="en-US" altLang="ja-JP" sz="1800" b="0" dirty="0">
                          <a:solidFill>
                            <a:schemeClr val="tx1"/>
                          </a:solidFill>
                        </a:rPr>
                        <a:t>Stimuli size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l"/>
                      <a:r>
                        <a:rPr kumimoji="1" lang="en-US" altLang="ja-JP" sz="1800" dirty="0">
                          <a:solidFill>
                            <a:schemeClr val="tx1"/>
                          </a:solidFill>
                        </a:rPr>
                        <a:t>7.9°× 7.9°</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98014802"/>
                  </a:ext>
                </a:extLst>
              </a:tr>
              <a:tr h="421031">
                <a:tc>
                  <a:txBody>
                    <a:bodyPr/>
                    <a:lstStyle/>
                    <a:p>
                      <a:pPr algn="l"/>
                      <a:r>
                        <a:rPr kumimoji="1" lang="en-US" altLang="ja-JP" sz="1800" b="0" dirty="0">
                          <a:solidFill>
                            <a:schemeClr val="tx1"/>
                          </a:solidFill>
                        </a:rPr>
                        <a:t>Envelope of Gabor patch (σ) </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1°× 1°</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33229234"/>
                  </a:ext>
                </a:extLst>
              </a:tr>
              <a:tr h="421031">
                <a:tc>
                  <a:txBody>
                    <a:bodyPr/>
                    <a:lstStyle/>
                    <a:p>
                      <a:pPr algn="l"/>
                      <a:r>
                        <a:rPr kumimoji="1" lang="en-US" altLang="ja-JP" sz="1800" b="0" dirty="0">
                          <a:solidFill>
                            <a:schemeClr val="tx1"/>
                          </a:solidFill>
                        </a:rPr>
                        <a:t>Spatial frequency (SF, </a:t>
                      </a:r>
                      <a:r>
                        <a:rPr kumimoji="1" lang="en-US" altLang="ja-JP" sz="1800" b="0" dirty="0" err="1">
                          <a:solidFill>
                            <a:schemeClr val="tx1"/>
                          </a:solidFill>
                        </a:rPr>
                        <a:t>cpd</a:t>
                      </a:r>
                      <a:r>
                        <a:rPr kumimoji="1" lang="en-US" altLang="ja-JP" sz="1800" b="0" dirty="0">
                          <a:solidFill>
                            <a:schemeClr val="tx1"/>
                          </a:solidFill>
                        </a:rPr>
                        <a:t> in Gabor patch)</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l"/>
                      <a:r>
                        <a:rPr kumimoji="1" lang="en-US" altLang="ja-JP" sz="1800" dirty="0">
                          <a:solidFill>
                            <a:schemeClr val="tx1"/>
                          </a:solidFill>
                        </a:rPr>
                        <a:t>2, 4, 6, 8 </a:t>
                      </a:r>
                      <a:r>
                        <a:rPr kumimoji="1" lang="en-US" altLang="ja-JP" sz="1800" dirty="0" err="1">
                          <a:solidFill>
                            <a:schemeClr val="tx1"/>
                          </a:solidFill>
                        </a:rPr>
                        <a:t>cpd</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458941970"/>
                  </a:ext>
                </a:extLst>
              </a:tr>
              <a:tr h="421031">
                <a:tc>
                  <a:txBody>
                    <a:bodyPr/>
                    <a:lstStyle/>
                    <a:p>
                      <a:pPr algn="l"/>
                      <a:r>
                        <a:rPr kumimoji="1" lang="en-US" altLang="ja-JP" sz="1800" b="0" dirty="0">
                          <a:solidFill>
                            <a:schemeClr val="tx1"/>
                          </a:solidFill>
                        </a:rPr>
                        <a:t>Foreground luminance(Y</a:t>
                      </a:r>
                      <a:r>
                        <a:rPr kumimoji="1" lang="en-US" altLang="ja-JP" sz="1800" b="0" baseline="-25000" dirty="0">
                          <a:solidFill>
                            <a:schemeClr val="tx1"/>
                          </a:solidFill>
                        </a:rPr>
                        <a:t>FG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ja-JP" u="sng" dirty="0">
                          <a:solidFill>
                            <a:schemeClr val="tx1"/>
                          </a:solidFill>
                        </a:rPr>
                        <a:t>50 cd/m²</a:t>
                      </a:r>
                      <a:r>
                        <a:rPr kumimoji="1" lang="ja-JP" altLang="en-US" sz="1800" u="sng" dirty="0">
                          <a:solidFill>
                            <a:schemeClr val="tx1"/>
                          </a:solidFill>
                        </a:rPr>
                        <a:t> </a:t>
                      </a:r>
                      <a:r>
                        <a:rPr kumimoji="1" lang="en-US" altLang="ja-JP" sz="1800" dirty="0">
                          <a:solidFill>
                            <a:schemeClr val="tx1"/>
                          </a:solidFill>
                        </a:rPr>
                        <a:t>or</a:t>
                      </a:r>
                      <a:r>
                        <a:rPr kumimoji="1" lang="ja-JP" altLang="en-US" sz="1800" dirty="0">
                          <a:solidFill>
                            <a:schemeClr val="tx1"/>
                          </a:solidFill>
                        </a:rPr>
                        <a:t> </a:t>
                      </a:r>
                      <a:r>
                        <a:rPr kumimoji="1" lang="en-US" altLang="ja-JP" sz="1800" dirty="0">
                          <a:solidFill>
                            <a:schemeClr val="tx1"/>
                          </a:solidFill>
                        </a:rPr>
                        <a:t>5</a:t>
                      </a:r>
                      <a:r>
                        <a:rPr lang="en-US" altLang="ja-JP" dirty="0">
                          <a:solidFill>
                            <a:schemeClr val="tx1"/>
                          </a:solidFill>
                        </a:rPr>
                        <a:t> cd/m²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7071132"/>
                  </a:ext>
                </a:extLst>
              </a:tr>
              <a:tr h="421031">
                <a:tc>
                  <a:txBody>
                    <a:bodyPr/>
                    <a:lstStyle/>
                    <a:p>
                      <a:pPr algn="l"/>
                      <a:r>
                        <a:rPr kumimoji="1" lang="en-US" altLang="ja-JP" sz="1800" b="0" dirty="0">
                          <a:solidFill>
                            <a:schemeClr val="tx1"/>
                          </a:solidFill>
                        </a:rPr>
                        <a:t>Background luminance(Y</a:t>
                      </a:r>
                      <a:r>
                        <a:rPr kumimoji="1" lang="en-US" altLang="ja-JP" sz="1800" b="0" baseline="-25000" dirty="0">
                          <a:solidFill>
                            <a:schemeClr val="tx1"/>
                          </a:solidFill>
                        </a:rPr>
                        <a:t>BG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ja-JP" dirty="0">
                          <a:solidFill>
                            <a:schemeClr val="tx1"/>
                          </a:solidFill>
                        </a:rPr>
                        <a:t>15 cd/m²</a:t>
                      </a:r>
                      <a:r>
                        <a:rPr kumimoji="1" lang="ja-JP" altLang="en-US" sz="1800" dirty="0">
                          <a:solidFill>
                            <a:schemeClr val="tx1"/>
                          </a:solidFill>
                        </a:rPr>
                        <a:t> </a:t>
                      </a:r>
                      <a:r>
                        <a:rPr kumimoji="1" lang="en-US" altLang="ja-JP" sz="1800" dirty="0">
                          <a:solidFill>
                            <a:schemeClr val="tx1"/>
                          </a:solidFill>
                        </a:rPr>
                        <a:t>or</a:t>
                      </a:r>
                      <a:r>
                        <a:rPr kumimoji="1" lang="ja-JP" altLang="en-US" sz="1800" dirty="0">
                          <a:solidFill>
                            <a:schemeClr val="tx1"/>
                          </a:solidFill>
                        </a:rPr>
                        <a:t> </a:t>
                      </a:r>
                      <a:r>
                        <a:rPr kumimoji="1" lang="en-US" altLang="ja-JP" sz="1800" dirty="0">
                          <a:solidFill>
                            <a:schemeClr val="tx1"/>
                          </a:solidFill>
                        </a:rPr>
                        <a:t>5</a:t>
                      </a:r>
                      <a:r>
                        <a:rPr lang="en-US" altLang="ja-JP" dirty="0">
                          <a:solidFill>
                            <a:schemeClr val="tx1"/>
                          </a:solidFill>
                        </a:rPr>
                        <a:t> cd/m²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036276360"/>
                  </a:ext>
                </a:extLst>
              </a:tr>
              <a:tr h="421031">
                <a:tc>
                  <a:txBody>
                    <a:bodyPr/>
                    <a:lstStyle/>
                    <a:p>
                      <a:pPr algn="l"/>
                      <a:r>
                        <a:rPr kumimoji="1" lang="en-US" altLang="ja-JP" sz="1800" b="0" dirty="0">
                          <a:solidFill>
                            <a:schemeClr val="tx1"/>
                          </a:solidFill>
                        </a:rPr>
                        <a:t>Foreground contrast(C</a:t>
                      </a:r>
                      <a:r>
                        <a:rPr kumimoji="1" lang="en-US" altLang="ja-JP" sz="1800" b="0" baseline="-25000" dirty="0">
                          <a:solidFill>
                            <a:schemeClr val="tx1"/>
                          </a:solidFill>
                        </a:rPr>
                        <a:t>FG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r>
                        <a:rPr kumimoji="1" lang="en-US" altLang="ja-JP" sz="1800" dirty="0">
                          <a:solidFill>
                            <a:schemeClr val="tx1"/>
                          </a:solidFill>
                        </a:rPr>
                        <a:t>1.0</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47655821"/>
                  </a:ext>
                </a:extLst>
              </a:tr>
              <a:tr h="421031">
                <a:tc>
                  <a:txBody>
                    <a:bodyPr/>
                    <a:lstStyle/>
                    <a:p>
                      <a:pPr algn="l"/>
                      <a:r>
                        <a:rPr kumimoji="1" lang="en-US" altLang="ja-JP" sz="1800" b="0" dirty="0">
                          <a:solidFill>
                            <a:schemeClr val="tx1"/>
                          </a:solidFill>
                        </a:rPr>
                        <a:t>Background contrast(C</a:t>
                      </a:r>
                      <a:r>
                        <a:rPr kumimoji="1" lang="en-US" altLang="ja-JP" sz="1800" b="0" baseline="-25000" dirty="0">
                          <a:solidFill>
                            <a:schemeClr val="tx1"/>
                          </a:solidFill>
                        </a:rPr>
                        <a:t>BG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l"/>
                      <a:r>
                        <a:rPr kumimoji="1" lang="en-US" altLang="ja-JP" sz="1800" dirty="0">
                          <a:solidFill>
                            <a:schemeClr val="tx1"/>
                          </a:solidFill>
                        </a:rPr>
                        <a:t>1.0 or 0.0</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789146091"/>
                  </a:ext>
                </a:extLst>
              </a:tr>
            </a:tbl>
          </a:graphicData>
        </a:graphic>
      </p:graphicFrame>
      <p:sp>
        <p:nvSpPr>
          <p:cNvPr id="3" name="スライド番号プレースホルダー 2">
            <a:extLst>
              <a:ext uri="{FF2B5EF4-FFF2-40B4-BE49-F238E27FC236}">
                <a16:creationId xmlns:a16="http://schemas.microsoft.com/office/drawing/2014/main" id="{54995CF1-A79B-EBAE-EE28-77B2DB9AD7AD}"/>
              </a:ext>
            </a:extLst>
          </p:cNvPr>
          <p:cNvSpPr>
            <a:spLocks noGrp="1"/>
          </p:cNvSpPr>
          <p:nvPr>
            <p:ph type="sldNum" sz="quarter" idx="4"/>
          </p:nvPr>
        </p:nvSpPr>
        <p:spPr/>
        <p:txBody>
          <a:bodyPr/>
          <a:lstStyle/>
          <a:p>
            <a:fld id="{C1FF6DA9-008F-8B48-92A6-B652298478BF}" type="slidenum">
              <a:rPr lang="en-US" smtClean="0"/>
              <a:pPr/>
              <a:t>22</a:t>
            </a:fld>
            <a:r>
              <a:rPr lang="en-US"/>
              <a:t>/30</a:t>
            </a:r>
            <a:endParaRPr lang="en-US" sz="1800" dirty="0"/>
          </a:p>
        </p:txBody>
      </p:sp>
    </p:spTree>
    <p:extLst>
      <p:ext uri="{BB962C8B-B14F-4D97-AF65-F5344CB8AC3E}">
        <p14:creationId xmlns:p14="http://schemas.microsoft.com/office/powerpoint/2010/main" val="11394229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20155-1CE3-A6E7-DBF2-7C08A8830B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24D3890-D262-5868-80E2-CB2E499AB985}"/>
              </a:ext>
            </a:extLst>
          </p:cNvPr>
          <p:cNvSpPr>
            <a:spLocks noGrp="1"/>
          </p:cNvSpPr>
          <p:nvPr>
            <p:ph type="title"/>
          </p:nvPr>
        </p:nvSpPr>
        <p:spPr/>
        <p:txBody>
          <a:bodyPr/>
          <a:lstStyle/>
          <a:p>
            <a:r>
              <a:rPr kumimoji="1" lang="en-US" altLang="ja-JP" dirty="0"/>
              <a:t>Pilot Experiment: </a:t>
            </a:r>
            <a:r>
              <a:rPr lang="en-US" altLang="ja-JP" dirty="0"/>
              <a:t>Conditions</a:t>
            </a:r>
            <a:endParaRPr kumimoji="1" lang="ja-JP" altLang="en-US" dirty="0"/>
          </a:p>
        </p:txBody>
      </p:sp>
      <p:graphicFrame>
        <p:nvGraphicFramePr>
          <p:cNvPr id="3" name="表 2">
            <a:extLst>
              <a:ext uri="{FF2B5EF4-FFF2-40B4-BE49-F238E27FC236}">
                <a16:creationId xmlns:a16="http://schemas.microsoft.com/office/drawing/2014/main" id="{951B3A77-721D-A6D2-18C7-DB9520FB7710}"/>
              </a:ext>
            </a:extLst>
          </p:cNvPr>
          <p:cNvGraphicFramePr>
            <a:graphicFrameLocks noGrp="1"/>
          </p:cNvGraphicFramePr>
          <p:nvPr>
            <p:extLst>
              <p:ext uri="{D42A27DB-BD31-4B8C-83A1-F6EECF244321}">
                <p14:modId xmlns:p14="http://schemas.microsoft.com/office/powerpoint/2010/main" val="2885981590"/>
              </p:ext>
            </p:extLst>
          </p:nvPr>
        </p:nvGraphicFramePr>
        <p:xfrm>
          <a:off x="457200" y="1203750"/>
          <a:ext cx="8229600" cy="2106000"/>
        </p:xfrm>
        <a:graphic>
          <a:graphicData uri="http://schemas.openxmlformats.org/drawingml/2006/table">
            <a:tbl>
              <a:tblPr/>
              <a:tblGrid>
                <a:gridCol w="1371600">
                  <a:extLst>
                    <a:ext uri="{9D8B030D-6E8A-4147-A177-3AD203B41FA5}">
                      <a16:colId xmlns:a16="http://schemas.microsoft.com/office/drawing/2014/main" val="748166687"/>
                    </a:ext>
                  </a:extLst>
                </a:gridCol>
                <a:gridCol w="1371600">
                  <a:extLst>
                    <a:ext uri="{9D8B030D-6E8A-4147-A177-3AD203B41FA5}">
                      <a16:colId xmlns:a16="http://schemas.microsoft.com/office/drawing/2014/main" val="705005623"/>
                    </a:ext>
                  </a:extLst>
                </a:gridCol>
                <a:gridCol w="1371600">
                  <a:extLst>
                    <a:ext uri="{9D8B030D-6E8A-4147-A177-3AD203B41FA5}">
                      <a16:colId xmlns:a16="http://schemas.microsoft.com/office/drawing/2014/main" val="4129296084"/>
                    </a:ext>
                  </a:extLst>
                </a:gridCol>
                <a:gridCol w="1371600">
                  <a:extLst>
                    <a:ext uri="{9D8B030D-6E8A-4147-A177-3AD203B41FA5}">
                      <a16:colId xmlns:a16="http://schemas.microsoft.com/office/drawing/2014/main" val="1575613314"/>
                    </a:ext>
                  </a:extLst>
                </a:gridCol>
                <a:gridCol w="1371600">
                  <a:extLst>
                    <a:ext uri="{9D8B030D-6E8A-4147-A177-3AD203B41FA5}">
                      <a16:colId xmlns:a16="http://schemas.microsoft.com/office/drawing/2014/main" val="57913395"/>
                    </a:ext>
                  </a:extLst>
                </a:gridCol>
                <a:gridCol w="1371600">
                  <a:extLst>
                    <a:ext uri="{9D8B030D-6E8A-4147-A177-3AD203B41FA5}">
                      <a16:colId xmlns:a16="http://schemas.microsoft.com/office/drawing/2014/main" val="1620867894"/>
                    </a:ext>
                  </a:extLst>
                </a:gridCol>
              </a:tblGrid>
              <a:tr h="421200">
                <a:tc>
                  <a:txBody>
                    <a:bodyPr/>
                    <a:lstStyle/>
                    <a:p>
                      <a:pPr algn="ctr">
                        <a:buNone/>
                      </a:pPr>
                      <a:r>
                        <a:rPr lang="en-US" altLang="ja-JP" b="1" dirty="0"/>
                        <a:t>Pair</a:t>
                      </a:r>
                      <a:r>
                        <a:rPr lang="ja-JP" altLang="en-US" b="1" dirty="0"/>
                        <a:t> </a:t>
                      </a:r>
                      <a:r>
                        <a:rPr lang="en-US" altLang="ja-JP" b="1" dirty="0"/>
                        <a:t>num</a:t>
                      </a:r>
                      <a:endParaRPr lang="ja-JP" altLang="en-US" b="1" dirty="0"/>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err="1"/>
                        <a:t>d</a:t>
                      </a:r>
                      <a:r>
                        <a:rPr lang="en-US" b="0" baseline="-25000" dirty="0" err="1"/>
                        <a:t>FG</a:t>
                      </a:r>
                      <a:r>
                        <a:rPr lang="en-US" b="0" dirty="0"/>
                        <a:t> [m]</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err="1"/>
                        <a:t>d</a:t>
                      </a:r>
                      <a:r>
                        <a:rPr lang="en-US" b="0" baseline="-25000" dirty="0" err="1"/>
                        <a:t>BG</a:t>
                      </a:r>
                      <a:r>
                        <a:rPr lang="en-US" b="0" dirty="0"/>
                        <a:t> [m]</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a:t>D</a:t>
                      </a:r>
                      <a:r>
                        <a:rPr lang="en-US" b="0" baseline="-25000" dirty="0"/>
                        <a:t>FG</a:t>
                      </a:r>
                      <a:r>
                        <a:rPr lang="en-US" b="0" dirty="0"/>
                        <a:t> [D]</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a:t>D</a:t>
                      </a:r>
                      <a:r>
                        <a:rPr lang="en-US" b="0" baseline="-25000" dirty="0"/>
                        <a:t>BG</a:t>
                      </a:r>
                      <a:r>
                        <a:rPr lang="en-US" b="0" dirty="0"/>
                        <a:t> [D]</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l-GR" b="1" i="1" dirty="0"/>
                        <a:t>Δ</a:t>
                      </a:r>
                      <a:r>
                        <a:rPr lang="en-US" b="1" i="1" dirty="0"/>
                        <a:t>D</a:t>
                      </a:r>
                      <a:r>
                        <a:rPr lang="en-US" b="1" dirty="0"/>
                        <a:t> [D]</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91079077"/>
                  </a:ext>
                </a:extLst>
              </a:tr>
              <a:tr h="421200">
                <a:tc>
                  <a:txBody>
                    <a:bodyPr/>
                    <a:lstStyle/>
                    <a:p>
                      <a:pPr algn="ctr">
                        <a:buNone/>
                      </a:pPr>
                      <a:r>
                        <a:rPr lang="en-US" altLang="ja-JP" b="1" dirty="0"/>
                        <a:t>1</a:t>
                      </a:r>
                      <a:endParaRPr lang="ja-JP" altLang="en-US" b="1" dirty="0"/>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0.50</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0.70</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2.00</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1.43</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1" dirty="0"/>
                        <a:t>0.57</a:t>
                      </a:r>
                      <a:endParaRPr lang="ja-JP" altLang="en-US" b="1" dirty="0"/>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extLst>
                  <a:ext uri="{0D108BD9-81ED-4DB2-BD59-A6C34878D82A}">
                    <a16:rowId xmlns:a16="http://schemas.microsoft.com/office/drawing/2014/main" val="1005598894"/>
                  </a:ext>
                </a:extLst>
              </a:tr>
              <a:tr h="421200">
                <a:tc>
                  <a:txBody>
                    <a:bodyPr/>
                    <a:lstStyle/>
                    <a:p>
                      <a:pPr algn="ctr">
                        <a:buNone/>
                      </a:pPr>
                      <a:r>
                        <a:rPr lang="en-US" altLang="ja-JP" b="1" dirty="0"/>
                        <a:t>2</a:t>
                      </a:r>
                      <a:endParaRPr lang="ja-JP" altLang="en-US" b="1" dirty="0"/>
                    </a:p>
                  </a:txBody>
                  <a:tcPr anchor="ctr">
                    <a:lnL>
                      <a:noFill/>
                    </a:lnL>
                    <a:lnR>
                      <a:noFill/>
                    </a:lnR>
                    <a:lnT>
                      <a:noFill/>
                    </a:lnT>
                    <a:lnB>
                      <a:noFill/>
                    </a:lnB>
                    <a:noFill/>
                  </a:tcPr>
                </a:tc>
                <a:tc>
                  <a:txBody>
                    <a:bodyPr/>
                    <a:lstStyle/>
                    <a:p>
                      <a:pPr algn="ctr">
                        <a:buNone/>
                      </a:pPr>
                      <a:r>
                        <a:rPr lang="en-US" altLang="ja-JP" b="0" dirty="0"/>
                        <a:t>0.81</a:t>
                      </a:r>
                    </a:p>
                  </a:txBody>
                  <a:tcPr anchor="ctr">
                    <a:lnL>
                      <a:noFill/>
                    </a:lnL>
                    <a:lnR>
                      <a:noFill/>
                    </a:lnR>
                    <a:lnT>
                      <a:noFill/>
                    </a:lnT>
                    <a:lnB>
                      <a:noFill/>
                    </a:lnB>
                    <a:noFill/>
                  </a:tcPr>
                </a:tc>
                <a:tc>
                  <a:txBody>
                    <a:bodyPr/>
                    <a:lstStyle/>
                    <a:p>
                      <a:pPr algn="ctr">
                        <a:buNone/>
                      </a:pPr>
                      <a:r>
                        <a:rPr lang="en-US" altLang="ja-JP" b="0" dirty="0"/>
                        <a:t>1.50</a:t>
                      </a:r>
                    </a:p>
                  </a:txBody>
                  <a:tcPr anchor="ctr">
                    <a:lnL>
                      <a:noFill/>
                    </a:lnL>
                    <a:lnR>
                      <a:noFill/>
                    </a:lnR>
                    <a:lnT>
                      <a:noFill/>
                    </a:lnT>
                    <a:lnB>
                      <a:noFill/>
                    </a:lnB>
                    <a:noFill/>
                  </a:tcPr>
                </a:tc>
                <a:tc>
                  <a:txBody>
                    <a:bodyPr/>
                    <a:lstStyle/>
                    <a:p>
                      <a:pPr algn="ctr">
                        <a:buNone/>
                      </a:pPr>
                      <a:r>
                        <a:rPr lang="en-US" altLang="ja-JP" b="0" dirty="0"/>
                        <a:t>1.23</a:t>
                      </a:r>
                    </a:p>
                  </a:txBody>
                  <a:tcPr anchor="ctr">
                    <a:lnL>
                      <a:noFill/>
                    </a:lnL>
                    <a:lnR>
                      <a:noFill/>
                    </a:lnR>
                    <a:lnT>
                      <a:noFill/>
                    </a:lnT>
                    <a:lnB>
                      <a:noFill/>
                    </a:lnB>
                    <a:noFill/>
                  </a:tcPr>
                </a:tc>
                <a:tc>
                  <a:txBody>
                    <a:bodyPr/>
                    <a:lstStyle/>
                    <a:p>
                      <a:pPr algn="ctr">
                        <a:buNone/>
                      </a:pPr>
                      <a:r>
                        <a:rPr lang="en-US" altLang="ja-JP" b="0" dirty="0"/>
                        <a:t>0.67</a:t>
                      </a:r>
                    </a:p>
                  </a:txBody>
                  <a:tcPr anchor="ctr">
                    <a:lnL>
                      <a:noFill/>
                    </a:lnL>
                    <a:lnR>
                      <a:noFill/>
                    </a:lnR>
                    <a:lnT>
                      <a:noFill/>
                    </a:lnT>
                    <a:lnB>
                      <a:noFill/>
                    </a:lnB>
                    <a:noFill/>
                  </a:tcPr>
                </a:tc>
                <a:tc>
                  <a:txBody>
                    <a:bodyPr/>
                    <a:lstStyle/>
                    <a:p>
                      <a:pPr algn="ctr">
                        <a:buNone/>
                      </a:pPr>
                      <a:r>
                        <a:rPr lang="en-US" altLang="ja-JP" b="1" dirty="0"/>
                        <a:t>0.57</a:t>
                      </a:r>
                      <a:endParaRPr lang="ja-JP" altLang="en-US" b="1" dirty="0"/>
                    </a:p>
                  </a:txBody>
                  <a:tcPr anchor="ctr">
                    <a:lnL>
                      <a:noFill/>
                    </a:lnL>
                    <a:lnR>
                      <a:noFill/>
                    </a:lnR>
                    <a:lnT>
                      <a:noFill/>
                    </a:lnT>
                    <a:lnB>
                      <a:noFill/>
                    </a:lnB>
                    <a:noFill/>
                  </a:tcPr>
                </a:tc>
                <a:extLst>
                  <a:ext uri="{0D108BD9-81ED-4DB2-BD59-A6C34878D82A}">
                    <a16:rowId xmlns:a16="http://schemas.microsoft.com/office/drawing/2014/main" val="2834258896"/>
                  </a:ext>
                </a:extLst>
              </a:tr>
              <a:tr h="421200">
                <a:tc>
                  <a:txBody>
                    <a:bodyPr/>
                    <a:lstStyle/>
                    <a:p>
                      <a:pPr algn="ctr">
                        <a:buNone/>
                      </a:pPr>
                      <a:r>
                        <a:rPr lang="en-US" altLang="ja-JP" b="1" dirty="0"/>
                        <a:t>3</a:t>
                      </a:r>
                      <a:endParaRPr lang="ja-JP" altLang="en-US" b="1" dirty="0"/>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0.50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1.00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2.00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1.00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1" dirty="0"/>
                        <a:t>1.00</a:t>
                      </a:r>
                      <a:endParaRPr lang="ja-JP" altLang="en-US" b="1"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17177011"/>
                  </a:ext>
                </a:extLst>
              </a:tr>
              <a:tr h="421200">
                <a:tc>
                  <a:txBody>
                    <a:bodyPr/>
                    <a:lstStyle/>
                    <a:p>
                      <a:pPr algn="ctr">
                        <a:buNone/>
                      </a:pPr>
                      <a:r>
                        <a:rPr lang="en-US" altLang="ja-JP" b="1" dirty="0"/>
                        <a:t>4</a:t>
                      </a:r>
                      <a:endParaRPr lang="ja-JP" altLang="en-US" b="1"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0.60</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1.50</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1.67</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0.67</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1" dirty="0"/>
                        <a:t>1.00</a:t>
                      </a:r>
                      <a:endParaRPr lang="ja-JP" altLang="en-US" b="1" dirty="0"/>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78373476"/>
                  </a:ext>
                </a:extLst>
              </a:tr>
            </a:tbl>
          </a:graphicData>
        </a:graphic>
      </p:graphicFrame>
      <p:sp>
        <p:nvSpPr>
          <p:cNvPr id="4" name="コンテンツ プレースホルダー 43">
            <a:extLst>
              <a:ext uri="{FF2B5EF4-FFF2-40B4-BE49-F238E27FC236}">
                <a16:creationId xmlns:a16="http://schemas.microsoft.com/office/drawing/2014/main" id="{38A6CE73-9263-B5F4-EA93-987AD7C10950}"/>
              </a:ext>
            </a:extLst>
          </p:cNvPr>
          <p:cNvSpPr>
            <a:spLocks noGrp="1"/>
          </p:cNvSpPr>
          <p:nvPr>
            <p:ph idx="1"/>
          </p:nvPr>
        </p:nvSpPr>
        <p:spPr>
          <a:xfrm>
            <a:off x="457199" y="3795750"/>
            <a:ext cx="8229600" cy="776250"/>
          </a:xfrm>
        </p:spPr>
        <p:txBody>
          <a:bodyPr/>
          <a:lstStyle/>
          <a:p>
            <a:r>
              <a:rPr lang="en-US" altLang="ja-JP" b="1" dirty="0">
                <a:solidFill>
                  <a:schemeClr val="accent1"/>
                </a:solidFill>
              </a:rPr>
              <a:t>Other conditions</a:t>
            </a:r>
          </a:p>
          <a:p>
            <a:pPr marL="342900" indent="-342900">
              <a:buFont typeface="Arial" panose="020B0604020202020204" pitchFamily="34" charset="0"/>
              <a:buChar char="•"/>
            </a:pPr>
            <a:r>
              <a:rPr lang="en-US" altLang="ja-JP" dirty="0"/>
              <a:t>Monocular (no disparity) vs Binocular (disparity &amp; combination)</a:t>
            </a:r>
            <a:endParaRPr lang="ja-JP" altLang="en-US" dirty="0"/>
          </a:p>
        </p:txBody>
      </p:sp>
      <p:sp>
        <p:nvSpPr>
          <p:cNvPr id="5" name="テキスト ボックス 4">
            <a:extLst>
              <a:ext uri="{FF2B5EF4-FFF2-40B4-BE49-F238E27FC236}">
                <a16:creationId xmlns:a16="http://schemas.microsoft.com/office/drawing/2014/main" id="{4DF10B9F-D066-7CE1-ECE7-580860F36ED0}"/>
              </a:ext>
            </a:extLst>
          </p:cNvPr>
          <p:cNvSpPr txBox="1"/>
          <p:nvPr/>
        </p:nvSpPr>
        <p:spPr>
          <a:xfrm>
            <a:off x="457200" y="3291750"/>
            <a:ext cx="8229600" cy="646331"/>
          </a:xfrm>
          <a:prstGeom prst="rect">
            <a:avLst/>
          </a:prstGeom>
          <a:noFill/>
        </p:spPr>
        <p:txBody>
          <a:bodyPr wrap="square" rtlCol="0">
            <a:spAutoFit/>
          </a:bodyPr>
          <a:lstStyle/>
          <a:p>
            <a:r>
              <a:rPr lang="en-US" altLang="ja-JP" dirty="0"/>
              <a:t>※Defocus blur arise </a:t>
            </a:r>
            <a:r>
              <a:rPr lang="en-US" altLang="ja-JP" b="1" dirty="0"/>
              <a:t>over 0.3 D</a:t>
            </a:r>
          </a:p>
          <a:p>
            <a:endParaRPr kumimoji="1" lang="ja-JP" altLang="en-US" dirty="0"/>
          </a:p>
        </p:txBody>
      </p:sp>
      <p:sp>
        <p:nvSpPr>
          <p:cNvPr id="6" name="スライド番号プレースホルダー 5">
            <a:extLst>
              <a:ext uri="{FF2B5EF4-FFF2-40B4-BE49-F238E27FC236}">
                <a16:creationId xmlns:a16="http://schemas.microsoft.com/office/drawing/2014/main" id="{E4AA551D-3D95-F641-6E0F-4BA021D48DE1}"/>
              </a:ext>
            </a:extLst>
          </p:cNvPr>
          <p:cNvSpPr>
            <a:spLocks noGrp="1"/>
          </p:cNvSpPr>
          <p:nvPr>
            <p:ph type="sldNum" sz="quarter" idx="4"/>
          </p:nvPr>
        </p:nvSpPr>
        <p:spPr/>
        <p:txBody>
          <a:bodyPr/>
          <a:lstStyle/>
          <a:p>
            <a:fld id="{C1FF6DA9-008F-8B48-92A6-B652298478BF}" type="slidenum">
              <a:rPr lang="en-US" smtClean="0"/>
              <a:pPr/>
              <a:t>23</a:t>
            </a:fld>
            <a:r>
              <a:rPr lang="en-US"/>
              <a:t>/30</a:t>
            </a:r>
            <a:endParaRPr lang="en-US" sz="1800" dirty="0"/>
          </a:p>
        </p:txBody>
      </p:sp>
    </p:spTree>
    <p:extLst>
      <p:ext uri="{BB962C8B-B14F-4D97-AF65-F5344CB8AC3E}">
        <p14:creationId xmlns:p14="http://schemas.microsoft.com/office/powerpoint/2010/main" val="3914413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2DF62-4BDE-F3F2-E265-CE64461E98B5}"/>
            </a:ext>
          </a:extLst>
        </p:cNvPr>
        <p:cNvGrpSpPr/>
        <p:nvPr/>
      </p:nvGrpSpPr>
      <p:grpSpPr>
        <a:xfrm>
          <a:off x="0" y="0"/>
          <a:ext cx="0" cy="0"/>
          <a:chOff x="0" y="0"/>
          <a:chExt cx="0" cy="0"/>
        </a:xfrm>
      </p:grpSpPr>
      <p:graphicFrame>
        <p:nvGraphicFramePr>
          <p:cNvPr id="25" name="表 24">
            <a:extLst>
              <a:ext uri="{FF2B5EF4-FFF2-40B4-BE49-F238E27FC236}">
                <a16:creationId xmlns:a16="http://schemas.microsoft.com/office/drawing/2014/main" id="{06D0B7D1-6151-65B9-2B17-339DE02F64C2}"/>
              </a:ext>
            </a:extLst>
          </p:cNvPr>
          <p:cNvGraphicFramePr>
            <a:graphicFrameLocks noGrp="1"/>
          </p:cNvGraphicFramePr>
          <p:nvPr>
            <p:extLst>
              <p:ext uri="{D42A27DB-BD31-4B8C-83A1-F6EECF244321}">
                <p14:modId xmlns:p14="http://schemas.microsoft.com/office/powerpoint/2010/main" val="3569861279"/>
              </p:ext>
            </p:extLst>
          </p:nvPr>
        </p:nvGraphicFramePr>
        <p:xfrm>
          <a:off x="460616" y="1055499"/>
          <a:ext cx="8226185" cy="3736080"/>
        </p:xfrm>
        <a:graphic>
          <a:graphicData uri="http://schemas.openxmlformats.org/drawingml/2006/table">
            <a:tbl>
              <a:tblPr firstRow="1" bandRow="1">
                <a:tableStyleId>{2D5ABB26-0587-4C30-8999-92F81FD0307C}</a:tableStyleId>
              </a:tblPr>
              <a:tblGrid>
                <a:gridCol w="1645237">
                  <a:extLst>
                    <a:ext uri="{9D8B030D-6E8A-4147-A177-3AD203B41FA5}">
                      <a16:colId xmlns:a16="http://schemas.microsoft.com/office/drawing/2014/main" val="2775989393"/>
                    </a:ext>
                  </a:extLst>
                </a:gridCol>
                <a:gridCol w="1645237">
                  <a:extLst>
                    <a:ext uri="{9D8B030D-6E8A-4147-A177-3AD203B41FA5}">
                      <a16:colId xmlns:a16="http://schemas.microsoft.com/office/drawing/2014/main" val="2716376766"/>
                    </a:ext>
                  </a:extLst>
                </a:gridCol>
                <a:gridCol w="1645237">
                  <a:extLst>
                    <a:ext uri="{9D8B030D-6E8A-4147-A177-3AD203B41FA5}">
                      <a16:colId xmlns:a16="http://schemas.microsoft.com/office/drawing/2014/main" val="3753602898"/>
                    </a:ext>
                  </a:extLst>
                </a:gridCol>
                <a:gridCol w="1645237">
                  <a:extLst>
                    <a:ext uri="{9D8B030D-6E8A-4147-A177-3AD203B41FA5}">
                      <a16:colId xmlns:a16="http://schemas.microsoft.com/office/drawing/2014/main" val="4043565991"/>
                    </a:ext>
                  </a:extLst>
                </a:gridCol>
                <a:gridCol w="1645237">
                  <a:extLst>
                    <a:ext uri="{9D8B030D-6E8A-4147-A177-3AD203B41FA5}">
                      <a16:colId xmlns:a16="http://schemas.microsoft.com/office/drawing/2014/main" val="3620629485"/>
                    </a:ext>
                  </a:extLst>
                </a:gridCol>
              </a:tblGrid>
              <a:tr h="1548000">
                <a:tc>
                  <a:txBody>
                    <a:bodyPr/>
                    <a:lstStyle/>
                    <a:p>
                      <a:pPr algn="ctr"/>
                      <a:r>
                        <a:rPr kumimoji="1" lang="en-US" altLang="ja-JP" dirty="0"/>
                        <a:t>2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440992"/>
                  </a:ext>
                </a:extLst>
              </a:tr>
              <a:tr h="1548000">
                <a:tc>
                  <a:txBody>
                    <a:bodyPr/>
                    <a:lstStyle/>
                    <a:p>
                      <a:pPr algn="ctr"/>
                      <a:r>
                        <a:rPr kumimoji="1" lang="en-US" altLang="ja-JP" dirty="0"/>
                        <a:t>6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633935"/>
                  </a:ext>
                </a:extLst>
              </a:tr>
              <a:tr h="61200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Luminance</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dirty="0"/>
                        <a:t>[</a:t>
                      </a:r>
                      <a:r>
                        <a:rPr lang="en-US" altLang="ja-JP" dirty="0"/>
                        <a:t>cd/m²</a:t>
                      </a:r>
                      <a:r>
                        <a:rPr kumimoji="1" lang="en-US" altLang="ja-JP" dirty="0"/>
                        <a:t>]</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={5.0,15.0}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={50.0,15.0}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6263344"/>
                  </a:ext>
                </a:extLst>
              </a:tr>
            </a:tbl>
          </a:graphicData>
        </a:graphic>
      </p:graphicFrame>
      <p:sp>
        <p:nvSpPr>
          <p:cNvPr id="2" name="タイトル 1">
            <a:extLst>
              <a:ext uri="{FF2B5EF4-FFF2-40B4-BE49-F238E27FC236}">
                <a16:creationId xmlns:a16="http://schemas.microsoft.com/office/drawing/2014/main" id="{559660FC-E0BF-6AD3-3D80-C4FB8DFD0BBD}"/>
              </a:ext>
            </a:extLst>
          </p:cNvPr>
          <p:cNvSpPr>
            <a:spLocks noGrp="1"/>
          </p:cNvSpPr>
          <p:nvPr>
            <p:ph type="title"/>
          </p:nvPr>
        </p:nvSpPr>
        <p:spPr/>
        <p:txBody>
          <a:bodyPr/>
          <a:lstStyle/>
          <a:p>
            <a:r>
              <a:rPr kumimoji="1" lang="en-US" altLang="ja-JP" dirty="0"/>
              <a:t>Pilot Experiment: Example of  Test Stimuli</a:t>
            </a:r>
            <a:endParaRPr kumimoji="1" lang="ja-JP" altLang="en-US" dirty="0"/>
          </a:p>
        </p:txBody>
      </p:sp>
      <p:pic>
        <p:nvPicPr>
          <p:cNvPr id="5" name="図 4">
            <a:extLst>
              <a:ext uri="{FF2B5EF4-FFF2-40B4-BE49-F238E27FC236}">
                <a16:creationId xmlns:a16="http://schemas.microsoft.com/office/drawing/2014/main" id="{A7DDB392-FCAF-8A2A-1AFF-5FC1F2F7D7E1}"/>
              </a:ext>
            </a:extLst>
          </p:cNvPr>
          <p:cNvPicPr>
            <a:picLocks noChangeAspect="1"/>
          </p:cNvPicPr>
          <p:nvPr/>
        </p:nvPicPr>
        <p:blipFill>
          <a:blip r:embed="rId3"/>
          <a:stretch>
            <a:fillRect/>
          </a:stretch>
        </p:blipFill>
        <p:spPr>
          <a:xfrm>
            <a:off x="2213756" y="1126861"/>
            <a:ext cx="1440000" cy="1440000"/>
          </a:xfrm>
          <a:prstGeom prst="rect">
            <a:avLst/>
          </a:prstGeom>
        </p:spPr>
      </p:pic>
      <p:pic>
        <p:nvPicPr>
          <p:cNvPr id="8" name="図 7">
            <a:extLst>
              <a:ext uri="{FF2B5EF4-FFF2-40B4-BE49-F238E27FC236}">
                <a16:creationId xmlns:a16="http://schemas.microsoft.com/office/drawing/2014/main" id="{0DA56218-A443-4B55-A942-81818EBE9C3B}"/>
              </a:ext>
            </a:extLst>
          </p:cNvPr>
          <p:cNvPicPr>
            <a:picLocks noChangeAspect="1"/>
          </p:cNvPicPr>
          <p:nvPr/>
        </p:nvPicPr>
        <p:blipFill>
          <a:blip r:embed="rId4"/>
          <a:stretch>
            <a:fillRect/>
          </a:stretch>
        </p:blipFill>
        <p:spPr>
          <a:xfrm>
            <a:off x="3855507" y="1126861"/>
            <a:ext cx="1440000" cy="1440000"/>
          </a:xfrm>
          <a:prstGeom prst="rect">
            <a:avLst/>
          </a:prstGeom>
        </p:spPr>
      </p:pic>
      <p:pic>
        <p:nvPicPr>
          <p:cNvPr id="10" name="図 9">
            <a:extLst>
              <a:ext uri="{FF2B5EF4-FFF2-40B4-BE49-F238E27FC236}">
                <a16:creationId xmlns:a16="http://schemas.microsoft.com/office/drawing/2014/main" id="{FBC5699F-A3F9-EB83-89F6-7D7BF1E6E2C9}"/>
              </a:ext>
            </a:extLst>
          </p:cNvPr>
          <p:cNvPicPr>
            <a:picLocks noChangeAspect="1"/>
          </p:cNvPicPr>
          <p:nvPr/>
        </p:nvPicPr>
        <p:blipFill>
          <a:blip r:embed="rId5"/>
          <a:stretch>
            <a:fillRect/>
          </a:stretch>
        </p:blipFill>
        <p:spPr>
          <a:xfrm>
            <a:off x="5497258" y="1126861"/>
            <a:ext cx="1440000" cy="1440000"/>
          </a:xfrm>
          <a:prstGeom prst="rect">
            <a:avLst/>
          </a:prstGeom>
        </p:spPr>
      </p:pic>
      <p:pic>
        <p:nvPicPr>
          <p:cNvPr id="12" name="図 11">
            <a:extLst>
              <a:ext uri="{FF2B5EF4-FFF2-40B4-BE49-F238E27FC236}">
                <a16:creationId xmlns:a16="http://schemas.microsoft.com/office/drawing/2014/main" id="{B6F0C026-31DA-CF24-0053-076BE7D4315D}"/>
              </a:ext>
            </a:extLst>
          </p:cNvPr>
          <p:cNvPicPr>
            <a:picLocks noChangeAspect="1"/>
          </p:cNvPicPr>
          <p:nvPr/>
        </p:nvPicPr>
        <p:blipFill>
          <a:blip r:embed="rId6"/>
          <a:stretch>
            <a:fillRect/>
          </a:stretch>
        </p:blipFill>
        <p:spPr>
          <a:xfrm>
            <a:off x="7147172" y="1126861"/>
            <a:ext cx="1440000" cy="1440000"/>
          </a:xfrm>
          <a:prstGeom prst="rect">
            <a:avLst/>
          </a:prstGeom>
        </p:spPr>
      </p:pic>
      <p:pic>
        <p:nvPicPr>
          <p:cNvPr id="18" name="図 17">
            <a:extLst>
              <a:ext uri="{FF2B5EF4-FFF2-40B4-BE49-F238E27FC236}">
                <a16:creationId xmlns:a16="http://schemas.microsoft.com/office/drawing/2014/main" id="{BE91374D-B6A0-441B-2315-F65ED4CAD83E}"/>
              </a:ext>
            </a:extLst>
          </p:cNvPr>
          <p:cNvPicPr>
            <a:picLocks noChangeAspect="1"/>
          </p:cNvPicPr>
          <p:nvPr/>
        </p:nvPicPr>
        <p:blipFill>
          <a:blip r:embed="rId7"/>
          <a:stretch>
            <a:fillRect/>
          </a:stretch>
        </p:blipFill>
        <p:spPr>
          <a:xfrm>
            <a:off x="2213756" y="2661218"/>
            <a:ext cx="1440000" cy="1440000"/>
          </a:xfrm>
          <a:prstGeom prst="rect">
            <a:avLst/>
          </a:prstGeom>
        </p:spPr>
      </p:pic>
      <p:pic>
        <p:nvPicPr>
          <p:cNvPr id="20" name="図 19">
            <a:extLst>
              <a:ext uri="{FF2B5EF4-FFF2-40B4-BE49-F238E27FC236}">
                <a16:creationId xmlns:a16="http://schemas.microsoft.com/office/drawing/2014/main" id="{556DE163-379B-D545-37F9-4EF300CE7D78}"/>
              </a:ext>
            </a:extLst>
          </p:cNvPr>
          <p:cNvPicPr>
            <a:picLocks noChangeAspect="1"/>
          </p:cNvPicPr>
          <p:nvPr/>
        </p:nvPicPr>
        <p:blipFill>
          <a:blip r:embed="rId8"/>
          <a:stretch>
            <a:fillRect/>
          </a:stretch>
        </p:blipFill>
        <p:spPr>
          <a:xfrm>
            <a:off x="3850291" y="2661218"/>
            <a:ext cx="1440000" cy="1440000"/>
          </a:xfrm>
          <a:prstGeom prst="rect">
            <a:avLst/>
          </a:prstGeom>
        </p:spPr>
      </p:pic>
      <p:pic>
        <p:nvPicPr>
          <p:cNvPr id="22" name="図 21">
            <a:extLst>
              <a:ext uri="{FF2B5EF4-FFF2-40B4-BE49-F238E27FC236}">
                <a16:creationId xmlns:a16="http://schemas.microsoft.com/office/drawing/2014/main" id="{EE8A4944-9AC9-2DC1-FC0D-2C705353C35A}"/>
              </a:ext>
            </a:extLst>
          </p:cNvPr>
          <p:cNvPicPr>
            <a:picLocks noChangeAspect="1"/>
          </p:cNvPicPr>
          <p:nvPr/>
        </p:nvPicPr>
        <p:blipFill>
          <a:blip r:embed="rId9"/>
          <a:stretch>
            <a:fillRect/>
          </a:stretch>
        </p:blipFill>
        <p:spPr>
          <a:xfrm>
            <a:off x="5500767" y="2661218"/>
            <a:ext cx="1440000" cy="1440000"/>
          </a:xfrm>
          <a:prstGeom prst="rect">
            <a:avLst/>
          </a:prstGeom>
        </p:spPr>
      </p:pic>
      <p:pic>
        <p:nvPicPr>
          <p:cNvPr id="24" name="図 23">
            <a:extLst>
              <a:ext uri="{FF2B5EF4-FFF2-40B4-BE49-F238E27FC236}">
                <a16:creationId xmlns:a16="http://schemas.microsoft.com/office/drawing/2014/main" id="{DF2100D0-737B-418A-06E4-3D06E3590AFE}"/>
              </a:ext>
            </a:extLst>
          </p:cNvPr>
          <p:cNvPicPr>
            <a:picLocks noChangeAspect="1"/>
          </p:cNvPicPr>
          <p:nvPr/>
        </p:nvPicPr>
        <p:blipFill>
          <a:blip r:embed="rId10"/>
          <a:stretch>
            <a:fillRect/>
          </a:stretch>
        </p:blipFill>
        <p:spPr>
          <a:xfrm>
            <a:off x="7147172" y="2661218"/>
            <a:ext cx="1440000" cy="1440000"/>
          </a:xfrm>
          <a:prstGeom prst="rect">
            <a:avLst/>
          </a:prstGeom>
        </p:spPr>
      </p:pic>
      <p:sp>
        <p:nvSpPr>
          <p:cNvPr id="3" name="スライド番号プレースホルダー 2">
            <a:extLst>
              <a:ext uri="{FF2B5EF4-FFF2-40B4-BE49-F238E27FC236}">
                <a16:creationId xmlns:a16="http://schemas.microsoft.com/office/drawing/2014/main" id="{BDC47ADF-796A-5F80-A9D9-F5341D577A8A}"/>
              </a:ext>
            </a:extLst>
          </p:cNvPr>
          <p:cNvSpPr>
            <a:spLocks noGrp="1"/>
          </p:cNvSpPr>
          <p:nvPr>
            <p:ph type="sldNum" sz="quarter" idx="4"/>
          </p:nvPr>
        </p:nvSpPr>
        <p:spPr/>
        <p:txBody>
          <a:bodyPr/>
          <a:lstStyle/>
          <a:p>
            <a:fld id="{C1FF6DA9-008F-8B48-92A6-B652298478BF}" type="slidenum">
              <a:rPr lang="en-US" smtClean="0"/>
              <a:pPr/>
              <a:t>24</a:t>
            </a:fld>
            <a:r>
              <a:rPr lang="en-US"/>
              <a:t>/30</a:t>
            </a:r>
            <a:endParaRPr lang="en-US" sz="1800" dirty="0"/>
          </a:p>
        </p:txBody>
      </p:sp>
    </p:spTree>
    <p:extLst>
      <p:ext uri="{BB962C8B-B14F-4D97-AF65-F5344CB8AC3E}">
        <p14:creationId xmlns:p14="http://schemas.microsoft.com/office/powerpoint/2010/main" val="15306114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D9203-68AC-FEF0-70C3-E1CD2510E16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6AD3C8-9A90-C516-F9A4-CBC40F9A690D}"/>
              </a:ext>
            </a:extLst>
          </p:cNvPr>
          <p:cNvSpPr>
            <a:spLocks noGrp="1"/>
          </p:cNvSpPr>
          <p:nvPr>
            <p:ph type="title"/>
          </p:nvPr>
        </p:nvSpPr>
        <p:spPr/>
        <p:txBody>
          <a:bodyPr/>
          <a:lstStyle/>
          <a:p>
            <a:r>
              <a:rPr kumimoji="1" lang="en-US" altLang="ja-JP" dirty="0"/>
              <a:t>Pilot Experiment: Result</a:t>
            </a:r>
            <a:r>
              <a:rPr lang="en-US" altLang="ja-JP" dirty="0"/>
              <a:t>s </a:t>
            </a:r>
            <a:r>
              <a:rPr lang="en-US" altLang="ja-JP" sz="2800" dirty="0"/>
              <a:t>— Monocular</a:t>
            </a:r>
            <a:endParaRPr kumimoji="1" lang="ja-JP" altLang="en-US" dirty="0"/>
          </a:p>
        </p:txBody>
      </p:sp>
      <p:sp>
        <p:nvSpPr>
          <p:cNvPr id="4" name="コンテンツ プレースホルダー 43">
            <a:extLst>
              <a:ext uri="{FF2B5EF4-FFF2-40B4-BE49-F238E27FC236}">
                <a16:creationId xmlns:a16="http://schemas.microsoft.com/office/drawing/2014/main" id="{C3F01EAE-0AED-C329-C3EF-1ECE2DD5E25C}"/>
              </a:ext>
            </a:extLst>
          </p:cNvPr>
          <p:cNvSpPr>
            <a:spLocks noGrp="1"/>
          </p:cNvSpPr>
          <p:nvPr>
            <p:ph idx="1"/>
          </p:nvPr>
        </p:nvSpPr>
        <p:spPr>
          <a:xfrm>
            <a:off x="457199" y="3326029"/>
            <a:ext cx="4142400" cy="1245971"/>
          </a:xfrm>
        </p:spPr>
        <p:txBody>
          <a:bodyPr/>
          <a:lstStyle/>
          <a:p>
            <a:r>
              <a:rPr lang="en-US" altLang="ja-JP" b="1" dirty="0">
                <a:solidFill>
                  <a:schemeClr val="accent1"/>
                </a:solidFill>
              </a:rPr>
              <a:t>Key observations</a:t>
            </a:r>
          </a:p>
          <a:p>
            <a:pPr marL="342900" indent="-342900">
              <a:buFont typeface="Arial" panose="020B0604020202020204" pitchFamily="34" charset="0"/>
              <a:buChar char="•"/>
            </a:pPr>
            <a:r>
              <a:rPr lang="en-US" altLang="ja-JP" dirty="0"/>
              <a:t>Strongest degradation at (a)(b)</a:t>
            </a:r>
          </a:p>
          <a:p>
            <a:pPr marL="342900" indent="-342900">
              <a:buFont typeface="Arial" panose="020B0604020202020204" pitchFamily="34" charset="0"/>
              <a:buChar char="•"/>
            </a:pPr>
            <a:r>
              <a:rPr lang="en-US" altLang="ja-JP" dirty="0"/>
              <a:t>No consistent ΔD trend </a:t>
            </a:r>
            <a:endParaRPr lang="en-US" altLang="ja-JP" dirty="0">
              <a:solidFill>
                <a:schemeClr val="accent1"/>
              </a:solidFill>
            </a:endParaRPr>
          </a:p>
        </p:txBody>
      </p:sp>
      <p:sp>
        <p:nvSpPr>
          <p:cNvPr id="5" name="テキスト ボックス 4">
            <a:extLst>
              <a:ext uri="{FF2B5EF4-FFF2-40B4-BE49-F238E27FC236}">
                <a16:creationId xmlns:a16="http://schemas.microsoft.com/office/drawing/2014/main" id="{AB1207FD-A880-EA7C-E021-E10A06705D69}"/>
              </a:ext>
            </a:extLst>
          </p:cNvPr>
          <p:cNvSpPr txBox="1"/>
          <p:nvPr/>
        </p:nvSpPr>
        <p:spPr>
          <a:xfrm>
            <a:off x="457199" y="2679698"/>
            <a:ext cx="2016000" cy="646331"/>
          </a:xfrm>
          <a:prstGeom prst="rect">
            <a:avLst/>
          </a:prstGeom>
          <a:noFill/>
        </p:spPr>
        <p:txBody>
          <a:bodyPr wrap="square" rtlCol="0">
            <a:spAutoFit/>
          </a:bodyPr>
          <a:lstStyle/>
          <a:p>
            <a:pPr algn="ctr"/>
            <a:r>
              <a:rPr lang="en-US" altLang="ja-JP" dirty="0"/>
              <a:t>(a)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={5.0,5.0} [</a:t>
            </a:r>
            <a:r>
              <a:rPr lang="en-US" altLang="ja-JP" dirty="0"/>
              <a:t>cd/m²</a:t>
            </a:r>
            <a:r>
              <a:rPr kumimoji="1" lang="en-US" altLang="ja-JP" dirty="0"/>
              <a:t>]</a:t>
            </a:r>
            <a:endParaRPr kumimoji="1" lang="ja-JP" altLang="en-US" dirty="0"/>
          </a:p>
        </p:txBody>
      </p:sp>
      <p:pic>
        <p:nvPicPr>
          <p:cNvPr id="7" name="図 6">
            <a:extLst>
              <a:ext uri="{FF2B5EF4-FFF2-40B4-BE49-F238E27FC236}">
                <a16:creationId xmlns:a16="http://schemas.microsoft.com/office/drawing/2014/main" id="{77DA430B-1B5F-A17B-D831-930FD83D9363}"/>
              </a:ext>
            </a:extLst>
          </p:cNvPr>
          <p:cNvPicPr>
            <a:picLocks noChangeAspect="1"/>
          </p:cNvPicPr>
          <p:nvPr/>
        </p:nvPicPr>
        <p:blipFill>
          <a:blip r:embed="rId3"/>
          <a:stretch>
            <a:fillRect/>
          </a:stretch>
        </p:blipFill>
        <p:spPr>
          <a:xfrm>
            <a:off x="6670799" y="1163810"/>
            <a:ext cx="2016000" cy="1512000"/>
          </a:xfrm>
          <a:prstGeom prst="rect">
            <a:avLst/>
          </a:prstGeom>
        </p:spPr>
      </p:pic>
      <p:pic>
        <p:nvPicPr>
          <p:cNvPr id="10" name="図 9">
            <a:extLst>
              <a:ext uri="{FF2B5EF4-FFF2-40B4-BE49-F238E27FC236}">
                <a16:creationId xmlns:a16="http://schemas.microsoft.com/office/drawing/2014/main" id="{DC16E45A-F787-E588-CCB2-69A6A718998A}"/>
              </a:ext>
            </a:extLst>
          </p:cNvPr>
          <p:cNvPicPr>
            <a:picLocks noChangeAspect="1"/>
          </p:cNvPicPr>
          <p:nvPr/>
        </p:nvPicPr>
        <p:blipFill>
          <a:blip r:embed="rId4"/>
          <a:stretch>
            <a:fillRect/>
          </a:stretch>
        </p:blipFill>
        <p:spPr>
          <a:xfrm>
            <a:off x="457199" y="1163810"/>
            <a:ext cx="2016000" cy="1512000"/>
          </a:xfrm>
          <a:prstGeom prst="rect">
            <a:avLst/>
          </a:prstGeom>
        </p:spPr>
      </p:pic>
      <p:pic>
        <p:nvPicPr>
          <p:cNvPr id="12" name="図 11">
            <a:extLst>
              <a:ext uri="{FF2B5EF4-FFF2-40B4-BE49-F238E27FC236}">
                <a16:creationId xmlns:a16="http://schemas.microsoft.com/office/drawing/2014/main" id="{B791779B-4C32-D675-F077-AA5998AC4BE6}"/>
              </a:ext>
            </a:extLst>
          </p:cNvPr>
          <p:cNvPicPr>
            <a:picLocks noChangeAspect="1"/>
          </p:cNvPicPr>
          <p:nvPr/>
        </p:nvPicPr>
        <p:blipFill>
          <a:blip r:embed="rId5"/>
          <a:stretch>
            <a:fillRect/>
          </a:stretch>
        </p:blipFill>
        <p:spPr>
          <a:xfrm>
            <a:off x="4599599" y="1163810"/>
            <a:ext cx="2016000" cy="1512000"/>
          </a:xfrm>
          <a:prstGeom prst="rect">
            <a:avLst/>
          </a:prstGeom>
        </p:spPr>
      </p:pic>
      <p:pic>
        <p:nvPicPr>
          <p:cNvPr id="14" name="図 13">
            <a:extLst>
              <a:ext uri="{FF2B5EF4-FFF2-40B4-BE49-F238E27FC236}">
                <a16:creationId xmlns:a16="http://schemas.microsoft.com/office/drawing/2014/main" id="{D7801BB9-426F-DEC1-D886-538EC9E1079E}"/>
              </a:ext>
            </a:extLst>
          </p:cNvPr>
          <p:cNvPicPr>
            <a:picLocks noChangeAspect="1"/>
          </p:cNvPicPr>
          <p:nvPr/>
        </p:nvPicPr>
        <p:blipFill>
          <a:blip r:embed="rId6"/>
          <a:stretch>
            <a:fillRect/>
          </a:stretch>
        </p:blipFill>
        <p:spPr>
          <a:xfrm>
            <a:off x="2528399" y="1163810"/>
            <a:ext cx="2016000" cy="1512000"/>
          </a:xfrm>
          <a:prstGeom prst="rect">
            <a:avLst/>
          </a:prstGeom>
        </p:spPr>
      </p:pic>
      <p:sp>
        <p:nvSpPr>
          <p:cNvPr id="16" name="テキスト ボックス 15">
            <a:extLst>
              <a:ext uri="{FF2B5EF4-FFF2-40B4-BE49-F238E27FC236}">
                <a16:creationId xmlns:a16="http://schemas.microsoft.com/office/drawing/2014/main" id="{B89C93AE-9C46-8748-1B4E-3D5B310AC763}"/>
              </a:ext>
            </a:extLst>
          </p:cNvPr>
          <p:cNvSpPr txBox="1"/>
          <p:nvPr/>
        </p:nvSpPr>
        <p:spPr>
          <a:xfrm>
            <a:off x="2528399" y="2679698"/>
            <a:ext cx="2071200" cy="646331"/>
          </a:xfrm>
          <a:prstGeom prst="rect">
            <a:avLst/>
          </a:prstGeom>
          <a:noFill/>
        </p:spPr>
        <p:txBody>
          <a:bodyPr wrap="square" rtlCol="0">
            <a:spAutoFit/>
          </a:bodyPr>
          <a:lstStyle/>
          <a:p>
            <a:pPr algn="ctr"/>
            <a:r>
              <a:rPr lang="en-US" altLang="ja-JP" dirty="0"/>
              <a:t>(b)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={5.0,15.0} [</a:t>
            </a:r>
            <a:r>
              <a:rPr lang="en-US" altLang="ja-JP" dirty="0"/>
              <a:t>cd/m²</a:t>
            </a:r>
            <a:r>
              <a:rPr kumimoji="1" lang="en-US" altLang="ja-JP" dirty="0"/>
              <a:t>]</a:t>
            </a:r>
            <a:endParaRPr kumimoji="1" lang="ja-JP" altLang="en-US" dirty="0"/>
          </a:p>
        </p:txBody>
      </p:sp>
      <p:sp>
        <p:nvSpPr>
          <p:cNvPr id="18" name="テキスト ボックス 17">
            <a:extLst>
              <a:ext uri="{FF2B5EF4-FFF2-40B4-BE49-F238E27FC236}">
                <a16:creationId xmlns:a16="http://schemas.microsoft.com/office/drawing/2014/main" id="{F759C100-1BBC-B095-E94A-316D7E8BE0BA}"/>
              </a:ext>
            </a:extLst>
          </p:cNvPr>
          <p:cNvSpPr txBox="1"/>
          <p:nvPr/>
        </p:nvSpPr>
        <p:spPr>
          <a:xfrm>
            <a:off x="4571999" y="2679698"/>
            <a:ext cx="2071200" cy="646331"/>
          </a:xfrm>
          <a:prstGeom prst="rect">
            <a:avLst/>
          </a:prstGeom>
          <a:noFill/>
        </p:spPr>
        <p:txBody>
          <a:bodyPr wrap="square" rtlCol="0">
            <a:spAutoFit/>
          </a:bodyPr>
          <a:lstStyle/>
          <a:p>
            <a:pPr algn="ctr"/>
            <a:r>
              <a:rPr lang="en-US" altLang="ja-JP" dirty="0"/>
              <a:t>(c)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={50.0,5.0} [</a:t>
            </a:r>
            <a:r>
              <a:rPr lang="en-US" altLang="ja-JP" dirty="0"/>
              <a:t>cd/m²</a:t>
            </a:r>
            <a:r>
              <a:rPr kumimoji="1" lang="en-US" altLang="ja-JP" dirty="0"/>
              <a:t>]</a:t>
            </a:r>
            <a:endParaRPr kumimoji="1" lang="ja-JP" altLang="en-US" dirty="0"/>
          </a:p>
        </p:txBody>
      </p:sp>
      <p:sp>
        <p:nvSpPr>
          <p:cNvPr id="22" name="テキスト ボックス 21">
            <a:extLst>
              <a:ext uri="{FF2B5EF4-FFF2-40B4-BE49-F238E27FC236}">
                <a16:creationId xmlns:a16="http://schemas.microsoft.com/office/drawing/2014/main" id="{5EF66DEF-158E-976A-6A70-F325FA61204E}"/>
              </a:ext>
            </a:extLst>
          </p:cNvPr>
          <p:cNvSpPr txBox="1"/>
          <p:nvPr/>
        </p:nvSpPr>
        <p:spPr>
          <a:xfrm>
            <a:off x="6586547" y="2679698"/>
            <a:ext cx="2184504" cy="646331"/>
          </a:xfrm>
          <a:prstGeom prst="rect">
            <a:avLst/>
          </a:prstGeom>
          <a:noFill/>
        </p:spPr>
        <p:txBody>
          <a:bodyPr wrap="square" rtlCol="0">
            <a:spAutoFit/>
          </a:bodyPr>
          <a:lstStyle/>
          <a:p>
            <a:pPr algn="ctr"/>
            <a:r>
              <a:rPr lang="en-US" altLang="ja-JP" dirty="0"/>
              <a:t>(d)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={50.0,15.0} [</a:t>
            </a:r>
            <a:r>
              <a:rPr lang="en-US" altLang="ja-JP" dirty="0"/>
              <a:t>cd/m²</a:t>
            </a:r>
            <a:r>
              <a:rPr kumimoji="1" lang="en-US" altLang="ja-JP" dirty="0"/>
              <a:t>]</a:t>
            </a:r>
            <a:endParaRPr kumimoji="1" lang="ja-JP" altLang="en-US" dirty="0"/>
          </a:p>
        </p:txBody>
      </p:sp>
      <p:sp>
        <p:nvSpPr>
          <p:cNvPr id="23" name="コンテンツ プレースホルダー 43">
            <a:extLst>
              <a:ext uri="{FF2B5EF4-FFF2-40B4-BE49-F238E27FC236}">
                <a16:creationId xmlns:a16="http://schemas.microsoft.com/office/drawing/2014/main" id="{36DAEDF9-D3A2-5598-CC81-4387204EC95F}"/>
              </a:ext>
            </a:extLst>
          </p:cNvPr>
          <p:cNvSpPr txBox="1">
            <a:spLocks/>
          </p:cNvSpPr>
          <p:nvPr/>
        </p:nvSpPr>
        <p:spPr>
          <a:xfrm>
            <a:off x="4571999" y="3329917"/>
            <a:ext cx="4248002" cy="1245971"/>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marL="342900" indent="-342900">
              <a:buFont typeface="Arial" panose="020B0604020202020204" pitchFamily="34" charset="0"/>
              <a:buChar char="•"/>
            </a:pPr>
            <a:endParaRPr lang="en-US" altLang="ja-JP" dirty="0"/>
          </a:p>
          <a:p>
            <a:pPr marL="342900" indent="-342900">
              <a:buFont typeface="Arial" panose="020B0604020202020204" pitchFamily="34" charset="0"/>
              <a:buChar char="•"/>
            </a:pPr>
            <a:r>
              <a:rPr lang="en-US" altLang="ja-JP" dirty="0"/>
              <a:t>Low SF (2–4 </a:t>
            </a:r>
            <a:r>
              <a:rPr lang="en-US" altLang="ja-JP" dirty="0" err="1"/>
              <a:t>cpd</a:t>
            </a:r>
            <a:r>
              <a:rPr lang="en-US" altLang="ja-JP" dirty="0"/>
              <a:t>) more affected</a:t>
            </a:r>
          </a:p>
          <a:p>
            <a:pPr marL="342900" indent="-342900">
              <a:buFont typeface="Arial" panose="020B0604020202020204" pitchFamily="34" charset="0"/>
              <a:buChar char="•"/>
            </a:pPr>
            <a:r>
              <a:rPr lang="en-US" altLang="ja-JP" dirty="0"/>
              <a:t>Some negative scores</a:t>
            </a:r>
            <a:endParaRPr lang="en-US" altLang="ja-JP" b="1" dirty="0">
              <a:solidFill>
                <a:schemeClr val="accent1"/>
              </a:solidFill>
            </a:endParaRPr>
          </a:p>
        </p:txBody>
      </p:sp>
      <p:cxnSp>
        <p:nvCxnSpPr>
          <p:cNvPr id="26" name="直線矢印コネクタ 25">
            <a:extLst>
              <a:ext uri="{FF2B5EF4-FFF2-40B4-BE49-F238E27FC236}">
                <a16:creationId xmlns:a16="http://schemas.microsoft.com/office/drawing/2014/main" id="{25D33C80-F9B3-3920-DFBB-7570B8C6C8BB}"/>
              </a:ext>
            </a:extLst>
          </p:cNvPr>
          <p:cNvCxnSpPr>
            <a:cxnSpLocks/>
          </p:cNvCxnSpPr>
          <p:nvPr/>
        </p:nvCxnSpPr>
        <p:spPr>
          <a:xfrm flipH="1" flipV="1">
            <a:off x="407187" y="1178359"/>
            <a:ext cx="7886" cy="133594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7" name="テキスト ボックス 26">
            <a:extLst>
              <a:ext uri="{FF2B5EF4-FFF2-40B4-BE49-F238E27FC236}">
                <a16:creationId xmlns:a16="http://schemas.microsoft.com/office/drawing/2014/main" id="{96B1B09D-BEF2-5A39-CF70-76751076189A}"/>
              </a:ext>
            </a:extLst>
          </p:cNvPr>
          <p:cNvSpPr txBox="1"/>
          <p:nvPr/>
        </p:nvSpPr>
        <p:spPr>
          <a:xfrm rot="16200000">
            <a:off x="27745" y="1574473"/>
            <a:ext cx="503999" cy="338554"/>
          </a:xfrm>
          <a:prstGeom prst="rect">
            <a:avLst/>
          </a:prstGeom>
          <a:noFill/>
        </p:spPr>
        <p:txBody>
          <a:bodyPr wrap="square" rtlCol="0">
            <a:spAutoFit/>
          </a:bodyPr>
          <a:lstStyle/>
          <a:p>
            <a:r>
              <a:rPr kumimoji="1" lang="en-US" altLang="ja-JP" sz="1600" dirty="0"/>
              <a:t>SF</a:t>
            </a:r>
            <a:endParaRPr kumimoji="1" lang="ja-JP" altLang="en-US" sz="1600" dirty="0"/>
          </a:p>
        </p:txBody>
      </p:sp>
      <p:cxnSp>
        <p:nvCxnSpPr>
          <p:cNvPr id="31" name="直線矢印コネクタ 30">
            <a:extLst>
              <a:ext uri="{FF2B5EF4-FFF2-40B4-BE49-F238E27FC236}">
                <a16:creationId xmlns:a16="http://schemas.microsoft.com/office/drawing/2014/main" id="{EBDCB4E0-9F2B-788C-88C3-040B7C43274E}"/>
              </a:ext>
            </a:extLst>
          </p:cNvPr>
          <p:cNvCxnSpPr>
            <a:cxnSpLocks/>
          </p:cNvCxnSpPr>
          <p:nvPr/>
        </p:nvCxnSpPr>
        <p:spPr>
          <a:xfrm>
            <a:off x="612000" y="1131750"/>
            <a:ext cx="144000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4" name="テキスト ボックス 33">
            <a:extLst>
              <a:ext uri="{FF2B5EF4-FFF2-40B4-BE49-F238E27FC236}">
                <a16:creationId xmlns:a16="http://schemas.microsoft.com/office/drawing/2014/main" id="{8865DE05-A7AA-58FC-299F-E4B50C0A70A2}"/>
              </a:ext>
            </a:extLst>
          </p:cNvPr>
          <p:cNvSpPr txBox="1"/>
          <p:nvPr/>
        </p:nvSpPr>
        <p:spPr>
          <a:xfrm>
            <a:off x="866273" y="865196"/>
            <a:ext cx="1080000" cy="338554"/>
          </a:xfrm>
          <a:prstGeom prst="rect">
            <a:avLst/>
          </a:prstGeom>
          <a:noFill/>
        </p:spPr>
        <p:txBody>
          <a:bodyPr wrap="square" rtlCol="0">
            <a:spAutoFit/>
          </a:bodyPr>
          <a:lstStyle/>
          <a:p>
            <a:r>
              <a:rPr kumimoji="1" lang="en-US" altLang="ja-JP" sz="1600" dirty="0"/>
              <a:t>Pair num</a:t>
            </a:r>
            <a:endParaRPr kumimoji="1" lang="ja-JP" altLang="en-US" sz="1600" dirty="0"/>
          </a:p>
        </p:txBody>
      </p:sp>
      <p:sp>
        <p:nvSpPr>
          <p:cNvPr id="35" name="左大かっこ 34">
            <a:extLst>
              <a:ext uri="{FF2B5EF4-FFF2-40B4-BE49-F238E27FC236}">
                <a16:creationId xmlns:a16="http://schemas.microsoft.com/office/drawing/2014/main" id="{977E82FD-CB69-4251-C9FA-CD8060F5782F}"/>
              </a:ext>
            </a:extLst>
          </p:cNvPr>
          <p:cNvSpPr/>
          <p:nvPr/>
        </p:nvSpPr>
        <p:spPr>
          <a:xfrm rot="5400000">
            <a:off x="2990843" y="837308"/>
            <a:ext cx="73152" cy="698401"/>
          </a:xfrm>
          <a:prstGeom prst="leftBracket">
            <a:avLst/>
          </a:prstGeom>
          <a:ln>
            <a:solidFill>
              <a:schemeClr val="tx1"/>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左大かっこ 35">
            <a:extLst>
              <a:ext uri="{FF2B5EF4-FFF2-40B4-BE49-F238E27FC236}">
                <a16:creationId xmlns:a16="http://schemas.microsoft.com/office/drawing/2014/main" id="{A8F673AB-456F-4FAF-1711-CAE17C7CFE69}"/>
              </a:ext>
            </a:extLst>
          </p:cNvPr>
          <p:cNvSpPr/>
          <p:nvPr/>
        </p:nvSpPr>
        <p:spPr>
          <a:xfrm rot="5400000">
            <a:off x="3732278" y="839862"/>
            <a:ext cx="73152" cy="698401"/>
          </a:xfrm>
          <a:prstGeom prst="leftBracket">
            <a:avLst/>
          </a:prstGeom>
          <a:ln>
            <a:solidFill>
              <a:schemeClr val="tx1"/>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EB8AFADF-A86D-F983-00C8-035EE5BF9687}"/>
              </a:ext>
            </a:extLst>
          </p:cNvPr>
          <p:cNvSpPr txBox="1"/>
          <p:nvPr/>
        </p:nvSpPr>
        <p:spPr>
          <a:xfrm>
            <a:off x="2670718" y="865196"/>
            <a:ext cx="804712" cy="338554"/>
          </a:xfrm>
          <a:prstGeom prst="rect">
            <a:avLst/>
          </a:prstGeom>
          <a:noFill/>
        </p:spPr>
        <p:txBody>
          <a:bodyPr wrap="square" rtlCol="0">
            <a:spAutoFit/>
          </a:bodyPr>
          <a:lstStyle/>
          <a:p>
            <a:r>
              <a:rPr kumimoji="1" lang="en-US" altLang="ja-JP" sz="1600" dirty="0"/>
              <a:t>0.57 D</a:t>
            </a:r>
            <a:endParaRPr kumimoji="1" lang="ja-JP" altLang="en-US" sz="1600" dirty="0"/>
          </a:p>
        </p:txBody>
      </p:sp>
      <p:sp>
        <p:nvSpPr>
          <p:cNvPr id="41" name="テキスト ボックス 40">
            <a:extLst>
              <a:ext uri="{FF2B5EF4-FFF2-40B4-BE49-F238E27FC236}">
                <a16:creationId xmlns:a16="http://schemas.microsoft.com/office/drawing/2014/main" id="{50E8149F-3056-ECFD-58CA-A0C3F594038D}"/>
              </a:ext>
            </a:extLst>
          </p:cNvPr>
          <p:cNvSpPr txBox="1"/>
          <p:nvPr/>
        </p:nvSpPr>
        <p:spPr>
          <a:xfrm>
            <a:off x="3353024" y="859780"/>
            <a:ext cx="804712" cy="338554"/>
          </a:xfrm>
          <a:prstGeom prst="rect">
            <a:avLst/>
          </a:prstGeom>
          <a:noFill/>
        </p:spPr>
        <p:txBody>
          <a:bodyPr wrap="square" rtlCol="0">
            <a:spAutoFit/>
          </a:bodyPr>
          <a:lstStyle/>
          <a:p>
            <a:r>
              <a:rPr kumimoji="1" lang="en-US" altLang="ja-JP" sz="1600" dirty="0"/>
              <a:t>1.00 D</a:t>
            </a:r>
            <a:endParaRPr kumimoji="1" lang="ja-JP" altLang="en-US" sz="1600" dirty="0"/>
          </a:p>
        </p:txBody>
      </p:sp>
      <p:sp>
        <p:nvSpPr>
          <p:cNvPr id="3" name="スライド番号プレースホルダー 2">
            <a:extLst>
              <a:ext uri="{FF2B5EF4-FFF2-40B4-BE49-F238E27FC236}">
                <a16:creationId xmlns:a16="http://schemas.microsoft.com/office/drawing/2014/main" id="{82D64789-43B2-FF3A-2556-3B50022F2369}"/>
              </a:ext>
            </a:extLst>
          </p:cNvPr>
          <p:cNvSpPr>
            <a:spLocks noGrp="1"/>
          </p:cNvSpPr>
          <p:nvPr>
            <p:ph type="sldNum" sz="quarter" idx="4"/>
          </p:nvPr>
        </p:nvSpPr>
        <p:spPr/>
        <p:txBody>
          <a:bodyPr/>
          <a:lstStyle/>
          <a:p>
            <a:fld id="{C1FF6DA9-008F-8B48-92A6-B652298478BF}" type="slidenum">
              <a:rPr lang="en-US" smtClean="0"/>
              <a:pPr/>
              <a:t>25</a:t>
            </a:fld>
            <a:r>
              <a:rPr lang="en-US"/>
              <a:t>/30</a:t>
            </a:r>
            <a:endParaRPr lang="en-US" sz="1800" dirty="0"/>
          </a:p>
        </p:txBody>
      </p:sp>
    </p:spTree>
    <p:extLst>
      <p:ext uri="{BB962C8B-B14F-4D97-AF65-F5344CB8AC3E}">
        <p14:creationId xmlns:p14="http://schemas.microsoft.com/office/powerpoint/2010/main" val="544811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BC3B5-6547-16B5-E045-B3E5D61921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A6CF14-D723-F6FC-3978-281909AF9696}"/>
              </a:ext>
            </a:extLst>
          </p:cNvPr>
          <p:cNvSpPr>
            <a:spLocks noGrp="1"/>
          </p:cNvSpPr>
          <p:nvPr>
            <p:ph type="title"/>
          </p:nvPr>
        </p:nvSpPr>
        <p:spPr/>
        <p:txBody>
          <a:bodyPr/>
          <a:lstStyle/>
          <a:p>
            <a:r>
              <a:rPr kumimoji="1" lang="en-US" altLang="ja-JP" dirty="0"/>
              <a:t>Pilot Experiment: Result</a:t>
            </a:r>
            <a:r>
              <a:rPr lang="en-US" altLang="ja-JP" dirty="0"/>
              <a:t>s </a:t>
            </a:r>
            <a:r>
              <a:rPr lang="en-US" altLang="ja-JP" sz="2800" dirty="0"/>
              <a:t>— Binocular</a:t>
            </a:r>
            <a:endParaRPr kumimoji="1" lang="ja-JP" altLang="en-US" dirty="0"/>
          </a:p>
        </p:txBody>
      </p:sp>
      <p:sp>
        <p:nvSpPr>
          <p:cNvPr id="5" name="テキスト ボックス 4">
            <a:extLst>
              <a:ext uri="{FF2B5EF4-FFF2-40B4-BE49-F238E27FC236}">
                <a16:creationId xmlns:a16="http://schemas.microsoft.com/office/drawing/2014/main" id="{89216785-89A8-21F4-D682-BA71411244AE}"/>
              </a:ext>
            </a:extLst>
          </p:cNvPr>
          <p:cNvSpPr txBox="1"/>
          <p:nvPr/>
        </p:nvSpPr>
        <p:spPr>
          <a:xfrm>
            <a:off x="457199" y="2679698"/>
            <a:ext cx="2016000" cy="646331"/>
          </a:xfrm>
          <a:prstGeom prst="rect">
            <a:avLst/>
          </a:prstGeom>
          <a:noFill/>
        </p:spPr>
        <p:txBody>
          <a:bodyPr wrap="square" rtlCol="0">
            <a:spAutoFit/>
          </a:bodyPr>
          <a:lstStyle/>
          <a:p>
            <a:pPr algn="ctr"/>
            <a:r>
              <a:rPr lang="en-US" altLang="ja-JP" dirty="0"/>
              <a:t>(a)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={5.0,5.0} [</a:t>
            </a:r>
            <a:r>
              <a:rPr lang="en-US" altLang="ja-JP" dirty="0"/>
              <a:t>cd/m²</a:t>
            </a:r>
            <a:r>
              <a:rPr kumimoji="1" lang="en-US" altLang="ja-JP" dirty="0"/>
              <a:t>]</a:t>
            </a:r>
            <a:endParaRPr kumimoji="1" lang="ja-JP" altLang="en-US" dirty="0"/>
          </a:p>
        </p:txBody>
      </p:sp>
      <p:sp>
        <p:nvSpPr>
          <p:cNvPr id="16" name="テキスト ボックス 15">
            <a:extLst>
              <a:ext uri="{FF2B5EF4-FFF2-40B4-BE49-F238E27FC236}">
                <a16:creationId xmlns:a16="http://schemas.microsoft.com/office/drawing/2014/main" id="{B1EE583E-D747-AEF0-A1C0-4BAB3A91852C}"/>
              </a:ext>
            </a:extLst>
          </p:cNvPr>
          <p:cNvSpPr txBox="1"/>
          <p:nvPr/>
        </p:nvSpPr>
        <p:spPr>
          <a:xfrm>
            <a:off x="2528399" y="2679698"/>
            <a:ext cx="2071200" cy="646331"/>
          </a:xfrm>
          <a:prstGeom prst="rect">
            <a:avLst/>
          </a:prstGeom>
          <a:noFill/>
        </p:spPr>
        <p:txBody>
          <a:bodyPr wrap="square" rtlCol="0">
            <a:spAutoFit/>
          </a:bodyPr>
          <a:lstStyle/>
          <a:p>
            <a:pPr algn="ctr"/>
            <a:r>
              <a:rPr lang="en-US" altLang="ja-JP" dirty="0"/>
              <a:t>(b)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={5.0,15.0} [</a:t>
            </a:r>
            <a:r>
              <a:rPr lang="en-US" altLang="ja-JP" dirty="0"/>
              <a:t>cd/m²</a:t>
            </a:r>
            <a:r>
              <a:rPr kumimoji="1" lang="en-US" altLang="ja-JP" dirty="0"/>
              <a:t>]</a:t>
            </a:r>
            <a:endParaRPr kumimoji="1" lang="ja-JP" altLang="en-US" dirty="0"/>
          </a:p>
        </p:txBody>
      </p:sp>
      <p:sp>
        <p:nvSpPr>
          <p:cNvPr id="18" name="テキスト ボックス 17">
            <a:extLst>
              <a:ext uri="{FF2B5EF4-FFF2-40B4-BE49-F238E27FC236}">
                <a16:creationId xmlns:a16="http://schemas.microsoft.com/office/drawing/2014/main" id="{33D51522-7AE2-B592-C9F0-86CAEAAE0352}"/>
              </a:ext>
            </a:extLst>
          </p:cNvPr>
          <p:cNvSpPr txBox="1"/>
          <p:nvPr/>
        </p:nvSpPr>
        <p:spPr>
          <a:xfrm>
            <a:off x="4571999" y="2679698"/>
            <a:ext cx="2071200" cy="646331"/>
          </a:xfrm>
          <a:prstGeom prst="rect">
            <a:avLst/>
          </a:prstGeom>
          <a:noFill/>
        </p:spPr>
        <p:txBody>
          <a:bodyPr wrap="square" rtlCol="0">
            <a:spAutoFit/>
          </a:bodyPr>
          <a:lstStyle/>
          <a:p>
            <a:pPr algn="ctr"/>
            <a:r>
              <a:rPr lang="en-US" altLang="ja-JP" dirty="0"/>
              <a:t>(c)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={50.0,5.0} [</a:t>
            </a:r>
            <a:r>
              <a:rPr lang="en-US" altLang="ja-JP" dirty="0"/>
              <a:t>cd/m²</a:t>
            </a:r>
            <a:r>
              <a:rPr kumimoji="1" lang="en-US" altLang="ja-JP" dirty="0"/>
              <a:t>]</a:t>
            </a:r>
            <a:endParaRPr kumimoji="1" lang="ja-JP" altLang="en-US" dirty="0"/>
          </a:p>
        </p:txBody>
      </p:sp>
      <p:sp>
        <p:nvSpPr>
          <p:cNvPr id="22" name="テキスト ボックス 21">
            <a:extLst>
              <a:ext uri="{FF2B5EF4-FFF2-40B4-BE49-F238E27FC236}">
                <a16:creationId xmlns:a16="http://schemas.microsoft.com/office/drawing/2014/main" id="{34AE44A4-0C9E-1ED7-7B18-AE2E25414D15}"/>
              </a:ext>
            </a:extLst>
          </p:cNvPr>
          <p:cNvSpPr txBox="1"/>
          <p:nvPr/>
        </p:nvSpPr>
        <p:spPr>
          <a:xfrm>
            <a:off x="6586547" y="2679698"/>
            <a:ext cx="2184504" cy="646331"/>
          </a:xfrm>
          <a:prstGeom prst="rect">
            <a:avLst/>
          </a:prstGeom>
          <a:noFill/>
        </p:spPr>
        <p:txBody>
          <a:bodyPr wrap="square" rtlCol="0">
            <a:spAutoFit/>
          </a:bodyPr>
          <a:lstStyle/>
          <a:p>
            <a:pPr algn="ctr"/>
            <a:r>
              <a:rPr lang="en-US" altLang="ja-JP" dirty="0"/>
              <a:t>(d)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={50.0,15.0} [</a:t>
            </a:r>
            <a:r>
              <a:rPr lang="en-US" altLang="ja-JP" dirty="0"/>
              <a:t>cd/m²</a:t>
            </a:r>
            <a:r>
              <a:rPr kumimoji="1" lang="en-US" altLang="ja-JP" dirty="0"/>
              <a:t>]</a:t>
            </a:r>
            <a:endParaRPr kumimoji="1" lang="ja-JP" altLang="en-US" dirty="0"/>
          </a:p>
        </p:txBody>
      </p:sp>
      <p:pic>
        <p:nvPicPr>
          <p:cNvPr id="6" name="図 5">
            <a:extLst>
              <a:ext uri="{FF2B5EF4-FFF2-40B4-BE49-F238E27FC236}">
                <a16:creationId xmlns:a16="http://schemas.microsoft.com/office/drawing/2014/main" id="{AA3199C5-C16A-EA22-5E7A-1B01CF6B73FB}"/>
              </a:ext>
            </a:extLst>
          </p:cNvPr>
          <p:cNvPicPr>
            <a:picLocks noChangeAspect="1"/>
          </p:cNvPicPr>
          <p:nvPr/>
        </p:nvPicPr>
        <p:blipFill>
          <a:blip r:embed="rId3"/>
          <a:stretch>
            <a:fillRect/>
          </a:stretch>
        </p:blipFill>
        <p:spPr>
          <a:xfrm>
            <a:off x="2529187" y="1165565"/>
            <a:ext cx="2016000" cy="1512000"/>
          </a:xfrm>
          <a:prstGeom prst="rect">
            <a:avLst/>
          </a:prstGeom>
        </p:spPr>
      </p:pic>
      <p:pic>
        <p:nvPicPr>
          <p:cNvPr id="11" name="図 10">
            <a:extLst>
              <a:ext uri="{FF2B5EF4-FFF2-40B4-BE49-F238E27FC236}">
                <a16:creationId xmlns:a16="http://schemas.microsoft.com/office/drawing/2014/main" id="{8E3F29DE-CCDE-C199-FB45-8C7E9A731CE1}"/>
              </a:ext>
            </a:extLst>
          </p:cNvPr>
          <p:cNvPicPr>
            <a:picLocks noChangeAspect="1"/>
          </p:cNvPicPr>
          <p:nvPr/>
        </p:nvPicPr>
        <p:blipFill>
          <a:blip r:embed="rId4"/>
          <a:stretch>
            <a:fillRect/>
          </a:stretch>
        </p:blipFill>
        <p:spPr>
          <a:xfrm>
            <a:off x="6673816" y="1165565"/>
            <a:ext cx="2016000" cy="1512000"/>
          </a:xfrm>
          <a:prstGeom prst="rect">
            <a:avLst/>
          </a:prstGeom>
        </p:spPr>
      </p:pic>
      <p:pic>
        <p:nvPicPr>
          <p:cNvPr id="15" name="図 14">
            <a:extLst>
              <a:ext uri="{FF2B5EF4-FFF2-40B4-BE49-F238E27FC236}">
                <a16:creationId xmlns:a16="http://schemas.microsoft.com/office/drawing/2014/main" id="{F8521985-B62B-4CB3-4F8D-D0B6FA36B2F2}"/>
              </a:ext>
            </a:extLst>
          </p:cNvPr>
          <p:cNvPicPr>
            <a:picLocks noChangeAspect="1"/>
          </p:cNvPicPr>
          <p:nvPr/>
        </p:nvPicPr>
        <p:blipFill>
          <a:blip r:embed="rId5"/>
          <a:stretch>
            <a:fillRect/>
          </a:stretch>
        </p:blipFill>
        <p:spPr>
          <a:xfrm>
            <a:off x="456872" y="1165565"/>
            <a:ext cx="2016000" cy="1512000"/>
          </a:xfrm>
          <a:prstGeom prst="rect">
            <a:avLst/>
          </a:prstGeom>
        </p:spPr>
      </p:pic>
      <p:pic>
        <p:nvPicPr>
          <p:cNvPr id="19" name="図 18">
            <a:extLst>
              <a:ext uri="{FF2B5EF4-FFF2-40B4-BE49-F238E27FC236}">
                <a16:creationId xmlns:a16="http://schemas.microsoft.com/office/drawing/2014/main" id="{38F996B0-8FC8-3899-98AD-312B60C726D9}"/>
              </a:ext>
            </a:extLst>
          </p:cNvPr>
          <p:cNvPicPr>
            <a:picLocks noChangeAspect="1"/>
          </p:cNvPicPr>
          <p:nvPr/>
        </p:nvPicPr>
        <p:blipFill>
          <a:blip r:embed="rId6"/>
          <a:stretch>
            <a:fillRect/>
          </a:stretch>
        </p:blipFill>
        <p:spPr>
          <a:xfrm>
            <a:off x="4601502" y="1165565"/>
            <a:ext cx="2016000" cy="1512000"/>
          </a:xfrm>
          <a:prstGeom prst="rect">
            <a:avLst/>
          </a:prstGeom>
        </p:spPr>
      </p:pic>
      <p:sp>
        <p:nvSpPr>
          <p:cNvPr id="25" name="コンテンツ プレースホルダー 43">
            <a:extLst>
              <a:ext uri="{FF2B5EF4-FFF2-40B4-BE49-F238E27FC236}">
                <a16:creationId xmlns:a16="http://schemas.microsoft.com/office/drawing/2014/main" id="{FD781E56-311A-C679-AB06-D90760CE34B8}"/>
              </a:ext>
            </a:extLst>
          </p:cNvPr>
          <p:cNvSpPr>
            <a:spLocks noGrp="1"/>
          </p:cNvSpPr>
          <p:nvPr>
            <p:ph idx="1"/>
          </p:nvPr>
        </p:nvSpPr>
        <p:spPr>
          <a:xfrm>
            <a:off x="457199" y="3326029"/>
            <a:ext cx="4142400" cy="1245971"/>
          </a:xfrm>
        </p:spPr>
        <p:txBody>
          <a:bodyPr/>
          <a:lstStyle/>
          <a:p>
            <a:r>
              <a:rPr lang="en-US" altLang="ja-JP" b="1" dirty="0">
                <a:solidFill>
                  <a:schemeClr val="accent1"/>
                </a:solidFill>
              </a:rPr>
              <a:t>Key observations</a:t>
            </a:r>
          </a:p>
          <a:p>
            <a:pPr marL="342900" indent="-342900">
              <a:buFont typeface="Arial" panose="020B0604020202020204" pitchFamily="34" charset="0"/>
              <a:buChar char="•"/>
            </a:pPr>
            <a:r>
              <a:rPr lang="en-US" altLang="ja-JP" dirty="0"/>
              <a:t>Luminance, SF, negative scores patterns same as monocular</a:t>
            </a:r>
          </a:p>
        </p:txBody>
      </p:sp>
      <p:sp>
        <p:nvSpPr>
          <p:cNvPr id="26" name="コンテンツ プレースホルダー 43">
            <a:extLst>
              <a:ext uri="{FF2B5EF4-FFF2-40B4-BE49-F238E27FC236}">
                <a16:creationId xmlns:a16="http://schemas.microsoft.com/office/drawing/2014/main" id="{F7B641CF-DA7D-3840-49C8-E9CA10E176ED}"/>
              </a:ext>
            </a:extLst>
          </p:cNvPr>
          <p:cNvSpPr txBox="1">
            <a:spLocks/>
          </p:cNvSpPr>
          <p:nvPr/>
        </p:nvSpPr>
        <p:spPr>
          <a:xfrm>
            <a:off x="4571999" y="3329917"/>
            <a:ext cx="4248002" cy="1245971"/>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marL="342900" indent="-342900">
              <a:buFont typeface="Arial" panose="020B0604020202020204" pitchFamily="34" charset="0"/>
              <a:buChar char="•"/>
            </a:pPr>
            <a:endParaRPr lang="en-US" altLang="ja-JP" dirty="0"/>
          </a:p>
          <a:p>
            <a:pPr marL="342900" indent="-342900">
              <a:buFont typeface="Arial" panose="020B0604020202020204" pitchFamily="34" charset="0"/>
              <a:buChar char="•"/>
            </a:pPr>
            <a:r>
              <a:rPr lang="en-US" altLang="ja-JP" dirty="0"/>
              <a:t>No consistent ΔD trend </a:t>
            </a:r>
          </a:p>
          <a:p>
            <a:pPr marL="342900" indent="-342900">
              <a:buFont typeface="Arial" panose="020B0604020202020204" pitchFamily="34" charset="0"/>
              <a:buChar char="•"/>
            </a:pPr>
            <a:r>
              <a:rPr lang="en-US" altLang="ja-JP" dirty="0"/>
              <a:t>No mono-bino difference</a:t>
            </a:r>
            <a:endParaRPr lang="en-US" altLang="ja-JP" b="1" dirty="0">
              <a:solidFill>
                <a:schemeClr val="accent1"/>
              </a:solidFill>
            </a:endParaRPr>
          </a:p>
        </p:txBody>
      </p:sp>
      <p:sp>
        <p:nvSpPr>
          <p:cNvPr id="3" name="スライド番号プレースホルダー 2">
            <a:extLst>
              <a:ext uri="{FF2B5EF4-FFF2-40B4-BE49-F238E27FC236}">
                <a16:creationId xmlns:a16="http://schemas.microsoft.com/office/drawing/2014/main" id="{B4708DC9-443F-8471-B350-33E362C68F45}"/>
              </a:ext>
            </a:extLst>
          </p:cNvPr>
          <p:cNvSpPr>
            <a:spLocks noGrp="1"/>
          </p:cNvSpPr>
          <p:nvPr>
            <p:ph type="sldNum" sz="quarter" idx="4"/>
          </p:nvPr>
        </p:nvSpPr>
        <p:spPr/>
        <p:txBody>
          <a:bodyPr/>
          <a:lstStyle/>
          <a:p>
            <a:fld id="{C1FF6DA9-008F-8B48-92A6-B652298478BF}" type="slidenum">
              <a:rPr lang="en-US" smtClean="0"/>
              <a:pPr/>
              <a:t>26</a:t>
            </a:fld>
            <a:r>
              <a:rPr lang="en-US"/>
              <a:t>/30</a:t>
            </a:r>
            <a:endParaRPr lang="en-US" sz="1800" dirty="0"/>
          </a:p>
        </p:txBody>
      </p:sp>
    </p:spTree>
    <p:extLst>
      <p:ext uri="{BB962C8B-B14F-4D97-AF65-F5344CB8AC3E}">
        <p14:creationId xmlns:p14="http://schemas.microsoft.com/office/powerpoint/2010/main" val="15165185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92445-5184-D3D6-BCF8-B949ED2AB6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5A09BA8-3011-BFB7-6812-CA559204126B}"/>
              </a:ext>
            </a:extLst>
          </p:cNvPr>
          <p:cNvSpPr>
            <a:spLocks noGrp="1"/>
          </p:cNvSpPr>
          <p:nvPr>
            <p:ph type="title"/>
          </p:nvPr>
        </p:nvSpPr>
        <p:spPr/>
        <p:txBody>
          <a:bodyPr/>
          <a:lstStyle/>
          <a:p>
            <a:r>
              <a:rPr kumimoji="1" lang="en-US" altLang="ja-JP" dirty="0"/>
              <a:t>Pilot Experiment: Result</a:t>
            </a:r>
            <a:r>
              <a:rPr lang="en-US" altLang="ja-JP" dirty="0"/>
              <a:t>s </a:t>
            </a:r>
            <a:r>
              <a:rPr lang="en-US" altLang="ja-JP" sz="2800" dirty="0"/>
              <a:t>— example </a:t>
            </a:r>
            <a:endParaRPr kumimoji="1" lang="ja-JP" altLang="en-US" dirty="0"/>
          </a:p>
        </p:txBody>
      </p:sp>
      <p:graphicFrame>
        <p:nvGraphicFramePr>
          <p:cNvPr id="14" name="表 13">
            <a:extLst>
              <a:ext uri="{FF2B5EF4-FFF2-40B4-BE49-F238E27FC236}">
                <a16:creationId xmlns:a16="http://schemas.microsoft.com/office/drawing/2014/main" id="{97570154-3854-5F2D-18CA-34FFE71F8F55}"/>
              </a:ext>
            </a:extLst>
          </p:cNvPr>
          <p:cNvGraphicFramePr>
            <a:graphicFrameLocks noGrp="1"/>
          </p:cNvGraphicFramePr>
          <p:nvPr>
            <p:extLst>
              <p:ext uri="{D42A27DB-BD31-4B8C-83A1-F6EECF244321}">
                <p14:modId xmlns:p14="http://schemas.microsoft.com/office/powerpoint/2010/main" val="196345255"/>
              </p:ext>
            </p:extLst>
          </p:nvPr>
        </p:nvGraphicFramePr>
        <p:xfrm>
          <a:off x="1489857" y="981948"/>
          <a:ext cx="6264000" cy="3816000"/>
        </p:xfrm>
        <a:graphic>
          <a:graphicData uri="http://schemas.openxmlformats.org/drawingml/2006/table">
            <a:tbl>
              <a:tblPr firstRow="1" bandRow="1">
                <a:tableStyleId>{2D5ABB26-0587-4C30-8999-92F81FD0307C}</a:tableStyleId>
              </a:tblPr>
              <a:tblGrid>
                <a:gridCol w="1548000">
                  <a:extLst>
                    <a:ext uri="{9D8B030D-6E8A-4147-A177-3AD203B41FA5}">
                      <a16:colId xmlns:a16="http://schemas.microsoft.com/office/drawing/2014/main" val="2775989393"/>
                    </a:ext>
                  </a:extLst>
                </a:gridCol>
                <a:gridCol w="1548000">
                  <a:extLst>
                    <a:ext uri="{9D8B030D-6E8A-4147-A177-3AD203B41FA5}">
                      <a16:colId xmlns:a16="http://schemas.microsoft.com/office/drawing/2014/main" val="2716376766"/>
                    </a:ext>
                  </a:extLst>
                </a:gridCol>
                <a:gridCol w="1584000">
                  <a:extLst>
                    <a:ext uri="{9D8B030D-6E8A-4147-A177-3AD203B41FA5}">
                      <a16:colId xmlns:a16="http://schemas.microsoft.com/office/drawing/2014/main" val="3012203595"/>
                    </a:ext>
                  </a:extLst>
                </a:gridCol>
                <a:gridCol w="1584000">
                  <a:extLst>
                    <a:ext uri="{9D8B030D-6E8A-4147-A177-3AD203B41FA5}">
                      <a16:colId xmlns:a16="http://schemas.microsoft.com/office/drawing/2014/main" val="3753602898"/>
                    </a:ext>
                  </a:extLst>
                </a:gridCol>
              </a:tblGrid>
              <a:tr h="72000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Ref</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dirty="0"/>
                        <a:t>(b) at C</a:t>
                      </a:r>
                      <a:r>
                        <a:rPr kumimoji="1" lang="en-US" altLang="ja-JP" baseline="-25000" dirty="0"/>
                        <a:t>BG</a:t>
                      </a:r>
                      <a:r>
                        <a:rPr kumimoji="1" lang="en-US" altLang="ja-JP" dirty="0"/>
                        <a:t>=0.0 </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dirty="0"/>
                        <a:t>(b) at C</a:t>
                      </a:r>
                      <a:r>
                        <a:rPr kumimoji="1" lang="en-US" altLang="ja-JP" baseline="-25000" dirty="0"/>
                        <a:t>BG</a:t>
                      </a:r>
                      <a:r>
                        <a:rPr kumimoji="1" lang="en-US" altLang="ja-JP" dirty="0"/>
                        <a:t>=1.0 </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440992"/>
                  </a:ext>
                </a:extLst>
              </a:tr>
              <a:tr h="1548000">
                <a:tc>
                  <a:txBody>
                    <a:bodyPr/>
                    <a:lstStyle/>
                    <a:p>
                      <a:pPr algn="ctr"/>
                      <a:r>
                        <a:rPr kumimoji="1" lang="en-US" altLang="ja-JP" dirty="0"/>
                        <a:t>2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633935"/>
                  </a:ext>
                </a:extLst>
              </a:tr>
              <a:tr h="1548000">
                <a:tc>
                  <a:txBody>
                    <a:bodyPr/>
                    <a:lstStyle/>
                    <a:p>
                      <a:pPr algn="ctr"/>
                      <a:r>
                        <a:rPr kumimoji="1" lang="en-US" altLang="ja-JP" dirty="0"/>
                        <a:t>6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9313038"/>
                  </a:ext>
                </a:extLst>
              </a:tr>
            </a:tbl>
          </a:graphicData>
        </a:graphic>
      </p:graphicFrame>
      <p:pic>
        <p:nvPicPr>
          <p:cNvPr id="20" name="図 19">
            <a:extLst>
              <a:ext uri="{FF2B5EF4-FFF2-40B4-BE49-F238E27FC236}">
                <a16:creationId xmlns:a16="http://schemas.microsoft.com/office/drawing/2014/main" id="{D139CB94-6E1C-0176-EDDF-5A3DF6853B82}"/>
              </a:ext>
            </a:extLst>
          </p:cNvPr>
          <p:cNvPicPr>
            <a:picLocks noChangeAspect="1"/>
          </p:cNvPicPr>
          <p:nvPr/>
        </p:nvPicPr>
        <p:blipFill>
          <a:blip r:embed="rId3"/>
          <a:stretch>
            <a:fillRect/>
          </a:stretch>
        </p:blipFill>
        <p:spPr>
          <a:xfrm>
            <a:off x="6227542" y="1779750"/>
            <a:ext cx="1440000" cy="1440000"/>
          </a:xfrm>
          <a:prstGeom prst="rect">
            <a:avLst/>
          </a:prstGeom>
        </p:spPr>
      </p:pic>
      <p:pic>
        <p:nvPicPr>
          <p:cNvPr id="27" name="図 26">
            <a:extLst>
              <a:ext uri="{FF2B5EF4-FFF2-40B4-BE49-F238E27FC236}">
                <a16:creationId xmlns:a16="http://schemas.microsoft.com/office/drawing/2014/main" id="{35A7D681-05C2-01AA-75D5-8B56C3AB7726}"/>
              </a:ext>
            </a:extLst>
          </p:cNvPr>
          <p:cNvPicPr>
            <a:picLocks noChangeAspect="1"/>
          </p:cNvPicPr>
          <p:nvPr/>
        </p:nvPicPr>
        <p:blipFill>
          <a:blip r:embed="rId4"/>
          <a:stretch>
            <a:fillRect/>
          </a:stretch>
        </p:blipFill>
        <p:spPr>
          <a:xfrm>
            <a:off x="6227542" y="3318732"/>
            <a:ext cx="1440000" cy="1440000"/>
          </a:xfrm>
          <a:prstGeom prst="rect">
            <a:avLst/>
          </a:prstGeom>
        </p:spPr>
      </p:pic>
      <p:pic>
        <p:nvPicPr>
          <p:cNvPr id="39" name="図 38">
            <a:extLst>
              <a:ext uri="{FF2B5EF4-FFF2-40B4-BE49-F238E27FC236}">
                <a16:creationId xmlns:a16="http://schemas.microsoft.com/office/drawing/2014/main" id="{FA302E31-44C9-6366-E7BF-52C8267EAB0E}"/>
              </a:ext>
            </a:extLst>
          </p:cNvPr>
          <p:cNvPicPr>
            <a:picLocks noChangeAspect="1"/>
          </p:cNvPicPr>
          <p:nvPr/>
        </p:nvPicPr>
        <p:blipFill>
          <a:blip r:embed="rId5"/>
          <a:stretch>
            <a:fillRect/>
          </a:stretch>
        </p:blipFill>
        <p:spPr>
          <a:xfrm>
            <a:off x="3104898" y="1779750"/>
            <a:ext cx="1440000" cy="1440000"/>
          </a:xfrm>
          <a:prstGeom prst="rect">
            <a:avLst/>
          </a:prstGeom>
        </p:spPr>
      </p:pic>
      <p:sp>
        <p:nvSpPr>
          <p:cNvPr id="3" name="スライド番号プレースホルダー 2">
            <a:extLst>
              <a:ext uri="{FF2B5EF4-FFF2-40B4-BE49-F238E27FC236}">
                <a16:creationId xmlns:a16="http://schemas.microsoft.com/office/drawing/2014/main" id="{DE18C62D-4B8A-50AC-22A8-DB1335650A3C}"/>
              </a:ext>
            </a:extLst>
          </p:cNvPr>
          <p:cNvSpPr>
            <a:spLocks noGrp="1"/>
          </p:cNvSpPr>
          <p:nvPr>
            <p:ph type="sldNum" sz="quarter" idx="4"/>
          </p:nvPr>
        </p:nvSpPr>
        <p:spPr/>
        <p:txBody>
          <a:bodyPr/>
          <a:lstStyle/>
          <a:p>
            <a:fld id="{C1FF6DA9-008F-8B48-92A6-B652298478BF}" type="slidenum">
              <a:rPr lang="en-US" smtClean="0"/>
              <a:pPr/>
              <a:t>27</a:t>
            </a:fld>
            <a:r>
              <a:rPr lang="en-US"/>
              <a:t>/30</a:t>
            </a:r>
            <a:endParaRPr lang="en-US" sz="1800" dirty="0"/>
          </a:p>
        </p:txBody>
      </p:sp>
      <p:pic>
        <p:nvPicPr>
          <p:cNvPr id="5" name="図 4">
            <a:extLst>
              <a:ext uri="{FF2B5EF4-FFF2-40B4-BE49-F238E27FC236}">
                <a16:creationId xmlns:a16="http://schemas.microsoft.com/office/drawing/2014/main" id="{53D2D0B9-C441-BEA9-CE6C-1348E187B26D}"/>
              </a:ext>
            </a:extLst>
          </p:cNvPr>
          <p:cNvPicPr>
            <a:picLocks noChangeAspect="1"/>
          </p:cNvPicPr>
          <p:nvPr/>
        </p:nvPicPr>
        <p:blipFill>
          <a:blip r:embed="rId6"/>
          <a:stretch>
            <a:fillRect/>
          </a:stretch>
        </p:blipFill>
        <p:spPr>
          <a:xfrm>
            <a:off x="4666220" y="1781904"/>
            <a:ext cx="1440000" cy="1440000"/>
          </a:xfrm>
          <a:prstGeom prst="rect">
            <a:avLst/>
          </a:prstGeom>
        </p:spPr>
      </p:pic>
      <p:pic>
        <p:nvPicPr>
          <p:cNvPr id="7" name="図 6">
            <a:extLst>
              <a:ext uri="{FF2B5EF4-FFF2-40B4-BE49-F238E27FC236}">
                <a16:creationId xmlns:a16="http://schemas.microsoft.com/office/drawing/2014/main" id="{B5D0CCD4-4D13-77B1-6E7E-82E0A524159F}"/>
              </a:ext>
            </a:extLst>
          </p:cNvPr>
          <p:cNvPicPr>
            <a:picLocks noChangeAspect="1"/>
          </p:cNvPicPr>
          <p:nvPr/>
        </p:nvPicPr>
        <p:blipFill>
          <a:blip r:embed="rId7"/>
          <a:stretch>
            <a:fillRect/>
          </a:stretch>
        </p:blipFill>
        <p:spPr>
          <a:xfrm>
            <a:off x="3104898" y="3303340"/>
            <a:ext cx="1440000" cy="1440000"/>
          </a:xfrm>
          <a:prstGeom prst="rect">
            <a:avLst/>
          </a:prstGeom>
        </p:spPr>
      </p:pic>
      <p:pic>
        <p:nvPicPr>
          <p:cNvPr id="9" name="図 8">
            <a:extLst>
              <a:ext uri="{FF2B5EF4-FFF2-40B4-BE49-F238E27FC236}">
                <a16:creationId xmlns:a16="http://schemas.microsoft.com/office/drawing/2014/main" id="{E7E125E4-1A72-776B-7116-DED542F3F707}"/>
              </a:ext>
            </a:extLst>
          </p:cNvPr>
          <p:cNvPicPr>
            <a:picLocks noChangeAspect="1"/>
          </p:cNvPicPr>
          <p:nvPr/>
        </p:nvPicPr>
        <p:blipFill>
          <a:blip r:embed="rId8"/>
          <a:stretch>
            <a:fillRect/>
          </a:stretch>
        </p:blipFill>
        <p:spPr>
          <a:xfrm>
            <a:off x="4672725" y="3318732"/>
            <a:ext cx="1440000" cy="1440000"/>
          </a:xfrm>
          <a:prstGeom prst="rect">
            <a:avLst/>
          </a:prstGeom>
        </p:spPr>
      </p:pic>
    </p:spTree>
    <p:extLst>
      <p:ext uri="{BB962C8B-B14F-4D97-AF65-F5344CB8AC3E}">
        <p14:creationId xmlns:p14="http://schemas.microsoft.com/office/powerpoint/2010/main" val="32929978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724C4-8295-DBE3-70B6-CD6BA0E4C05E}"/>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9ED3CD42-BBA4-5BCC-C62E-E229C2B19662}"/>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19906CBF-8373-23D8-9237-9CBB2A57FA04}"/>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4C3BB40C-A1B7-5BFB-FE37-569390DD39C3}"/>
              </a:ext>
            </a:extLst>
          </p:cNvPr>
          <p:cNvSpPr>
            <a:spLocks noGrp="1"/>
          </p:cNvSpPr>
          <p:nvPr>
            <p:ph type="title"/>
          </p:nvPr>
        </p:nvSpPr>
        <p:spPr/>
        <p:txBody>
          <a:bodyPr/>
          <a:lstStyle/>
          <a:p>
            <a:r>
              <a:rPr kumimoji="1" lang="en-US" altLang="ja-JP" dirty="0"/>
              <a:t>Pilot Experiment: </a:t>
            </a:r>
            <a:r>
              <a:rPr lang="en-US" altLang="ja-JP" dirty="0"/>
              <a:t>Discussion</a:t>
            </a:r>
            <a:endParaRPr kumimoji="1" lang="ja-JP" altLang="en-US" dirty="0"/>
          </a:p>
        </p:txBody>
      </p:sp>
      <p:sp>
        <p:nvSpPr>
          <p:cNvPr id="3" name="コンテンツ プレースホルダー 2">
            <a:extLst>
              <a:ext uri="{FF2B5EF4-FFF2-40B4-BE49-F238E27FC236}">
                <a16:creationId xmlns:a16="http://schemas.microsoft.com/office/drawing/2014/main" id="{8DFFD04C-753B-0CBF-45EF-18309C110152}"/>
              </a:ext>
            </a:extLst>
          </p:cNvPr>
          <p:cNvSpPr>
            <a:spLocks noGrp="1"/>
          </p:cNvSpPr>
          <p:nvPr>
            <p:ph idx="1"/>
          </p:nvPr>
        </p:nvSpPr>
        <p:spPr>
          <a:xfrm>
            <a:off x="457200" y="1203750"/>
            <a:ext cx="8229600" cy="432000"/>
          </a:xfrm>
        </p:spPr>
        <p:txBody>
          <a:bodyPr/>
          <a:lstStyle/>
          <a:p>
            <a:pPr algn="ctr"/>
            <a:r>
              <a:rPr lang="en-US" altLang="ja-JP" b="1" dirty="0">
                <a:solidFill>
                  <a:schemeClr val="accent1"/>
                </a:solidFill>
              </a:rPr>
              <a:t>Four redesign directions </a:t>
            </a:r>
            <a:r>
              <a:rPr lang="en-US" altLang="ja-JP" dirty="0"/>
              <a:t>for the main experiment</a:t>
            </a:r>
            <a:endParaRPr lang="en-US" altLang="ja-JP" b="1" dirty="0">
              <a:solidFill>
                <a:schemeClr val="accent1"/>
              </a:solidFill>
            </a:endParaRPr>
          </a:p>
        </p:txBody>
      </p:sp>
      <p:sp>
        <p:nvSpPr>
          <p:cNvPr id="5" name="テキスト ボックス 4">
            <a:extLst>
              <a:ext uri="{FF2B5EF4-FFF2-40B4-BE49-F238E27FC236}">
                <a16:creationId xmlns:a16="http://schemas.microsoft.com/office/drawing/2014/main" id="{D6EE96DE-CA83-8BD2-8BDA-C720FA37D5FF}"/>
              </a:ext>
            </a:extLst>
          </p:cNvPr>
          <p:cNvSpPr txBox="1"/>
          <p:nvPr/>
        </p:nvSpPr>
        <p:spPr>
          <a:xfrm flipH="1">
            <a:off x="462600" y="1988214"/>
            <a:ext cx="4037400" cy="1058944"/>
          </a:xfrm>
          <a:prstGeom prst="rect">
            <a:avLst/>
          </a:prstGeom>
          <a:noFill/>
        </p:spPr>
        <p:txBody>
          <a:bodyPr wrap="square" rtlCol="0">
            <a:spAutoFit/>
          </a:bodyPr>
          <a:lstStyle/>
          <a:p>
            <a:pPr>
              <a:lnSpc>
                <a:spcPct val="120000"/>
              </a:lnSpc>
            </a:pPr>
            <a:r>
              <a:rPr lang="ja-JP" altLang="en-US" b="1" dirty="0">
                <a:solidFill>
                  <a:schemeClr val="accent1"/>
                </a:solidFill>
                <a:uFill>
                  <a:solidFill>
                    <a:schemeClr val="accent2"/>
                  </a:solidFill>
                </a:uFill>
              </a:rPr>
              <a:t>①  </a:t>
            </a:r>
            <a:r>
              <a:rPr lang="en-US" altLang="ja-JP" b="1" dirty="0">
                <a:solidFill>
                  <a:schemeClr val="accent1"/>
                </a:solidFill>
                <a:uFill>
                  <a:solidFill>
                    <a:schemeClr val="accent2"/>
                  </a:solidFill>
                </a:uFill>
              </a:rPr>
              <a:t>Drop weak masking conditions</a:t>
            </a:r>
          </a:p>
          <a:p>
            <a:pPr>
              <a:lnSpc>
                <a:spcPct val="120000"/>
              </a:lnSpc>
            </a:pPr>
            <a:r>
              <a:rPr lang="en-US" altLang="ja-JP" b="1" dirty="0"/>
              <a:t>Discrete rating lacks resolution </a:t>
            </a:r>
            <a:r>
              <a:rPr lang="en-US" altLang="ja-JP" dirty="0"/>
              <a:t>where the true effect is small</a:t>
            </a:r>
          </a:p>
        </p:txBody>
      </p:sp>
      <p:sp>
        <p:nvSpPr>
          <p:cNvPr id="10" name="テキスト ボックス 9">
            <a:extLst>
              <a:ext uri="{FF2B5EF4-FFF2-40B4-BE49-F238E27FC236}">
                <a16:creationId xmlns:a16="http://schemas.microsoft.com/office/drawing/2014/main" id="{DD4C08B4-6774-B839-BEB0-C03038941EA2}"/>
              </a:ext>
            </a:extLst>
          </p:cNvPr>
          <p:cNvSpPr txBox="1"/>
          <p:nvPr/>
        </p:nvSpPr>
        <p:spPr>
          <a:xfrm flipH="1">
            <a:off x="4649400" y="1988214"/>
            <a:ext cx="4037400" cy="1058944"/>
          </a:xfrm>
          <a:prstGeom prst="rect">
            <a:avLst/>
          </a:prstGeom>
          <a:noFill/>
        </p:spPr>
        <p:txBody>
          <a:bodyPr wrap="square" rtlCol="0">
            <a:spAutoFit/>
          </a:bodyPr>
          <a:lstStyle/>
          <a:p>
            <a:pPr marL="342900" indent="-342900">
              <a:lnSpc>
                <a:spcPct val="120000"/>
              </a:lnSpc>
              <a:buAutoNum type="circleNumDbPlain" startAt="2"/>
            </a:pPr>
            <a:r>
              <a:rPr lang="en-US" altLang="ja-JP" b="1" dirty="0">
                <a:solidFill>
                  <a:schemeClr val="accent1"/>
                </a:solidFill>
                <a:uFill>
                  <a:solidFill>
                    <a:schemeClr val="accent2"/>
                  </a:solidFill>
                </a:uFill>
              </a:rPr>
              <a:t>Fix luminance &amp; spatial freq</a:t>
            </a:r>
          </a:p>
          <a:p>
            <a:pPr>
              <a:lnSpc>
                <a:spcPct val="120000"/>
              </a:lnSpc>
            </a:pPr>
            <a:r>
              <a:rPr lang="en-US" altLang="ja-JP" b="1" dirty="0"/>
              <a:t>High Y</a:t>
            </a:r>
            <a:r>
              <a:rPr lang="en-US" altLang="ja-JP" b="1" baseline="-25000" dirty="0"/>
              <a:t>BG</a:t>
            </a:r>
            <a:r>
              <a:rPr lang="en-US" altLang="ja-JP" b="1" dirty="0"/>
              <a:t>, mid Y</a:t>
            </a:r>
            <a:r>
              <a:rPr lang="en-US" altLang="ja-JP" b="1" baseline="-25000" dirty="0"/>
              <a:t>FG</a:t>
            </a:r>
            <a:r>
              <a:rPr lang="en-US" altLang="ja-JP" b="1" dirty="0"/>
              <a:t>, and low SF</a:t>
            </a:r>
          </a:p>
          <a:p>
            <a:pPr>
              <a:lnSpc>
                <a:spcPct val="120000"/>
              </a:lnSpc>
            </a:pPr>
            <a:r>
              <a:rPr lang="ja-JP" altLang="en-US" dirty="0"/>
              <a:t>→</a:t>
            </a:r>
            <a:r>
              <a:rPr lang="en-US" altLang="ja-JP" dirty="0"/>
              <a:t>reduce other axes</a:t>
            </a:r>
            <a:endParaRPr lang="en-US" altLang="ja-JP" b="1" dirty="0">
              <a:uFill>
                <a:solidFill>
                  <a:schemeClr val="accent2"/>
                </a:solidFill>
              </a:uFill>
            </a:endParaRPr>
          </a:p>
        </p:txBody>
      </p:sp>
      <p:sp>
        <p:nvSpPr>
          <p:cNvPr id="11" name="テキスト ボックス 10">
            <a:extLst>
              <a:ext uri="{FF2B5EF4-FFF2-40B4-BE49-F238E27FC236}">
                <a16:creationId xmlns:a16="http://schemas.microsoft.com/office/drawing/2014/main" id="{26C165CE-DE6C-5954-B143-90240B7DC746}"/>
              </a:ext>
            </a:extLst>
          </p:cNvPr>
          <p:cNvSpPr txBox="1"/>
          <p:nvPr/>
        </p:nvSpPr>
        <p:spPr>
          <a:xfrm flipH="1">
            <a:off x="468000" y="3316241"/>
            <a:ext cx="4104000" cy="1058688"/>
          </a:xfrm>
          <a:prstGeom prst="rect">
            <a:avLst/>
          </a:prstGeom>
          <a:noFill/>
        </p:spPr>
        <p:txBody>
          <a:bodyPr wrap="square" rtlCol="0">
            <a:spAutoFit/>
          </a:bodyPr>
          <a:lstStyle/>
          <a:p>
            <a:pPr marL="342900" indent="-342900">
              <a:lnSpc>
                <a:spcPct val="120000"/>
              </a:lnSpc>
              <a:buAutoNum type="circleNumDbPlain" startAt="3"/>
            </a:pPr>
            <a:r>
              <a:rPr lang="en-US" altLang="ja-JP" b="1" dirty="0">
                <a:solidFill>
                  <a:schemeClr val="accent1"/>
                </a:solidFill>
                <a:uFill>
                  <a:solidFill>
                    <a:schemeClr val="accent2"/>
                  </a:solidFill>
                </a:uFill>
              </a:rPr>
              <a:t>Switch to matching method</a:t>
            </a:r>
          </a:p>
          <a:p>
            <a:pPr>
              <a:lnSpc>
                <a:spcPct val="120000"/>
              </a:lnSpc>
            </a:pPr>
            <a:r>
              <a:rPr lang="en-US" altLang="ja-JP" dirty="0">
                <a:uFill>
                  <a:solidFill>
                    <a:schemeClr val="accent2"/>
                  </a:solidFill>
                </a:uFill>
              </a:rPr>
              <a:t>Use </a:t>
            </a:r>
            <a:r>
              <a:rPr lang="en-US" altLang="ja-JP" b="1" dirty="0">
                <a:uFill>
                  <a:solidFill>
                    <a:schemeClr val="accent2"/>
                  </a:solidFill>
                </a:uFill>
              </a:rPr>
              <a:t>slower, but more accurate </a:t>
            </a:r>
            <a:r>
              <a:rPr lang="en-US" altLang="ja-JP" dirty="0">
                <a:uFill>
                  <a:solidFill>
                    <a:schemeClr val="accent2"/>
                  </a:solidFill>
                </a:uFill>
              </a:rPr>
              <a:t>method than discrete rating</a:t>
            </a:r>
            <a:endParaRPr lang="en-US" altLang="ja-JP" dirty="0"/>
          </a:p>
        </p:txBody>
      </p:sp>
      <p:sp>
        <p:nvSpPr>
          <p:cNvPr id="13" name="テキスト ボックス 12">
            <a:extLst>
              <a:ext uri="{FF2B5EF4-FFF2-40B4-BE49-F238E27FC236}">
                <a16:creationId xmlns:a16="http://schemas.microsoft.com/office/drawing/2014/main" id="{C65DE04B-5BA0-F24C-785A-02AB44680EE7}"/>
              </a:ext>
            </a:extLst>
          </p:cNvPr>
          <p:cNvSpPr txBox="1"/>
          <p:nvPr/>
        </p:nvSpPr>
        <p:spPr>
          <a:xfrm flipH="1">
            <a:off x="4649400" y="3316996"/>
            <a:ext cx="4037400" cy="1058688"/>
          </a:xfrm>
          <a:prstGeom prst="rect">
            <a:avLst/>
          </a:prstGeom>
          <a:noFill/>
        </p:spPr>
        <p:txBody>
          <a:bodyPr wrap="square" rtlCol="0">
            <a:spAutoFit/>
          </a:bodyPr>
          <a:lstStyle/>
          <a:p>
            <a:pPr>
              <a:lnSpc>
                <a:spcPct val="120000"/>
              </a:lnSpc>
            </a:pPr>
            <a:r>
              <a:rPr lang="ja-JP" altLang="en-US" b="1" dirty="0">
                <a:solidFill>
                  <a:schemeClr val="accent1"/>
                </a:solidFill>
                <a:uFill>
                  <a:solidFill>
                    <a:schemeClr val="accent2"/>
                  </a:solidFill>
                </a:uFill>
              </a:rPr>
              <a:t>④  </a:t>
            </a:r>
            <a:r>
              <a:rPr lang="en-US" altLang="ja-JP" b="1" dirty="0">
                <a:solidFill>
                  <a:schemeClr val="accent1"/>
                </a:solidFill>
                <a:uFill>
                  <a:solidFill>
                    <a:schemeClr val="accent2"/>
                  </a:solidFill>
                </a:uFill>
              </a:rPr>
              <a:t>Add single-plane condition</a:t>
            </a:r>
          </a:p>
          <a:p>
            <a:pPr>
              <a:lnSpc>
                <a:spcPct val="120000"/>
              </a:lnSpc>
            </a:pPr>
            <a:r>
              <a:rPr lang="en-US" altLang="ja-JP" dirty="0"/>
              <a:t>Simulate </a:t>
            </a:r>
          </a:p>
          <a:p>
            <a:pPr>
              <a:lnSpc>
                <a:spcPct val="120000"/>
              </a:lnSpc>
            </a:pPr>
            <a:r>
              <a:rPr lang="en-US" altLang="ja-JP" b="1" dirty="0"/>
              <a:t>linear addition &amp; defocus blur</a:t>
            </a:r>
          </a:p>
        </p:txBody>
      </p:sp>
      <p:cxnSp>
        <p:nvCxnSpPr>
          <p:cNvPr id="15" name="直線コネクタ 14">
            <a:extLst>
              <a:ext uri="{FF2B5EF4-FFF2-40B4-BE49-F238E27FC236}">
                <a16:creationId xmlns:a16="http://schemas.microsoft.com/office/drawing/2014/main" id="{BC204ADB-FDB7-2BE7-C463-4F725924B22B}"/>
              </a:ext>
            </a:extLst>
          </p:cNvPr>
          <p:cNvCxnSpPr>
            <a:cxnSpLocks/>
          </p:cNvCxnSpPr>
          <p:nvPr/>
        </p:nvCxnSpPr>
        <p:spPr>
          <a:xfrm>
            <a:off x="4572000" y="199575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6" name="直線コネクタ 15">
            <a:extLst>
              <a:ext uri="{FF2B5EF4-FFF2-40B4-BE49-F238E27FC236}">
                <a16:creationId xmlns:a16="http://schemas.microsoft.com/office/drawing/2014/main" id="{97D241F1-561F-2F0F-B2C9-6B3578A3DD1B}"/>
              </a:ext>
            </a:extLst>
          </p:cNvPr>
          <p:cNvCxnSpPr>
            <a:cxnSpLocks/>
          </p:cNvCxnSpPr>
          <p:nvPr/>
        </p:nvCxnSpPr>
        <p:spPr>
          <a:xfrm flipH="1">
            <a:off x="478801" y="3219750"/>
            <a:ext cx="8186399" cy="0"/>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スライド番号プレースホルダー 3">
            <a:extLst>
              <a:ext uri="{FF2B5EF4-FFF2-40B4-BE49-F238E27FC236}">
                <a16:creationId xmlns:a16="http://schemas.microsoft.com/office/drawing/2014/main" id="{07ED639B-36AE-6DE1-4CCD-99AB56ED096F}"/>
              </a:ext>
            </a:extLst>
          </p:cNvPr>
          <p:cNvSpPr>
            <a:spLocks noGrp="1"/>
          </p:cNvSpPr>
          <p:nvPr>
            <p:ph type="sldNum" sz="quarter" idx="4"/>
          </p:nvPr>
        </p:nvSpPr>
        <p:spPr/>
        <p:txBody>
          <a:bodyPr/>
          <a:lstStyle/>
          <a:p>
            <a:fld id="{C1FF6DA9-008F-8B48-92A6-B652298478BF}" type="slidenum">
              <a:rPr lang="en-US" smtClean="0"/>
              <a:pPr/>
              <a:t>28</a:t>
            </a:fld>
            <a:r>
              <a:rPr lang="en-US"/>
              <a:t>/30</a:t>
            </a:r>
            <a:endParaRPr lang="en-US" sz="1800" dirty="0"/>
          </a:p>
        </p:txBody>
      </p:sp>
    </p:spTree>
    <p:extLst>
      <p:ext uri="{BB962C8B-B14F-4D97-AF65-F5344CB8AC3E}">
        <p14:creationId xmlns:p14="http://schemas.microsoft.com/office/powerpoint/2010/main" val="33694247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97867-C828-7101-07D9-E5B9BD0B0C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E67990-80EA-BDB9-0110-62C3E90821E9}"/>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5E0AC56B-CE35-BCF7-CE85-3E995A189F00}"/>
              </a:ext>
            </a:extLst>
          </p:cNvPr>
          <p:cNvSpPr>
            <a:spLocks noGrp="1"/>
          </p:cNvSpPr>
          <p:nvPr>
            <p:ph idx="1"/>
          </p:nvPr>
        </p:nvSpPr>
        <p:spPr/>
        <p:txBody>
          <a:bodyPr/>
          <a:lstStyle/>
          <a:p>
            <a:pPr>
              <a:lnSpc>
                <a:spcPct val="150000"/>
              </a:lnSpc>
            </a:pPr>
            <a:r>
              <a:rPr kumimoji="1" lang="en-US" altLang="ja-JP" b="1" dirty="0">
                <a:solidFill>
                  <a:schemeClr val="accent1"/>
                </a:solidFill>
              </a:rPr>
              <a:t>1.   </a:t>
            </a:r>
            <a:r>
              <a:rPr kumimoji="1" lang="en-US" altLang="ja-JP" dirty="0"/>
              <a:t>Introduction</a:t>
            </a:r>
          </a:p>
          <a:p>
            <a:pPr marL="0" indent="0">
              <a:lnSpc>
                <a:spcPct val="150000"/>
              </a:lnSpc>
            </a:pPr>
            <a:r>
              <a:rPr kumimoji="1" lang="en-US" altLang="ja-JP" b="1" dirty="0">
                <a:solidFill>
                  <a:schemeClr val="accent1"/>
                </a:solidFill>
              </a:rPr>
              <a:t>2.   </a:t>
            </a:r>
            <a:r>
              <a:rPr kumimoji="1" lang="en-US" altLang="ja-JP" dirty="0"/>
              <a:t>Related Work</a:t>
            </a:r>
          </a:p>
          <a:p>
            <a:pPr marL="0" indent="0">
              <a:lnSpc>
                <a:spcPct val="150000"/>
              </a:lnSpc>
            </a:pPr>
            <a:r>
              <a:rPr lang="en-US" altLang="ja-JP" b="1" dirty="0">
                <a:solidFill>
                  <a:schemeClr val="accent1"/>
                </a:solidFill>
              </a:rPr>
              <a:t>3.   </a:t>
            </a:r>
            <a:r>
              <a:rPr lang="en-US" altLang="ja-JP" dirty="0"/>
              <a:t>Method</a:t>
            </a:r>
          </a:p>
          <a:p>
            <a:pPr marL="0" indent="0">
              <a:lnSpc>
                <a:spcPct val="150000"/>
              </a:lnSpc>
            </a:pPr>
            <a:r>
              <a:rPr kumimoji="1" lang="en-US" altLang="ja-JP" b="1" dirty="0">
                <a:solidFill>
                  <a:schemeClr val="accent1"/>
                </a:solidFill>
              </a:rPr>
              <a:t>4.   </a:t>
            </a:r>
            <a:r>
              <a:rPr kumimoji="1" lang="en-US" altLang="ja-JP" dirty="0"/>
              <a:t>Pilot Experiment</a:t>
            </a:r>
          </a:p>
          <a:p>
            <a:pPr marL="0" indent="0">
              <a:lnSpc>
                <a:spcPct val="150000"/>
              </a:lnSpc>
            </a:pPr>
            <a:r>
              <a:rPr lang="en-US" altLang="ja-JP" b="1" dirty="0">
                <a:solidFill>
                  <a:schemeClr val="accent1"/>
                </a:solidFill>
              </a:rPr>
              <a:t>5.   </a:t>
            </a:r>
            <a:r>
              <a:rPr lang="en-US" altLang="ja-JP" dirty="0"/>
              <a:t>Conclusion &amp; Future Work</a:t>
            </a:r>
            <a:endParaRPr kumimoji="1" lang="ja-JP" altLang="en-US" dirty="0"/>
          </a:p>
        </p:txBody>
      </p:sp>
      <p:sp>
        <p:nvSpPr>
          <p:cNvPr id="4" name="スライド番号プレースホルダー 3">
            <a:extLst>
              <a:ext uri="{FF2B5EF4-FFF2-40B4-BE49-F238E27FC236}">
                <a16:creationId xmlns:a16="http://schemas.microsoft.com/office/drawing/2014/main" id="{CB8FA258-4CF7-E28F-B77A-2F2BB128DA7C}"/>
              </a:ext>
            </a:extLst>
          </p:cNvPr>
          <p:cNvSpPr>
            <a:spLocks noGrp="1"/>
          </p:cNvSpPr>
          <p:nvPr>
            <p:ph type="sldNum" sz="quarter" idx="4"/>
          </p:nvPr>
        </p:nvSpPr>
        <p:spPr/>
        <p:txBody>
          <a:bodyPr/>
          <a:lstStyle/>
          <a:p>
            <a:fld id="{C1FF6DA9-008F-8B48-92A6-B652298478BF}" type="slidenum">
              <a:rPr lang="en-US" smtClean="0"/>
              <a:pPr/>
              <a:t>29</a:t>
            </a:fld>
            <a:r>
              <a:rPr lang="en-US"/>
              <a:t>/30</a:t>
            </a:r>
            <a:endParaRPr lang="en-US" sz="1800" dirty="0"/>
          </a:p>
        </p:txBody>
      </p:sp>
    </p:spTree>
    <p:extLst>
      <p:ext uri="{BB962C8B-B14F-4D97-AF65-F5344CB8AC3E}">
        <p14:creationId xmlns:p14="http://schemas.microsoft.com/office/powerpoint/2010/main" val="24350887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242CA-5D97-5D10-F001-A2A02EB21843}"/>
            </a:ext>
          </a:extLst>
        </p:cNvPr>
        <p:cNvGrpSpPr/>
        <p:nvPr/>
      </p:nvGrpSpPr>
      <p:grpSpPr>
        <a:xfrm>
          <a:off x="0" y="0"/>
          <a:ext cx="0" cy="0"/>
          <a:chOff x="0" y="0"/>
          <a:chExt cx="0" cy="0"/>
        </a:xfrm>
      </p:grpSpPr>
      <p:sp>
        <p:nvSpPr>
          <p:cNvPr id="35" name="四角形: 角を丸くする 34">
            <a:extLst>
              <a:ext uri="{FF2B5EF4-FFF2-40B4-BE49-F238E27FC236}">
                <a16:creationId xmlns:a16="http://schemas.microsoft.com/office/drawing/2014/main" id="{4C5A41BF-AD14-CA94-85E8-342653DCF8EA}"/>
              </a:ext>
            </a:extLst>
          </p:cNvPr>
          <p:cNvSpPr/>
          <p:nvPr/>
        </p:nvSpPr>
        <p:spPr>
          <a:xfrm>
            <a:off x="6276547" y="3675878"/>
            <a:ext cx="2412000"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2A1EC717-9001-90C6-9964-271C1B62EA8F}"/>
              </a:ext>
            </a:extLst>
          </p:cNvPr>
          <p:cNvSpPr/>
          <p:nvPr/>
        </p:nvSpPr>
        <p:spPr>
          <a:xfrm>
            <a:off x="3366000" y="3675878"/>
            <a:ext cx="2412000"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353AD67-6D16-39B1-36D3-7303D43A21CE}"/>
              </a:ext>
            </a:extLst>
          </p:cNvPr>
          <p:cNvSpPr/>
          <p:nvPr/>
        </p:nvSpPr>
        <p:spPr>
          <a:xfrm>
            <a:off x="455453" y="3675878"/>
            <a:ext cx="2412000"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A324FB92-FF0E-A695-61EC-32D7A2B060B9}"/>
              </a:ext>
            </a:extLst>
          </p:cNvPr>
          <p:cNvSpPr>
            <a:spLocks noGrp="1"/>
          </p:cNvSpPr>
          <p:nvPr>
            <p:ph type="title"/>
          </p:nvPr>
        </p:nvSpPr>
        <p:spPr/>
        <p:txBody>
          <a:bodyPr/>
          <a:lstStyle/>
          <a:p>
            <a:r>
              <a:rPr kumimoji="1" lang="en-US" altLang="ja-JP" dirty="0"/>
              <a:t>Conclusion &amp; Future Work</a:t>
            </a:r>
            <a:endParaRPr kumimoji="1" lang="ja-JP" altLang="en-US" dirty="0"/>
          </a:p>
        </p:txBody>
      </p:sp>
      <p:sp>
        <p:nvSpPr>
          <p:cNvPr id="6" name="コンテンツ プレースホルダー 5">
            <a:extLst>
              <a:ext uri="{FF2B5EF4-FFF2-40B4-BE49-F238E27FC236}">
                <a16:creationId xmlns:a16="http://schemas.microsoft.com/office/drawing/2014/main" id="{23045C03-34ED-84F4-6D7F-DA5B362C63E6}"/>
              </a:ext>
            </a:extLst>
          </p:cNvPr>
          <p:cNvSpPr>
            <a:spLocks noGrp="1"/>
          </p:cNvSpPr>
          <p:nvPr>
            <p:ph idx="1"/>
          </p:nvPr>
        </p:nvSpPr>
        <p:spPr>
          <a:xfrm>
            <a:off x="457200" y="1203750"/>
            <a:ext cx="8229600" cy="2088000"/>
          </a:xfrm>
        </p:spPr>
        <p:txBody>
          <a:bodyPr/>
          <a:lstStyle/>
          <a:p>
            <a:r>
              <a:rPr lang="en-US" altLang="ja-JP" b="1" dirty="0">
                <a:solidFill>
                  <a:schemeClr val="accent1"/>
                </a:solidFill>
              </a:rPr>
              <a:t>Conclusion</a:t>
            </a:r>
          </a:p>
          <a:p>
            <a:pPr marL="342900" indent="-342900">
              <a:lnSpc>
                <a:spcPct val="150000"/>
              </a:lnSpc>
              <a:buFont typeface="Arial" panose="020B0604020202020204" pitchFamily="34" charset="0"/>
              <a:buChar char="•"/>
            </a:pPr>
            <a:r>
              <a:rPr lang="en-US" altLang="ja-JP" sz="1800" b="1" dirty="0"/>
              <a:t>Goal:</a:t>
            </a:r>
            <a:r>
              <a:rPr lang="en-US" altLang="ja-JP" sz="1800" dirty="0"/>
              <a:t> extend Fukiage’s visibility predictor to OST-AR through an experiment</a:t>
            </a:r>
          </a:p>
          <a:p>
            <a:pPr marL="342900" indent="-342900">
              <a:lnSpc>
                <a:spcPct val="150000"/>
              </a:lnSpc>
              <a:buFont typeface="Arial" panose="020B0604020202020204" pitchFamily="34" charset="0"/>
              <a:buChar char="•"/>
            </a:pPr>
            <a:r>
              <a:rPr lang="en-US" altLang="ja-JP" sz="1800" b="1" dirty="0"/>
              <a:t>Pilot experiment: </a:t>
            </a:r>
            <a:r>
              <a:rPr lang="en-US" altLang="ja-JP" sz="1800" dirty="0"/>
              <a:t>design study for that experiment</a:t>
            </a:r>
          </a:p>
          <a:p>
            <a:pPr marL="342900" indent="-342900">
              <a:lnSpc>
                <a:spcPct val="150000"/>
              </a:lnSpc>
              <a:buFont typeface="Arial" panose="020B0604020202020204" pitchFamily="34" charset="0"/>
              <a:buChar char="•"/>
            </a:pPr>
            <a:r>
              <a:rPr lang="en-US" altLang="ja-JP" sz="1800" b="1" dirty="0">
                <a:uFill>
                  <a:solidFill>
                    <a:schemeClr val="accent2"/>
                  </a:solidFill>
                </a:uFill>
              </a:rPr>
              <a:t>Pilot result:</a:t>
            </a:r>
            <a:r>
              <a:rPr lang="en-US" altLang="ja-JP" sz="1800" dirty="0"/>
              <a:t> identified the key factors and parameter ranges to target</a:t>
            </a:r>
          </a:p>
        </p:txBody>
      </p:sp>
      <p:sp>
        <p:nvSpPr>
          <p:cNvPr id="12" name="コンテンツ プレースホルダー 5">
            <a:extLst>
              <a:ext uri="{FF2B5EF4-FFF2-40B4-BE49-F238E27FC236}">
                <a16:creationId xmlns:a16="http://schemas.microsoft.com/office/drawing/2014/main" id="{105C6B6B-B7EC-6341-9454-44BD9BB2241B}"/>
              </a:ext>
            </a:extLst>
          </p:cNvPr>
          <p:cNvSpPr txBox="1">
            <a:spLocks/>
          </p:cNvSpPr>
          <p:nvPr/>
        </p:nvSpPr>
        <p:spPr>
          <a:xfrm>
            <a:off x="457200" y="3147751"/>
            <a:ext cx="8229600" cy="357578"/>
          </a:xfrm>
          <a:prstGeom prst="rect">
            <a:avLst/>
          </a:prstGeom>
          <a:noFill/>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1"/>
                </a:solidFill>
              </a:rPr>
              <a:t>Future Work</a:t>
            </a:r>
          </a:p>
        </p:txBody>
      </p:sp>
      <p:sp>
        <p:nvSpPr>
          <p:cNvPr id="14" name="テキスト ボックス 13">
            <a:extLst>
              <a:ext uri="{FF2B5EF4-FFF2-40B4-BE49-F238E27FC236}">
                <a16:creationId xmlns:a16="http://schemas.microsoft.com/office/drawing/2014/main" id="{05AE55D5-2FEE-F77C-1C04-F128E41EDE0B}"/>
              </a:ext>
            </a:extLst>
          </p:cNvPr>
          <p:cNvSpPr txBox="1"/>
          <p:nvPr/>
        </p:nvSpPr>
        <p:spPr>
          <a:xfrm flipH="1">
            <a:off x="6269400" y="3716950"/>
            <a:ext cx="2412000" cy="726289"/>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Model Extension</a:t>
            </a:r>
            <a:br>
              <a:rPr lang="en-US" altLang="ja-JP" b="1" dirty="0">
                <a:solidFill>
                  <a:schemeClr val="accent1"/>
                </a:solidFill>
                <a:uFill>
                  <a:solidFill>
                    <a:schemeClr val="accent2"/>
                  </a:solidFill>
                </a:uFill>
              </a:rPr>
            </a:br>
            <a:r>
              <a:rPr lang="en-US" altLang="ja-JP" b="1" dirty="0">
                <a:solidFill>
                  <a:schemeClr val="accent1"/>
                </a:solidFill>
                <a:uFill>
                  <a:solidFill>
                    <a:schemeClr val="accent2"/>
                  </a:solidFill>
                </a:uFill>
              </a:rPr>
              <a:t>&amp; Validation</a:t>
            </a:r>
            <a:endParaRPr lang="en-US" altLang="ja-JP" b="1" dirty="0">
              <a:uFill>
                <a:solidFill>
                  <a:schemeClr val="accent2"/>
                </a:solidFill>
              </a:uFill>
            </a:endParaRPr>
          </a:p>
        </p:txBody>
      </p:sp>
      <p:sp>
        <p:nvSpPr>
          <p:cNvPr id="17" name="テキスト ボックス 16">
            <a:extLst>
              <a:ext uri="{FF2B5EF4-FFF2-40B4-BE49-F238E27FC236}">
                <a16:creationId xmlns:a16="http://schemas.microsoft.com/office/drawing/2014/main" id="{A3DC2504-9FE2-8F9B-0F07-8A11EC15B26A}"/>
              </a:ext>
            </a:extLst>
          </p:cNvPr>
          <p:cNvSpPr txBox="1"/>
          <p:nvPr/>
        </p:nvSpPr>
        <p:spPr>
          <a:xfrm flipH="1">
            <a:off x="455452" y="3717817"/>
            <a:ext cx="2412000" cy="726289"/>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Add pre-experiment</a:t>
            </a:r>
          </a:p>
          <a:p>
            <a:pPr algn="ctr">
              <a:lnSpc>
                <a:spcPct val="120000"/>
              </a:lnSpc>
            </a:pPr>
            <a:r>
              <a:rPr lang="en-US" altLang="ja-JP" dirty="0"/>
              <a:t>to check redesign</a:t>
            </a:r>
          </a:p>
        </p:txBody>
      </p:sp>
      <p:sp>
        <p:nvSpPr>
          <p:cNvPr id="18" name="テキスト ボックス 17">
            <a:extLst>
              <a:ext uri="{FF2B5EF4-FFF2-40B4-BE49-F238E27FC236}">
                <a16:creationId xmlns:a16="http://schemas.microsoft.com/office/drawing/2014/main" id="{8BB701B7-8BA7-887D-8294-2105481177A8}"/>
              </a:ext>
            </a:extLst>
          </p:cNvPr>
          <p:cNvSpPr txBox="1"/>
          <p:nvPr/>
        </p:nvSpPr>
        <p:spPr>
          <a:xfrm flipH="1">
            <a:off x="3366000" y="3717461"/>
            <a:ext cx="2412000" cy="726289"/>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Main experiment</a:t>
            </a:r>
          </a:p>
          <a:p>
            <a:pPr algn="ctr">
              <a:lnSpc>
                <a:spcPct val="120000"/>
              </a:lnSpc>
            </a:pPr>
            <a:r>
              <a:rPr lang="en-US" altLang="ja-JP" dirty="0">
                <a:uFill>
                  <a:solidFill>
                    <a:schemeClr val="accent2"/>
                  </a:solidFill>
                </a:uFill>
              </a:rPr>
              <a:t>after ethical review</a:t>
            </a:r>
          </a:p>
        </p:txBody>
      </p:sp>
      <p:sp>
        <p:nvSpPr>
          <p:cNvPr id="31" name="矢印: 下 30">
            <a:extLst>
              <a:ext uri="{FF2B5EF4-FFF2-40B4-BE49-F238E27FC236}">
                <a16:creationId xmlns:a16="http://schemas.microsoft.com/office/drawing/2014/main" id="{5DC45B4C-4931-D96B-3AB6-EF83E45C992B}"/>
              </a:ext>
            </a:extLst>
          </p:cNvPr>
          <p:cNvSpPr/>
          <p:nvPr/>
        </p:nvSpPr>
        <p:spPr>
          <a:xfrm rot="16200000">
            <a:off x="2877986" y="3922365"/>
            <a:ext cx="484632" cy="346897"/>
          </a:xfrm>
          <a:prstGeom prst="downArrow">
            <a:avLst/>
          </a:prstGeom>
          <a:solidFill>
            <a:schemeClr val="accent5"/>
          </a:solidFill>
          <a:ln>
            <a:solidFill>
              <a:schemeClr val="accent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32" name="矢印: 下 31">
            <a:extLst>
              <a:ext uri="{FF2B5EF4-FFF2-40B4-BE49-F238E27FC236}">
                <a16:creationId xmlns:a16="http://schemas.microsoft.com/office/drawing/2014/main" id="{EEE32596-DB57-B590-8C28-85FF5AF51C00}"/>
              </a:ext>
            </a:extLst>
          </p:cNvPr>
          <p:cNvSpPr/>
          <p:nvPr/>
        </p:nvSpPr>
        <p:spPr>
          <a:xfrm rot="16200000">
            <a:off x="5777811" y="3922364"/>
            <a:ext cx="484632" cy="346897"/>
          </a:xfrm>
          <a:prstGeom prst="downArrow">
            <a:avLst/>
          </a:prstGeom>
          <a:solidFill>
            <a:schemeClr val="accent5"/>
          </a:solidFill>
          <a:ln>
            <a:solidFill>
              <a:schemeClr val="accent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4" name="スライド番号プレースホルダー 3">
            <a:extLst>
              <a:ext uri="{FF2B5EF4-FFF2-40B4-BE49-F238E27FC236}">
                <a16:creationId xmlns:a16="http://schemas.microsoft.com/office/drawing/2014/main" id="{17610FC9-9B67-FEBD-BE03-7D521B95BBF5}"/>
              </a:ext>
            </a:extLst>
          </p:cNvPr>
          <p:cNvSpPr>
            <a:spLocks noGrp="1"/>
          </p:cNvSpPr>
          <p:nvPr>
            <p:ph type="sldNum" sz="quarter" idx="4"/>
          </p:nvPr>
        </p:nvSpPr>
        <p:spPr/>
        <p:txBody>
          <a:bodyPr/>
          <a:lstStyle/>
          <a:p>
            <a:fld id="{C1FF6DA9-008F-8B48-92A6-B652298478BF}" type="slidenum">
              <a:rPr lang="en-US" smtClean="0"/>
              <a:pPr/>
              <a:t>30</a:t>
            </a:fld>
            <a:r>
              <a:rPr lang="en-US"/>
              <a:t>/30</a:t>
            </a:r>
            <a:endParaRPr lang="en-US" sz="1800" dirty="0"/>
          </a:p>
        </p:txBody>
      </p:sp>
    </p:spTree>
    <p:extLst>
      <p:ext uri="{BB962C8B-B14F-4D97-AF65-F5344CB8AC3E}">
        <p14:creationId xmlns:p14="http://schemas.microsoft.com/office/powerpoint/2010/main" val="3136512980"/>
      </p:ext>
    </p:extLst>
  </p:cSld>
  <p:clrMapOvr>
    <a:masterClrMapping/>
  </p:clrMapOvr>
</p:sld>
</file>

<file path=ppt/theme/theme1.xml><?xml version="1.0" encoding="utf-8"?>
<a:theme xmlns:a="http://schemas.openxmlformats.org/drawingml/2006/main" name="浪裏">
  <a:themeElements>
    <a:clrScheme name="浪裏">
      <a:dk1>
        <a:srgbClr val="4E5461"/>
      </a:dk1>
      <a:lt1>
        <a:srgbClr val="F9F9FB"/>
      </a:lt1>
      <a:dk2>
        <a:srgbClr val="192F60"/>
      </a:dk2>
      <a:lt2>
        <a:srgbClr val="FCFAF2"/>
      </a:lt2>
      <a:accent1>
        <a:srgbClr val="4463AB"/>
      </a:accent1>
      <a:accent2>
        <a:srgbClr val="B1C0DE"/>
      </a:accent2>
      <a:accent3>
        <a:srgbClr val="DFE5F1"/>
      </a:accent3>
      <a:accent4>
        <a:srgbClr val="FFC342"/>
      </a:accent4>
      <a:accent5>
        <a:srgbClr val="E6AF3B"/>
      </a:accent5>
      <a:accent6>
        <a:srgbClr val="AB1100"/>
      </a:accent6>
      <a:hlink>
        <a:srgbClr val="4463AB"/>
      </a:hlink>
      <a:folHlink>
        <a:srgbClr val="611954"/>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6DBC3D7F-89B9-4340-9943-60A88C3A2EAA}" vid="{DC215AF6-271F-4506-B61D-1199FBA36236}"/>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浪裏</Template>
  <TotalTime>2529</TotalTime>
  <Words>4711</Words>
  <Application>Microsoft Office PowerPoint</Application>
  <PresentationFormat>画面に合わせる (16:9)</PresentationFormat>
  <Paragraphs>528</Paragraphs>
  <Slides>30</Slides>
  <Notes>30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30</vt:i4>
      </vt:variant>
    </vt:vector>
  </HeadingPairs>
  <TitlesOfParts>
    <vt:vector size="36" baseType="lpstr">
      <vt:lpstr>游ゴシック</vt:lpstr>
      <vt:lpstr>Arial</vt:lpstr>
      <vt:lpstr>Calibri</vt:lpstr>
      <vt:lpstr>Cambria Math</vt:lpstr>
      <vt:lpstr>Segoe UI</vt:lpstr>
      <vt:lpstr>浪裏</vt:lpstr>
      <vt:lpstr>Perceptual Visibility Prediction of  Overlaid Content in Optical See-Through  Augmented Reality</vt:lpstr>
      <vt:lpstr>Outline</vt:lpstr>
      <vt:lpstr>Outline</vt:lpstr>
      <vt:lpstr>Introduction: Optical See-Through AR</vt:lpstr>
      <vt:lpstr>Introduction: Visibility Depends on the Background</vt:lpstr>
      <vt:lpstr>Objective</vt:lpstr>
      <vt:lpstr>Outline</vt:lpstr>
      <vt:lpstr>Related Work (1): Contrast Perception</vt:lpstr>
      <vt:lpstr>Related Work (2): Single-Factor Models for OST-AR</vt:lpstr>
      <vt:lpstr>Related Work (3): IQA for OST-AR Visibility</vt:lpstr>
      <vt:lpstr>Related Work (3): Fukiage‘s Visibility Predictor</vt:lpstr>
      <vt:lpstr>Related Work (4): Fukiage‘s Visibility Predictor</vt:lpstr>
      <vt:lpstr>Outline</vt:lpstr>
      <vt:lpstr>Method: Overview</vt:lpstr>
      <vt:lpstr>Method (1): Visibility Evaluation Experiment</vt:lpstr>
      <vt:lpstr>Method (2): Model Extension</vt:lpstr>
      <vt:lpstr>Method (3): Model Validation</vt:lpstr>
      <vt:lpstr>Outline</vt:lpstr>
      <vt:lpstr>Pilot Experiment: Objective</vt:lpstr>
      <vt:lpstr>Pilot Experiment: Apparatus</vt:lpstr>
      <vt:lpstr>Pilot Experiment: Procedure</vt:lpstr>
      <vt:lpstr>Pilot Experiment: Stimuli</vt:lpstr>
      <vt:lpstr>Pilot Experiment: Conditions</vt:lpstr>
      <vt:lpstr>Pilot Experiment: Example of  Test Stimuli</vt:lpstr>
      <vt:lpstr>Pilot Experiment: Results — Monocular</vt:lpstr>
      <vt:lpstr>Pilot Experiment: Results — Binocular</vt:lpstr>
      <vt:lpstr>Pilot Experiment: Results — example </vt:lpstr>
      <vt:lpstr>Pilot Experiment: Discussion</vt:lpstr>
      <vt:lpstr>Outline</vt:lpstr>
      <vt:lpstr>Conclusion &amp; Future 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HamaKazu</dc:creator>
  <cp:keywords/>
  <dc:description>generated using python-pptx</dc:description>
  <cp:lastModifiedBy>濵田　和希</cp:lastModifiedBy>
  <cp:revision>29</cp:revision>
  <dcterms:created xsi:type="dcterms:W3CDTF">2013-01-27T09:14:16Z</dcterms:created>
  <dcterms:modified xsi:type="dcterms:W3CDTF">2026-05-15T03:23:49Z</dcterms:modified>
  <cp:category/>
</cp:coreProperties>
</file>