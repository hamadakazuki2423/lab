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7" r:id="rId3"/>
    <p:sldId id="258" r:id="rId4"/>
    <p:sldId id="260" r:id="rId5"/>
    <p:sldId id="262" r:id="rId6"/>
    <p:sldId id="264" r:id="rId7"/>
    <p:sldId id="265" r:id="rId8"/>
    <p:sldId id="266"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9" autoAdjust="0"/>
    <p:restoredTop sz="94660"/>
  </p:normalViewPr>
  <p:slideViewPr>
    <p:cSldViewPr snapToGrid="0">
      <p:cViewPr varScale="1">
        <p:scale>
          <a:sx n="67" d="100"/>
          <a:sy n="67" d="100"/>
        </p:scale>
        <p:origin x="78" y="10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DE0677-099F-2D19-EC8A-F34C83AE7B0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409398A-97C7-B6EE-6731-E77301E3B7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8BC7B3F-BE2B-BCCB-E455-F137CAC4352F}"/>
              </a:ext>
            </a:extLst>
          </p:cNvPr>
          <p:cNvSpPr>
            <a:spLocks noGrp="1"/>
          </p:cNvSpPr>
          <p:nvPr>
            <p:ph type="dt" sz="half" idx="10"/>
          </p:nvPr>
        </p:nvSpPr>
        <p:spPr/>
        <p:txBody>
          <a:bodyPr/>
          <a:lstStyle/>
          <a:p>
            <a:fld id="{416BA5EB-ECB0-409F-8DA9-B63B0BA08A82}" type="datetimeFigureOut">
              <a:rPr kumimoji="1" lang="ja-JP" altLang="en-US" smtClean="0"/>
              <a:t>2023/3/24</a:t>
            </a:fld>
            <a:endParaRPr kumimoji="1" lang="ja-JP" altLang="en-US"/>
          </a:p>
        </p:txBody>
      </p:sp>
      <p:sp>
        <p:nvSpPr>
          <p:cNvPr id="5" name="フッター プレースホルダー 4">
            <a:extLst>
              <a:ext uri="{FF2B5EF4-FFF2-40B4-BE49-F238E27FC236}">
                <a16:creationId xmlns:a16="http://schemas.microsoft.com/office/drawing/2014/main" id="{0F954494-7A6A-19CC-3538-887F74A64FA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7BF7CDF-3B78-3CE8-05B6-8967711B0935}"/>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275134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0A363B-5F45-E250-8754-5DB48D1EC54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DD42DB4-D1B4-0A79-8733-00A97C0B48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0C1203C-913E-2B56-69C1-BA1E8ED16B9B}"/>
              </a:ext>
            </a:extLst>
          </p:cNvPr>
          <p:cNvSpPr>
            <a:spLocks noGrp="1"/>
          </p:cNvSpPr>
          <p:nvPr>
            <p:ph type="dt" sz="half" idx="10"/>
          </p:nvPr>
        </p:nvSpPr>
        <p:spPr/>
        <p:txBody>
          <a:bodyPr/>
          <a:lstStyle/>
          <a:p>
            <a:fld id="{416BA5EB-ECB0-409F-8DA9-B63B0BA08A82}" type="datetimeFigureOut">
              <a:rPr kumimoji="1" lang="ja-JP" altLang="en-US" smtClean="0"/>
              <a:t>2023/3/24</a:t>
            </a:fld>
            <a:endParaRPr kumimoji="1" lang="ja-JP" altLang="en-US"/>
          </a:p>
        </p:txBody>
      </p:sp>
      <p:sp>
        <p:nvSpPr>
          <p:cNvPr id="5" name="フッター プレースホルダー 4">
            <a:extLst>
              <a:ext uri="{FF2B5EF4-FFF2-40B4-BE49-F238E27FC236}">
                <a16:creationId xmlns:a16="http://schemas.microsoft.com/office/drawing/2014/main" id="{0CA3BF3D-2D52-88EB-8EE9-F8D2F383CC6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13B1A8E-D33F-3A98-CDD1-A609B1C46371}"/>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4107866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E0C6CB-F72B-1D74-8927-73BC37E0E51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CD3803D-5746-6E7B-DA5E-5B14CCA81A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60567AE-39A1-54C2-BA6A-C266C7FC0055}"/>
              </a:ext>
            </a:extLst>
          </p:cNvPr>
          <p:cNvSpPr>
            <a:spLocks noGrp="1"/>
          </p:cNvSpPr>
          <p:nvPr>
            <p:ph type="dt" sz="half" idx="10"/>
          </p:nvPr>
        </p:nvSpPr>
        <p:spPr/>
        <p:txBody>
          <a:bodyPr/>
          <a:lstStyle/>
          <a:p>
            <a:fld id="{416BA5EB-ECB0-409F-8DA9-B63B0BA08A82}" type="datetimeFigureOut">
              <a:rPr kumimoji="1" lang="ja-JP" altLang="en-US" smtClean="0"/>
              <a:t>2023/3/24</a:t>
            </a:fld>
            <a:endParaRPr kumimoji="1" lang="ja-JP" altLang="en-US"/>
          </a:p>
        </p:txBody>
      </p:sp>
      <p:sp>
        <p:nvSpPr>
          <p:cNvPr id="5" name="フッター プレースホルダー 4">
            <a:extLst>
              <a:ext uri="{FF2B5EF4-FFF2-40B4-BE49-F238E27FC236}">
                <a16:creationId xmlns:a16="http://schemas.microsoft.com/office/drawing/2014/main" id="{9128BB40-BD47-3CA6-9AAE-E6F66D0ADA1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5AEF286-6680-6104-14EA-A51417961D3B}"/>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1361436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F459CA-94B9-97AD-8A49-222EA3FFB90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8C31BF4-749E-5E9C-FB44-32FD3D859D4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9705765-4431-0D91-EAD2-6ED2C36316D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1F1FBB2-0691-8E3C-D8EA-B0ECABDB48D3}"/>
              </a:ext>
            </a:extLst>
          </p:cNvPr>
          <p:cNvSpPr>
            <a:spLocks noGrp="1"/>
          </p:cNvSpPr>
          <p:nvPr>
            <p:ph type="dt" sz="half" idx="10"/>
          </p:nvPr>
        </p:nvSpPr>
        <p:spPr/>
        <p:txBody>
          <a:bodyPr/>
          <a:lstStyle/>
          <a:p>
            <a:fld id="{416BA5EB-ECB0-409F-8DA9-B63B0BA08A82}" type="datetimeFigureOut">
              <a:rPr kumimoji="1" lang="ja-JP" altLang="en-US" smtClean="0"/>
              <a:t>2023/3/24</a:t>
            </a:fld>
            <a:endParaRPr kumimoji="1" lang="ja-JP" altLang="en-US"/>
          </a:p>
        </p:txBody>
      </p:sp>
      <p:sp>
        <p:nvSpPr>
          <p:cNvPr id="6" name="フッター プレースホルダー 5">
            <a:extLst>
              <a:ext uri="{FF2B5EF4-FFF2-40B4-BE49-F238E27FC236}">
                <a16:creationId xmlns:a16="http://schemas.microsoft.com/office/drawing/2014/main" id="{0D8E3D6D-BF53-9335-AE14-97465C1637D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9F401D6-9114-559A-CE61-C0C98BF5B2D3}"/>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3188373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9CEF3A-FAC9-4859-59BF-8DC89887A0D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83E1648-4C1C-E9F2-873B-B9A2F15728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A8DBE26-12DD-A3B7-8EB9-88B653C9333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77C4D30-770F-8573-FAC9-1B703B3615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656FBE8-F1E7-63F3-F671-A88BE623CC04}"/>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05D1408-2184-B6AB-AB30-27C39E1465EC}"/>
              </a:ext>
            </a:extLst>
          </p:cNvPr>
          <p:cNvSpPr>
            <a:spLocks noGrp="1"/>
          </p:cNvSpPr>
          <p:nvPr>
            <p:ph type="dt" sz="half" idx="10"/>
          </p:nvPr>
        </p:nvSpPr>
        <p:spPr/>
        <p:txBody>
          <a:bodyPr/>
          <a:lstStyle/>
          <a:p>
            <a:fld id="{416BA5EB-ECB0-409F-8DA9-B63B0BA08A82}" type="datetimeFigureOut">
              <a:rPr kumimoji="1" lang="ja-JP" altLang="en-US" smtClean="0"/>
              <a:t>2023/3/24</a:t>
            </a:fld>
            <a:endParaRPr kumimoji="1" lang="ja-JP" altLang="en-US"/>
          </a:p>
        </p:txBody>
      </p:sp>
      <p:sp>
        <p:nvSpPr>
          <p:cNvPr id="8" name="フッター プレースホルダー 7">
            <a:extLst>
              <a:ext uri="{FF2B5EF4-FFF2-40B4-BE49-F238E27FC236}">
                <a16:creationId xmlns:a16="http://schemas.microsoft.com/office/drawing/2014/main" id="{D45B0284-1C40-D177-DADC-C0F6C734F00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4BE91BC-88C3-0CDD-57E8-487B73B23ABA}"/>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2333697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56B7E0-E5E5-FE4A-DDAB-5AC8FC263FB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72BE2FA-E639-26D6-70A8-B0A8244D74FA}"/>
              </a:ext>
            </a:extLst>
          </p:cNvPr>
          <p:cNvSpPr>
            <a:spLocks noGrp="1"/>
          </p:cNvSpPr>
          <p:nvPr>
            <p:ph type="dt" sz="half" idx="10"/>
          </p:nvPr>
        </p:nvSpPr>
        <p:spPr/>
        <p:txBody>
          <a:bodyPr/>
          <a:lstStyle/>
          <a:p>
            <a:fld id="{416BA5EB-ECB0-409F-8DA9-B63B0BA08A82}" type="datetimeFigureOut">
              <a:rPr kumimoji="1" lang="ja-JP" altLang="en-US" smtClean="0"/>
              <a:t>2023/3/24</a:t>
            </a:fld>
            <a:endParaRPr kumimoji="1" lang="ja-JP" altLang="en-US"/>
          </a:p>
        </p:txBody>
      </p:sp>
      <p:sp>
        <p:nvSpPr>
          <p:cNvPr id="4" name="フッター プレースホルダー 3">
            <a:extLst>
              <a:ext uri="{FF2B5EF4-FFF2-40B4-BE49-F238E27FC236}">
                <a16:creationId xmlns:a16="http://schemas.microsoft.com/office/drawing/2014/main" id="{CD062AD5-2C5A-203E-D599-E7DCCAF56F0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CF47348-FF9F-E945-6AB8-2D43A1319E20}"/>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2758103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3215C59-15B2-0F52-3B30-50F54DC4D34E}"/>
              </a:ext>
            </a:extLst>
          </p:cNvPr>
          <p:cNvSpPr>
            <a:spLocks noGrp="1"/>
          </p:cNvSpPr>
          <p:nvPr>
            <p:ph type="dt" sz="half" idx="10"/>
          </p:nvPr>
        </p:nvSpPr>
        <p:spPr/>
        <p:txBody>
          <a:bodyPr/>
          <a:lstStyle/>
          <a:p>
            <a:fld id="{416BA5EB-ECB0-409F-8DA9-B63B0BA08A82}" type="datetimeFigureOut">
              <a:rPr kumimoji="1" lang="ja-JP" altLang="en-US" smtClean="0"/>
              <a:t>2023/3/24</a:t>
            </a:fld>
            <a:endParaRPr kumimoji="1" lang="ja-JP" altLang="en-US"/>
          </a:p>
        </p:txBody>
      </p:sp>
      <p:sp>
        <p:nvSpPr>
          <p:cNvPr id="3" name="フッター プレースホルダー 2">
            <a:extLst>
              <a:ext uri="{FF2B5EF4-FFF2-40B4-BE49-F238E27FC236}">
                <a16:creationId xmlns:a16="http://schemas.microsoft.com/office/drawing/2014/main" id="{64A7E694-5981-7703-5A2A-FADDFDF0AB7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33875CB-EB17-95D7-C7BE-0F0DC22020AA}"/>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4274360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227A64-CBB4-9603-6E07-794E47FB484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F9804B0-05AF-48A3-B917-57E44A7B47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534C093-62D7-E254-420B-63DC96F499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561FEF1-098E-37D5-3063-D0FE739FC4BB}"/>
              </a:ext>
            </a:extLst>
          </p:cNvPr>
          <p:cNvSpPr>
            <a:spLocks noGrp="1"/>
          </p:cNvSpPr>
          <p:nvPr>
            <p:ph type="dt" sz="half" idx="10"/>
          </p:nvPr>
        </p:nvSpPr>
        <p:spPr/>
        <p:txBody>
          <a:bodyPr/>
          <a:lstStyle/>
          <a:p>
            <a:fld id="{416BA5EB-ECB0-409F-8DA9-B63B0BA08A82}" type="datetimeFigureOut">
              <a:rPr kumimoji="1" lang="ja-JP" altLang="en-US" smtClean="0"/>
              <a:t>2023/3/24</a:t>
            </a:fld>
            <a:endParaRPr kumimoji="1" lang="ja-JP" altLang="en-US"/>
          </a:p>
        </p:txBody>
      </p:sp>
      <p:sp>
        <p:nvSpPr>
          <p:cNvPr id="6" name="フッター プレースホルダー 5">
            <a:extLst>
              <a:ext uri="{FF2B5EF4-FFF2-40B4-BE49-F238E27FC236}">
                <a16:creationId xmlns:a16="http://schemas.microsoft.com/office/drawing/2014/main" id="{EE73E20A-E054-66DF-8E67-7A3E7362081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B1C093E-747D-5B6E-7AFD-B5F7A11DB787}"/>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483478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CFDFCF-3045-8C67-D3A0-DF5778755A0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0E34018-41C6-668C-6A9B-6A8AD1E512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AEDF920-B4DC-1410-B4EB-2FD7B73763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CD49C1F-49EA-75F9-D216-CCF2D5E8B418}"/>
              </a:ext>
            </a:extLst>
          </p:cNvPr>
          <p:cNvSpPr>
            <a:spLocks noGrp="1"/>
          </p:cNvSpPr>
          <p:nvPr>
            <p:ph type="dt" sz="half" idx="10"/>
          </p:nvPr>
        </p:nvSpPr>
        <p:spPr/>
        <p:txBody>
          <a:bodyPr/>
          <a:lstStyle/>
          <a:p>
            <a:fld id="{416BA5EB-ECB0-409F-8DA9-B63B0BA08A82}" type="datetimeFigureOut">
              <a:rPr kumimoji="1" lang="ja-JP" altLang="en-US" smtClean="0"/>
              <a:t>2023/3/24</a:t>
            </a:fld>
            <a:endParaRPr kumimoji="1" lang="ja-JP" altLang="en-US"/>
          </a:p>
        </p:txBody>
      </p:sp>
      <p:sp>
        <p:nvSpPr>
          <p:cNvPr id="6" name="フッター プレースホルダー 5">
            <a:extLst>
              <a:ext uri="{FF2B5EF4-FFF2-40B4-BE49-F238E27FC236}">
                <a16:creationId xmlns:a16="http://schemas.microsoft.com/office/drawing/2014/main" id="{F927004A-6689-9C98-9D68-E5CA0CEA155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BCCD0F5-8E2F-496C-9606-FC1C6B4EF36C}"/>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150098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59CA1E-ECBB-42F7-F86C-6C640D2CA8E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3159FB0-9F3D-718D-99DA-EEBB5CCB1E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9403C8C-9311-917F-5A36-E54F7BDA22EF}"/>
              </a:ext>
            </a:extLst>
          </p:cNvPr>
          <p:cNvSpPr>
            <a:spLocks noGrp="1"/>
          </p:cNvSpPr>
          <p:nvPr>
            <p:ph type="dt" sz="half" idx="10"/>
          </p:nvPr>
        </p:nvSpPr>
        <p:spPr/>
        <p:txBody>
          <a:bodyPr/>
          <a:lstStyle/>
          <a:p>
            <a:fld id="{416BA5EB-ECB0-409F-8DA9-B63B0BA08A82}" type="datetimeFigureOut">
              <a:rPr kumimoji="1" lang="ja-JP" altLang="en-US" smtClean="0"/>
              <a:t>2023/3/24</a:t>
            </a:fld>
            <a:endParaRPr kumimoji="1" lang="ja-JP" altLang="en-US"/>
          </a:p>
        </p:txBody>
      </p:sp>
      <p:sp>
        <p:nvSpPr>
          <p:cNvPr id="5" name="フッター プレースホルダー 4">
            <a:extLst>
              <a:ext uri="{FF2B5EF4-FFF2-40B4-BE49-F238E27FC236}">
                <a16:creationId xmlns:a16="http://schemas.microsoft.com/office/drawing/2014/main" id="{81FDCBBA-163F-54A7-AC75-375E005790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1B32A52-9C33-CA0B-FE6D-E71ED03985E2}"/>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1995301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3C17CEA-082D-2554-9408-B75B32DE7F9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875AC5E-952A-A3F0-0E9F-C3DCA914165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CD18EF6-473A-D178-1952-2D70B78BEFA2}"/>
              </a:ext>
            </a:extLst>
          </p:cNvPr>
          <p:cNvSpPr>
            <a:spLocks noGrp="1"/>
          </p:cNvSpPr>
          <p:nvPr>
            <p:ph type="dt" sz="half" idx="10"/>
          </p:nvPr>
        </p:nvSpPr>
        <p:spPr/>
        <p:txBody>
          <a:bodyPr/>
          <a:lstStyle/>
          <a:p>
            <a:fld id="{416BA5EB-ECB0-409F-8DA9-B63B0BA08A82}" type="datetimeFigureOut">
              <a:rPr kumimoji="1" lang="ja-JP" altLang="en-US" smtClean="0"/>
              <a:t>2023/3/24</a:t>
            </a:fld>
            <a:endParaRPr kumimoji="1" lang="ja-JP" altLang="en-US"/>
          </a:p>
        </p:txBody>
      </p:sp>
      <p:sp>
        <p:nvSpPr>
          <p:cNvPr id="5" name="フッター プレースホルダー 4">
            <a:extLst>
              <a:ext uri="{FF2B5EF4-FFF2-40B4-BE49-F238E27FC236}">
                <a16:creationId xmlns:a16="http://schemas.microsoft.com/office/drawing/2014/main" id="{3E200347-5F8A-FF4C-BCE3-9CF78E2D840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F9333E3-49B9-88C4-183F-3DBDD26FCA4E}"/>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2641766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A582081-0D7E-8CB5-55BA-A26BA1332C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4DA7847-39E1-360A-72BA-C7D6B056F8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FF4697F-9A2F-1C21-2EE8-D83D7E022D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6BA5EB-ECB0-409F-8DA9-B63B0BA08A82}" type="datetimeFigureOut">
              <a:rPr kumimoji="1" lang="ja-JP" altLang="en-US" smtClean="0"/>
              <a:t>2023/3/24</a:t>
            </a:fld>
            <a:endParaRPr kumimoji="1" lang="ja-JP" altLang="en-US"/>
          </a:p>
        </p:txBody>
      </p:sp>
      <p:sp>
        <p:nvSpPr>
          <p:cNvPr id="5" name="フッター プレースホルダー 4">
            <a:extLst>
              <a:ext uri="{FF2B5EF4-FFF2-40B4-BE49-F238E27FC236}">
                <a16:creationId xmlns:a16="http://schemas.microsoft.com/office/drawing/2014/main" id="{83C0E543-0DE9-E35A-B55F-A5A7E0FA5B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5DF1A2B-0CF0-CC80-3337-3FF432528F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41198556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E4051A4-2FD0-A31B-ABFC-37343669B3A2}"/>
              </a:ext>
            </a:extLst>
          </p:cNvPr>
          <p:cNvSpPr>
            <a:spLocks noGrp="1"/>
          </p:cNvSpPr>
          <p:nvPr>
            <p:ph idx="1"/>
          </p:nvPr>
        </p:nvSpPr>
        <p:spPr>
          <a:xfrm>
            <a:off x="838200" y="681487"/>
            <a:ext cx="10515600" cy="5495476"/>
          </a:xfrm>
        </p:spPr>
        <p:txBody>
          <a:bodyPr/>
          <a:lstStyle/>
          <a:p>
            <a:endParaRPr kumimoji="1" lang="ja-JP" altLang="en-US" dirty="0"/>
          </a:p>
        </p:txBody>
      </p:sp>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948906" y="363915"/>
            <a:ext cx="10404894" cy="5447645"/>
          </a:xfrm>
          <a:prstGeom prst="rect">
            <a:avLst/>
          </a:prstGeom>
          <a:noFill/>
        </p:spPr>
        <p:txBody>
          <a:bodyPr wrap="square" rtlCol="0">
            <a:spAutoFit/>
          </a:bodyPr>
          <a:lstStyle/>
          <a:p>
            <a:r>
              <a:rPr lang="ja-JP" altLang="en-US" sz="2000" dirty="0" smtClean="0">
                <a:solidFill>
                  <a:schemeClr val="bg1"/>
                </a:solidFill>
              </a:rPr>
              <a:t>（別紙</a:t>
            </a:r>
            <a:r>
              <a:rPr lang="en-US" altLang="ja-JP" sz="2000" dirty="0" smtClean="0">
                <a:solidFill>
                  <a:schemeClr val="bg1"/>
                </a:solidFill>
              </a:rPr>
              <a:t>2 </a:t>
            </a:r>
            <a:r>
              <a:rPr lang="ja-JP" altLang="en-US" sz="2000" dirty="0" smtClean="0">
                <a:solidFill>
                  <a:schemeClr val="bg1"/>
                </a:solidFill>
              </a:rPr>
              <a:t>評価実験説明）</a:t>
            </a:r>
            <a:endParaRPr lang="en-US" altLang="ja-JP" sz="2000" dirty="0" smtClean="0">
              <a:solidFill>
                <a:schemeClr val="bg1"/>
              </a:solidFill>
            </a:endParaRPr>
          </a:p>
          <a:p>
            <a:r>
              <a:rPr lang="ja-JP" altLang="en-US" sz="2000" dirty="0">
                <a:solidFill>
                  <a:schemeClr val="bg1"/>
                </a:solidFill>
              </a:rPr>
              <a:t>　</a:t>
            </a:r>
            <a:r>
              <a:rPr lang="ja-JP" altLang="en-US" sz="2800" dirty="0" smtClean="0">
                <a:solidFill>
                  <a:schemeClr val="bg1"/>
                </a:solidFill>
              </a:rPr>
              <a:t>本実験</a:t>
            </a:r>
            <a:r>
              <a:rPr lang="ja-JP" altLang="en-US" sz="2800" dirty="0">
                <a:solidFill>
                  <a:schemeClr val="bg1"/>
                </a:solidFill>
              </a:rPr>
              <a:t>について</a:t>
            </a:r>
            <a:endParaRPr lang="en-US" altLang="ja-JP" sz="3200" dirty="0">
              <a:solidFill>
                <a:schemeClr val="bg1"/>
              </a:solidFill>
            </a:endParaRPr>
          </a:p>
          <a:p>
            <a:r>
              <a:rPr lang="ja-JP" altLang="en-US" sz="2000" dirty="0" smtClean="0">
                <a:solidFill>
                  <a:schemeClr val="bg1"/>
                </a:solidFill>
              </a:rPr>
              <a:t>本実験は胸部</a:t>
            </a:r>
            <a:r>
              <a:rPr lang="ja-JP" altLang="en-US" sz="2000" dirty="0">
                <a:solidFill>
                  <a:schemeClr val="bg1"/>
                </a:solidFill>
              </a:rPr>
              <a:t>レントゲン</a:t>
            </a:r>
            <a:r>
              <a:rPr lang="ja-JP" altLang="en-US" sz="2000" dirty="0" smtClean="0">
                <a:solidFill>
                  <a:schemeClr val="bg1"/>
                </a:solidFill>
              </a:rPr>
              <a:t>画像の診断補助の研究のためのものになります。実験者</a:t>
            </a:r>
            <a:r>
              <a:rPr lang="ja-JP" altLang="en-US" sz="2000" dirty="0">
                <a:solidFill>
                  <a:schemeClr val="bg1"/>
                </a:solidFill>
              </a:rPr>
              <a:t>様に二枚</a:t>
            </a:r>
            <a:r>
              <a:rPr lang="ja-JP" altLang="en-US" sz="2000" dirty="0" smtClean="0">
                <a:solidFill>
                  <a:schemeClr val="bg1"/>
                </a:solidFill>
              </a:rPr>
              <a:t>の胸部レントゲン画像を見ていただき、一枚</a:t>
            </a:r>
            <a:r>
              <a:rPr lang="ja-JP" altLang="en-US" sz="2000" dirty="0">
                <a:solidFill>
                  <a:schemeClr val="bg1"/>
                </a:solidFill>
              </a:rPr>
              <a:t>の画像を選択していただく形式になります</a:t>
            </a:r>
            <a:r>
              <a:rPr lang="ja-JP" altLang="en-US" sz="2000" dirty="0" smtClean="0">
                <a:solidFill>
                  <a:schemeClr val="bg1"/>
                </a:solidFill>
              </a:rPr>
              <a:t>。二つのセクションに分かれており、選択基準の詳細は各セクションの前に説明します。所要</a:t>
            </a:r>
            <a:r>
              <a:rPr lang="ja-JP" altLang="en-US" sz="2000" dirty="0">
                <a:solidFill>
                  <a:schemeClr val="bg1"/>
                </a:solidFill>
              </a:rPr>
              <a:t>時間</a:t>
            </a:r>
            <a:r>
              <a:rPr lang="ja-JP" altLang="en-US" sz="2000" dirty="0" smtClean="0">
                <a:solidFill>
                  <a:schemeClr val="bg1"/>
                </a:solidFill>
              </a:rPr>
              <a:t>は各セクション</a:t>
            </a:r>
            <a:r>
              <a:rPr lang="en-US" altLang="ja-JP" sz="2000" dirty="0" smtClean="0">
                <a:solidFill>
                  <a:schemeClr val="bg1"/>
                </a:solidFill>
              </a:rPr>
              <a:t>15</a:t>
            </a:r>
            <a:r>
              <a:rPr lang="ja-JP" altLang="en-US" sz="2000" dirty="0" smtClean="0">
                <a:solidFill>
                  <a:schemeClr val="bg1"/>
                </a:solidFill>
              </a:rPr>
              <a:t>分、全体で</a:t>
            </a:r>
            <a:r>
              <a:rPr lang="en-US" altLang="ja-JP" sz="2000" dirty="0" smtClean="0">
                <a:solidFill>
                  <a:schemeClr val="bg1"/>
                </a:solidFill>
              </a:rPr>
              <a:t>30</a:t>
            </a:r>
            <a:r>
              <a:rPr lang="ja-JP" altLang="en-US" sz="2000" dirty="0">
                <a:solidFill>
                  <a:schemeClr val="bg1"/>
                </a:solidFill>
              </a:rPr>
              <a:t>分程度を想定しています</a:t>
            </a:r>
            <a:r>
              <a:rPr lang="ja-JP" altLang="en-US" sz="2000" dirty="0" smtClean="0">
                <a:solidFill>
                  <a:schemeClr val="bg1"/>
                </a:solidFill>
              </a:rPr>
              <a:t>。</a:t>
            </a:r>
            <a:endParaRPr lang="en-US" altLang="ja-JP" sz="2000" dirty="0" smtClean="0">
              <a:solidFill>
                <a:schemeClr val="bg1"/>
              </a:solidFill>
            </a:endParaRPr>
          </a:p>
          <a:p>
            <a:endParaRPr lang="en-US" altLang="ja-JP" sz="2000" dirty="0">
              <a:solidFill>
                <a:schemeClr val="bg1"/>
              </a:solidFill>
            </a:endParaRPr>
          </a:p>
          <a:p>
            <a:r>
              <a:rPr lang="ja-JP" altLang="en-US" sz="2000" dirty="0" smtClean="0">
                <a:solidFill>
                  <a:schemeClr val="bg1"/>
                </a:solidFill>
              </a:rPr>
              <a:t>実験を受けることで目が疲れることがあります。気分</a:t>
            </a:r>
            <a:r>
              <a:rPr lang="ja-JP" altLang="en-US" sz="2000" dirty="0">
                <a:solidFill>
                  <a:schemeClr val="bg1"/>
                </a:solidFill>
              </a:rPr>
              <a:t>がすぐれなくなったなど、何か</a:t>
            </a:r>
            <a:r>
              <a:rPr lang="ja-JP" altLang="en-US" sz="2000" dirty="0" smtClean="0">
                <a:solidFill>
                  <a:schemeClr val="bg1"/>
                </a:solidFill>
              </a:rPr>
              <a:t>ございましたらいつでも実験を中断、中止しますので実験</a:t>
            </a:r>
            <a:r>
              <a:rPr lang="ja-JP" altLang="en-US" sz="2000" dirty="0">
                <a:solidFill>
                  <a:schemeClr val="bg1"/>
                </a:solidFill>
              </a:rPr>
              <a:t>担当者にお知らせください。</a:t>
            </a:r>
            <a:endParaRPr lang="en-US" altLang="ja-JP" sz="2000" dirty="0">
              <a:solidFill>
                <a:schemeClr val="bg1"/>
              </a:solidFill>
            </a:endParaRPr>
          </a:p>
          <a:p>
            <a:endParaRPr lang="en-US" altLang="ja-JP" sz="2000" dirty="0" smtClean="0">
              <a:solidFill>
                <a:schemeClr val="bg1"/>
              </a:solidFill>
            </a:endParaRPr>
          </a:p>
          <a:p>
            <a:r>
              <a:rPr kumimoji="1" lang="ja-JP" altLang="en-US" sz="2000" dirty="0" smtClean="0">
                <a:solidFill>
                  <a:schemeClr val="bg1"/>
                </a:solidFill>
              </a:rPr>
              <a:t>本実験で測定されるデータは</a:t>
            </a:r>
            <a:r>
              <a:rPr lang="en-US" altLang="ja-JP" sz="2000" dirty="0">
                <a:solidFill>
                  <a:schemeClr val="bg1"/>
                </a:solidFill>
              </a:rPr>
              <a:t>X</a:t>
            </a:r>
            <a:r>
              <a:rPr lang="ja-JP" altLang="en-US" sz="2000" dirty="0">
                <a:solidFill>
                  <a:schemeClr val="bg1"/>
                </a:solidFill>
              </a:rPr>
              <a:t>線画像の診断補助の研究のために用いられます。研究成果は学術的公刊（論文発表・学術研究会等での発表）のほか、大石研究室の研究活動の広報目的で公表される場合があります</a:t>
            </a:r>
            <a:r>
              <a:rPr lang="ja-JP" altLang="en-US" sz="2000" dirty="0" smtClean="0">
                <a:solidFill>
                  <a:schemeClr val="bg1"/>
                </a:solidFill>
              </a:rPr>
              <a:t>。実験データを分析、公表する際はデータはすべて匿名化され、プライバシーに関する情報を開示することはございません。</a:t>
            </a:r>
            <a:endParaRPr kumimoji="1" lang="en-US" altLang="ja-JP" sz="2000" dirty="0">
              <a:solidFill>
                <a:schemeClr val="bg1"/>
              </a:solidFill>
            </a:endParaRPr>
          </a:p>
          <a:p>
            <a:endParaRPr kumimoji="1" lang="en-US" altLang="ja-JP" sz="2000" dirty="0" smtClean="0">
              <a:solidFill>
                <a:schemeClr val="bg1"/>
              </a:solidFill>
            </a:endParaRPr>
          </a:p>
          <a:p>
            <a:endParaRPr lang="en-US" altLang="ja-JP" sz="2000" dirty="0">
              <a:solidFill>
                <a:schemeClr val="bg1"/>
              </a:solidFill>
            </a:endParaRPr>
          </a:p>
          <a:p>
            <a:r>
              <a:rPr kumimoji="1" lang="en-US" altLang="ja-JP" sz="2000" dirty="0" smtClean="0">
                <a:solidFill>
                  <a:schemeClr val="bg1"/>
                </a:solidFill>
              </a:rPr>
              <a:t>Space</a:t>
            </a:r>
            <a:r>
              <a:rPr kumimoji="1" lang="ja-JP" altLang="en-US" sz="2000" dirty="0" smtClean="0">
                <a:solidFill>
                  <a:schemeClr val="bg1"/>
                </a:solidFill>
              </a:rPr>
              <a:t>キーで次へ進みます</a:t>
            </a:r>
            <a:endParaRPr kumimoji="1" lang="en-US" altLang="ja-JP" sz="2000" dirty="0">
              <a:solidFill>
                <a:schemeClr val="bg1"/>
              </a:solidFill>
            </a:endParaRPr>
          </a:p>
        </p:txBody>
      </p:sp>
    </p:spTree>
    <p:extLst>
      <p:ext uri="{BB962C8B-B14F-4D97-AF65-F5344CB8AC3E}">
        <p14:creationId xmlns:p14="http://schemas.microsoft.com/office/powerpoint/2010/main" val="13419577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コンテンツ プレースホルダー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9809" y="707912"/>
            <a:ext cx="3952381" cy="5442177"/>
          </a:xfrm>
        </p:spPr>
      </p:pic>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6694098" y="530877"/>
            <a:ext cx="4659702" cy="4678204"/>
          </a:xfrm>
          <a:prstGeom prst="rect">
            <a:avLst/>
          </a:prstGeom>
          <a:noFill/>
        </p:spPr>
        <p:txBody>
          <a:bodyPr wrap="square" rtlCol="0">
            <a:spAutoFit/>
          </a:bodyPr>
          <a:lstStyle/>
          <a:p>
            <a:r>
              <a:rPr lang="ja-JP" altLang="en-US" dirty="0">
                <a:solidFill>
                  <a:schemeClr val="bg1"/>
                </a:solidFill>
              </a:rPr>
              <a:t>　</a:t>
            </a:r>
            <a:r>
              <a:rPr lang="ja-JP" altLang="en-US" sz="2800" dirty="0">
                <a:solidFill>
                  <a:schemeClr val="bg1"/>
                </a:solidFill>
              </a:rPr>
              <a:t>実験１</a:t>
            </a:r>
            <a:endParaRPr lang="en-US" altLang="ja-JP" sz="2800" dirty="0">
              <a:solidFill>
                <a:schemeClr val="bg1"/>
              </a:solidFill>
            </a:endParaRPr>
          </a:p>
          <a:p>
            <a:r>
              <a:rPr lang="ja-JP" altLang="en-US" dirty="0">
                <a:solidFill>
                  <a:schemeClr val="bg1"/>
                </a:solidFill>
              </a:rPr>
              <a:t>上部のモニターにアノテーション画像、</a:t>
            </a:r>
            <a:endParaRPr lang="en-US" altLang="ja-JP" dirty="0">
              <a:solidFill>
                <a:schemeClr val="bg1"/>
              </a:solidFill>
            </a:endParaRPr>
          </a:p>
          <a:p>
            <a:r>
              <a:rPr lang="ja-JP" altLang="en-US" dirty="0">
                <a:solidFill>
                  <a:schemeClr val="bg1"/>
                </a:solidFill>
              </a:rPr>
              <a:t>下部のモニターに胸部のレントゲン画像が二枚表示されます。</a:t>
            </a:r>
            <a:endParaRPr lang="en-US" altLang="ja-JP" dirty="0">
              <a:solidFill>
                <a:schemeClr val="bg1"/>
              </a:solidFill>
            </a:endParaRPr>
          </a:p>
          <a:p>
            <a:endParaRPr lang="en-US" altLang="ja-JP" dirty="0">
              <a:solidFill>
                <a:schemeClr val="bg1"/>
              </a:solidFill>
            </a:endParaRPr>
          </a:p>
          <a:p>
            <a:r>
              <a:rPr lang="ja-JP" altLang="en-US" dirty="0">
                <a:solidFill>
                  <a:schemeClr val="bg1"/>
                </a:solidFill>
              </a:rPr>
              <a:t>アノテーション部分の病変が</a:t>
            </a:r>
            <a:r>
              <a:rPr lang="ja-JP" altLang="en-US" b="1" dirty="0">
                <a:solidFill>
                  <a:schemeClr val="bg1"/>
                </a:solidFill>
              </a:rPr>
              <a:t>見やすい</a:t>
            </a:r>
            <a:r>
              <a:rPr lang="ja-JP" altLang="en-US" dirty="0">
                <a:solidFill>
                  <a:schemeClr val="bg1"/>
                </a:solidFill>
              </a:rPr>
              <a:t>と思う方を、下部モニターに表示された二枚の画像</a:t>
            </a:r>
            <a:r>
              <a:rPr lang="ja-JP" altLang="en-US" dirty="0" smtClean="0">
                <a:solidFill>
                  <a:schemeClr val="bg1"/>
                </a:solidFill>
              </a:rPr>
              <a:t>からマウスクリックで選択</a:t>
            </a:r>
            <a:r>
              <a:rPr lang="ja-JP" altLang="en-US" dirty="0">
                <a:solidFill>
                  <a:schemeClr val="bg1"/>
                </a:solidFill>
              </a:rPr>
              <a:t>してください</a:t>
            </a:r>
            <a:r>
              <a:rPr lang="ja-JP" altLang="en-US" dirty="0" smtClean="0">
                <a:solidFill>
                  <a:schemeClr val="bg1"/>
                </a:solidFill>
              </a:rPr>
              <a:t>。</a:t>
            </a:r>
            <a:r>
              <a:rPr lang="en-US" altLang="ja-JP" dirty="0" smtClean="0">
                <a:solidFill>
                  <a:schemeClr val="bg1"/>
                </a:solidFill>
              </a:rPr>
              <a:t>(</a:t>
            </a:r>
            <a:r>
              <a:rPr lang="ja-JP" altLang="en-US" dirty="0" smtClean="0">
                <a:solidFill>
                  <a:schemeClr val="bg1"/>
                </a:solidFill>
              </a:rPr>
              <a:t>モニターに顔を</a:t>
            </a:r>
            <a:r>
              <a:rPr lang="ja-JP" altLang="en-US" b="1" dirty="0" smtClean="0">
                <a:solidFill>
                  <a:schemeClr val="bg1"/>
                </a:solidFill>
              </a:rPr>
              <a:t>近づけず</a:t>
            </a:r>
            <a:r>
              <a:rPr lang="ja-JP" altLang="en-US" dirty="0" smtClean="0">
                <a:solidFill>
                  <a:schemeClr val="bg1"/>
                </a:solidFill>
              </a:rPr>
              <a:t>に判定してください</a:t>
            </a:r>
            <a:r>
              <a:rPr lang="en-US" altLang="ja-JP" dirty="0" smtClean="0">
                <a:solidFill>
                  <a:schemeClr val="bg1"/>
                </a:solidFill>
              </a:rPr>
              <a:t>)</a:t>
            </a:r>
            <a:endParaRPr lang="en-US" altLang="ja-JP" dirty="0">
              <a:solidFill>
                <a:schemeClr val="bg1"/>
              </a:solidFill>
            </a:endParaRPr>
          </a:p>
          <a:p>
            <a:endParaRPr kumimoji="1" lang="en-US" altLang="ja-JP" dirty="0">
              <a:solidFill>
                <a:schemeClr val="bg1"/>
              </a:solidFill>
            </a:endParaRPr>
          </a:p>
          <a:p>
            <a:r>
              <a:rPr kumimoji="1" lang="ja-JP" altLang="en-US" dirty="0">
                <a:solidFill>
                  <a:schemeClr val="bg1"/>
                </a:solidFill>
              </a:rPr>
              <a:t>画像を選択したら次の画像が表示されます。</a:t>
            </a:r>
            <a:endParaRPr kumimoji="1" lang="en-US" altLang="ja-JP" dirty="0">
              <a:solidFill>
                <a:schemeClr val="bg1"/>
              </a:solidFill>
            </a:endParaRPr>
          </a:p>
          <a:p>
            <a:r>
              <a:rPr lang="ja-JP" altLang="en-US" dirty="0">
                <a:solidFill>
                  <a:schemeClr val="bg1"/>
                </a:solidFill>
              </a:rPr>
              <a:t>タスク</a:t>
            </a:r>
            <a:r>
              <a:rPr lang="en-US" altLang="ja-JP" dirty="0">
                <a:solidFill>
                  <a:schemeClr val="bg1"/>
                </a:solidFill>
              </a:rPr>
              <a:t>2</a:t>
            </a:r>
            <a:r>
              <a:rPr lang="ja-JP" altLang="en-US" dirty="0">
                <a:solidFill>
                  <a:schemeClr val="bg1"/>
                </a:solidFill>
              </a:rPr>
              <a:t>の説明画像が出てくるまで画像選択を続けてください。</a:t>
            </a:r>
            <a:endParaRPr lang="en-US" altLang="ja-JP" dirty="0">
              <a:solidFill>
                <a:schemeClr val="bg1"/>
              </a:solidFill>
            </a:endParaRPr>
          </a:p>
          <a:p>
            <a:endParaRPr kumimoji="1" lang="en-US" altLang="ja-JP" dirty="0">
              <a:solidFill>
                <a:schemeClr val="bg1"/>
              </a:solidFill>
            </a:endParaRPr>
          </a:p>
          <a:p>
            <a:r>
              <a:rPr kumimoji="1" lang="en-US" altLang="ja-JP" dirty="0">
                <a:solidFill>
                  <a:schemeClr val="bg1"/>
                </a:solidFill>
              </a:rPr>
              <a:t>Enter</a:t>
            </a:r>
            <a:r>
              <a:rPr kumimoji="1" lang="ja-JP" altLang="en-US" dirty="0">
                <a:solidFill>
                  <a:schemeClr val="bg1"/>
                </a:solidFill>
              </a:rPr>
              <a:t>キーを押したらタスク</a:t>
            </a:r>
            <a:r>
              <a:rPr kumimoji="1" lang="en-US" altLang="ja-JP" dirty="0">
                <a:solidFill>
                  <a:schemeClr val="bg1"/>
                </a:solidFill>
              </a:rPr>
              <a:t>1</a:t>
            </a:r>
            <a:r>
              <a:rPr kumimoji="1" lang="ja-JP" altLang="en-US" dirty="0">
                <a:solidFill>
                  <a:schemeClr val="bg1"/>
                </a:solidFill>
              </a:rPr>
              <a:t>を開始します</a:t>
            </a:r>
            <a:endParaRPr kumimoji="1" lang="en-US" altLang="ja-JP" dirty="0">
              <a:solidFill>
                <a:schemeClr val="bg1"/>
              </a:solidFill>
            </a:endParaRPr>
          </a:p>
        </p:txBody>
      </p:sp>
      <p:pic>
        <p:nvPicPr>
          <p:cNvPr id="3" name="図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4572" y="707912"/>
            <a:ext cx="3952381" cy="5442177"/>
          </a:xfrm>
          <a:prstGeom prst="rect">
            <a:avLst/>
          </a:prstGeom>
        </p:spPr>
      </p:pic>
    </p:spTree>
    <p:extLst>
      <p:ext uri="{BB962C8B-B14F-4D97-AF65-F5344CB8AC3E}">
        <p14:creationId xmlns:p14="http://schemas.microsoft.com/office/powerpoint/2010/main" val="876965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コンテンツ プレースホルダー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9809" y="707912"/>
            <a:ext cx="3952381" cy="5442177"/>
          </a:xfrm>
        </p:spPr>
      </p:pic>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6694098" y="530877"/>
            <a:ext cx="4659702" cy="5232202"/>
          </a:xfrm>
          <a:prstGeom prst="rect">
            <a:avLst/>
          </a:prstGeom>
          <a:noFill/>
        </p:spPr>
        <p:txBody>
          <a:bodyPr wrap="square" rtlCol="0">
            <a:spAutoFit/>
          </a:bodyPr>
          <a:lstStyle/>
          <a:p>
            <a:r>
              <a:rPr lang="ja-JP" altLang="en-US" dirty="0">
                <a:solidFill>
                  <a:schemeClr val="bg1"/>
                </a:solidFill>
              </a:rPr>
              <a:t>　</a:t>
            </a:r>
            <a:r>
              <a:rPr lang="ja-JP" altLang="en-US" sz="2800" dirty="0">
                <a:solidFill>
                  <a:schemeClr val="bg1"/>
                </a:solidFill>
              </a:rPr>
              <a:t>実験２</a:t>
            </a:r>
            <a:endParaRPr lang="en-US" altLang="ja-JP" sz="2800" dirty="0">
              <a:solidFill>
                <a:schemeClr val="bg1"/>
              </a:solidFill>
            </a:endParaRPr>
          </a:p>
          <a:p>
            <a:r>
              <a:rPr lang="ja-JP" altLang="en-US" dirty="0">
                <a:solidFill>
                  <a:schemeClr val="bg1"/>
                </a:solidFill>
              </a:rPr>
              <a:t>上部のモニター</a:t>
            </a:r>
            <a:r>
              <a:rPr lang="ja-JP" altLang="en-US" dirty="0" smtClean="0">
                <a:solidFill>
                  <a:schemeClr val="bg1"/>
                </a:solidFill>
              </a:rPr>
              <a:t>に</a:t>
            </a:r>
            <a:r>
              <a:rPr lang="ja-JP" altLang="en-US" dirty="0">
                <a:solidFill>
                  <a:schemeClr val="bg1"/>
                </a:solidFill>
              </a:rPr>
              <a:t>肺を明るくした</a:t>
            </a:r>
            <a:r>
              <a:rPr lang="ja-JP" altLang="en-US" dirty="0" smtClean="0">
                <a:solidFill>
                  <a:schemeClr val="bg1"/>
                </a:solidFill>
              </a:rPr>
              <a:t>手本</a:t>
            </a:r>
            <a:r>
              <a:rPr lang="ja-JP" altLang="en-US" dirty="0">
                <a:solidFill>
                  <a:schemeClr val="bg1"/>
                </a:solidFill>
              </a:rPr>
              <a:t>のレントゲン画像、</a:t>
            </a:r>
            <a:endParaRPr lang="en-US" altLang="ja-JP" dirty="0">
              <a:solidFill>
                <a:schemeClr val="bg1"/>
              </a:solidFill>
            </a:endParaRPr>
          </a:p>
          <a:p>
            <a:r>
              <a:rPr lang="ja-JP" altLang="en-US" dirty="0">
                <a:solidFill>
                  <a:schemeClr val="bg1"/>
                </a:solidFill>
              </a:rPr>
              <a:t>下部のモニターに胸部のレントゲン画像が二枚表示されます。</a:t>
            </a:r>
            <a:endParaRPr lang="en-US" altLang="ja-JP" dirty="0">
              <a:solidFill>
                <a:schemeClr val="bg1"/>
              </a:solidFill>
            </a:endParaRPr>
          </a:p>
          <a:p>
            <a:endParaRPr lang="en-US" altLang="ja-JP" dirty="0">
              <a:solidFill>
                <a:schemeClr val="bg1"/>
              </a:solidFill>
            </a:endParaRPr>
          </a:p>
          <a:p>
            <a:r>
              <a:rPr lang="ja-JP" altLang="en-US" b="1" u="sng" dirty="0">
                <a:solidFill>
                  <a:schemeClr val="bg1"/>
                </a:solidFill>
              </a:rPr>
              <a:t>肺部分の領域のみ</a:t>
            </a:r>
            <a:r>
              <a:rPr lang="ja-JP" altLang="en-US" dirty="0">
                <a:solidFill>
                  <a:schemeClr val="bg1"/>
                </a:solidFill>
              </a:rPr>
              <a:t>について</a:t>
            </a:r>
            <a:r>
              <a:rPr lang="ja-JP" altLang="en-US" b="1" dirty="0">
                <a:solidFill>
                  <a:schemeClr val="bg1"/>
                </a:solidFill>
              </a:rPr>
              <a:t>上部モニターの画像の内容を維持している</a:t>
            </a:r>
            <a:r>
              <a:rPr lang="ja-JP" altLang="en-US" dirty="0">
                <a:solidFill>
                  <a:schemeClr val="bg1"/>
                </a:solidFill>
              </a:rPr>
              <a:t>と思う方を、下部モニターに表示された二枚の画像</a:t>
            </a:r>
            <a:r>
              <a:rPr lang="ja-JP" altLang="en-US" dirty="0" smtClean="0">
                <a:solidFill>
                  <a:schemeClr val="bg1"/>
                </a:solidFill>
              </a:rPr>
              <a:t>からマウスクリックで選択</a:t>
            </a:r>
            <a:r>
              <a:rPr lang="ja-JP" altLang="en-US" dirty="0">
                <a:solidFill>
                  <a:schemeClr val="bg1"/>
                </a:solidFill>
              </a:rPr>
              <a:t>してください</a:t>
            </a:r>
            <a:r>
              <a:rPr lang="ja-JP" altLang="en-US" dirty="0" smtClean="0">
                <a:solidFill>
                  <a:schemeClr val="bg1"/>
                </a:solidFill>
              </a:rPr>
              <a:t>。</a:t>
            </a:r>
            <a:r>
              <a:rPr lang="en-US" altLang="ja-JP" dirty="0">
                <a:solidFill>
                  <a:schemeClr val="bg1"/>
                </a:solidFill>
              </a:rPr>
              <a:t> (</a:t>
            </a:r>
            <a:r>
              <a:rPr lang="ja-JP" altLang="en-US" dirty="0">
                <a:solidFill>
                  <a:schemeClr val="bg1"/>
                </a:solidFill>
              </a:rPr>
              <a:t>モニターに顔を</a:t>
            </a:r>
            <a:r>
              <a:rPr lang="ja-JP" altLang="en-US" b="1" dirty="0">
                <a:solidFill>
                  <a:schemeClr val="bg1"/>
                </a:solidFill>
              </a:rPr>
              <a:t>近づけず</a:t>
            </a:r>
            <a:r>
              <a:rPr lang="ja-JP" altLang="en-US" dirty="0">
                <a:solidFill>
                  <a:schemeClr val="bg1"/>
                </a:solidFill>
              </a:rPr>
              <a:t>に判定してください</a:t>
            </a:r>
            <a:r>
              <a:rPr lang="en-US" altLang="ja-JP" dirty="0">
                <a:solidFill>
                  <a:schemeClr val="bg1"/>
                </a:solidFill>
              </a:rPr>
              <a:t>)</a:t>
            </a:r>
          </a:p>
          <a:p>
            <a:endParaRPr kumimoji="1" lang="en-US" altLang="ja-JP" dirty="0">
              <a:solidFill>
                <a:schemeClr val="bg1"/>
              </a:solidFill>
            </a:endParaRPr>
          </a:p>
          <a:p>
            <a:endParaRPr kumimoji="1" lang="en-US" altLang="ja-JP" dirty="0">
              <a:solidFill>
                <a:schemeClr val="bg1"/>
              </a:solidFill>
            </a:endParaRPr>
          </a:p>
          <a:p>
            <a:r>
              <a:rPr kumimoji="1" lang="ja-JP" altLang="en-US" dirty="0">
                <a:solidFill>
                  <a:schemeClr val="bg1"/>
                </a:solidFill>
              </a:rPr>
              <a:t>画像を選択したら次の画像が表示されます。</a:t>
            </a:r>
            <a:endParaRPr kumimoji="1" lang="en-US" altLang="ja-JP" dirty="0">
              <a:solidFill>
                <a:schemeClr val="bg1"/>
              </a:solidFill>
            </a:endParaRPr>
          </a:p>
          <a:p>
            <a:r>
              <a:rPr lang="ja-JP" altLang="en-US" dirty="0">
                <a:solidFill>
                  <a:schemeClr val="bg1"/>
                </a:solidFill>
              </a:rPr>
              <a:t>タスク終了の画像が出てくるまで画像選択を続けてください。</a:t>
            </a:r>
            <a:endParaRPr lang="en-US" altLang="ja-JP" dirty="0">
              <a:solidFill>
                <a:schemeClr val="bg1"/>
              </a:solidFill>
            </a:endParaRPr>
          </a:p>
          <a:p>
            <a:endParaRPr kumimoji="1" lang="en-US" altLang="ja-JP" dirty="0">
              <a:solidFill>
                <a:schemeClr val="bg1"/>
              </a:solidFill>
            </a:endParaRPr>
          </a:p>
          <a:p>
            <a:r>
              <a:rPr kumimoji="1" lang="en-US" altLang="ja-JP" dirty="0">
                <a:solidFill>
                  <a:schemeClr val="bg1"/>
                </a:solidFill>
              </a:rPr>
              <a:t>Enter</a:t>
            </a:r>
            <a:r>
              <a:rPr kumimoji="1" lang="ja-JP" altLang="en-US" dirty="0">
                <a:solidFill>
                  <a:schemeClr val="bg1"/>
                </a:solidFill>
              </a:rPr>
              <a:t>キーを押したら実験</a:t>
            </a:r>
            <a:r>
              <a:rPr kumimoji="1" lang="en-US" altLang="ja-JP" dirty="0">
                <a:solidFill>
                  <a:schemeClr val="bg1"/>
                </a:solidFill>
              </a:rPr>
              <a:t>2</a:t>
            </a:r>
            <a:r>
              <a:rPr kumimoji="1" lang="ja-JP" altLang="en-US" dirty="0">
                <a:solidFill>
                  <a:schemeClr val="bg1"/>
                </a:solidFill>
              </a:rPr>
              <a:t>を開始します</a:t>
            </a:r>
            <a:endParaRPr kumimoji="1" lang="en-US" altLang="ja-JP" dirty="0">
              <a:solidFill>
                <a:schemeClr val="bg1"/>
              </a:solidFill>
            </a:endParaRPr>
          </a:p>
        </p:txBody>
      </p:sp>
      <p:pic>
        <p:nvPicPr>
          <p:cNvPr id="3" name="図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4572" y="707912"/>
            <a:ext cx="3952381" cy="5442177"/>
          </a:xfrm>
          <a:prstGeom prst="rect">
            <a:avLst/>
          </a:prstGeom>
        </p:spPr>
      </p:pic>
      <p:pic>
        <p:nvPicPr>
          <p:cNvPr id="6" name="図 5"/>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548573" y="1014152"/>
            <a:ext cx="1778924" cy="1778924"/>
          </a:xfrm>
          <a:prstGeom prst="rect">
            <a:avLst/>
          </a:prstGeom>
        </p:spPr>
      </p:pic>
    </p:spTree>
    <p:extLst>
      <p:ext uri="{BB962C8B-B14F-4D97-AF65-F5344CB8AC3E}">
        <p14:creationId xmlns:p14="http://schemas.microsoft.com/office/powerpoint/2010/main" val="3038277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E4051A4-2FD0-A31B-ABFC-37343669B3A2}"/>
              </a:ext>
            </a:extLst>
          </p:cNvPr>
          <p:cNvSpPr>
            <a:spLocks noGrp="1"/>
          </p:cNvSpPr>
          <p:nvPr>
            <p:ph idx="1"/>
          </p:nvPr>
        </p:nvSpPr>
        <p:spPr>
          <a:xfrm>
            <a:off x="838200" y="681487"/>
            <a:ext cx="10515600" cy="5495476"/>
          </a:xfrm>
        </p:spPr>
        <p:txBody>
          <a:bodyPr/>
          <a:lstStyle/>
          <a:p>
            <a:endParaRPr kumimoji="1" lang="ja-JP" altLang="en-US" dirty="0"/>
          </a:p>
        </p:txBody>
      </p:sp>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948906" y="3013501"/>
            <a:ext cx="10404894" cy="830997"/>
          </a:xfrm>
          <a:prstGeom prst="rect">
            <a:avLst/>
          </a:prstGeom>
          <a:noFill/>
        </p:spPr>
        <p:txBody>
          <a:bodyPr wrap="square" rtlCol="0">
            <a:spAutoFit/>
          </a:bodyPr>
          <a:lstStyle/>
          <a:p>
            <a:r>
              <a:rPr lang="ja-JP" altLang="en-US" sz="2400" dirty="0">
                <a:solidFill>
                  <a:schemeClr val="bg1"/>
                </a:solidFill>
              </a:rPr>
              <a:t>これにて全実験終了となります</a:t>
            </a:r>
            <a:endParaRPr lang="en-US" altLang="ja-JP" sz="2400" dirty="0">
              <a:solidFill>
                <a:schemeClr val="bg1"/>
              </a:solidFill>
            </a:endParaRPr>
          </a:p>
          <a:p>
            <a:r>
              <a:rPr lang="ja-JP" altLang="en-US" sz="2400" dirty="0">
                <a:solidFill>
                  <a:schemeClr val="bg1"/>
                </a:solidFill>
              </a:rPr>
              <a:t>ご協力いただきありがとうございました</a:t>
            </a:r>
            <a:endParaRPr lang="en-US" altLang="ja-JP" sz="3600" dirty="0">
              <a:solidFill>
                <a:schemeClr val="bg1"/>
              </a:solidFill>
            </a:endParaRPr>
          </a:p>
        </p:txBody>
      </p:sp>
    </p:spTree>
    <p:extLst>
      <p:ext uri="{BB962C8B-B14F-4D97-AF65-F5344CB8AC3E}">
        <p14:creationId xmlns:p14="http://schemas.microsoft.com/office/powerpoint/2010/main" val="3154965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E4051A4-2FD0-A31B-ABFC-37343669B3A2}"/>
              </a:ext>
            </a:extLst>
          </p:cNvPr>
          <p:cNvSpPr>
            <a:spLocks noGrp="1"/>
          </p:cNvSpPr>
          <p:nvPr>
            <p:ph idx="1"/>
          </p:nvPr>
        </p:nvSpPr>
        <p:spPr>
          <a:xfrm>
            <a:off x="838200" y="681487"/>
            <a:ext cx="10515600" cy="5495476"/>
          </a:xfrm>
        </p:spPr>
        <p:txBody>
          <a:bodyPr/>
          <a:lstStyle/>
          <a:p>
            <a:endParaRPr kumimoji="1" lang="ja-JP" altLang="en-US" dirty="0"/>
          </a:p>
        </p:txBody>
      </p:sp>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948906" y="363915"/>
            <a:ext cx="10404894" cy="5755422"/>
          </a:xfrm>
          <a:prstGeom prst="rect">
            <a:avLst/>
          </a:prstGeom>
          <a:noFill/>
        </p:spPr>
        <p:txBody>
          <a:bodyPr wrap="square" rtlCol="0">
            <a:spAutoFit/>
          </a:bodyPr>
          <a:lstStyle/>
          <a:p>
            <a:r>
              <a:rPr lang="ja-JP" altLang="en-US" sz="2000" dirty="0">
                <a:solidFill>
                  <a:schemeClr val="bg1"/>
                </a:solidFill>
              </a:rPr>
              <a:t>　</a:t>
            </a:r>
            <a:r>
              <a:rPr lang="en-US" altLang="ja-JP" sz="2800" dirty="0">
                <a:solidFill>
                  <a:schemeClr val="bg1"/>
                </a:solidFill>
              </a:rPr>
              <a:t>About this experiment</a:t>
            </a:r>
            <a:endParaRPr lang="en-US" altLang="ja-JP" sz="3200" dirty="0">
              <a:solidFill>
                <a:schemeClr val="bg1"/>
              </a:solidFill>
            </a:endParaRPr>
          </a:p>
          <a:p>
            <a:r>
              <a:rPr lang="en-US" altLang="ja-JP" sz="2000" dirty="0">
                <a:solidFill>
                  <a:schemeClr val="bg1"/>
                </a:solidFill>
              </a:rPr>
              <a:t>This experiment is for the study of diagnostic aids in chest x-ray imaging. The experimenter will be asked to view </a:t>
            </a:r>
            <a:r>
              <a:rPr lang="en-US" altLang="ja-JP" sz="2000" dirty="0" smtClean="0">
                <a:solidFill>
                  <a:schemeClr val="bg1"/>
                </a:solidFill>
              </a:rPr>
              <a:t>two chest x-ray </a:t>
            </a:r>
            <a:r>
              <a:rPr lang="en-US" altLang="ja-JP" sz="2000" dirty="0">
                <a:solidFill>
                  <a:schemeClr val="bg1"/>
                </a:solidFill>
              </a:rPr>
              <a:t>images and select one of them. There will be two sections, and we will explain the details of the selection criteria before each section. The time required is 15 minutes for each section and approximately 30 minutes overall</a:t>
            </a:r>
            <a:r>
              <a:rPr lang="en-US" altLang="ja-JP" sz="2000" dirty="0" smtClean="0">
                <a:solidFill>
                  <a:schemeClr val="bg1"/>
                </a:solidFill>
              </a:rPr>
              <a:t>.</a:t>
            </a:r>
          </a:p>
          <a:p>
            <a:endParaRPr lang="en-US" altLang="ja-JP" sz="2000" dirty="0">
              <a:solidFill>
                <a:schemeClr val="bg1"/>
              </a:solidFill>
            </a:endParaRPr>
          </a:p>
          <a:p>
            <a:r>
              <a:rPr lang="en-US" altLang="ja-JP" sz="2000" dirty="0">
                <a:solidFill>
                  <a:schemeClr val="bg1"/>
                </a:solidFill>
              </a:rPr>
              <a:t>The experiment may cause eye fatigue. If you feel unwell, please inform the person in charge of the experiment at any time. And we will suspend or terminate the experiment</a:t>
            </a:r>
            <a:r>
              <a:rPr lang="en-US" altLang="ja-JP" sz="2000" dirty="0" smtClean="0">
                <a:solidFill>
                  <a:schemeClr val="bg1"/>
                </a:solidFill>
              </a:rPr>
              <a:t>.</a:t>
            </a:r>
          </a:p>
          <a:p>
            <a:endParaRPr lang="en-US" altLang="ja-JP" sz="2000" dirty="0" smtClean="0">
              <a:solidFill>
                <a:schemeClr val="bg1"/>
              </a:solidFill>
            </a:endParaRPr>
          </a:p>
          <a:p>
            <a:r>
              <a:rPr lang="en-US" altLang="ja-JP" sz="2000" dirty="0">
                <a:solidFill>
                  <a:schemeClr val="bg1"/>
                </a:solidFill>
              </a:rPr>
              <a:t>The data measured in this experiment will be used for research on diagnostic aids in X-ray imaging. The research results may be published in academic publications (papers, presentations at academic conferences, etc.) as well as for the purpose of publicizing the research activities of the </a:t>
            </a:r>
            <a:r>
              <a:rPr lang="en-US" altLang="ja-JP" sz="2000" dirty="0" err="1">
                <a:solidFill>
                  <a:schemeClr val="bg1"/>
                </a:solidFill>
              </a:rPr>
              <a:t>Oishi</a:t>
            </a:r>
            <a:r>
              <a:rPr lang="en-US" altLang="ja-JP" sz="2000" dirty="0">
                <a:solidFill>
                  <a:schemeClr val="bg1"/>
                </a:solidFill>
              </a:rPr>
              <a:t> Laboratory. When analyzing and publishing experimental data, all data will be anonymized, and privacy information will not be disclosed.</a:t>
            </a:r>
            <a:endParaRPr kumimoji="1" lang="en-US" altLang="ja-JP" sz="2000" dirty="0" smtClean="0">
              <a:solidFill>
                <a:schemeClr val="bg1"/>
              </a:solidFill>
            </a:endParaRPr>
          </a:p>
          <a:p>
            <a:endParaRPr lang="en-US" altLang="ja-JP" sz="2000" dirty="0">
              <a:solidFill>
                <a:schemeClr val="bg1"/>
              </a:solidFill>
            </a:endParaRPr>
          </a:p>
          <a:p>
            <a:r>
              <a:rPr lang="en-US" altLang="ja-JP" sz="2000" dirty="0">
                <a:solidFill>
                  <a:schemeClr val="bg1"/>
                </a:solidFill>
              </a:rPr>
              <a:t>Press Space key to go next.</a:t>
            </a:r>
            <a:endParaRPr kumimoji="1" lang="en-US" altLang="ja-JP" sz="2000" dirty="0">
              <a:solidFill>
                <a:schemeClr val="bg1"/>
              </a:solidFill>
            </a:endParaRPr>
          </a:p>
        </p:txBody>
      </p:sp>
    </p:spTree>
    <p:extLst>
      <p:ext uri="{BB962C8B-B14F-4D97-AF65-F5344CB8AC3E}">
        <p14:creationId xmlns:p14="http://schemas.microsoft.com/office/powerpoint/2010/main" val="1285185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コンテンツ プレースホルダー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9809" y="707912"/>
            <a:ext cx="3952381" cy="5442177"/>
          </a:xfrm>
        </p:spPr>
      </p:pic>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6694098" y="530877"/>
            <a:ext cx="4659702" cy="4955203"/>
          </a:xfrm>
          <a:prstGeom prst="rect">
            <a:avLst/>
          </a:prstGeom>
          <a:noFill/>
        </p:spPr>
        <p:txBody>
          <a:bodyPr wrap="square" rtlCol="0">
            <a:spAutoFit/>
          </a:bodyPr>
          <a:lstStyle/>
          <a:p>
            <a:r>
              <a:rPr lang="ja-JP" altLang="en-US" dirty="0">
                <a:solidFill>
                  <a:schemeClr val="bg1"/>
                </a:solidFill>
              </a:rPr>
              <a:t>　</a:t>
            </a:r>
            <a:r>
              <a:rPr lang="en-US" altLang="ja-JP" sz="2800" dirty="0" smtClean="0">
                <a:solidFill>
                  <a:schemeClr val="bg1"/>
                </a:solidFill>
              </a:rPr>
              <a:t>Section</a:t>
            </a:r>
            <a:r>
              <a:rPr lang="ja-JP" altLang="en-US" sz="2800" dirty="0" smtClean="0">
                <a:solidFill>
                  <a:schemeClr val="bg1"/>
                </a:solidFill>
              </a:rPr>
              <a:t>１</a:t>
            </a:r>
            <a:endParaRPr lang="en-US" altLang="ja-JP" sz="2800" dirty="0">
              <a:solidFill>
                <a:schemeClr val="bg1"/>
              </a:solidFill>
            </a:endParaRPr>
          </a:p>
          <a:p>
            <a:r>
              <a:rPr lang="en-US" altLang="ja-JP" dirty="0">
                <a:solidFill>
                  <a:schemeClr val="bg1"/>
                </a:solidFill>
              </a:rPr>
              <a:t>The upper monitor shows an annotated image, and Two chest x-ray images are displayed on the lower monitor</a:t>
            </a:r>
            <a:r>
              <a:rPr lang="en-US" altLang="ja-JP" dirty="0" smtClean="0">
                <a:solidFill>
                  <a:schemeClr val="bg1"/>
                </a:solidFill>
              </a:rPr>
              <a:t>.</a:t>
            </a:r>
          </a:p>
          <a:p>
            <a:endParaRPr lang="en-US" altLang="ja-JP" dirty="0">
              <a:solidFill>
                <a:schemeClr val="bg1"/>
              </a:solidFill>
            </a:endParaRPr>
          </a:p>
          <a:p>
            <a:r>
              <a:rPr lang="en-US" altLang="ja-JP" dirty="0">
                <a:solidFill>
                  <a:schemeClr val="bg1"/>
                </a:solidFill>
              </a:rPr>
              <a:t>Of the two images displayed on the lower monitor, s</a:t>
            </a:r>
            <a:r>
              <a:rPr lang="en-US" altLang="ja-JP" dirty="0" smtClean="0">
                <a:solidFill>
                  <a:schemeClr val="bg1"/>
                </a:solidFill>
              </a:rPr>
              <a:t>elect </a:t>
            </a:r>
            <a:r>
              <a:rPr lang="en-US" altLang="ja-JP" dirty="0">
                <a:solidFill>
                  <a:schemeClr val="bg1"/>
                </a:solidFill>
              </a:rPr>
              <a:t>the one you think is </a:t>
            </a:r>
            <a:r>
              <a:rPr lang="en-US" altLang="ja-JP" b="1" dirty="0">
                <a:solidFill>
                  <a:schemeClr val="bg1"/>
                </a:solidFill>
              </a:rPr>
              <a:t>easier to see</a:t>
            </a:r>
            <a:r>
              <a:rPr lang="en-US" altLang="ja-JP" dirty="0">
                <a:solidFill>
                  <a:schemeClr val="bg1"/>
                </a:solidFill>
              </a:rPr>
              <a:t> the lesion in the annotated area by mouse </a:t>
            </a:r>
            <a:r>
              <a:rPr lang="en-US" altLang="ja-JP" dirty="0" smtClean="0">
                <a:solidFill>
                  <a:schemeClr val="bg1"/>
                </a:solidFill>
              </a:rPr>
              <a:t>click. </a:t>
            </a:r>
            <a:r>
              <a:rPr lang="en-US" altLang="ja-JP" dirty="0">
                <a:solidFill>
                  <a:schemeClr val="bg1"/>
                </a:solidFill>
              </a:rPr>
              <a:t>(Please judge without </a:t>
            </a:r>
            <a:r>
              <a:rPr lang="en-US" altLang="ja-JP" dirty="0" smtClean="0">
                <a:solidFill>
                  <a:schemeClr val="bg1"/>
                </a:solidFill>
              </a:rPr>
              <a:t>moving </a:t>
            </a:r>
            <a:r>
              <a:rPr lang="en-US" altLang="ja-JP" dirty="0">
                <a:solidFill>
                  <a:schemeClr val="bg1"/>
                </a:solidFill>
              </a:rPr>
              <a:t>your face close to the monitor</a:t>
            </a:r>
            <a:r>
              <a:rPr lang="en-US" altLang="ja-JP" dirty="0" smtClean="0">
                <a:solidFill>
                  <a:schemeClr val="bg1"/>
                </a:solidFill>
              </a:rPr>
              <a:t>.)</a:t>
            </a:r>
          </a:p>
          <a:p>
            <a:endParaRPr kumimoji="1" lang="en-US" altLang="ja-JP" dirty="0">
              <a:solidFill>
                <a:schemeClr val="bg1"/>
              </a:solidFill>
            </a:endParaRPr>
          </a:p>
          <a:p>
            <a:r>
              <a:rPr lang="en-US" altLang="ja-JP" dirty="0">
                <a:solidFill>
                  <a:schemeClr val="bg1"/>
                </a:solidFill>
              </a:rPr>
              <a:t>Once you have selected an image, the next image will </a:t>
            </a:r>
            <a:r>
              <a:rPr lang="en-US" altLang="ja-JP" dirty="0" err="1">
                <a:solidFill>
                  <a:schemeClr val="bg1"/>
                </a:solidFill>
              </a:rPr>
              <a:t>appear.Continue</a:t>
            </a:r>
            <a:r>
              <a:rPr lang="en-US" altLang="ja-JP" dirty="0">
                <a:solidFill>
                  <a:schemeClr val="bg1"/>
                </a:solidFill>
              </a:rPr>
              <a:t> selecting images until you see the image that describes </a:t>
            </a:r>
            <a:r>
              <a:rPr lang="en-US" altLang="ja-JP" dirty="0" smtClean="0">
                <a:solidFill>
                  <a:schemeClr val="bg1"/>
                </a:solidFill>
              </a:rPr>
              <a:t>Section </a:t>
            </a:r>
            <a:r>
              <a:rPr lang="en-US" altLang="ja-JP" dirty="0">
                <a:solidFill>
                  <a:schemeClr val="bg1"/>
                </a:solidFill>
              </a:rPr>
              <a:t>2</a:t>
            </a:r>
            <a:r>
              <a:rPr lang="en-US" altLang="ja-JP" dirty="0" smtClean="0">
                <a:solidFill>
                  <a:schemeClr val="bg1"/>
                </a:solidFill>
              </a:rPr>
              <a:t>.</a:t>
            </a:r>
          </a:p>
          <a:p>
            <a:endParaRPr kumimoji="1" lang="en-US" altLang="ja-JP" dirty="0">
              <a:solidFill>
                <a:schemeClr val="bg1"/>
              </a:solidFill>
            </a:endParaRPr>
          </a:p>
          <a:p>
            <a:r>
              <a:rPr lang="en-US" altLang="ja-JP" dirty="0">
                <a:solidFill>
                  <a:schemeClr val="bg1"/>
                </a:solidFill>
              </a:rPr>
              <a:t>Press Enter to start Section</a:t>
            </a:r>
            <a:r>
              <a:rPr lang="en-US" altLang="ja-JP" dirty="0" smtClean="0">
                <a:solidFill>
                  <a:schemeClr val="bg1"/>
                </a:solidFill>
              </a:rPr>
              <a:t> </a:t>
            </a:r>
            <a:r>
              <a:rPr lang="en-US" altLang="ja-JP" dirty="0">
                <a:solidFill>
                  <a:schemeClr val="bg1"/>
                </a:solidFill>
              </a:rPr>
              <a:t>1</a:t>
            </a:r>
            <a:endParaRPr kumimoji="1" lang="en-US" altLang="ja-JP" dirty="0">
              <a:solidFill>
                <a:schemeClr val="bg1"/>
              </a:solidFill>
            </a:endParaRPr>
          </a:p>
        </p:txBody>
      </p:sp>
      <p:pic>
        <p:nvPicPr>
          <p:cNvPr id="3" name="図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4572" y="707912"/>
            <a:ext cx="3952381" cy="5442177"/>
          </a:xfrm>
          <a:prstGeom prst="rect">
            <a:avLst/>
          </a:prstGeom>
        </p:spPr>
      </p:pic>
    </p:spTree>
    <p:extLst>
      <p:ext uri="{BB962C8B-B14F-4D97-AF65-F5344CB8AC3E}">
        <p14:creationId xmlns:p14="http://schemas.microsoft.com/office/powerpoint/2010/main" val="2789132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コンテンツ プレースホルダー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9809" y="707912"/>
            <a:ext cx="3952381" cy="5442177"/>
          </a:xfrm>
        </p:spPr>
      </p:pic>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6694098" y="530877"/>
            <a:ext cx="4659702" cy="5509200"/>
          </a:xfrm>
          <a:prstGeom prst="rect">
            <a:avLst/>
          </a:prstGeom>
          <a:noFill/>
        </p:spPr>
        <p:txBody>
          <a:bodyPr wrap="square" rtlCol="0">
            <a:spAutoFit/>
          </a:bodyPr>
          <a:lstStyle/>
          <a:p>
            <a:r>
              <a:rPr lang="ja-JP" altLang="en-US" dirty="0">
                <a:solidFill>
                  <a:schemeClr val="bg1"/>
                </a:solidFill>
              </a:rPr>
              <a:t>　</a:t>
            </a:r>
            <a:r>
              <a:rPr lang="en-US" altLang="ja-JP" sz="2800" dirty="0" smtClean="0">
                <a:solidFill>
                  <a:schemeClr val="bg1"/>
                </a:solidFill>
              </a:rPr>
              <a:t>Section 2</a:t>
            </a:r>
            <a:endParaRPr lang="en-US" altLang="ja-JP" sz="2800" dirty="0">
              <a:solidFill>
                <a:schemeClr val="bg1"/>
              </a:solidFill>
            </a:endParaRPr>
          </a:p>
          <a:p>
            <a:r>
              <a:rPr lang="en-US" altLang="ja-JP" dirty="0">
                <a:solidFill>
                  <a:schemeClr val="bg1"/>
                </a:solidFill>
              </a:rPr>
              <a:t>The upper monitor shows </a:t>
            </a:r>
            <a:r>
              <a:rPr lang="en-US" altLang="ja-JP" dirty="0" smtClean="0">
                <a:solidFill>
                  <a:schemeClr val="bg1"/>
                </a:solidFill>
              </a:rPr>
              <a:t>a reference </a:t>
            </a:r>
            <a:r>
              <a:rPr lang="en-US" altLang="ja-JP" dirty="0">
                <a:solidFill>
                  <a:schemeClr val="bg1"/>
                </a:solidFill>
              </a:rPr>
              <a:t>x-ray image of the </a:t>
            </a:r>
            <a:r>
              <a:rPr lang="en-US" altLang="ja-JP" dirty="0" smtClean="0">
                <a:solidFill>
                  <a:schemeClr val="bg1"/>
                </a:solidFill>
              </a:rPr>
              <a:t>lung highlighted, </a:t>
            </a:r>
            <a:r>
              <a:rPr lang="en-US" altLang="ja-JP" dirty="0">
                <a:solidFill>
                  <a:schemeClr val="bg1"/>
                </a:solidFill>
              </a:rPr>
              <a:t>and two x-ray images of the chest are displayed on the lower monitor</a:t>
            </a:r>
            <a:r>
              <a:rPr lang="en-US" altLang="ja-JP" dirty="0" smtClean="0">
                <a:solidFill>
                  <a:schemeClr val="bg1"/>
                </a:solidFill>
              </a:rPr>
              <a:t>.</a:t>
            </a:r>
          </a:p>
          <a:p>
            <a:endParaRPr lang="en-US" altLang="ja-JP" dirty="0">
              <a:solidFill>
                <a:schemeClr val="bg1"/>
              </a:solidFill>
            </a:endParaRPr>
          </a:p>
          <a:p>
            <a:r>
              <a:rPr lang="en-US" altLang="ja-JP" dirty="0" smtClean="0">
                <a:solidFill>
                  <a:schemeClr val="bg1"/>
                </a:solidFill>
              </a:rPr>
              <a:t>Of the </a:t>
            </a:r>
            <a:r>
              <a:rPr lang="en-US" altLang="ja-JP" dirty="0">
                <a:solidFill>
                  <a:schemeClr val="bg1"/>
                </a:solidFill>
              </a:rPr>
              <a:t>two images displayed on the lower </a:t>
            </a:r>
            <a:r>
              <a:rPr lang="en-US" altLang="ja-JP" dirty="0" smtClean="0">
                <a:solidFill>
                  <a:schemeClr val="bg1"/>
                </a:solidFill>
              </a:rPr>
              <a:t>monitor, </a:t>
            </a:r>
            <a:r>
              <a:rPr lang="en-US" altLang="ja-JP" dirty="0">
                <a:solidFill>
                  <a:schemeClr val="bg1"/>
                </a:solidFill>
              </a:rPr>
              <a:t>s</a:t>
            </a:r>
            <a:r>
              <a:rPr lang="en-US" altLang="ja-JP" dirty="0" smtClean="0">
                <a:solidFill>
                  <a:schemeClr val="bg1"/>
                </a:solidFill>
              </a:rPr>
              <a:t>elect </a:t>
            </a:r>
            <a:r>
              <a:rPr lang="en-US" altLang="ja-JP" dirty="0">
                <a:solidFill>
                  <a:schemeClr val="bg1"/>
                </a:solidFill>
              </a:rPr>
              <a:t>the </a:t>
            </a:r>
            <a:r>
              <a:rPr lang="en-US" altLang="ja-JP" dirty="0" smtClean="0">
                <a:solidFill>
                  <a:schemeClr val="bg1"/>
                </a:solidFill>
              </a:rPr>
              <a:t>one </a:t>
            </a:r>
            <a:r>
              <a:rPr lang="en-US" altLang="ja-JP" dirty="0">
                <a:solidFill>
                  <a:schemeClr val="bg1"/>
                </a:solidFill>
              </a:rPr>
              <a:t>you think maintains the content of the image on the upper monitor for </a:t>
            </a:r>
            <a:r>
              <a:rPr lang="en-US" altLang="ja-JP" b="1" u="sng" dirty="0">
                <a:solidFill>
                  <a:schemeClr val="bg1"/>
                </a:solidFill>
              </a:rPr>
              <a:t>the lung area only</a:t>
            </a:r>
            <a:r>
              <a:rPr lang="en-US" altLang="ja-JP" dirty="0" smtClean="0">
                <a:solidFill>
                  <a:schemeClr val="bg1"/>
                </a:solidFill>
              </a:rPr>
              <a:t> by </a:t>
            </a:r>
            <a:r>
              <a:rPr lang="en-US" altLang="ja-JP" dirty="0">
                <a:solidFill>
                  <a:schemeClr val="bg1"/>
                </a:solidFill>
              </a:rPr>
              <a:t>mouse </a:t>
            </a:r>
            <a:r>
              <a:rPr lang="en-US" altLang="ja-JP" dirty="0" smtClean="0">
                <a:solidFill>
                  <a:schemeClr val="bg1"/>
                </a:solidFill>
              </a:rPr>
              <a:t>click. </a:t>
            </a:r>
            <a:r>
              <a:rPr lang="en-US" altLang="ja-JP" dirty="0">
                <a:solidFill>
                  <a:schemeClr val="bg1"/>
                </a:solidFill>
              </a:rPr>
              <a:t>(Please judge without moving your face close to the monitor.)</a:t>
            </a:r>
            <a:endParaRPr kumimoji="1" lang="en-US" altLang="ja-JP" dirty="0">
              <a:solidFill>
                <a:schemeClr val="bg1"/>
              </a:solidFill>
            </a:endParaRPr>
          </a:p>
          <a:p>
            <a:endParaRPr kumimoji="1" lang="en-US" altLang="ja-JP" dirty="0">
              <a:solidFill>
                <a:schemeClr val="bg1"/>
              </a:solidFill>
            </a:endParaRPr>
          </a:p>
          <a:p>
            <a:r>
              <a:rPr lang="en-US" altLang="ja-JP" dirty="0">
                <a:solidFill>
                  <a:schemeClr val="bg1"/>
                </a:solidFill>
              </a:rPr>
              <a:t>Once you have selected an image, the next image will </a:t>
            </a:r>
            <a:r>
              <a:rPr lang="en-US" altLang="ja-JP" dirty="0" smtClean="0">
                <a:solidFill>
                  <a:schemeClr val="bg1"/>
                </a:solidFill>
              </a:rPr>
              <a:t>appear.</a:t>
            </a:r>
            <a:r>
              <a:rPr lang="ja-JP" altLang="en-US" dirty="0">
                <a:solidFill>
                  <a:schemeClr val="bg1"/>
                </a:solidFill>
              </a:rPr>
              <a:t> </a:t>
            </a:r>
            <a:r>
              <a:rPr lang="en-US" altLang="ja-JP" dirty="0" smtClean="0">
                <a:solidFill>
                  <a:schemeClr val="bg1"/>
                </a:solidFill>
              </a:rPr>
              <a:t>Continue </a:t>
            </a:r>
            <a:r>
              <a:rPr lang="en-US" altLang="ja-JP" dirty="0">
                <a:solidFill>
                  <a:schemeClr val="bg1"/>
                </a:solidFill>
              </a:rPr>
              <a:t>selecting images until the image for the end of the section appears</a:t>
            </a:r>
            <a:r>
              <a:rPr lang="en-US" altLang="ja-JP" dirty="0" smtClean="0">
                <a:solidFill>
                  <a:schemeClr val="bg1"/>
                </a:solidFill>
              </a:rPr>
              <a:t>.</a:t>
            </a:r>
          </a:p>
          <a:p>
            <a:endParaRPr kumimoji="1" lang="en-US" altLang="ja-JP" dirty="0">
              <a:solidFill>
                <a:schemeClr val="bg1"/>
              </a:solidFill>
            </a:endParaRPr>
          </a:p>
          <a:p>
            <a:r>
              <a:rPr lang="en-US" altLang="ja-JP" dirty="0">
                <a:solidFill>
                  <a:schemeClr val="bg1"/>
                </a:solidFill>
              </a:rPr>
              <a:t>Press Enter to start section 2</a:t>
            </a:r>
            <a:endParaRPr kumimoji="1" lang="en-US" altLang="ja-JP" dirty="0">
              <a:solidFill>
                <a:schemeClr val="bg1"/>
              </a:solidFill>
            </a:endParaRPr>
          </a:p>
        </p:txBody>
      </p:sp>
      <p:pic>
        <p:nvPicPr>
          <p:cNvPr id="3" name="図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4572" y="707912"/>
            <a:ext cx="3952381" cy="5442177"/>
          </a:xfrm>
          <a:prstGeom prst="rect">
            <a:avLst/>
          </a:prstGeom>
        </p:spPr>
      </p:pic>
      <p:pic>
        <p:nvPicPr>
          <p:cNvPr id="6" name="図 5"/>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548573" y="1014152"/>
            <a:ext cx="1778924" cy="1778924"/>
          </a:xfrm>
          <a:prstGeom prst="rect">
            <a:avLst/>
          </a:prstGeom>
        </p:spPr>
      </p:pic>
    </p:spTree>
    <p:extLst>
      <p:ext uri="{BB962C8B-B14F-4D97-AF65-F5344CB8AC3E}">
        <p14:creationId xmlns:p14="http://schemas.microsoft.com/office/powerpoint/2010/main" val="687325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E4051A4-2FD0-A31B-ABFC-37343669B3A2}"/>
              </a:ext>
            </a:extLst>
          </p:cNvPr>
          <p:cNvSpPr>
            <a:spLocks noGrp="1"/>
          </p:cNvSpPr>
          <p:nvPr>
            <p:ph idx="1"/>
          </p:nvPr>
        </p:nvSpPr>
        <p:spPr>
          <a:xfrm>
            <a:off x="838200" y="681487"/>
            <a:ext cx="10515600" cy="5495476"/>
          </a:xfrm>
        </p:spPr>
        <p:txBody>
          <a:bodyPr/>
          <a:lstStyle/>
          <a:p>
            <a:endParaRPr kumimoji="1" lang="ja-JP" altLang="en-US" dirty="0"/>
          </a:p>
        </p:txBody>
      </p:sp>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948906" y="3013501"/>
            <a:ext cx="10404894" cy="830997"/>
          </a:xfrm>
          <a:prstGeom prst="rect">
            <a:avLst/>
          </a:prstGeom>
          <a:noFill/>
        </p:spPr>
        <p:txBody>
          <a:bodyPr wrap="square" rtlCol="0">
            <a:spAutoFit/>
          </a:bodyPr>
          <a:lstStyle/>
          <a:p>
            <a:r>
              <a:rPr lang="en-US" altLang="ja-JP" sz="2400" dirty="0">
                <a:solidFill>
                  <a:schemeClr val="bg1"/>
                </a:solidFill>
              </a:rPr>
              <a:t>The entire experiment was finished</a:t>
            </a:r>
            <a:r>
              <a:rPr lang="en-US" altLang="ja-JP" sz="2400" dirty="0" smtClean="0">
                <a:solidFill>
                  <a:schemeClr val="bg1"/>
                </a:solidFill>
              </a:rPr>
              <a:t>.</a:t>
            </a:r>
          </a:p>
          <a:p>
            <a:r>
              <a:rPr lang="en-US" altLang="ja-JP" sz="2400" dirty="0" smtClean="0">
                <a:solidFill>
                  <a:schemeClr val="bg1"/>
                </a:solidFill>
              </a:rPr>
              <a:t>Thank </a:t>
            </a:r>
            <a:r>
              <a:rPr lang="en-US" altLang="ja-JP" sz="2400" dirty="0">
                <a:solidFill>
                  <a:schemeClr val="bg1"/>
                </a:solidFill>
              </a:rPr>
              <a:t>you very much for your cooperation.</a:t>
            </a:r>
            <a:endParaRPr lang="en-US" altLang="ja-JP" sz="3600" dirty="0">
              <a:solidFill>
                <a:schemeClr val="bg1"/>
              </a:solidFill>
            </a:endParaRPr>
          </a:p>
        </p:txBody>
      </p:sp>
    </p:spTree>
    <p:extLst>
      <p:ext uri="{BB962C8B-B14F-4D97-AF65-F5344CB8AC3E}">
        <p14:creationId xmlns:p14="http://schemas.microsoft.com/office/powerpoint/2010/main" val="156022286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TotalTime>
  <Words>31</Words>
  <Application>Microsoft Office PowerPoint</Application>
  <PresentationFormat>ワイド画面</PresentationFormat>
  <Paragraphs>59</Paragraphs>
  <Slides>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涼一 ishikawa</dc:creator>
  <cp:lastModifiedBy>ishikawa</cp:lastModifiedBy>
  <cp:revision>18</cp:revision>
  <dcterms:created xsi:type="dcterms:W3CDTF">2023-02-14T16:11:56Z</dcterms:created>
  <dcterms:modified xsi:type="dcterms:W3CDTF">2023-03-24T03:53:35Z</dcterms:modified>
</cp:coreProperties>
</file>