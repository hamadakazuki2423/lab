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7" r:id="rId2"/>
    <p:sldId id="272" r:id="rId3"/>
    <p:sldId id="275" r:id="rId4"/>
    <p:sldId id="268" r:id="rId5"/>
    <p:sldId id="270" r:id="rId6"/>
    <p:sldId id="269" r:id="rId7"/>
    <p:sldId id="273" r:id="rId8"/>
    <p:sldId id="276" r:id="rId9"/>
    <p:sldId id="274" r:id="rId10"/>
    <p:sldId id="262"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9" autoAdjust="0"/>
    <p:restoredTop sz="94660"/>
  </p:normalViewPr>
  <p:slideViewPr>
    <p:cSldViewPr snapToGrid="0">
      <p:cViewPr varScale="1">
        <p:scale>
          <a:sx n="74" d="100"/>
          <a:sy n="74" d="100"/>
        </p:scale>
        <p:origin x="13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914400" y="612549"/>
            <a:ext cx="10363200" cy="1960033"/>
          </a:xfrm>
        </p:spPr>
        <p:txBody>
          <a:bodyPr/>
          <a:lstStyle/>
          <a:p>
            <a:r>
              <a:rPr lang="ja-JP" altLang="en-US"/>
              <a:t>マスター タイトルの書式設定</a:t>
            </a:r>
            <a:endParaRPr lang="en-US"/>
          </a:p>
        </p:txBody>
      </p:sp>
      <p:sp>
        <p:nvSpPr>
          <p:cNvPr id="3" name="Subtitle 2"/>
          <p:cNvSpPr>
            <a:spLocks noGrp="1"/>
          </p:cNvSpPr>
          <p:nvPr>
            <p:ph type="subTitle" idx="1"/>
          </p:nvPr>
        </p:nvSpPr>
        <p:spPr>
          <a:xfrm>
            <a:off x="1828800" y="2953581"/>
            <a:ext cx="8534400" cy="23368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ja-JP" altLang="en-US"/>
              <a:t>マスター サブタイトルの書式設定</a:t>
            </a:r>
            <a:endParaRPr lang="en-US"/>
          </a:p>
        </p:txBody>
      </p:sp>
      <p:sp>
        <p:nvSpPr>
          <p:cNvPr id="4" name="Date Placeholder 3"/>
          <p:cNvSpPr>
            <a:spLocks noGrp="1"/>
          </p:cNvSpPr>
          <p:nvPr>
            <p:ph type="dt" sz="half" idx="10"/>
          </p:nvPr>
        </p:nvSpPr>
        <p:spPr>
          <a:xfrm>
            <a:off x="609600" y="6247116"/>
            <a:ext cx="2844800" cy="486833"/>
          </a:xfrm>
        </p:spPr>
        <p:txBody>
          <a:bodyPr/>
          <a:lstStyle/>
          <a:p>
            <a:fld id="{416BA5EB-ECB0-409F-8DA9-B63B0BA08A82}" type="datetimeFigureOut">
              <a:rPr kumimoji="1" lang="ja-JP" altLang="en-US" smtClean="0"/>
              <a:t>2026/6/9</a:t>
            </a:fld>
            <a:endParaRPr kumimoji="1" lang="ja-JP" altLang="en-US"/>
          </a:p>
        </p:txBody>
      </p:sp>
      <p:sp>
        <p:nvSpPr>
          <p:cNvPr id="5" name="Footer Placeholder 4"/>
          <p:cNvSpPr>
            <a:spLocks noGrp="1"/>
          </p:cNvSpPr>
          <p:nvPr>
            <p:ph type="ftr" sz="quarter" idx="11"/>
          </p:nvPr>
        </p:nvSpPr>
        <p:spPr>
          <a:xfrm>
            <a:off x="4165600" y="6247116"/>
            <a:ext cx="3860800" cy="486833"/>
          </a:xfrm>
        </p:spPr>
        <p:txBody>
          <a:bodyPr/>
          <a:lstStyle/>
          <a:p>
            <a:endParaRPr kumimoji="1" lang="ja-JP" altLang="en-US"/>
          </a:p>
        </p:txBody>
      </p:sp>
      <p:sp>
        <p:nvSpPr>
          <p:cNvPr id="6" name="Slide Number Placeholder 5"/>
          <p:cNvSpPr>
            <a:spLocks noGrp="1"/>
          </p:cNvSpPr>
          <p:nvPr>
            <p:ph type="sldNum" sz="quarter" idx="12"/>
          </p:nvPr>
        </p:nvSpPr>
        <p:spPr>
          <a:xfrm>
            <a:off x="8737600" y="6247116"/>
            <a:ext cx="2844800" cy="486833"/>
          </a:xfrm>
        </p:spPr>
        <p:txBody>
          <a:bodyPr/>
          <a:lstStyle/>
          <a:p>
            <a:fld id="{8DB9B8B5-6C89-4866-8919-F9C814178B81}" type="slidenum">
              <a:rPr kumimoji="1" lang="ja-JP" altLang="en-US" smtClean="0"/>
              <a:t>‹#›</a:t>
            </a:fld>
            <a:endParaRPr kumimoji="1" lang="ja-JP" altLang="en-US"/>
          </a:p>
        </p:txBody>
      </p:sp>
    </p:spTree>
    <p:extLst>
      <p:ext uri="{BB962C8B-B14F-4D97-AF65-F5344CB8AC3E}">
        <p14:creationId xmlns:p14="http://schemas.microsoft.com/office/powerpoint/2010/main" val="36307918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366185"/>
            <a:ext cx="10972800" cy="826220"/>
          </a:xfrm>
        </p:spPr>
        <p:txBody>
          <a:bodyPr/>
          <a:lstStyle>
            <a:lvl1pPr algn="l">
              <a:defRPr sz="3400" b="1">
                <a:latin typeface="+mj-lt"/>
              </a:defRPr>
            </a:lvl1pPr>
          </a:lstStyle>
          <a:p>
            <a:r>
              <a:rPr lang="en-US" dirty="0"/>
              <a:t>Click to edit Master title style</a:t>
            </a:r>
          </a:p>
        </p:txBody>
      </p:sp>
      <p:sp>
        <p:nvSpPr>
          <p:cNvPr id="3" name="Content Placeholder 2"/>
          <p:cNvSpPr>
            <a:spLocks noGrp="1"/>
          </p:cNvSpPr>
          <p:nvPr>
            <p:ph idx="1"/>
          </p:nvPr>
        </p:nvSpPr>
        <p:spPr>
          <a:xfrm>
            <a:off x="609600" y="1490138"/>
            <a:ext cx="10972800" cy="460586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a:xfrm>
            <a:off x="609600" y="6248400"/>
            <a:ext cx="2844800" cy="486833"/>
          </a:xfrm>
        </p:spPr>
        <p:txBody>
          <a:bodyPr/>
          <a:lstStyle/>
          <a:p>
            <a:fld id="{416BA5EB-ECB0-409F-8DA9-B63B0BA08A82}" type="datetimeFigureOut">
              <a:rPr kumimoji="1" lang="ja-JP" altLang="en-US" smtClean="0"/>
              <a:t>2026/6/9</a:t>
            </a:fld>
            <a:endParaRPr kumimoji="1" lang="ja-JP" altLang="en-US"/>
          </a:p>
        </p:txBody>
      </p:sp>
      <p:sp>
        <p:nvSpPr>
          <p:cNvPr id="5" name="Footer Placeholder 4"/>
          <p:cNvSpPr>
            <a:spLocks noGrp="1"/>
          </p:cNvSpPr>
          <p:nvPr>
            <p:ph type="ftr" sz="quarter" idx="11"/>
          </p:nvPr>
        </p:nvSpPr>
        <p:spPr>
          <a:xfrm>
            <a:off x="4165600" y="6248400"/>
            <a:ext cx="3860800" cy="486833"/>
          </a:xfrm>
        </p:spPr>
        <p:txBody>
          <a:bodyPr/>
          <a:lstStyle/>
          <a:p>
            <a:endParaRPr kumimoji="1" lang="ja-JP" altLang="en-US"/>
          </a:p>
        </p:txBody>
      </p:sp>
      <p:sp>
        <p:nvSpPr>
          <p:cNvPr id="6" name="Slide Number Placeholder 5"/>
          <p:cNvSpPr>
            <a:spLocks noGrp="1"/>
          </p:cNvSpPr>
          <p:nvPr>
            <p:ph type="sldNum" sz="quarter" idx="12"/>
          </p:nvPr>
        </p:nvSpPr>
        <p:spPr>
          <a:xfrm>
            <a:off x="8737600" y="6248400"/>
            <a:ext cx="2844800" cy="486833"/>
          </a:xfrm>
        </p:spPr>
        <p:txBody>
          <a:bodyPr/>
          <a:lstStyle/>
          <a:p>
            <a:fld id="{8DB9B8B5-6C89-4866-8919-F9C814178B81}" type="slidenum">
              <a:rPr kumimoji="1" lang="ja-JP" altLang="en-US" smtClean="0"/>
              <a:t>‹#›</a:t>
            </a:fld>
            <a:endParaRPr kumimoji="1" lang="ja-JP" altLang="en-US"/>
          </a:p>
        </p:txBody>
      </p:sp>
      <p:cxnSp>
        <p:nvCxnSpPr>
          <p:cNvPr id="9" name="直線コネクタ 8">
            <a:extLst>
              <a:ext uri="{FF2B5EF4-FFF2-40B4-BE49-F238E27FC236}">
                <a16:creationId xmlns:a16="http://schemas.microsoft.com/office/drawing/2014/main" id="{4B5927BB-F6FF-E4CE-7948-ACCE3B4B98E9}"/>
              </a:ext>
            </a:extLst>
          </p:cNvPr>
          <p:cNvCxnSpPr>
            <a:cxnSpLocks/>
          </p:cNvCxnSpPr>
          <p:nvPr/>
        </p:nvCxnSpPr>
        <p:spPr>
          <a:xfrm>
            <a:off x="609600" y="1192404"/>
            <a:ext cx="10972800" cy="0"/>
          </a:xfrm>
          <a:prstGeom prst="line">
            <a:avLst/>
          </a:prstGeom>
          <a:ln>
            <a:solidFill>
              <a:schemeClr val="accent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008069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6BA5EB-ECB0-409F-8DA9-B63B0BA08A82}" type="datetimeFigureOut">
              <a:rPr kumimoji="1" lang="ja-JP" altLang="en-US" smtClean="0"/>
              <a:t>2026/6/9</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8DB9B8B5-6C89-4866-8919-F9C814178B81}" type="slidenum">
              <a:rPr kumimoji="1" lang="ja-JP" altLang="en-US" smtClean="0"/>
              <a:t>‹#›</a:t>
            </a:fld>
            <a:endParaRPr kumimoji="1" lang="ja-JP" altLang="en-US"/>
          </a:p>
        </p:txBody>
      </p:sp>
    </p:spTree>
    <p:extLst>
      <p:ext uri="{BB962C8B-B14F-4D97-AF65-F5344CB8AC3E}">
        <p14:creationId xmlns:p14="http://schemas.microsoft.com/office/powerpoint/2010/main" val="333790617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366184"/>
            <a:ext cx="10972800" cy="1524000"/>
          </a:xfrm>
          <a:prstGeom prst="rect">
            <a:avLst/>
          </a:prstGeom>
        </p:spPr>
        <p:txBody>
          <a:bodyPr vert="horz" lIns="91440" tIns="45720" rIns="91440" bIns="45720" rtlCol="0" anchor="ctr">
            <a:normAutofit/>
          </a:bodyPr>
          <a:lstStyle/>
          <a:p>
            <a:r>
              <a:rPr lang="ja-JP" altLang="en-US"/>
              <a:t>マスター タイトルの書式設定</a:t>
            </a:r>
            <a:endParaRPr lang="en-US"/>
          </a:p>
        </p:txBody>
      </p:sp>
      <p:sp>
        <p:nvSpPr>
          <p:cNvPr id="3" name="Text Placeholder 2"/>
          <p:cNvSpPr>
            <a:spLocks noGrp="1"/>
          </p:cNvSpPr>
          <p:nvPr>
            <p:ph type="body" idx="1"/>
          </p:nvPr>
        </p:nvSpPr>
        <p:spPr>
          <a:xfrm>
            <a:off x="609600" y="2133601"/>
            <a:ext cx="10972800" cy="3993265"/>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2"/>
          </p:nvPr>
        </p:nvSpPr>
        <p:spPr>
          <a:xfrm>
            <a:off x="609600" y="6248400"/>
            <a:ext cx="2844800" cy="486833"/>
          </a:xfrm>
          <a:prstGeom prst="rect">
            <a:avLst/>
          </a:prstGeom>
        </p:spPr>
        <p:txBody>
          <a:bodyPr vert="horz" lIns="91440" tIns="45720" rIns="91440" bIns="45720" rtlCol="0" anchor="ctr"/>
          <a:lstStyle>
            <a:lvl1pPr algn="l">
              <a:defRPr sz="1600">
                <a:solidFill>
                  <a:schemeClr val="tx1">
                    <a:tint val="75000"/>
                  </a:schemeClr>
                </a:solidFill>
              </a:defRPr>
            </a:lvl1pPr>
          </a:lstStyle>
          <a:p>
            <a:fld id="{416BA5EB-ECB0-409F-8DA9-B63B0BA08A82}" type="datetimeFigureOut">
              <a:rPr kumimoji="1" lang="ja-JP" altLang="en-US" smtClean="0"/>
              <a:t>2026/6/9</a:t>
            </a:fld>
            <a:endParaRPr kumimoji="1" lang="ja-JP" altLang="en-US"/>
          </a:p>
        </p:txBody>
      </p:sp>
      <p:sp>
        <p:nvSpPr>
          <p:cNvPr id="5" name="Footer Placeholder 4"/>
          <p:cNvSpPr>
            <a:spLocks noGrp="1"/>
          </p:cNvSpPr>
          <p:nvPr>
            <p:ph type="ftr" sz="quarter" idx="3"/>
          </p:nvPr>
        </p:nvSpPr>
        <p:spPr>
          <a:xfrm>
            <a:off x="4165600" y="6248400"/>
            <a:ext cx="3860800" cy="486833"/>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8737600" y="6248400"/>
            <a:ext cx="2844800" cy="486833"/>
          </a:xfrm>
          <a:prstGeom prst="rect">
            <a:avLst/>
          </a:prstGeom>
        </p:spPr>
        <p:txBody>
          <a:bodyPr vert="horz" lIns="91440" tIns="45720" rIns="91440" bIns="45720" rtlCol="0" anchor="ctr"/>
          <a:lstStyle>
            <a:lvl1pPr algn="r">
              <a:defRPr sz="1600">
                <a:solidFill>
                  <a:schemeClr val="tx1">
                    <a:tint val="75000"/>
                  </a:schemeClr>
                </a:solidFill>
              </a:defRPr>
            </a:lvl1pPr>
          </a:lstStyle>
          <a:p>
            <a:fld id="{8DB9B8B5-6C89-4866-8919-F9C814178B81}" type="slidenum">
              <a:rPr kumimoji="1" lang="ja-JP" altLang="en-US" smtClean="0"/>
              <a:t>‹#›</a:t>
            </a:fld>
            <a:endParaRPr kumimoji="1" lang="ja-JP" altLang="en-US"/>
          </a:p>
        </p:txBody>
      </p:sp>
    </p:spTree>
    <p:extLst>
      <p:ext uri="{BB962C8B-B14F-4D97-AF65-F5344CB8AC3E}">
        <p14:creationId xmlns:p14="http://schemas.microsoft.com/office/powerpoint/2010/main" val="26990249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ctr" defTabSz="609585" rtl="0" eaLnBrk="1" latinLnBrk="0" hangingPunct="1">
        <a:spcBef>
          <a:spcPct val="0"/>
        </a:spcBef>
        <a:buNone/>
        <a:defRPr kumimoji="1" sz="5867"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kumimoji="1"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kumimoji="1"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kumimoji="1"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kumimoji="1"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kumimoji="1"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kumimoji="1"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kumimoji="1"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kumimoji="1"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85" rtl="0" eaLnBrk="1" latinLnBrk="0" hangingPunct="1">
        <a:defRPr kumimoji="1" sz="2400" kern="1200">
          <a:solidFill>
            <a:schemeClr val="tx1"/>
          </a:solidFill>
          <a:latin typeface="+mn-lt"/>
          <a:ea typeface="+mn-ea"/>
          <a:cs typeface="+mn-cs"/>
        </a:defRPr>
      </a:lvl1pPr>
      <a:lvl2pPr marL="609585" algn="l" defTabSz="609585" rtl="0" eaLnBrk="1" latinLnBrk="0" hangingPunct="1">
        <a:defRPr kumimoji="1" sz="2400" kern="1200">
          <a:solidFill>
            <a:schemeClr val="tx1"/>
          </a:solidFill>
          <a:latin typeface="+mn-lt"/>
          <a:ea typeface="+mn-ea"/>
          <a:cs typeface="+mn-cs"/>
        </a:defRPr>
      </a:lvl2pPr>
      <a:lvl3pPr marL="1219170" algn="l" defTabSz="609585" rtl="0" eaLnBrk="1" latinLnBrk="0" hangingPunct="1">
        <a:defRPr kumimoji="1" sz="2400" kern="1200">
          <a:solidFill>
            <a:schemeClr val="tx1"/>
          </a:solidFill>
          <a:latin typeface="+mn-lt"/>
          <a:ea typeface="+mn-ea"/>
          <a:cs typeface="+mn-cs"/>
        </a:defRPr>
      </a:lvl3pPr>
      <a:lvl4pPr marL="1828754" algn="l" defTabSz="609585" rtl="0" eaLnBrk="1" latinLnBrk="0" hangingPunct="1">
        <a:defRPr kumimoji="1" sz="2400" kern="1200">
          <a:solidFill>
            <a:schemeClr val="tx1"/>
          </a:solidFill>
          <a:latin typeface="+mn-lt"/>
          <a:ea typeface="+mn-ea"/>
          <a:cs typeface="+mn-cs"/>
        </a:defRPr>
      </a:lvl4pPr>
      <a:lvl5pPr marL="2438339" algn="l" defTabSz="609585" rtl="0" eaLnBrk="1" latinLnBrk="0" hangingPunct="1">
        <a:defRPr kumimoji="1" sz="2400" kern="1200">
          <a:solidFill>
            <a:schemeClr val="tx1"/>
          </a:solidFill>
          <a:latin typeface="+mn-lt"/>
          <a:ea typeface="+mn-ea"/>
          <a:cs typeface="+mn-cs"/>
        </a:defRPr>
      </a:lvl5pPr>
      <a:lvl6pPr marL="3047924" algn="l" defTabSz="609585" rtl="0" eaLnBrk="1" latinLnBrk="0" hangingPunct="1">
        <a:defRPr kumimoji="1" sz="2400" kern="1200">
          <a:solidFill>
            <a:schemeClr val="tx1"/>
          </a:solidFill>
          <a:latin typeface="+mn-lt"/>
          <a:ea typeface="+mn-ea"/>
          <a:cs typeface="+mn-cs"/>
        </a:defRPr>
      </a:lvl6pPr>
      <a:lvl7pPr marL="3657509" algn="l" defTabSz="609585" rtl="0" eaLnBrk="1" latinLnBrk="0" hangingPunct="1">
        <a:defRPr kumimoji="1" sz="2400" kern="1200">
          <a:solidFill>
            <a:schemeClr val="tx1"/>
          </a:solidFill>
          <a:latin typeface="+mn-lt"/>
          <a:ea typeface="+mn-ea"/>
          <a:cs typeface="+mn-cs"/>
        </a:defRPr>
      </a:lvl7pPr>
      <a:lvl8pPr marL="4267093" algn="l" defTabSz="609585" rtl="0" eaLnBrk="1" latinLnBrk="0" hangingPunct="1">
        <a:defRPr kumimoji="1" sz="2400" kern="1200">
          <a:solidFill>
            <a:schemeClr val="tx1"/>
          </a:solidFill>
          <a:latin typeface="+mn-lt"/>
          <a:ea typeface="+mn-ea"/>
          <a:cs typeface="+mn-cs"/>
        </a:defRPr>
      </a:lvl8pPr>
      <a:lvl9pPr marL="4876678" algn="l" defTabSz="609585" rtl="0" eaLnBrk="1" latinLnBrk="0" hangingPunct="1">
        <a:defRPr kumimoji="1"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57FCF2F-3E7F-5EFA-0E6F-87A8E2AC0DDC}"/>
              </a:ext>
            </a:extLst>
          </p:cNvPr>
          <p:cNvSpPr txBox="1"/>
          <p:nvPr/>
        </p:nvSpPr>
        <p:spPr>
          <a:xfrm>
            <a:off x="893553" y="705177"/>
            <a:ext cx="10404894" cy="5447645"/>
          </a:xfrm>
          <a:prstGeom prst="rect">
            <a:avLst/>
          </a:prstGeom>
          <a:noFill/>
        </p:spPr>
        <p:txBody>
          <a:bodyPr wrap="square" rtlCol="0">
            <a:spAutoFit/>
          </a:bodyPr>
          <a:lstStyle/>
          <a:p>
            <a:r>
              <a:rPr lang="ja-JP" altLang="en-US" sz="2550" b="1" dirty="0">
                <a:solidFill>
                  <a:schemeClr val="bg1"/>
                </a:solidFill>
                <a:latin typeface="+mj-ea"/>
                <a:ea typeface="+mj-ea"/>
              </a:rPr>
              <a:t>本実験について</a:t>
            </a:r>
            <a:endParaRPr lang="en-US" altLang="ja-JP" sz="2550" b="1" dirty="0">
              <a:solidFill>
                <a:schemeClr val="bg1"/>
              </a:solidFill>
              <a:latin typeface="+mj-ea"/>
              <a:ea typeface="+mj-ea"/>
            </a:endParaRPr>
          </a:p>
          <a:p>
            <a:r>
              <a:rPr lang="ja-JP" altLang="en-US" sz="2000" dirty="0">
                <a:solidFill>
                  <a:schemeClr val="bg1"/>
                </a:solidFill>
              </a:rPr>
              <a:t>本実験は光学シースルー</a:t>
            </a:r>
            <a:r>
              <a:rPr lang="en-US" altLang="ja-JP" sz="2000" dirty="0">
                <a:solidFill>
                  <a:schemeClr val="bg1"/>
                </a:solidFill>
              </a:rPr>
              <a:t>AR</a:t>
            </a:r>
            <a:r>
              <a:rPr lang="ja-JP" altLang="en-US" sz="2000" dirty="0">
                <a:solidFill>
                  <a:schemeClr val="bg1"/>
                </a:solidFill>
              </a:rPr>
              <a:t>の知覚的視認性予測の研究のためのものになります。</a:t>
            </a:r>
            <a:br>
              <a:rPr lang="en-US" altLang="ja-JP" sz="2000" dirty="0">
                <a:solidFill>
                  <a:schemeClr val="bg1"/>
                </a:solidFill>
              </a:rPr>
            </a:br>
            <a:r>
              <a:rPr lang="ja-JP" altLang="en-US" sz="2000" dirty="0">
                <a:solidFill>
                  <a:schemeClr val="bg1"/>
                </a:solidFill>
              </a:rPr>
              <a:t>実験者様には、</a:t>
            </a:r>
            <a:r>
              <a:rPr lang="en-US" altLang="ja-JP" sz="2000" dirty="0">
                <a:solidFill>
                  <a:schemeClr val="bg1"/>
                </a:solidFill>
              </a:rPr>
              <a:t>Reference</a:t>
            </a:r>
            <a:r>
              <a:rPr lang="ja-JP" altLang="en-US" sz="2000" dirty="0">
                <a:solidFill>
                  <a:schemeClr val="bg1"/>
                </a:solidFill>
              </a:rPr>
              <a:t>画像と</a:t>
            </a:r>
            <a:r>
              <a:rPr lang="en-US" altLang="ja-JP" sz="2000" dirty="0">
                <a:solidFill>
                  <a:schemeClr val="bg1"/>
                </a:solidFill>
              </a:rPr>
              <a:t>Test</a:t>
            </a:r>
            <a:r>
              <a:rPr lang="ja-JP" altLang="en-US" sz="2000" dirty="0">
                <a:solidFill>
                  <a:schemeClr val="bg1"/>
                </a:solidFill>
              </a:rPr>
              <a:t>画像の二枚の刺激画像を見ていただき、操作や判断を行っていただきます。実験は、キャリブレーションセクションと、二つの実験セクションに分かれており、操作や判断の詳細は各セクションの前に説明します。所要時間は各セクション</a:t>
            </a:r>
            <a:r>
              <a:rPr lang="en-US" altLang="ja-JP" sz="2000" dirty="0">
                <a:solidFill>
                  <a:schemeClr val="bg1"/>
                </a:solidFill>
              </a:rPr>
              <a:t>40</a:t>
            </a:r>
            <a:r>
              <a:rPr lang="ja-JP" altLang="en-US" sz="2000" dirty="0">
                <a:solidFill>
                  <a:schemeClr val="bg1"/>
                </a:solidFill>
              </a:rPr>
              <a:t>分、全体で</a:t>
            </a:r>
            <a:r>
              <a:rPr lang="en-US" altLang="ja-JP" sz="2000" dirty="0">
                <a:solidFill>
                  <a:schemeClr val="bg1"/>
                </a:solidFill>
              </a:rPr>
              <a:t>80</a:t>
            </a:r>
            <a:r>
              <a:rPr lang="ja-JP" altLang="en-US" sz="2000" dirty="0">
                <a:solidFill>
                  <a:schemeClr val="bg1"/>
                </a:solidFill>
              </a:rPr>
              <a:t>分程度を想定しています。</a:t>
            </a:r>
            <a:endParaRPr lang="en-US" altLang="ja-JP" sz="2000" dirty="0">
              <a:solidFill>
                <a:schemeClr val="bg1"/>
              </a:solidFill>
            </a:endParaRPr>
          </a:p>
          <a:p>
            <a:endParaRPr lang="en-US" altLang="ja-JP" sz="2000" dirty="0">
              <a:solidFill>
                <a:schemeClr val="bg1"/>
              </a:solidFill>
            </a:endParaRPr>
          </a:p>
          <a:p>
            <a:r>
              <a:rPr lang="ja-JP" altLang="en-US" sz="2000" dirty="0">
                <a:solidFill>
                  <a:schemeClr val="bg1"/>
                </a:solidFill>
              </a:rPr>
              <a:t>実験を受けることで目が疲れることがあります。気分がすぐれなくなったなど、何かございましたらいつでも実験を中断、中止しますので実験担当者にお知らせください。</a:t>
            </a:r>
            <a:endParaRPr lang="en-US" altLang="ja-JP" sz="2000" dirty="0">
              <a:solidFill>
                <a:schemeClr val="bg1"/>
              </a:solidFill>
            </a:endParaRPr>
          </a:p>
          <a:p>
            <a:endParaRPr lang="en-US" altLang="ja-JP" sz="2000" dirty="0">
              <a:solidFill>
                <a:schemeClr val="bg1"/>
              </a:solidFill>
            </a:endParaRPr>
          </a:p>
          <a:p>
            <a:r>
              <a:rPr kumimoji="1" lang="ja-JP" altLang="en-US" sz="2000" dirty="0">
                <a:solidFill>
                  <a:schemeClr val="bg1"/>
                </a:solidFill>
              </a:rPr>
              <a:t>本実験で測定されるデータは</a:t>
            </a:r>
            <a:r>
              <a:rPr lang="ja-JP" altLang="en-US" sz="2000" dirty="0">
                <a:solidFill>
                  <a:schemeClr val="bg1"/>
                </a:solidFill>
              </a:rPr>
              <a:t>光学シースルー</a:t>
            </a:r>
            <a:r>
              <a:rPr lang="en-US" altLang="ja-JP" sz="2000" dirty="0">
                <a:solidFill>
                  <a:schemeClr val="bg1"/>
                </a:solidFill>
              </a:rPr>
              <a:t>AR</a:t>
            </a:r>
            <a:r>
              <a:rPr lang="ja-JP" altLang="en-US" sz="2000" dirty="0">
                <a:solidFill>
                  <a:schemeClr val="bg1"/>
                </a:solidFill>
              </a:rPr>
              <a:t>の知覚的視認性予測の研究のために用いられます。研究成果は学術的公刊（論文発表・学術研究会等での発表）のほか、大石研究室の研究活動の広報目的で公表される場合があります。実験データを分析、公表する際はデータはすべて匿名化され、プライバシーに関する情報を開示することはございません。</a:t>
            </a:r>
            <a:endParaRPr kumimoji="1" lang="en-US" altLang="ja-JP" sz="2000" dirty="0">
              <a:solidFill>
                <a:schemeClr val="bg1"/>
              </a:solidFill>
            </a:endParaRPr>
          </a:p>
          <a:p>
            <a:endParaRPr kumimoji="1" lang="en-US" altLang="ja-JP" sz="2000" dirty="0">
              <a:solidFill>
                <a:schemeClr val="bg1"/>
              </a:solidFill>
            </a:endParaRPr>
          </a:p>
          <a:p>
            <a:endParaRPr lang="en-US" altLang="ja-JP" sz="2000" dirty="0">
              <a:solidFill>
                <a:schemeClr val="bg1"/>
              </a:solidFill>
            </a:endParaRPr>
          </a:p>
          <a:p>
            <a:r>
              <a:rPr kumimoji="1" lang="en-US" altLang="ja-JP" sz="2000" dirty="0">
                <a:solidFill>
                  <a:schemeClr val="bg1"/>
                </a:solidFill>
              </a:rPr>
              <a:t>Space</a:t>
            </a:r>
            <a:r>
              <a:rPr kumimoji="1" lang="ja-JP" altLang="en-US" sz="2000" dirty="0">
                <a:solidFill>
                  <a:schemeClr val="bg1"/>
                </a:solidFill>
              </a:rPr>
              <a:t>キーで次へ進みます</a:t>
            </a:r>
            <a:endParaRPr kumimoji="1" lang="en-US" altLang="ja-JP" sz="2000" dirty="0">
              <a:solidFill>
                <a:schemeClr val="bg1"/>
              </a:solidFill>
            </a:endParaRPr>
          </a:p>
        </p:txBody>
      </p:sp>
    </p:spTree>
    <p:extLst>
      <p:ext uri="{BB962C8B-B14F-4D97-AF65-F5344CB8AC3E}">
        <p14:creationId xmlns:p14="http://schemas.microsoft.com/office/powerpoint/2010/main" val="605820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37EF9C8E-E572-C09D-EB50-00606B38DB52}"/>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994092F1-AB28-E9F0-CB68-1CCA0BEA725E}"/>
              </a:ext>
            </a:extLst>
          </p:cNvPr>
          <p:cNvSpPr txBox="1"/>
          <p:nvPr/>
        </p:nvSpPr>
        <p:spPr>
          <a:xfrm>
            <a:off x="893553" y="705177"/>
            <a:ext cx="10404894" cy="2639184"/>
          </a:xfrm>
          <a:prstGeom prst="rect">
            <a:avLst/>
          </a:prstGeom>
          <a:noFill/>
        </p:spPr>
        <p:txBody>
          <a:bodyPr wrap="square" rtlCol="0">
            <a:spAutoFit/>
          </a:bodyPr>
          <a:lstStyle/>
          <a:p>
            <a:r>
              <a:rPr lang="ja-JP" altLang="en-US" sz="2550" b="1" dirty="0">
                <a:solidFill>
                  <a:schemeClr val="bg1"/>
                </a:solidFill>
                <a:latin typeface="+mj-ea"/>
                <a:ea typeface="+mj-ea"/>
              </a:rPr>
              <a:t>操作上の注意</a:t>
            </a:r>
            <a:endParaRPr lang="en-US" altLang="ja-JP" sz="2550" b="1" dirty="0">
              <a:solidFill>
                <a:schemeClr val="bg1"/>
              </a:solidFill>
              <a:latin typeface="+mj-ea"/>
              <a:ea typeface="+mj-ea"/>
            </a:endParaRPr>
          </a:p>
          <a:p>
            <a:r>
              <a:rPr lang="ja-JP" altLang="en-US" sz="2000" dirty="0">
                <a:solidFill>
                  <a:schemeClr val="bg1"/>
                </a:solidFill>
              </a:rPr>
              <a:t>本実験における各セクションでは、操作用</a:t>
            </a:r>
            <a:r>
              <a:rPr lang="en-US" altLang="ja-JP" sz="2000" dirty="0">
                <a:solidFill>
                  <a:schemeClr val="bg1"/>
                </a:solidFill>
              </a:rPr>
              <a:t>PC</a:t>
            </a:r>
            <a:r>
              <a:rPr lang="ja-JP" altLang="en-US" sz="2000" dirty="0">
                <a:solidFill>
                  <a:schemeClr val="bg1"/>
                </a:solidFill>
              </a:rPr>
              <a:t>の矢印キーを用いて刺激の操作を行い、判断を下します。</a:t>
            </a:r>
            <a:endParaRPr lang="en-US" altLang="ja-JP" sz="2000" dirty="0">
              <a:solidFill>
                <a:schemeClr val="bg1"/>
              </a:solidFill>
            </a:endParaRPr>
          </a:p>
          <a:p>
            <a:endParaRPr kumimoji="1" lang="en-US" altLang="ja-JP" sz="2000" dirty="0">
              <a:solidFill>
                <a:schemeClr val="bg1"/>
              </a:solidFill>
            </a:endParaRPr>
          </a:p>
          <a:p>
            <a:r>
              <a:rPr kumimoji="1" lang="ja-JP" altLang="en-US" sz="2000" dirty="0">
                <a:solidFill>
                  <a:schemeClr val="bg1"/>
                </a:solidFill>
              </a:rPr>
              <a:t>操作のうち、</a:t>
            </a:r>
            <a:r>
              <a:rPr kumimoji="1" lang="en-US" altLang="ja-JP" sz="2000" dirty="0">
                <a:solidFill>
                  <a:schemeClr val="bg1"/>
                </a:solidFill>
              </a:rPr>
              <a:t>Reference</a:t>
            </a:r>
            <a:r>
              <a:rPr kumimoji="1" lang="ja-JP" altLang="en-US" sz="2000" dirty="0">
                <a:solidFill>
                  <a:schemeClr val="bg1"/>
                </a:solidFill>
              </a:rPr>
              <a:t>刺激と</a:t>
            </a:r>
            <a:r>
              <a:rPr kumimoji="1" lang="en-US" altLang="ja-JP" sz="2000" dirty="0">
                <a:solidFill>
                  <a:schemeClr val="bg1"/>
                </a:solidFill>
              </a:rPr>
              <a:t>Test</a:t>
            </a:r>
            <a:r>
              <a:rPr kumimoji="1" lang="ja-JP" altLang="en-US" sz="2000" dirty="0">
                <a:solidFill>
                  <a:schemeClr val="bg1"/>
                </a:solidFill>
              </a:rPr>
              <a:t>刺激の見え方を一致させるタスクの際は、一致点の前後を行き来するように、慎重に行ってください。</a:t>
            </a:r>
            <a:endParaRPr kumimoji="1" lang="en-US" altLang="ja-JP" sz="2000" dirty="0">
              <a:solidFill>
                <a:schemeClr val="bg1"/>
              </a:solidFill>
            </a:endParaRPr>
          </a:p>
          <a:p>
            <a:endParaRPr lang="en-US" altLang="ja-JP" sz="2000" dirty="0">
              <a:solidFill>
                <a:schemeClr val="bg1"/>
              </a:solidFill>
            </a:endParaRPr>
          </a:p>
          <a:p>
            <a:r>
              <a:rPr kumimoji="1" lang="en-US" altLang="ja-JP" sz="2000" dirty="0">
                <a:solidFill>
                  <a:schemeClr val="bg1"/>
                </a:solidFill>
              </a:rPr>
              <a:t>Space</a:t>
            </a:r>
            <a:r>
              <a:rPr kumimoji="1" lang="ja-JP" altLang="en-US" sz="2000" dirty="0">
                <a:solidFill>
                  <a:schemeClr val="bg1"/>
                </a:solidFill>
              </a:rPr>
              <a:t>キーで次へ進みます</a:t>
            </a:r>
            <a:endParaRPr kumimoji="1" lang="en-US" altLang="ja-JP" sz="2000" dirty="0">
              <a:solidFill>
                <a:schemeClr val="bg1"/>
              </a:solidFill>
            </a:endParaRPr>
          </a:p>
        </p:txBody>
      </p:sp>
    </p:spTree>
    <p:extLst>
      <p:ext uri="{BB962C8B-B14F-4D97-AF65-F5344CB8AC3E}">
        <p14:creationId xmlns:p14="http://schemas.microsoft.com/office/powerpoint/2010/main" val="25845562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FC5C5AF3-9201-45E8-C4AF-918B1AE3E3ED}"/>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54492BFC-0C69-E102-7E94-85E3698C354A}"/>
              </a:ext>
            </a:extLst>
          </p:cNvPr>
          <p:cNvSpPr txBox="1"/>
          <p:nvPr/>
        </p:nvSpPr>
        <p:spPr>
          <a:xfrm>
            <a:off x="893553" y="705177"/>
            <a:ext cx="10404894" cy="2331407"/>
          </a:xfrm>
          <a:prstGeom prst="rect">
            <a:avLst/>
          </a:prstGeom>
          <a:noFill/>
        </p:spPr>
        <p:txBody>
          <a:bodyPr wrap="square" rtlCol="0">
            <a:spAutoFit/>
          </a:bodyPr>
          <a:lstStyle/>
          <a:p>
            <a:r>
              <a:rPr lang="ja-JP" altLang="en-US" sz="2550" b="1" dirty="0">
                <a:solidFill>
                  <a:schemeClr val="bg1"/>
                </a:solidFill>
                <a:latin typeface="+mj-ea"/>
                <a:ea typeface="+mj-ea"/>
              </a:rPr>
              <a:t>トレーニングセッション</a:t>
            </a:r>
            <a:endParaRPr lang="en-US" altLang="ja-JP" sz="2550" b="1" dirty="0">
              <a:solidFill>
                <a:schemeClr val="bg1"/>
              </a:solidFill>
              <a:latin typeface="+mj-ea"/>
              <a:ea typeface="+mj-ea"/>
            </a:endParaRPr>
          </a:p>
          <a:p>
            <a:r>
              <a:rPr kumimoji="1" lang="ja-JP" altLang="en-US" sz="2000" dirty="0">
                <a:solidFill>
                  <a:schemeClr val="bg1"/>
                </a:solidFill>
              </a:rPr>
              <a:t>実験本番に移る前に、各セクションで行うタスクに慣れるためのトレーニングを行います。</a:t>
            </a:r>
            <a:endParaRPr kumimoji="1" lang="en-US" altLang="ja-JP" sz="2000" dirty="0">
              <a:solidFill>
                <a:schemeClr val="bg1"/>
              </a:solidFill>
            </a:endParaRPr>
          </a:p>
          <a:p>
            <a:r>
              <a:rPr kumimoji="1" lang="ja-JP" altLang="en-US" sz="2000" dirty="0">
                <a:solidFill>
                  <a:schemeClr val="bg1"/>
                </a:solidFill>
              </a:rPr>
              <a:t>セクションの順番は本番と同じです。</a:t>
            </a:r>
            <a:endParaRPr kumimoji="1" lang="en-US" altLang="ja-JP" sz="2000" dirty="0">
              <a:solidFill>
                <a:schemeClr val="bg1"/>
              </a:solidFill>
            </a:endParaRPr>
          </a:p>
          <a:p>
            <a:r>
              <a:rPr kumimoji="1" lang="ja-JP" altLang="en-US" sz="2000" dirty="0">
                <a:solidFill>
                  <a:schemeClr val="bg1"/>
                </a:solidFill>
              </a:rPr>
              <a:t>このトレーニングはタスクに慣れるまで、最大</a:t>
            </a:r>
            <a:r>
              <a:rPr kumimoji="1" lang="en-US" altLang="ja-JP" sz="2000" dirty="0">
                <a:solidFill>
                  <a:schemeClr val="bg1"/>
                </a:solidFill>
              </a:rPr>
              <a:t>3</a:t>
            </a:r>
            <a:r>
              <a:rPr kumimoji="1" lang="ja-JP" altLang="en-US" sz="2000" dirty="0">
                <a:solidFill>
                  <a:schemeClr val="bg1"/>
                </a:solidFill>
              </a:rPr>
              <a:t>回まで行うことができます。</a:t>
            </a:r>
            <a:endParaRPr kumimoji="1" lang="en-US" altLang="ja-JP" sz="2000" dirty="0">
              <a:solidFill>
                <a:schemeClr val="bg1"/>
              </a:solidFill>
            </a:endParaRPr>
          </a:p>
          <a:p>
            <a:endParaRPr kumimoji="1" lang="en-US" altLang="ja-JP" sz="2000" dirty="0">
              <a:solidFill>
                <a:schemeClr val="bg1"/>
              </a:solidFill>
            </a:endParaRPr>
          </a:p>
          <a:p>
            <a:endParaRPr lang="en-US" altLang="ja-JP" sz="2000" dirty="0">
              <a:solidFill>
                <a:schemeClr val="bg1"/>
              </a:solidFill>
            </a:endParaRPr>
          </a:p>
          <a:p>
            <a:r>
              <a:rPr kumimoji="1" lang="en-US" altLang="ja-JP" sz="2000" dirty="0">
                <a:solidFill>
                  <a:schemeClr val="bg1"/>
                </a:solidFill>
              </a:rPr>
              <a:t>Space</a:t>
            </a:r>
            <a:r>
              <a:rPr kumimoji="1" lang="ja-JP" altLang="en-US" sz="2000" dirty="0">
                <a:solidFill>
                  <a:schemeClr val="bg1"/>
                </a:solidFill>
              </a:rPr>
              <a:t>キーで次へ進みます</a:t>
            </a:r>
            <a:endParaRPr kumimoji="1" lang="en-US" altLang="ja-JP" sz="2000" dirty="0">
              <a:solidFill>
                <a:schemeClr val="bg1"/>
              </a:solidFill>
            </a:endParaRPr>
          </a:p>
        </p:txBody>
      </p:sp>
    </p:spTree>
    <p:extLst>
      <p:ext uri="{BB962C8B-B14F-4D97-AF65-F5344CB8AC3E}">
        <p14:creationId xmlns:p14="http://schemas.microsoft.com/office/powerpoint/2010/main" val="1682353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540CEEFB-F9BA-027C-017D-7BBC65D4EE59}"/>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170985E8-0944-7C8C-DF09-E57DEC800DD5}"/>
              </a:ext>
            </a:extLst>
          </p:cNvPr>
          <p:cNvSpPr txBox="1"/>
          <p:nvPr/>
        </p:nvSpPr>
        <p:spPr>
          <a:xfrm>
            <a:off x="4655125" y="705177"/>
            <a:ext cx="6643321" cy="3870290"/>
          </a:xfrm>
          <a:prstGeom prst="rect">
            <a:avLst/>
          </a:prstGeom>
          <a:noFill/>
        </p:spPr>
        <p:txBody>
          <a:bodyPr wrap="square" rtlCol="0">
            <a:spAutoFit/>
          </a:bodyPr>
          <a:lstStyle/>
          <a:p>
            <a:r>
              <a:rPr lang="ja-JP" altLang="en-US" sz="2550" b="1" dirty="0">
                <a:solidFill>
                  <a:schemeClr val="bg1"/>
                </a:solidFill>
                <a:latin typeface="+mj-ea"/>
                <a:ea typeface="+mj-ea"/>
              </a:rPr>
              <a:t>位置キャリブレーション</a:t>
            </a:r>
            <a:endParaRPr lang="en-US" altLang="ja-JP" sz="2550" b="1" dirty="0">
              <a:solidFill>
                <a:schemeClr val="bg1"/>
              </a:solidFill>
              <a:latin typeface="+mj-ea"/>
              <a:ea typeface="+mj-ea"/>
            </a:endParaRPr>
          </a:p>
          <a:p>
            <a:endParaRPr lang="en-US" altLang="ja-JP" sz="2000" dirty="0">
              <a:solidFill>
                <a:schemeClr val="bg1"/>
              </a:solidFill>
            </a:endParaRPr>
          </a:p>
          <a:p>
            <a:r>
              <a:rPr lang="ja-JP" altLang="en-US" sz="2000" dirty="0">
                <a:solidFill>
                  <a:schemeClr val="bg1"/>
                </a:solidFill>
              </a:rPr>
              <a:t>操作用</a:t>
            </a:r>
            <a:r>
              <a:rPr lang="en-US" altLang="ja-JP" sz="2000" dirty="0">
                <a:solidFill>
                  <a:schemeClr val="bg1"/>
                </a:solidFill>
              </a:rPr>
              <a:t>PC</a:t>
            </a:r>
            <a:r>
              <a:rPr lang="ja-JP" altLang="en-US" sz="2000" dirty="0">
                <a:solidFill>
                  <a:schemeClr val="bg1"/>
                </a:solidFill>
              </a:rPr>
              <a:t>の矢印キーを用いて、奥のディスプレイに表示されている正方形の枠（赤）の位置を動かし、手前のディスプレイに表示されている正方形の枠（白）に合わせます。</a:t>
            </a:r>
            <a:endParaRPr lang="en-US" altLang="ja-JP" sz="2000" dirty="0">
              <a:solidFill>
                <a:schemeClr val="bg1"/>
              </a:solidFill>
            </a:endParaRPr>
          </a:p>
          <a:p>
            <a:endParaRPr kumimoji="1" lang="en-US" altLang="ja-JP" sz="2000" dirty="0">
              <a:solidFill>
                <a:schemeClr val="bg1"/>
              </a:solidFill>
            </a:endParaRPr>
          </a:p>
          <a:p>
            <a:r>
              <a:rPr kumimoji="1" lang="ja-JP" altLang="en-US" sz="2000" dirty="0">
                <a:solidFill>
                  <a:schemeClr val="bg1"/>
                </a:solidFill>
              </a:rPr>
              <a:t>この操作は、右目と左目片方ずつ行うので、使用していない方の目は、手元の目隠しで覆ってください。</a:t>
            </a:r>
            <a:endParaRPr kumimoji="1" lang="en-US" altLang="ja-JP" sz="2000" dirty="0">
              <a:solidFill>
                <a:schemeClr val="bg1"/>
              </a:solidFill>
            </a:endParaRPr>
          </a:p>
          <a:p>
            <a:endParaRPr kumimoji="1" lang="en-US" altLang="ja-JP" sz="2000" dirty="0">
              <a:solidFill>
                <a:schemeClr val="bg1"/>
              </a:solidFill>
            </a:endParaRPr>
          </a:p>
          <a:p>
            <a:endParaRPr lang="en-US" altLang="ja-JP" sz="2000" dirty="0">
              <a:solidFill>
                <a:schemeClr val="bg1"/>
              </a:solidFill>
            </a:endParaRPr>
          </a:p>
          <a:p>
            <a:r>
              <a:rPr kumimoji="1" lang="en-US" altLang="ja-JP" sz="2000" dirty="0">
                <a:solidFill>
                  <a:schemeClr val="bg1"/>
                </a:solidFill>
              </a:rPr>
              <a:t>Enter</a:t>
            </a:r>
            <a:r>
              <a:rPr kumimoji="1" lang="ja-JP" altLang="en-US" sz="2000" dirty="0">
                <a:solidFill>
                  <a:schemeClr val="bg1"/>
                </a:solidFill>
              </a:rPr>
              <a:t>キーで確定し、次に進みます。</a:t>
            </a:r>
            <a:endParaRPr kumimoji="1" lang="en-US" altLang="ja-JP" sz="2000" dirty="0">
              <a:solidFill>
                <a:schemeClr val="bg1"/>
              </a:solidFill>
            </a:endParaRPr>
          </a:p>
        </p:txBody>
      </p:sp>
      <p:grpSp>
        <p:nvGrpSpPr>
          <p:cNvPr id="9" name="グループ化 8">
            <a:extLst>
              <a:ext uri="{FF2B5EF4-FFF2-40B4-BE49-F238E27FC236}">
                <a16:creationId xmlns:a16="http://schemas.microsoft.com/office/drawing/2014/main" id="{3B84175B-CA6D-8A2F-7872-20E7FB818A34}"/>
              </a:ext>
            </a:extLst>
          </p:cNvPr>
          <p:cNvGrpSpPr/>
          <p:nvPr/>
        </p:nvGrpSpPr>
        <p:grpSpPr>
          <a:xfrm>
            <a:off x="601853" y="2029180"/>
            <a:ext cx="3789056" cy="2799639"/>
            <a:chOff x="674590" y="1865879"/>
            <a:chExt cx="3789056" cy="2799639"/>
          </a:xfrm>
        </p:grpSpPr>
        <p:pic>
          <p:nvPicPr>
            <p:cNvPr id="8" name="図 7">
              <a:extLst>
                <a:ext uri="{FF2B5EF4-FFF2-40B4-BE49-F238E27FC236}">
                  <a16:creationId xmlns:a16="http://schemas.microsoft.com/office/drawing/2014/main" id="{8F5E52EA-BC18-4BD3-FD47-2D28A0D72435}"/>
                </a:ext>
              </a:extLst>
            </p:cNvPr>
            <p:cNvPicPr>
              <a:picLocks noChangeAspect="1"/>
            </p:cNvPicPr>
            <p:nvPr/>
          </p:nvPicPr>
          <p:blipFill>
            <a:blip r:embed="rId2"/>
            <a:stretch>
              <a:fillRect/>
            </a:stretch>
          </p:blipFill>
          <p:spPr>
            <a:xfrm>
              <a:off x="674590" y="2456054"/>
              <a:ext cx="3789056" cy="1945892"/>
            </a:xfrm>
            <a:prstGeom prst="rect">
              <a:avLst/>
            </a:prstGeom>
          </p:spPr>
        </p:pic>
        <p:pic>
          <p:nvPicPr>
            <p:cNvPr id="4" name="図 3">
              <a:extLst>
                <a:ext uri="{FF2B5EF4-FFF2-40B4-BE49-F238E27FC236}">
                  <a16:creationId xmlns:a16="http://schemas.microsoft.com/office/drawing/2014/main" id="{6E2910DB-18C9-630A-D99B-0171144EDB6A}"/>
                </a:ext>
              </a:extLst>
            </p:cNvPr>
            <p:cNvPicPr>
              <a:picLocks noChangeAspect="1"/>
            </p:cNvPicPr>
            <p:nvPr/>
          </p:nvPicPr>
          <p:blipFill rotWithShape="1">
            <a:blip r:embed="rId3">
              <a:alphaModFix amt="42000"/>
              <a:extLst>
                <a:ext uri="{28A0092B-C50C-407E-A947-70E740481C1C}">
                  <a14:useLocalDpi xmlns:a14="http://schemas.microsoft.com/office/drawing/2010/main" val="0"/>
                </a:ext>
              </a:extLst>
            </a:blip>
            <a:srcRect l="24283" r="24283"/>
            <a:stretch>
              <a:fillRect/>
            </a:stretch>
          </p:blipFill>
          <p:spPr>
            <a:xfrm>
              <a:off x="1013435" y="1865879"/>
              <a:ext cx="2799639" cy="2799639"/>
            </a:xfrm>
            <a:prstGeom prst="rect">
              <a:avLst/>
            </a:prstGeom>
          </p:spPr>
        </p:pic>
      </p:grpSp>
    </p:spTree>
    <p:extLst>
      <p:ext uri="{BB962C8B-B14F-4D97-AF65-F5344CB8AC3E}">
        <p14:creationId xmlns:p14="http://schemas.microsoft.com/office/powerpoint/2010/main" val="11266896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62F3EDE7-66D5-D555-8065-9E03FDA13F78}"/>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B1832779-5A37-5158-ED19-64FC0C29616F}"/>
              </a:ext>
            </a:extLst>
          </p:cNvPr>
          <p:cNvSpPr txBox="1"/>
          <p:nvPr/>
        </p:nvSpPr>
        <p:spPr>
          <a:xfrm>
            <a:off x="4655127" y="705177"/>
            <a:ext cx="6643320" cy="4793620"/>
          </a:xfrm>
          <a:prstGeom prst="rect">
            <a:avLst/>
          </a:prstGeom>
          <a:noFill/>
        </p:spPr>
        <p:txBody>
          <a:bodyPr wrap="square" rtlCol="0">
            <a:spAutoFit/>
          </a:bodyPr>
          <a:lstStyle/>
          <a:p>
            <a:r>
              <a:rPr lang="ja-JP" altLang="en-US" sz="2550" b="1" dirty="0">
                <a:solidFill>
                  <a:schemeClr val="bg1"/>
                </a:solidFill>
                <a:latin typeface="+mj-ea"/>
                <a:ea typeface="+mj-ea"/>
              </a:rPr>
              <a:t>ぼけキャリブレーション</a:t>
            </a:r>
            <a:endParaRPr lang="en-US" altLang="ja-JP" sz="2000" dirty="0">
              <a:solidFill>
                <a:schemeClr val="bg1"/>
              </a:solidFill>
            </a:endParaRPr>
          </a:p>
          <a:p>
            <a:r>
              <a:rPr kumimoji="1" lang="ja-JP" altLang="en-US" sz="2000" dirty="0">
                <a:solidFill>
                  <a:schemeClr val="bg1"/>
                </a:solidFill>
              </a:rPr>
              <a:t>中央の表示領域には、上下に同じ刺激画像とマーカーが表示されています。このうち、上半分の刺激画像のみ、奥のディスプレイに表示されています。</a:t>
            </a:r>
            <a:endParaRPr kumimoji="1" lang="en-US" altLang="ja-JP" sz="2000" dirty="0">
              <a:solidFill>
                <a:schemeClr val="bg1"/>
              </a:solidFill>
            </a:endParaRPr>
          </a:p>
          <a:p>
            <a:endParaRPr kumimoji="1" lang="en-US" altLang="ja-JP" sz="2000" dirty="0">
              <a:solidFill>
                <a:schemeClr val="bg1"/>
              </a:solidFill>
            </a:endParaRPr>
          </a:p>
          <a:p>
            <a:r>
              <a:rPr kumimoji="1" lang="ja-JP" altLang="en-US" sz="2000" dirty="0">
                <a:solidFill>
                  <a:schemeClr val="bg1"/>
                </a:solidFill>
              </a:rPr>
              <a:t>まず、上半分の領域において、手前のマーカーに焦点を合わせつつ、奥の刺激画像のぼけを確認してください。</a:t>
            </a:r>
            <a:endParaRPr kumimoji="1" lang="en-US" altLang="ja-JP" sz="2000" dirty="0">
              <a:solidFill>
                <a:schemeClr val="bg1"/>
              </a:solidFill>
            </a:endParaRPr>
          </a:p>
          <a:p>
            <a:r>
              <a:rPr kumimoji="1" lang="ja-JP" altLang="en-US" sz="2000" dirty="0">
                <a:solidFill>
                  <a:schemeClr val="bg1"/>
                </a:solidFill>
              </a:rPr>
              <a:t>その後、操作用</a:t>
            </a:r>
            <a:r>
              <a:rPr kumimoji="1" lang="en-US" altLang="ja-JP" sz="2000" dirty="0">
                <a:solidFill>
                  <a:schemeClr val="bg1"/>
                </a:solidFill>
              </a:rPr>
              <a:t>PC</a:t>
            </a:r>
            <a:r>
              <a:rPr kumimoji="1" lang="ja-JP" altLang="en-US" sz="2000" dirty="0">
                <a:solidFill>
                  <a:schemeClr val="bg1"/>
                </a:solidFill>
              </a:rPr>
              <a:t>の左右矢印キーを用いて、下半分の刺激画像のぼけ方を、上半分におけるぼけ方と一致させてください。右に行くほどぼけが強くなります。</a:t>
            </a:r>
            <a:endParaRPr kumimoji="1" lang="en-US" altLang="ja-JP" sz="2000" dirty="0">
              <a:solidFill>
                <a:schemeClr val="bg1"/>
              </a:solidFill>
            </a:endParaRPr>
          </a:p>
          <a:p>
            <a:r>
              <a:rPr kumimoji="1" lang="ja-JP" altLang="en-US" sz="2000" dirty="0">
                <a:solidFill>
                  <a:schemeClr val="bg1"/>
                </a:solidFill>
              </a:rPr>
              <a:t>これを、完全に一致すると感じるまで繰り返してください。</a:t>
            </a:r>
            <a:endParaRPr kumimoji="1" lang="en-US" altLang="ja-JP" sz="2000" dirty="0">
              <a:solidFill>
                <a:schemeClr val="bg1"/>
              </a:solidFill>
            </a:endParaRPr>
          </a:p>
          <a:p>
            <a:endParaRPr kumimoji="1" lang="en-US" altLang="ja-JP" sz="2000" dirty="0">
              <a:solidFill>
                <a:schemeClr val="bg1"/>
              </a:solidFill>
            </a:endParaRPr>
          </a:p>
          <a:p>
            <a:endParaRPr lang="en-US" altLang="ja-JP" sz="2000" dirty="0">
              <a:solidFill>
                <a:schemeClr val="bg1"/>
              </a:solidFill>
            </a:endParaRPr>
          </a:p>
          <a:p>
            <a:r>
              <a:rPr kumimoji="1" lang="ja-JP" altLang="en-US" sz="2000" dirty="0">
                <a:solidFill>
                  <a:schemeClr val="bg1"/>
                </a:solidFill>
              </a:rPr>
              <a:t>下矢印キーで確定し、次の刺激へ進みます</a:t>
            </a:r>
            <a:endParaRPr kumimoji="1" lang="en-US" altLang="ja-JP" sz="2000" dirty="0">
              <a:solidFill>
                <a:schemeClr val="bg1"/>
              </a:solidFill>
            </a:endParaRPr>
          </a:p>
        </p:txBody>
      </p:sp>
    </p:spTree>
    <p:extLst>
      <p:ext uri="{BB962C8B-B14F-4D97-AF65-F5344CB8AC3E}">
        <p14:creationId xmlns:p14="http://schemas.microsoft.com/office/powerpoint/2010/main" val="2916217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D5CE7CC7-4D9A-7E3A-BD3D-6CE1E7E6E4EC}"/>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410A254-64E2-C1E6-29F8-519578B79BB4}"/>
              </a:ext>
            </a:extLst>
          </p:cNvPr>
          <p:cNvSpPr txBox="1"/>
          <p:nvPr/>
        </p:nvSpPr>
        <p:spPr>
          <a:xfrm>
            <a:off x="4655127" y="705177"/>
            <a:ext cx="6643320" cy="4793620"/>
          </a:xfrm>
          <a:prstGeom prst="rect">
            <a:avLst/>
          </a:prstGeom>
          <a:noFill/>
        </p:spPr>
        <p:txBody>
          <a:bodyPr wrap="square" rtlCol="0">
            <a:spAutoFit/>
          </a:bodyPr>
          <a:lstStyle/>
          <a:p>
            <a:r>
              <a:rPr lang="ja-JP" altLang="en-US" sz="2550" b="1" dirty="0">
                <a:solidFill>
                  <a:schemeClr val="bg1"/>
                </a:solidFill>
                <a:latin typeface="+mj-ea"/>
                <a:ea typeface="+mj-ea"/>
              </a:rPr>
              <a:t>調整実験</a:t>
            </a:r>
            <a:endParaRPr lang="en-US" altLang="ja-JP" sz="2000" dirty="0">
              <a:solidFill>
                <a:schemeClr val="bg1"/>
              </a:solidFill>
            </a:endParaRPr>
          </a:p>
          <a:p>
            <a:r>
              <a:rPr kumimoji="1" lang="ja-JP" altLang="en-US" sz="2000" dirty="0">
                <a:solidFill>
                  <a:schemeClr val="bg1"/>
                </a:solidFill>
              </a:rPr>
              <a:t>中央の表示領域には、上下に刺激画像が表示されています。下半分の画像は、上半分の画像の背景に、ノイズを加えたものです。</a:t>
            </a:r>
            <a:endParaRPr kumimoji="1" lang="en-US" altLang="ja-JP" sz="2000" dirty="0">
              <a:solidFill>
                <a:schemeClr val="bg1"/>
              </a:solidFill>
            </a:endParaRPr>
          </a:p>
          <a:p>
            <a:endParaRPr kumimoji="1" lang="en-US" altLang="ja-JP" sz="2000" dirty="0">
              <a:solidFill>
                <a:schemeClr val="bg1"/>
              </a:solidFill>
            </a:endParaRPr>
          </a:p>
          <a:p>
            <a:r>
              <a:rPr kumimoji="1" lang="ja-JP" altLang="en-US" sz="2000" dirty="0">
                <a:solidFill>
                  <a:schemeClr val="bg1"/>
                </a:solidFill>
              </a:rPr>
              <a:t>まず、上半分の領域において、刺激画像の見え方を確認してください。</a:t>
            </a:r>
            <a:endParaRPr kumimoji="1" lang="en-US" altLang="ja-JP" sz="2000" dirty="0">
              <a:solidFill>
                <a:schemeClr val="bg1"/>
              </a:solidFill>
            </a:endParaRPr>
          </a:p>
          <a:p>
            <a:r>
              <a:rPr kumimoji="1" lang="ja-JP" altLang="en-US" sz="2000" dirty="0">
                <a:solidFill>
                  <a:schemeClr val="bg1"/>
                </a:solidFill>
              </a:rPr>
              <a:t>その後、操作用</a:t>
            </a:r>
            <a:r>
              <a:rPr kumimoji="1" lang="en-US" altLang="ja-JP" sz="2000" dirty="0">
                <a:solidFill>
                  <a:schemeClr val="bg1"/>
                </a:solidFill>
              </a:rPr>
              <a:t>PC</a:t>
            </a:r>
            <a:r>
              <a:rPr kumimoji="1" lang="ja-JP" altLang="en-US" sz="2000" dirty="0">
                <a:solidFill>
                  <a:schemeClr val="bg1"/>
                </a:solidFill>
              </a:rPr>
              <a:t>の左右矢印キーを用いて、下半分の刺激画像の見え方を、上半分の見え方と一致させてください。右に行くほど見え方が濃くなります。</a:t>
            </a:r>
            <a:endParaRPr kumimoji="1" lang="en-US" altLang="ja-JP" sz="2000" dirty="0">
              <a:solidFill>
                <a:schemeClr val="bg1"/>
              </a:solidFill>
            </a:endParaRPr>
          </a:p>
          <a:p>
            <a:r>
              <a:rPr kumimoji="1" lang="ja-JP" altLang="en-US" sz="2000" dirty="0">
                <a:solidFill>
                  <a:schemeClr val="bg1"/>
                </a:solidFill>
              </a:rPr>
              <a:t>これを、完全に一致すると感じるまで繰り返してください。</a:t>
            </a:r>
            <a:endParaRPr kumimoji="1" lang="en-US" altLang="ja-JP" sz="2000" dirty="0">
              <a:solidFill>
                <a:schemeClr val="bg1"/>
              </a:solidFill>
            </a:endParaRPr>
          </a:p>
          <a:p>
            <a:endParaRPr kumimoji="1" lang="en-US" altLang="ja-JP" sz="2000" dirty="0">
              <a:solidFill>
                <a:schemeClr val="bg1"/>
              </a:solidFill>
            </a:endParaRPr>
          </a:p>
          <a:p>
            <a:endParaRPr lang="en-US" altLang="ja-JP" sz="2000" dirty="0">
              <a:solidFill>
                <a:schemeClr val="bg1"/>
              </a:solidFill>
            </a:endParaRPr>
          </a:p>
          <a:p>
            <a:r>
              <a:rPr kumimoji="1" lang="en-US" altLang="ja-JP" sz="2000" dirty="0">
                <a:solidFill>
                  <a:schemeClr val="bg1"/>
                </a:solidFill>
              </a:rPr>
              <a:t>Enter</a:t>
            </a:r>
            <a:r>
              <a:rPr kumimoji="1" lang="ja-JP" altLang="en-US" sz="2000" dirty="0">
                <a:solidFill>
                  <a:schemeClr val="bg1"/>
                </a:solidFill>
              </a:rPr>
              <a:t>キーで確定し、次の刺激へ進みます</a:t>
            </a:r>
            <a:endParaRPr kumimoji="1" lang="en-US" altLang="ja-JP" sz="2000" dirty="0">
              <a:solidFill>
                <a:schemeClr val="bg1"/>
              </a:solidFill>
            </a:endParaRPr>
          </a:p>
        </p:txBody>
      </p:sp>
      <p:pic>
        <p:nvPicPr>
          <p:cNvPr id="4" name="図 3">
            <a:extLst>
              <a:ext uri="{FF2B5EF4-FFF2-40B4-BE49-F238E27FC236}">
                <a16:creationId xmlns:a16="http://schemas.microsoft.com/office/drawing/2014/main" id="{9B7854CB-ADCD-EA94-0FB2-D78104FAFCB4}"/>
              </a:ext>
            </a:extLst>
          </p:cNvPr>
          <p:cNvPicPr>
            <a:picLocks noChangeAspect="1"/>
          </p:cNvPicPr>
          <p:nvPr/>
        </p:nvPicPr>
        <p:blipFill rotWithShape="1">
          <a:blip r:embed="rId2">
            <a:extLst>
              <a:ext uri="{28A0092B-C50C-407E-A947-70E740481C1C}">
                <a14:useLocalDpi xmlns:a14="http://schemas.microsoft.com/office/drawing/2010/main" val="0"/>
              </a:ext>
            </a:extLst>
          </a:blip>
          <a:srcRect l="24295" r="24295"/>
          <a:stretch>
            <a:fillRect/>
          </a:stretch>
        </p:blipFill>
        <p:spPr>
          <a:xfrm flipH="1">
            <a:off x="462121" y="1161965"/>
            <a:ext cx="3829324" cy="3880044"/>
          </a:xfrm>
          <a:prstGeom prst="rect">
            <a:avLst/>
          </a:prstGeom>
        </p:spPr>
      </p:pic>
    </p:spTree>
    <p:extLst>
      <p:ext uri="{BB962C8B-B14F-4D97-AF65-F5344CB8AC3E}">
        <p14:creationId xmlns:p14="http://schemas.microsoft.com/office/powerpoint/2010/main" val="2915957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A9085B07-D803-D718-2A2E-F75F8B0F4B31}"/>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80943DE5-F0FE-B438-82CF-62109A48D919}"/>
              </a:ext>
            </a:extLst>
          </p:cNvPr>
          <p:cNvSpPr txBox="1"/>
          <p:nvPr/>
        </p:nvSpPr>
        <p:spPr>
          <a:xfrm>
            <a:off x="4655127" y="705177"/>
            <a:ext cx="6643320" cy="4485843"/>
          </a:xfrm>
          <a:prstGeom prst="rect">
            <a:avLst/>
          </a:prstGeom>
          <a:noFill/>
        </p:spPr>
        <p:txBody>
          <a:bodyPr wrap="square" rtlCol="0">
            <a:spAutoFit/>
          </a:bodyPr>
          <a:lstStyle/>
          <a:p>
            <a:r>
              <a:rPr lang="ja-JP" altLang="en-US" sz="2550" b="1" dirty="0">
                <a:solidFill>
                  <a:schemeClr val="bg1"/>
                </a:solidFill>
                <a:latin typeface="+mj-ea"/>
                <a:ea typeface="+mj-ea"/>
              </a:rPr>
              <a:t>推定実験</a:t>
            </a:r>
            <a:endParaRPr lang="en-US" altLang="ja-JP" sz="2000" dirty="0">
              <a:solidFill>
                <a:schemeClr val="bg1"/>
              </a:solidFill>
            </a:endParaRPr>
          </a:p>
          <a:p>
            <a:r>
              <a:rPr kumimoji="1" lang="ja-JP" altLang="en-US" sz="2000" dirty="0">
                <a:solidFill>
                  <a:schemeClr val="bg1"/>
                </a:solidFill>
              </a:rPr>
              <a:t>中央の表示領域に、刺激画像が順番に表示されます。</a:t>
            </a:r>
            <a:endParaRPr kumimoji="1" lang="en-US" altLang="ja-JP" sz="2000" dirty="0">
              <a:solidFill>
                <a:schemeClr val="bg1"/>
              </a:solidFill>
            </a:endParaRPr>
          </a:p>
          <a:p>
            <a:endParaRPr kumimoji="1" lang="en-US" altLang="ja-JP" sz="2000" dirty="0">
              <a:solidFill>
                <a:schemeClr val="bg1"/>
              </a:solidFill>
            </a:endParaRPr>
          </a:p>
          <a:p>
            <a:r>
              <a:rPr kumimoji="1" lang="ja-JP" altLang="en-US" sz="2000" dirty="0">
                <a:solidFill>
                  <a:schemeClr val="bg1"/>
                </a:solidFill>
              </a:rPr>
              <a:t>まず、手前のディスプレイに画像が表示されます。</a:t>
            </a:r>
            <a:endParaRPr kumimoji="1" lang="en-US" altLang="ja-JP" sz="2000" dirty="0">
              <a:solidFill>
                <a:schemeClr val="bg1"/>
              </a:solidFill>
            </a:endParaRPr>
          </a:p>
          <a:p>
            <a:r>
              <a:rPr kumimoji="1" lang="ja-JP" altLang="en-US" sz="2000" dirty="0">
                <a:solidFill>
                  <a:schemeClr val="bg1"/>
                </a:solidFill>
              </a:rPr>
              <a:t>暗転を挟んだ後、手前のディスプレイに同じ画像が、奥のディスプレイに背景となる画像が重ねて表示されます。</a:t>
            </a:r>
            <a:endParaRPr kumimoji="1" lang="en-US" altLang="ja-JP" sz="2000" dirty="0">
              <a:solidFill>
                <a:schemeClr val="bg1"/>
              </a:solidFill>
            </a:endParaRPr>
          </a:p>
          <a:p>
            <a:endParaRPr kumimoji="1" lang="en-US" altLang="ja-JP" sz="2000" dirty="0">
              <a:solidFill>
                <a:schemeClr val="bg1"/>
              </a:solidFill>
            </a:endParaRPr>
          </a:p>
          <a:p>
            <a:r>
              <a:rPr kumimoji="1" lang="ja-JP" altLang="en-US" sz="2000" dirty="0">
                <a:solidFill>
                  <a:schemeClr val="bg1"/>
                </a:solidFill>
              </a:rPr>
              <a:t>刺激表示終了後に、背景の追加によって生じた、手前の画像の視認性低下の程度を、</a:t>
            </a:r>
            <a:r>
              <a:rPr kumimoji="1" lang="en-US" altLang="ja-JP" sz="2000" dirty="0">
                <a:solidFill>
                  <a:schemeClr val="bg1"/>
                </a:solidFill>
              </a:rPr>
              <a:t>5</a:t>
            </a:r>
            <a:r>
              <a:rPr kumimoji="1" lang="ja-JP" altLang="en-US" sz="2000" dirty="0">
                <a:solidFill>
                  <a:schemeClr val="bg1"/>
                </a:solidFill>
              </a:rPr>
              <a:t>段階で評価してください。</a:t>
            </a:r>
            <a:endParaRPr kumimoji="1" lang="en-US" altLang="ja-JP" sz="2000" dirty="0">
              <a:solidFill>
                <a:schemeClr val="bg1"/>
              </a:solidFill>
            </a:endParaRPr>
          </a:p>
          <a:p>
            <a:r>
              <a:rPr kumimoji="1" lang="ja-JP" altLang="en-US" sz="2000" dirty="0">
                <a:solidFill>
                  <a:schemeClr val="bg1"/>
                </a:solidFill>
              </a:rPr>
              <a:t>評価基準は、「輪郭や構造、色など、その画像に含まれる特徴をどの程度よく認識できるか」です。</a:t>
            </a:r>
            <a:endParaRPr kumimoji="1" lang="en-US" altLang="ja-JP" sz="2000" dirty="0">
              <a:solidFill>
                <a:schemeClr val="bg1"/>
              </a:solidFill>
            </a:endParaRPr>
          </a:p>
          <a:p>
            <a:endParaRPr kumimoji="1" lang="en-US" altLang="ja-JP" sz="2000" dirty="0">
              <a:solidFill>
                <a:schemeClr val="bg1"/>
              </a:solidFill>
            </a:endParaRPr>
          </a:p>
          <a:p>
            <a:endParaRPr lang="en-US" altLang="ja-JP" sz="2000" dirty="0">
              <a:solidFill>
                <a:schemeClr val="bg1"/>
              </a:solidFill>
            </a:endParaRPr>
          </a:p>
          <a:p>
            <a:r>
              <a:rPr kumimoji="1" lang="en-US" altLang="ja-JP" sz="2000" dirty="0">
                <a:solidFill>
                  <a:schemeClr val="bg1"/>
                </a:solidFill>
              </a:rPr>
              <a:t>Enter</a:t>
            </a:r>
            <a:r>
              <a:rPr kumimoji="1" lang="ja-JP" altLang="en-US" sz="2000" dirty="0">
                <a:solidFill>
                  <a:schemeClr val="bg1"/>
                </a:solidFill>
              </a:rPr>
              <a:t>キーで確定し、次の刺激へ進みます。</a:t>
            </a:r>
            <a:endParaRPr kumimoji="1" lang="en-US" altLang="ja-JP" sz="2000" dirty="0">
              <a:solidFill>
                <a:schemeClr val="bg1"/>
              </a:solidFill>
            </a:endParaRPr>
          </a:p>
        </p:txBody>
      </p:sp>
    </p:spTree>
    <p:extLst>
      <p:ext uri="{BB962C8B-B14F-4D97-AF65-F5344CB8AC3E}">
        <p14:creationId xmlns:p14="http://schemas.microsoft.com/office/powerpoint/2010/main" val="29288060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0F24FED2-85A1-8005-E543-1C5ECC2472E2}"/>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0375E41-7500-D920-505B-BF618CE4175C}"/>
              </a:ext>
            </a:extLst>
          </p:cNvPr>
          <p:cNvSpPr txBox="1"/>
          <p:nvPr/>
        </p:nvSpPr>
        <p:spPr>
          <a:xfrm>
            <a:off x="893553" y="705177"/>
            <a:ext cx="10404894" cy="2023631"/>
          </a:xfrm>
          <a:prstGeom prst="rect">
            <a:avLst/>
          </a:prstGeom>
          <a:noFill/>
        </p:spPr>
        <p:txBody>
          <a:bodyPr wrap="square" rtlCol="0">
            <a:spAutoFit/>
          </a:bodyPr>
          <a:lstStyle/>
          <a:p>
            <a:r>
              <a:rPr lang="ja-JP" altLang="en-US" sz="2550" b="1" dirty="0">
                <a:solidFill>
                  <a:schemeClr val="bg1"/>
                </a:solidFill>
                <a:latin typeface="+mj-ea"/>
                <a:ea typeface="+mj-ea"/>
              </a:rPr>
              <a:t>本番セッション</a:t>
            </a:r>
            <a:endParaRPr lang="en-US" altLang="ja-JP" sz="2550" b="1" dirty="0">
              <a:solidFill>
                <a:schemeClr val="bg1"/>
              </a:solidFill>
              <a:latin typeface="+mj-ea"/>
              <a:ea typeface="+mj-ea"/>
            </a:endParaRPr>
          </a:p>
          <a:p>
            <a:r>
              <a:rPr kumimoji="1" lang="ja-JP" altLang="en-US" sz="2000" dirty="0">
                <a:solidFill>
                  <a:schemeClr val="bg1"/>
                </a:solidFill>
              </a:rPr>
              <a:t>実験本番です。トレーニングセッションと同じタスクを、同じ順番で行います。</a:t>
            </a:r>
            <a:endParaRPr kumimoji="1" lang="en-US" altLang="ja-JP" sz="2000" dirty="0">
              <a:solidFill>
                <a:schemeClr val="bg1"/>
              </a:solidFill>
            </a:endParaRPr>
          </a:p>
          <a:p>
            <a:r>
              <a:rPr kumimoji="1" lang="ja-JP" altLang="en-US" sz="2000" dirty="0">
                <a:solidFill>
                  <a:schemeClr val="bg1"/>
                </a:solidFill>
              </a:rPr>
              <a:t>このセッションは</a:t>
            </a:r>
            <a:r>
              <a:rPr kumimoji="1" lang="en-US" altLang="ja-JP" sz="2000" dirty="0">
                <a:solidFill>
                  <a:schemeClr val="bg1"/>
                </a:solidFill>
              </a:rPr>
              <a:t>1</a:t>
            </a:r>
            <a:r>
              <a:rPr kumimoji="1" lang="ja-JP" altLang="en-US" sz="2000" dirty="0">
                <a:solidFill>
                  <a:schemeClr val="bg1"/>
                </a:solidFill>
              </a:rPr>
              <a:t>回のみ行います。</a:t>
            </a:r>
            <a:endParaRPr kumimoji="1" lang="en-US" altLang="ja-JP" sz="2000" dirty="0">
              <a:solidFill>
                <a:schemeClr val="bg1"/>
              </a:solidFill>
            </a:endParaRPr>
          </a:p>
          <a:p>
            <a:endParaRPr kumimoji="1" lang="en-US" altLang="ja-JP" sz="2000" dirty="0">
              <a:solidFill>
                <a:schemeClr val="bg1"/>
              </a:solidFill>
            </a:endParaRPr>
          </a:p>
          <a:p>
            <a:endParaRPr lang="en-US" altLang="ja-JP" sz="2000" dirty="0">
              <a:solidFill>
                <a:schemeClr val="bg1"/>
              </a:solidFill>
            </a:endParaRPr>
          </a:p>
          <a:p>
            <a:r>
              <a:rPr kumimoji="1" lang="en-US" altLang="ja-JP" sz="2000" dirty="0">
                <a:solidFill>
                  <a:schemeClr val="bg1"/>
                </a:solidFill>
              </a:rPr>
              <a:t>Space</a:t>
            </a:r>
            <a:r>
              <a:rPr kumimoji="1" lang="ja-JP" altLang="en-US" sz="2000" dirty="0">
                <a:solidFill>
                  <a:schemeClr val="bg1"/>
                </a:solidFill>
              </a:rPr>
              <a:t>キーで次へ進みます</a:t>
            </a:r>
            <a:endParaRPr kumimoji="1" lang="en-US" altLang="ja-JP" sz="2000" dirty="0">
              <a:solidFill>
                <a:schemeClr val="bg1"/>
              </a:solidFill>
            </a:endParaRPr>
          </a:p>
        </p:txBody>
      </p:sp>
    </p:spTree>
    <p:extLst>
      <p:ext uri="{BB962C8B-B14F-4D97-AF65-F5344CB8AC3E}">
        <p14:creationId xmlns:p14="http://schemas.microsoft.com/office/powerpoint/2010/main" val="3199074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58BE3E49-0AFA-E18C-F7A8-CF22391C9531}"/>
              </a:ext>
            </a:extLst>
          </p:cNvPr>
          <p:cNvSpPr txBox="1"/>
          <p:nvPr/>
        </p:nvSpPr>
        <p:spPr>
          <a:xfrm>
            <a:off x="948906" y="3013501"/>
            <a:ext cx="10404894" cy="830997"/>
          </a:xfrm>
          <a:prstGeom prst="rect">
            <a:avLst/>
          </a:prstGeom>
          <a:solidFill>
            <a:schemeClr val="tx2"/>
          </a:solidFill>
        </p:spPr>
        <p:txBody>
          <a:bodyPr wrap="square" rtlCol="0">
            <a:spAutoFit/>
          </a:bodyPr>
          <a:lstStyle/>
          <a:p>
            <a:r>
              <a:rPr lang="ja-JP" altLang="en-US" sz="2400" dirty="0">
                <a:solidFill>
                  <a:schemeClr val="bg1"/>
                </a:solidFill>
              </a:rPr>
              <a:t>これにて全実験終了となります</a:t>
            </a:r>
            <a:endParaRPr lang="en-US" altLang="ja-JP" sz="2400" dirty="0">
              <a:solidFill>
                <a:schemeClr val="bg1"/>
              </a:solidFill>
            </a:endParaRPr>
          </a:p>
          <a:p>
            <a:r>
              <a:rPr lang="ja-JP" altLang="en-US" sz="2400" dirty="0">
                <a:solidFill>
                  <a:schemeClr val="bg1"/>
                </a:solidFill>
              </a:rPr>
              <a:t>ご協力いただきありがとうございました</a:t>
            </a:r>
            <a:endParaRPr lang="en-US" altLang="ja-JP" sz="3600" dirty="0">
              <a:solidFill>
                <a:schemeClr val="bg1"/>
              </a:solidFill>
            </a:endParaRPr>
          </a:p>
        </p:txBody>
      </p:sp>
    </p:spTree>
    <p:extLst>
      <p:ext uri="{BB962C8B-B14F-4D97-AF65-F5344CB8AC3E}">
        <p14:creationId xmlns:p14="http://schemas.microsoft.com/office/powerpoint/2010/main" val="206050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4E4051A4-2FD0-A31B-ABFC-37343669B3A2}"/>
              </a:ext>
            </a:extLst>
          </p:cNvPr>
          <p:cNvSpPr>
            <a:spLocks noGrp="1"/>
          </p:cNvSpPr>
          <p:nvPr>
            <p:ph idx="1"/>
          </p:nvPr>
        </p:nvSpPr>
        <p:spPr>
          <a:xfrm>
            <a:off x="838200" y="681487"/>
            <a:ext cx="10515600" cy="5495476"/>
          </a:xfrm>
        </p:spPr>
        <p:txBody>
          <a:bodyPr/>
          <a:lstStyle/>
          <a:p>
            <a:endParaRPr kumimoji="1" lang="ja-JP" altLang="en-US" dirty="0"/>
          </a:p>
        </p:txBody>
      </p:sp>
      <p:sp>
        <p:nvSpPr>
          <p:cNvPr id="4" name="正方形/長方形 3">
            <a:extLst>
              <a:ext uri="{FF2B5EF4-FFF2-40B4-BE49-F238E27FC236}">
                <a16:creationId xmlns:a16="http://schemas.microsoft.com/office/drawing/2014/main" id="{B41A48C1-CF1C-6BCA-3BB9-E06EB3FCB57C}"/>
              </a:ext>
            </a:extLst>
          </p:cNvPr>
          <p:cNvSpPr/>
          <p:nvPr/>
        </p:nvSpPr>
        <p:spPr>
          <a:xfrm>
            <a:off x="0" y="0"/>
            <a:ext cx="12192000" cy="6858000"/>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BF9D26FC-B76F-4628-8639-B4BD4A31EC82}"/>
              </a:ext>
            </a:extLst>
          </p:cNvPr>
          <p:cNvSpPr txBox="1"/>
          <p:nvPr/>
        </p:nvSpPr>
        <p:spPr>
          <a:xfrm>
            <a:off x="948906" y="363915"/>
            <a:ext cx="10404894" cy="5755422"/>
          </a:xfrm>
          <a:prstGeom prst="rect">
            <a:avLst/>
          </a:prstGeom>
          <a:noFill/>
        </p:spPr>
        <p:txBody>
          <a:bodyPr wrap="square" rtlCol="0">
            <a:spAutoFit/>
          </a:bodyPr>
          <a:lstStyle/>
          <a:p>
            <a:r>
              <a:rPr lang="ja-JP" altLang="en-US" sz="2000" dirty="0">
                <a:solidFill>
                  <a:schemeClr val="bg1"/>
                </a:solidFill>
              </a:rPr>
              <a:t>　</a:t>
            </a:r>
            <a:r>
              <a:rPr lang="en-US" altLang="ja-JP" sz="2800" dirty="0">
                <a:solidFill>
                  <a:schemeClr val="bg1"/>
                </a:solidFill>
              </a:rPr>
              <a:t>About this experiment</a:t>
            </a:r>
            <a:endParaRPr lang="en-US" altLang="ja-JP" sz="3200" dirty="0">
              <a:solidFill>
                <a:schemeClr val="bg1"/>
              </a:solidFill>
            </a:endParaRPr>
          </a:p>
          <a:p>
            <a:r>
              <a:rPr lang="en-US" altLang="ja-JP" sz="2000" dirty="0">
                <a:solidFill>
                  <a:schemeClr val="bg1"/>
                </a:solidFill>
              </a:rPr>
              <a:t>This experiment is for the study of diagnostic aids in chest x-ray imaging. The experimenter will be asked to view two chest x-ray images and select one of them. There will be two sections, and we will explain the details of the selection criteria before each section. The time required is 15 minutes for each section and approximately 30 minutes overall.</a:t>
            </a:r>
          </a:p>
          <a:p>
            <a:endParaRPr lang="en-US" altLang="ja-JP" sz="2000" dirty="0">
              <a:solidFill>
                <a:schemeClr val="bg1"/>
              </a:solidFill>
            </a:endParaRPr>
          </a:p>
          <a:p>
            <a:r>
              <a:rPr lang="en-US" altLang="ja-JP" sz="2000" dirty="0">
                <a:solidFill>
                  <a:schemeClr val="bg1"/>
                </a:solidFill>
              </a:rPr>
              <a:t>The experiment may cause eye fatigue. If you feel unwell, please inform the person in charge of the experiment at any time. And we will suspend or terminate the experiment.</a:t>
            </a:r>
          </a:p>
          <a:p>
            <a:endParaRPr lang="en-US" altLang="ja-JP" sz="2000" dirty="0">
              <a:solidFill>
                <a:schemeClr val="bg1"/>
              </a:solidFill>
            </a:endParaRPr>
          </a:p>
          <a:p>
            <a:r>
              <a:rPr lang="en-US" altLang="ja-JP" sz="2000" dirty="0">
                <a:solidFill>
                  <a:schemeClr val="bg1"/>
                </a:solidFill>
              </a:rPr>
              <a:t>The data measured in this experiment will be used for research on diagnostic aids in X-ray imaging. The research results may be published in academic publications (papers, presentations at academic conferences, etc.) as well as for the purpose of publicizing the research activities of the </a:t>
            </a:r>
            <a:r>
              <a:rPr lang="en-US" altLang="ja-JP" sz="2000" dirty="0" err="1">
                <a:solidFill>
                  <a:schemeClr val="bg1"/>
                </a:solidFill>
              </a:rPr>
              <a:t>Oishi</a:t>
            </a:r>
            <a:r>
              <a:rPr lang="en-US" altLang="ja-JP" sz="2000" dirty="0">
                <a:solidFill>
                  <a:schemeClr val="bg1"/>
                </a:solidFill>
              </a:rPr>
              <a:t> Laboratory. When analyzing and publishing experimental data, all data will be anonymized, and privacy information will not be disclosed.</a:t>
            </a:r>
            <a:endParaRPr kumimoji="1" lang="en-US" altLang="ja-JP" sz="2000" dirty="0">
              <a:solidFill>
                <a:schemeClr val="bg1"/>
              </a:solidFill>
            </a:endParaRPr>
          </a:p>
          <a:p>
            <a:endParaRPr lang="en-US" altLang="ja-JP" sz="2000" dirty="0">
              <a:solidFill>
                <a:schemeClr val="bg1"/>
              </a:solidFill>
            </a:endParaRPr>
          </a:p>
          <a:p>
            <a:r>
              <a:rPr lang="en-US" altLang="ja-JP" sz="2000" dirty="0">
                <a:solidFill>
                  <a:schemeClr val="bg1"/>
                </a:solidFill>
              </a:rPr>
              <a:t>Press Space key to go next.</a:t>
            </a:r>
            <a:endParaRPr kumimoji="1" lang="en-US" altLang="ja-JP" sz="2000" dirty="0">
              <a:solidFill>
                <a:schemeClr val="bg1"/>
              </a:solidFill>
            </a:endParaRPr>
          </a:p>
        </p:txBody>
      </p:sp>
    </p:spTree>
    <p:extLst>
      <p:ext uri="{BB962C8B-B14F-4D97-AF65-F5344CB8AC3E}">
        <p14:creationId xmlns:p14="http://schemas.microsoft.com/office/powerpoint/2010/main" val="1285185960"/>
      </p:ext>
    </p:extLst>
  </p:cSld>
  <p:clrMapOvr>
    <a:masterClrMapping/>
  </p:clrMapOvr>
</p:sld>
</file>

<file path=ppt/theme/theme1.xml><?xml version="1.0" encoding="utf-8"?>
<a:theme xmlns:a="http://schemas.openxmlformats.org/drawingml/2006/main" name="浪裏">
  <a:themeElements>
    <a:clrScheme name="浪裏">
      <a:dk1>
        <a:srgbClr val="474A4D"/>
      </a:dk1>
      <a:lt1>
        <a:srgbClr val="F7FAFF"/>
      </a:lt1>
      <a:dk2>
        <a:srgbClr val="192F60"/>
      </a:dk2>
      <a:lt2>
        <a:srgbClr val="FCFAF2"/>
      </a:lt2>
      <a:accent1>
        <a:srgbClr val="3E6AAC"/>
      </a:accent1>
      <a:accent2>
        <a:srgbClr val="B2C3DE"/>
      </a:accent2>
      <a:accent3>
        <a:srgbClr val="C1D6E0"/>
      </a:accent3>
      <a:accent4>
        <a:srgbClr val="E6EFF3"/>
      </a:accent4>
      <a:accent5>
        <a:srgbClr val="FFC85C"/>
      </a:accent5>
      <a:accent6>
        <a:srgbClr val="ECC129"/>
      </a:accent6>
      <a:hlink>
        <a:srgbClr val="CCA400"/>
      </a:hlink>
      <a:folHlink>
        <a:srgbClr val="96607D"/>
      </a:folHlink>
    </a:clrScheme>
    <a:fontScheme name="ユーザー定義 1">
      <a:majorFont>
        <a:latin typeface="Segoe UI"/>
        <a:ea typeface="游ゴシック"/>
        <a:cs typeface=""/>
      </a:majorFont>
      <a:minorFont>
        <a:latin typeface="Segoe UI"/>
        <a:ea typeface="游ゴシック Mediu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浪裏" id="{C7EAAADF-7637-45BA-BFD6-BAAAFB3B6307}" vid="{38915315-E91E-4C2F-856B-7BB7B52B3D5A}"/>
    </a:ext>
  </a:extLst>
</a:theme>
</file>

<file path=docProps/app.xml><?xml version="1.0" encoding="utf-8"?>
<Properties xmlns="http://schemas.openxmlformats.org/officeDocument/2006/extended-properties" xmlns:vt="http://schemas.openxmlformats.org/officeDocument/2006/docPropsVTypes">
  <Template>浪裏</Template>
  <TotalTime>583</TotalTime>
  <Words>1000</Words>
  <Application>Microsoft Office PowerPoint</Application>
  <PresentationFormat>ワイド画面</PresentationFormat>
  <Paragraphs>75</Paragraphs>
  <Slides>10</Slides>
  <Notes>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10</vt:i4>
      </vt:variant>
    </vt:vector>
  </HeadingPairs>
  <TitlesOfParts>
    <vt:vector size="13" baseType="lpstr">
      <vt:lpstr>Arial</vt:lpstr>
      <vt:lpstr>Segoe UI</vt:lpstr>
      <vt:lpstr>浪裏</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涼一 ishikawa</dc:creator>
  <cp:lastModifiedBy>濵田　和希</cp:lastModifiedBy>
  <cp:revision>21</cp:revision>
  <dcterms:created xsi:type="dcterms:W3CDTF">2023-02-14T16:11:56Z</dcterms:created>
  <dcterms:modified xsi:type="dcterms:W3CDTF">2026-06-09T06:18:14Z</dcterms:modified>
</cp:coreProperties>
</file>