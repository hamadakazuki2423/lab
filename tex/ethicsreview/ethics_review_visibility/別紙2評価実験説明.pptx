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68" r:id="rId4"/>
    <p:sldId id="270" r:id="rId5"/>
    <p:sldId id="271" r:id="rId6"/>
    <p:sldId id="269" r:id="rId7"/>
    <p:sldId id="273" r:id="rId8"/>
    <p:sldId id="274" r:id="rId9"/>
    <p:sldId id="262" r:id="rId10"/>
    <p:sldId id="264" r:id="rId11"/>
    <p:sldId id="265"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660"/>
  </p:normalViewPr>
  <p:slideViewPr>
    <p:cSldViewPr snapToGrid="0">
      <p:cViewPr>
        <p:scale>
          <a:sx n="73" d="100"/>
          <a:sy n="73" d="100"/>
        </p:scale>
        <p:origin x="15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2026/5/30</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2026/5/30</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2026/5/30</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2026/5/30</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実験者様には、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二つの実験セクションに分かれており、操作や判断の詳細は各セクションの前に説明します。所要時間は各セクション</a:t>
            </a:r>
            <a:r>
              <a:rPr lang="en-US" altLang="ja-JP" sz="2000" dirty="0">
                <a:solidFill>
                  <a:schemeClr val="bg1"/>
                </a:solidFill>
              </a:rPr>
              <a:t>40</a:t>
            </a:r>
            <a:r>
              <a:rPr lang="ja-JP" altLang="en-US" sz="2000" dirty="0">
                <a:solidFill>
                  <a:schemeClr val="bg1"/>
                </a:solidFill>
              </a:rPr>
              <a:t>分、全体で</a:t>
            </a:r>
            <a:r>
              <a:rPr lang="en-US" altLang="ja-JP" sz="2000" dirty="0">
                <a:solidFill>
                  <a:schemeClr val="bg1"/>
                </a:solidFill>
              </a:rPr>
              <a:t>80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2639184"/>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spTree>
    <p:extLst>
      <p:ext uri="{BB962C8B-B14F-4D97-AF65-F5344CB8AC3E}">
        <p14:creationId xmlns:p14="http://schemas.microsoft.com/office/powerpoint/2010/main" val="1126689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の左右矢印キーを用いて、下半分の刺激画像のぼけ方を、上半分におけるボケ方と一致させてください。</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162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C77846D-0B1C-EF65-93D2-32F46017CB93}"/>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4FAB9FDF-7352-6FBF-D05B-5175B6701D56}"/>
              </a:ext>
            </a:extLst>
          </p:cNvPr>
          <p:cNvSpPr txBox="1"/>
          <p:nvPr/>
        </p:nvSpPr>
        <p:spPr>
          <a:xfrm>
            <a:off x="4655127" y="705177"/>
            <a:ext cx="6643320" cy="5101397"/>
          </a:xfrm>
          <a:prstGeom prst="rect">
            <a:avLst/>
          </a:prstGeom>
          <a:noFill/>
        </p:spPr>
        <p:txBody>
          <a:bodyPr wrap="square" rtlCol="0">
            <a:spAutoFit/>
          </a:bodyPr>
          <a:lstStyle/>
          <a:p>
            <a:r>
              <a:rPr lang="ja-JP" altLang="en-US" sz="2550" b="1" dirty="0">
                <a:solidFill>
                  <a:schemeClr val="bg1"/>
                </a:solidFill>
                <a:latin typeface="+mj-ea"/>
                <a:ea typeface="+mj-ea"/>
              </a:rPr>
              <a:t>色キャリブレーション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まず、上半分の領域において、刺激画像の色の見え方を確認してください。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の矢印キーを用いて、下半分の刺激画像の色の見え方を、上半分と一致させてください。</a:t>
            </a:r>
            <a:endParaRPr kumimoji="1" lang="en-US" altLang="ja-JP" sz="2000" dirty="0">
              <a:solidFill>
                <a:schemeClr val="bg1"/>
              </a:solidFill>
            </a:endParaRPr>
          </a:p>
          <a:p>
            <a:r>
              <a:rPr kumimoji="1" lang="ja-JP" altLang="en-US" sz="2000" dirty="0">
                <a:solidFill>
                  <a:schemeClr val="bg1"/>
                </a:solidFill>
              </a:rPr>
              <a:t>上下矢印キー、左右矢印キーで計二つのパラメータを操作します。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350544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1595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28806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E4051A4-2FD0-A31B-ABFC-37343669B3A2}"/>
              </a:ext>
            </a:extLst>
          </p:cNvPr>
          <p:cNvSpPr>
            <a:spLocks noGrp="1"/>
          </p:cNvSpPr>
          <p:nvPr>
            <p:ph idx="1"/>
          </p:nvPr>
        </p:nvSpPr>
        <p:spPr>
          <a:xfrm>
            <a:off x="838200" y="681487"/>
            <a:ext cx="10515600" cy="5495476"/>
          </a:xfrm>
        </p:spPr>
        <p:txBody>
          <a:bodyPr/>
          <a:lstStyle/>
          <a:p>
            <a:endParaRPr kumimoji="1" lang="ja-JP" altLang="en-US" dirty="0"/>
          </a:p>
        </p:txBody>
      </p:sp>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948906" y="363915"/>
            <a:ext cx="10404894" cy="5755422"/>
          </a:xfrm>
          <a:prstGeom prst="rect">
            <a:avLst/>
          </a:prstGeom>
          <a:noFill/>
        </p:spPr>
        <p:txBody>
          <a:bodyPr wrap="square" rtlCol="0">
            <a:spAutoFit/>
          </a:bodyPr>
          <a:lstStyle/>
          <a:p>
            <a:r>
              <a:rPr lang="ja-JP" altLang="en-US" sz="2000" dirty="0">
                <a:solidFill>
                  <a:schemeClr val="bg1"/>
                </a:solidFill>
              </a:rPr>
              <a:t>　</a:t>
            </a:r>
            <a:r>
              <a:rPr lang="en-US" altLang="ja-JP" sz="2800" dirty="0">
                <a:solidFill>
                  <a:schemeClr val="bg1"/>
                </a:solidFill>
              </a:rPr>
              <a:t>About this experiment</a:t>
            </a:r>
            <a:endParaRPr lang="en-US" altLang="ja-JP" sz="3200" dirty="0">
              <a:solidFill>
                <a:schemeClr val="bg1"/>
              </a:solidFill>
            </a:endParaRPr>
          </a:p>
          <a:p>
            <a:r>
              <a:rPr lang="en-US" altLang="ja-JP" sz="2000" dirty="0">
                <a:solidFill>
                  <a:schemeClr val="bg1"/>
                </a:solidFill>
              </a:rPr>
              <a:t>This experiment is for the study of diagnostic aids in chest x-ray imaging. The experimenter will be asked to view two chest x-ray images and select one of them. There will be two sections, and we will explain the details of the selection criteria before each section. The time required is 15 minutes for each section and approximately 30 minutes overall.</a:t>
            </a:r>
          </a:p>
          <a:p>
            <a:endParaRPr lang="en-US" altLang="ja-JP" sz="2000" dirty="0">
              <a:solidFill>
                <a:schemeClr val="bg1"/>
              </a:solidFill>
            </a:endParaRPr>
          </a:p>
          <a:p>
            <a:r>
              <a:rPr lang="en-US" altLang="ja-JP" sz="2000" dirty="0">
                <a:solidFill>
                  <a:schemeClr val="bg1"/>
                </a:solidFill>
              </a:rPr>
              <a:t>The experiment may cause eye fatigue. If you feel unwell, please inform the person in charge of the experiment at any time. And we will suspend or terminate the experiment.</a:t>
            </a:r>
          </a:p>
          <a:p>
            <a:endParaRPr lang="en-US" altLang="ja-JP" sz="2000" dirty="0">
              <a:solidFill>
                <a:schemeClr val="bg1"/>
              </a:solidFill>
            </a:endParaRPr>
          </a:p>
          <a:p>
            <a:r>
              <a:rPr lang="en-US" altLang="ja-JP" sz="2000" dirty="0">
                <a:solidFill>
                  <a:schemeClr val="bg1"/>
                </a:solidFill>
              </a:rPr>
              <a:t>The data measured in this experiment will be used for research on diagnostic aids in X-ray imaging. The research results may be published in academic publications (papers, presentations at academic conferences, etc.) as well as for the purpose of publicizing the research activities of the </a:t>
            </a:r>
            <a:r>
              <a:rPr lang="en-US" altLang="ja-JP" sz="2000" dirty="0" err="1">
                <a:solidFill>
                  <a:schemeClr val="bg1"/>
                </a:solidFill>
              </a:rPr>
              <a:t>Oishi</a:t>
            </a:r>
            <a:r>
              <a:rPr lang="en-US" altLang="ja-JP" sz="2000" dirty="0">
                <a:solidFill>
                  <a:schemeClr val="bg1"/>
                </a:solidFill>
              </a:rPr>
              <a:t> Laboratory. When analyzing and publishing experimental data, all data will be anonymized, and privacy information will not be disclosed.</a:t>
            </a:r>
            <a:endParaRPr kumimoji="1" lang="en-US" altLang="ja-JP" sz="2000" dirty="0">
              <a:solidFill>
                <a:schemeClr val="bg1"/>
              </a:solidFill>
            </a:endParaRPr>
          </a:p>
          <a:p>
            <a:endParaRPr lang="en-US" altLang="ja-JP" sz="2000" dirty="0">
              <a:solidFill>
                <a:schemeClr val="bg1"/>
              </a:solidFill>
            </a:endParaRPr>
          </a:p>
          <a:p>
            <a:r>
              <a:rPr lang="en-US" altLang="ja-JP" sz="2000" dirty="0">
                <a:solidFill>
                  <a:schemeClr val="bg1"/>
                </a:solidFill>
              </a:rPr>
              <a:t>Press Space key to go next.</a:t>
            </a:r>
            <a:endParaRPr kumimoji="1" lang="en-US" altLang="ja-JP" sz="2000" dirty="0">
              <a:solidFill>
                <a:schemeClr val="bg1"/>
              </a:solidFill>
            </a:endParaRPr>
          </a:p>
        </p:txBody>
      </p:sp>
    </p:spTree>
    <p:extLst>
      <p:ext uri="{BB962C8B-B14F-4D97-AF65-F5344CB8AC3E}">
        <p14:creationId xmlns:p14="http://schemas.microsoft.com/office/powerpoint/2010/main" val="1285185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コンテンツ プレースホルダー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119809" y="707912"/>
            <a:ext cx="3952381" cy="5442177"/>
          </a:xfrm>
        </p:spPr>
      </p:pic>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6694098" y="530877"/>
            <a:ext cx="4659702" cy="4955203"/>
          </a:xfrm>
          <a:prstGeom prst="rect">
            <a:avLst/>
          </a:prstGeom>
          <a:noFill/>
        </p:spPr>
        <p:txBody>
          <a:bodyPr wrap="square" rtlCol="0">
            <a:spAutoFit/>
          </a:bodyPr>
          <a:lstStyle/>
          <a:p>
            <a:r>
              <a:rPr lang="ja-JP" altLang="en-US" dirty="0">
                <a:solidFill>
                  <a:schemeClr val="bg1"/>
                </a:solidFill>
              </a:rPr>
              <a:t>　</a:t>
            </a:r>
            <a:r>
              <a:rPr lang="en-US" altLang="ja-JP" sz="2800" dirty="0">
                <a:solidFill>
                  <a:schemeClr val="bg1"/>
                </a:solidFill>
              </a:rPr>
              <a:t>Section</a:t>
            </a:r>
            <a:r>
              <a:rPr lang="ja-JP" altLang="en-US" sz="2800" dirty="0">
                <a:solidFill>
                  <a:schemeClr val="bg1"/>
                </a:solidFill>
              </a:rPr>
              <a:t>１</a:t>
            </a:r>
            <a:endParaRPr lang="en-US" altLang="ja-JP" sz="2800" dirty="0">
              <a:solidFill>
                <a:schemeClr val="bg1"/>
              </a:solidFill>
            </a:endParaRPr>
          </a:p>
          <a:p>
            <a:r>
              <a:rPr lang="en-US" altLang="ja-JP" dirty="0">
                <a:solidFill>
                  <a:schemeClr val="bg1"/>
                </a:solidFill>
              </a:rPr>
              <a:t>The upper monitor shows an annotated image, and Two chest x-ray images are displayed on the lower monitor.</a:t>
            </a:r>
          </a:p>
          <a:p>
            <a:endParaRPr lang="en-US" altLang="ja-JP" dirty="0">
              <a:solidFill>
                <a:schemeClr val="bg1"/>
              </a:solidFill>
            </a:endParaRPr>
          </a:p>
          <a:p>
            <a:r>
              <a:rPr lang="en-US" altLang="ja-JP" dirty="0">
                <a:solidFill>
                  <a:schemeClr val="bg1"/>
                </a:solidFill>
              </a:rPr>
              <a:t>Of the two images displayed on the lower monitor, select the one you think is </a:t>
            </a:r>
            <a:r>
              <a:rPr lang="en-US" altLang="ja-JP" b="1" dirty="0">
                <a:solidFill>
                  <a:schemeClr val="bg1"/>
                </a:solidFill>
              </a:rPr>
              <a:t>easier to see</a:t>
            </a:r>
            <a:r>
              <a:rPr lang="en-US" altLang="ja-JP" dirty="0">
                <a:solidFill>
                  <a:schemeClr val="bg1"/>
                </a:solidFill>
              </a:rPr>
              <a:t> the lesion in the annotated area by mouse click. (Please judge without moving your face close to the monitor.)</a:t>
            </a:r>
          </a:p>
          <a:p>
            <a:endParaRPr kumimoji="1" lang="en-US" altLang="ja-JP" dirty="0">
              <a:solidFill>
                <a:schemeClr val="bg1"/>
              </a:solidFill>
            </a:endParaRPr>
          </a:p>
          <a:p>
            <a:r>
              <a:rPr lang="en-US" altLang="ja-JP" dirty="0">
                <a:solidFill>
                  <a:schemeClr val="bg1"/>
                </a:solidFill>
              </a:rPr>
              <a:t>Once you have selected an image, the next image will </a:t>
            </a:r>
            <a:r>
              <a:rPr lang="en-US" altLang="ja-JP" dirty="0" err="1">
                <a:solidFill>
                  <a:schemeClr val="bg1"/>
                </a:solidFill>
              </a:rPr>
              <a:t>appear.Continue</a:t>
            </a:r>
            <a:r>
              <a:rPr lang="en-US" altLang="ja-JP" dirty="0">
                <a:solidFill>
                  <a:schemeClr val="bg1"/>
                </a:solidFill>
              </a:rPr>
              <a:t> selecting images until you see the image that describes Section 2.</a:t>
            </a:r>
          </a:p>
          <a:p>
            <a:endParaRPr kumimoji="1" lang="en-US" altLang="ja-JP" dirty="0">
              <a:solidFill>
                <a:schemeClr val="bg1"/>
              </a:solidFill>
            </a:endParaRPr>
          </a:p>
          <a:p>
            <a:r>
              <a:rPr lang="en-US" altLang="ja-JP" dirty="0">
                <a:solidFill>
                  <a:schemeClr val="bg1"/>
                </a:solidFill>
              </a:rPr>
              <a:t>Press Enter to start Section 1</a:t>
            </a:r>
            <a:endParaRPr kumimoji="1" lang="en-US" altLang="ja-JP" dirty="0">
              <a:solidFill>
                <a:schemeClr val="bg1"/>
              </a:solidFill>
            </a:endParaRPr>
          </a:p>
        </p:txBody>
      </p:sp>
      <p:pic>
        <p:nvPicPr>
          <p:cNvPr id="3" name="図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54572" y="707912"/>
            <a:ext cx="3952381" cy="5442177"/>
          </a:xfrm>
          <a:prstGeom prst="rect">
            <a:avLst/>
          </a:prstGeom>
        </p:spPr>
      </p:pic>
    </p:spTree>
    <p:extLst>
      <p:ext uri="{BB962C8B-B14F-4D97-AF65-F5344CB8AC3E}">
        <p14:creationId xmlns:p14="http://schemas.microsoft.com/office/powerpoint/2010/main" val="2789132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コンテンツ プレースホルダー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119809" y="707912"/>
            <a:ext cx="3952381" cy="5442177"/>
          </a:xfrm>
        </p:spPr>
      </p:pic>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6694098" y="530877"/>
            <a:ext cx="4659702" cy="5509200"/>
          </a:xfrm>
          <a:prstGeom prst="rect">
            <a:avLst/>
          </a:prstGeom>
          <a:noFill/>
        </p:spPr>
        <p:txBody>
          <a:bodyPr wrap="square" rtlCol="0">
            <a:spAutoFit/>
          </a:bodyPr>
          <a:lstStyle/>
          <a:p>
            <a:r>
              <a:rPr lang="ja-JP" altLang="en-US" dirty="0">
                <a:solidFill>
                  <a:schemeClr val="bg1"/>
                </a:solidFill>
              </a:rPr>
              <a:t>　</a:t>
            </a:r>
            <a:r>
              <a:rPr lang="en-US" altLang="ja-JP" sz="2800" dirty="0">
                <a:solidFill>
                  <a:schemeClr val="bg1"/>
                </a:solidFill>
              </a:rPr>
              <a:t>Section 2</a:t>
            </a:r>
          </a:p>
          <a:p>
            <a:r>
              <a:rPr lang="en-US" altLang="ja-JP" dirty="0">
                <a:solidFill>
                  <a:schemeClr val="bg1"/>
                </a:solidFill>
              </a:rPr>
              <a:t>The upper monitor shows a reference x-ray image of the lung highlighted, and two x-ray images of the chest are displayed on the lower monitor.</a:t>
            </a:r>
          </a:p>
          <a:p>
            <a:endParaRPr lang="en-US" altLang="ja-JP" dirty="0">
              <a:solidFill>
                <a:schemeClr val="bg1"/>
              </a:solidFill>
            </a:endParaRPr>
          </a:p>
          <a:p>
            <a:r>
              <a:rPr lang="en-US" altLang="ja-JP" dirty="0">
                <a:solidFill>
                  <a:schemeClr val="bg1"/>
                </a:solidFill>
              </a:rPr>
              <a:t>Of the two images displayed on the lower monitor, select the one you think maintains the content of the image on the upper monitor for </a:t>
            </a:r>
            <a:r>
              <a:rPr lang="en-US" altLang="ja-JP" b="1" u="sng" dirty="0">
                <a:solidFill>
                  <a:schemeClr val="bg1"/>
                </a:solidFill>
              </a:rPr>
              <a:t>the lung area only</a:t>
            </a:r>
            <a:r>
              <a:rPr lang="en-US" altLang="ja-JP" dirty="0">
                <a:solidFill>
                  <a:schemeClr val="bg1"/>
                </a:solidFill>
              </a:rPr>
              <a:t> by mouse click. (Please judge without moving your face close to the monitor.)</a:t>
            </a:r>
            <a:endParaRPr kumimoji="1" lang="en-US" altLang="ja-JP" dirty="0">
              <a:solidFill>
                <a:schemeClr val="bg1"/>
              </a:solidFill>
            </a:endParaRPr>
          </a:p>
          <a:p>
            <a:endParaRPr kumimoji="1" lang="en-US" altLang="ja-JP" dirty="0">
              <a:solidFill>
                <a:schemeClr val="bg1"/>
              </a:solidFill>
            </a:endParaRPr>
          </a:p>
          <a:p>
            <a:r>
              <a:rPr lang="en-US" altLang="ja-JP" dirty="0">
                <a:solidFill>
                  <a:schemeClr val="bg1"/>
                </a:solidFill>
              </a:rPr>
              <a:t>Once you have selected an image, the next image will appear.</a:t>
            </a:r>
            <a:r>
              <a:rPr lang="ja-JP" altLang="en-US" dirty="0">
                <a:solidFill>
                  <a:schemeClr val="bg1"/>
                </a:solidFill>
              </a:rPr>
              <a:t> </a:t>
            </a:r>
            <a:r>
              <a:rPr lang="en-US" altLang="ja-JP" dirty="0">
                <a:solidFill>
                  <a:schemeClr val="bg1"/>
                </a:solidFill>
              </a:rPr>
              <a:t>Continue selecting images until the image for the end of the section appears.</a:t>
            </a:r>
          </a:p>
          <a:p>
            <a:endParaRPr kumimoji="1" lang="en-US" altLang="ja-JP" dirty="0">
              <a:solidFill>
                <a:schemeClr val="bg1"/>
              </a:solidFill>
            </a:endParaRPr>
          </a:p>
          <a:p>
            <a:r>
              <a:rPr lang="en-US" altLang="ja-JP" dirty="0">
                <a:solidFill>
                  <a:schemeClr val="bg1"/>
                </a:solidFill>
              </a:rPr>
              <a:t>Press Enter to start section 2</a:t>
            </a:r>
            <a:endParaRPr kumimoji="1" lang="en-US" altLang="ja-JP" dirty="0">
              <a:solidFill>
                <a:schemeClr val="bg1"/>
              </a:solidFill>
            </a:endParaRPr>
          </a:p>
        </p:txBody>
      </p:sp>
      <p:pic>
        <p:nvPicPr>
          <p:cNvPr id="3" name="図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54572" y="707912"/>
            <a:ext cx="3952381" cy="5442177"/>
          </a:xfrm>
          <a:prstGeom prst="rect">
            <a:avLst/>
          </a:prstGeom>
        </p:spPr>
      </p:pic>
      <p:pic>
        <p:nvPicPr>
          <p:cNvPr id="6" name="図 5"/>
          <p:cNvPicPr>
            <a:picLocks noChangeAspect="1"/>
          </p:cNvPicPr>
          <p:nvPr/>
        </p:nvPicPr>
        <p:blipFill>
          <a:blip r:embed="rId4" cstate="hqprint">
            <a:extLst>
              <a:ext uri="{28A0092B-C50C-407E-A947-70E740481C1C}">
                <a14:useLocalDpi xmlns:a14="http://schemas.microsoft.com/office/drawing/2010/main" val="0"/>
              </a:ext>
            </a:extLst>
          </a:blip>
          <a:stretch>
            <a:fillRect/>
          </a:stretch>
        </p:blipFill>
        <p:spPr>
          <a:xfrm>
            <a:off x="2548573" y="1014152"/>
            <a:ext cx="1778924" cy="1778924"/>
          </a:xfrm>
          <a:prstGeom prst="rect">
            <a:avLst/>
          </a:prstGeom>
        </p:spPr>
      </p:pic>
    </p:spTree>
    <p:extLst>
      <p:ext uri="{BB962C8B-B14F-4D97-AF65-F5344CB8AC3E}">
        <p14:creationId xmlns:p14="http://schemas.microsoft.com/office/powerpoint/2010/main" val="687325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E4051A4-2FD0-A31B-ABFC-37343669B3A2}"/>
              </a:ext>
            </a:extLst>
          </p:cNvPr>
          <p:cNvSpPr>
            <a:spLocks noGrp="1"/>
          </p:cNvSpPr>
          <p:nvPr>
            <p:ph idx="1"/>
          </p:nvPr>
        </p:nvSpPr>
        <p:spPr>
          <a:xfrm>
            <a:off x="838200" y="681487"/>
            <a:ext cx="10515600" cy="5495476"/>
          </a:xfrm>
        </p:spPr>
        <p:txBody>
          <a:bodyPr/>
          <a:lstStyle/>
          <a:p>
            <a:endParaRPr kumimoji="1" lang="ja-JP" altLang="en-US" dirty="0"/>
          </a:p>
        </p:txBody>
      </p:sp>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948906" y="3013501"/>
            <a:ext cx="10404894" cy="830997"/>
          </a:xfrm>
          <a:prstGeom prst="rect">
            <a:avLst/>
          </a:prstGeom>
          <a:noFill/>
        </p:spPr>
        <p:txBody>
          <a:bodyPr wrap="square" rtlCol="0">
            <a:spAutoFit/>
          </a:bodyPr>
          <a:lstStyle/>
          <a:p>
            <a:r>
              <a:rPr lang="en-US" altLang="ja-JP" sz="2400" dirty="0">
                <a:solidFill>
                  <a:schemeClr val="bg1"/>
                </a:solidFill>
              </a:rPr>
              <a:t>The entire experiment was finished.</a:t>
            </a:r>
          </a:p>
          <a:p>
            <a:r>
              <a:rPr lang="en-US" altLang="ja-JP" sz="2400" dirty="0">
                <a:solidFill>
                  <a:schemeClr val="bg1"/>
                </a:solidFill>
              </a:rPr>
              <a:t>Thank you very much for your cooperation.</a:t>
            </a:r>
            <a:endParaRPr lang="en-US" altLang="ja-JP" sz="3600" dirty="0">
              <a:solidFill>
                <a:schemeClr val="bg1"/>
              </a:solidFill>
            </a:endParaRPr>
          </a:p>
        </p:txBody>
      </p:sp>
    </p:spTree>
    <p:extLst>
      <p:ext uri="{BB962C8B-B14F-4D97-AF65-F5344CB8AC3E}">
        <p14:creationId xmlns:p14="http://schemas.microsoft.com/office/powerpoint/2010/main" val="1560222864"/>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562</TotalTime>
  <Words>1238</Words>
  <Application>Microsoft Office PowerPoint</Application>
  <PresentationFormat>ワイド画面</PresentationFormat>
  <Paragraphs>90</Paragraphs>
  <Slides>12</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12</vt:i4>
      </vt:variant>
    </vt:vector>
  </HeadingPairs>
  <TitlesOfParts>
    <vt:vector size="15"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19</cp:revision>
  <dcterms:created xsi:type="dcterms:W3CDTF">2023-02-14T16:11:56Z</dcterms:created>
  <dcterms:modified xsi:type="dcterms:W3CDTF">2026-05-30T15:08:58Z</dcterms:modified>
</cp:coreProperties>
</file>