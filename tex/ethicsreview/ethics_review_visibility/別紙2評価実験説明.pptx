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7" r:id="rId2"/>
    <p:sldId id="272" r:id="rId3"/>
    <p:sldId id="295" r:id="rId4"/>
    <p:sldId id="275" r:id="rId5"/>
    <p:sldId id="268" r:id="rId6"/>
    <p:sldId id="270" r:id="rId7"/>
    <p:sldId id="269" r:id="rId8"/>
    <p:sldId id="273" r:id="rId9"/>
    <p:sldId id="276" r:id="rId10"/>
    <p:sldId id="286" r:id="rId11"/>
    <p:sldId id="287" r:id="rId12"/>
    <p:sldId id="288" r:id="rId13"/>
    <p:sldId id="289" r:id="rId14"/>
    <p:sldId id="290" r:id="rId15"/>
    <p:sldId id="274" r:id="rId16"/>
    <p:sldId id="277" r:id="rId17"/>
    <p:sldId id="278" r:id="rId18"/>
    <p:sldId id="296" r:id="rId19"/>
    <p:sldId id="279" r:id="rId20"/>
    <p:sldId id="280" r:id="rId21"/>
    <p:sldId id="281" r:id="rId22"/>
    <p:sldId id="282" r:id="rId23"/>
    <p:sldId id="283" r:id="rId24"/>
    <p:sldId id="284" r:id="rId25"/>
    <p:sldId id="291" r:id="rId26"/>
    <p:sldId id="292" r:id="rId27"/>
    <p:sldId id="293" r:id="rId28"/>
    <p:sldId id="294" r:id="rId29"/>
    <p:sldId id="285"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79" autoAdjust="0"/>
    <p:restoredTop sz="94485" autoAdjust="0"/>
  </p:normalViewPr>
  <p:slideViewPr>
    <p:cSldViewPr snapToGrid="0">
      <p:cViewPr>
        <p:scale>
          <a:sx n="73" d="100"/>
          <a:sy n="73" d="100"/>
        </p:scale>
        <p:origin x="845"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914400" y="612549"/>
            <a:ext cx="10363200" cy="1960033"/>
          </a:xfrm>
        </p:spPr>
        <p:txBody>
          <a:bodyPr/>
          <a:lstStyle/>
          <a:p>
            <a:r>
              <a:rPr lang="ja-JP" altLang="en-US"/>
              <a:t>マスター タイトルの書式設定</a:t>
            </a:r>
            <a:endParaRPr lang="en-US"/>
          </a:p>
        </p:txBody>
      </p:sp>
      <p:sp>
        <p:nvSpPr>
          <p:cNvPr id="3" name="Subtitle 2"/>
          <p:cNvSpPr>
            <a:spLocks noGrp="1"/>
          </p:cNvSpPr>
          <p:nvPr>
            <p:ph type="subTitle" idx="1"/>
          </p:nvPr>
        </p:nvSpPr>
        <p:spPr>
          <a:xfrm>
            <a:off x="1828800" y="2953581"/>
            <a:ext cx="8534400" cy="23368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ja-JP" altLang="en-US"/>
              <a:t>マスター サブタイトルの書式設定</a:t>
            </a:r>
            <a:endParaRPr lang="en-US"/>
          </a:p>
        </p:txBody>
      </p:sp>
      <p:sp>
        <p:nvSpPr>
          <p:cNvPr id="4" name="Date Placeholder 3"/>
          <p:cNvSpPr>
            <a:spLocks noGrp="1"/>
          </p:cNvSpPr>
          <p:nvPr>
            <p:ph type="dt" sz="half" idx="10"/>
          </p:nvPr>
        </p:nvSpPr>
        <p:spPr>
          <a:xfrm>
            <a:off x="609600" y="6247116"/>
            <a:ext cx="2844800" cy="486833"/>
          </a:xfrm>
        </p:spPr>
        <p:txBody>
          <a:bodyPr/>
          <a:lstStyle/>
          <a:p>
            <a:fld id="{416BA5EB-ECB0-409F-8DA9-B63B0BA08A82}" type="datetimeFigureOut">
              <a:rPr kumimoji="1" lang="ja-JP" altLang="en-US" smtClean="0"/>
              <a:t>2026/7/21</a:t>
            </a:fld>
            <a:endParaRPr kumimoji="1" lang="ja-JP" altLang="en-US"/>
          </a:p>
        </p:txBody>
      </p:sp>
      <p:sp>
        <p:nvSpPr>
          <p:cNvPr id="5" name="Footer Placeholder 4"/>
          <p:cNvSpPr>
            <a:spLocks noGrp="1"/>
          </p:cNvSpPr>
          <p:nvPr>
            <p:ph type="ftr" sz="quarter" idx="11"/>
          </p:nvPr>
        </p:nvSpPr>
        <p:spPr>
          <a:xfrm>
            <a:off x="4165600" y="6247116"/>
            <a:ext cx="3860800" cy="486833"/>
          </a:xfrm>
        </p:spPr>
        <p:txBody>
          <a:bodyPr/>
          <a:lstStyle/>
          <a:p>
            <a:endParaRPr kumimoji="1" lang="ja-JP" altLang="en-US"/>
          </a:p>
        </p:txBody>
      </p:sp>
      <p:sp>
        <p:nvSpPr>
          <p:cNvPr id="6" name="Slide Number Placeholder 5"/>
          <p:cNvSpPr>
            <a:spLocks noGrp="1"/>
          </p:cNvSpPr>
          <p:nvPr>
            <p:ph type="sldNum" sz="quarter" idx="12"/>
          </p:nvPr>
        </p:nvSpPr>
        <p:spPr>
          <a:xfrm>
            <a:off x="8737600" y="6247116"/>
            <a:ext cx="2844800" cy="486833"/>
          </a:xfrm>
        </p:spPr>
        <p:txBody>
          <a:body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36307918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600" y="366185"/>
            <a:ext cx="10972800" cy="826220"/>
          </a:xfrm>
        </p:spPr>
        <p:txBody>
          <a:bodyPr/>
          <a:lstStyle>
            <a:lvl1pPr algn="l">
              <a:defRPr sz="3400" b="1">
                <a:latin typeface="+mj-lt"/>
              </a:defRPr>
            </a:lvl1pPr>
          </a:lstStyle>
          <a:p>
            <a:r>
              <a:rPr lang="en-US" dirty="0"/>
              <a:t>Click to edit Master title style</a:t>
            </a:r>
          </a:p>
        </p:txBody>
      </p:sp>
      <p:sp>
        <p:nvSpPr>
          <p:cNvPr id="3" name="Content Placeholder 2"/>
          <p:cNvSpPr>
            <a:spLocks noGrp="1"/>
          </p:cNvSpPr>
          <p:nvPr>
            <p:ph idx="1"/>
          </p:nvPr>
        </p:nvSpPr>
        <p:spPr>
          <a:xfrm>
            <a:off x="609600" y="1490138"/>
            <a:ext cx="10972800" cy="460586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a:xfrm>
            <a:off x="609600" y="6248400"/>
            <a:ext cx="2844800" cy="486833"/>
          </a:xfrm>
        </p:spPr>
        <p:txBody>
          <a:bodyPr/>
          <a:lstStyle/>
          <a:p>
            <a:fld id="{416BA5EB-ECB0-409F-8DA9-B63B0BA08A82}" type="datetimeFigureOut">
              <a:rPr kumimoji="1" lang="ja-JP" altLang="en-US" smtClean="0"/>
              <a:t>2026/7/21</a:t>
            </a:fld>
            <a:endParaRPr kumimoji="1" lang="ja-JP" altLang="en-US"/>
          </a:p>
        </p:txBody>
      </p:sp>
      <p:sp>
        <p:nvSpPr>
          <p:cNvPr id="5" name="Footer Placeholder 4"/>
          <p:cNvSpPr>
            <a:spLocks noGrp="1"/>
          </p:cNvSpPr>
          <p:nvPr>
            <p:ph type="ftr" sz="quarter" idx="11"/>
          </p:nvPr>
        </p:nvSpPr>
        <p:spPr>
          <a:xfrm>
            <a:off x="4165600" y="6248400"/>
            <a:ext cx="3860800" cy="486833"/>
          </a:xfrm>
        </p:spPr>
        <p:txBody>
          <a:bodyPr/>
          <a:lstStyle/>
          <a:p>
            <a:endParaRPr kumimoji="1" lang="ja-JP" altLang="en-US"/>
          </a:p>
        </p:txBody>
      </p:sp>
      <p:sp>
        <p:nvSpPr>
          <p:cNvPr id="6" name="Slide Number Placeholder 5"/>
          <p:cNvSpPr>
            <a:spLocks noGrp="1"/>
          </p:cNvSpPr>
          <p:nvPr>
            <p:ph type="sldNum" sz="quarter" idx="12"/>
          </p:nvPr>
        </p:nvSpPr>
        <p:spPr>
          <a:xfrm>
            <a:off x="8737600" y="6248400"/>
            <a:ext cx="2844800" cy="486833"/>
          </a:xfrm>
        </p:spPr>
        <p:txBody>
          <a:bodyPr/>
          <a:lstStyle/>
          <a:p>
            <a:fld id="{8DB9B8B5-6C89-4866-8919-F9C814178B81}" type="slidenum">
              <a:rPr kumimoji="1" lang="ja-JP" altLang="en-US" smtClean="0"/>
              <a:t>‹#›</a:t>
            </a:fld>
            <a:endParaRPr kumimoji="1" lang="ja-JP" altLang="en-US"/>
          </a:p>
        </p:txBody>
      </p:sp>
      <p:cxnSp>
        <p:nvCxnSpPr>
          <p:cNvPr id="9" name="直線コネクタ 8">
            <a:extLst>
              <a:ext uri="{FF2B5EF4-FFF2-40B4-BE49-F238E27FC236}">
                <a16:creationId xmlns:a16="http://schemas.microsoft.com/office/drawing/2014/main" id="{4B5927BB-F6FF-E4CE-7948-ACCE3B4B98E9}"/>
              </a:ext>
            </a:extLst>
          </p:cNvPr>
          <p:cNvCxnSpPr>
            <a:cxnSpLocks/>
          </p:cNvCxnSpPr>
          <p:nvPr/>
        </p:nvCxnSpPr>
        <p:spPr>
          <a:xfrm>
            <a:off x="609600" y="1192404"/>
            <a:ext cx="10972800" cy="0"/>
          </a:xfrm>
          <a:prstGeom prst="line">
            <a:avLst/>
          </a:prstGeom>
          <a:ln>
            <a:solidFill>
              <a:schemeClr val="accent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00806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6BA5EB-ECB0-409F-8DA9-B63B0BA08A82}" type="datetimeFigureOut">
              <a:rPr kumimoji="1" lang="ja-JP" altLang="en-US" smtClean="0"/>
              <a:t>2026/7/21</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333790617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366184"/>
            <a:ext cx="10972800" cy="1524000"/>
          </a:xfrm>
          <a:prstGeom prst="rect">
            <a:avLst/>
          </a:prstGeom>
        </p:spPr>
        <p:txBody>
          <a:bodyPr vert="horz" lIns="91440" tIns="45720" rIns="91440" bIns="45720" rtlCol="0" anchor="ctr">
            <a:normAutofit/>
          </a:bodyPr>
          <a:lstStyle/>
          <a:p>
            <a:r>
              <a:rPr lang="ja-JP" altLang="en-US"/>
              <a:t>マスター タイトルの書式設定</a:t>
            </a:r>
            <a:endParaRPr lang="en-US"/>
          </a:p>
        </p:txBody>
      </p:sp>
      <p:sp>
        <p:nvSpPr>
          <p:cNvPr id="3" name="Text Placeholder 2"/>
          <p:cNvSpPr>
            <a:spLocks noGrp="1"/>
          </p:cNvSpPr>
          <p:nvPr>
            <p:ph type="body" idx="1"/>
          </p:nvPr>
        </p:nvSpPr>
        <p:spPr>
          <a:xfrm>
            <a:off x="609600" y="2133601"/>
            <a:ext cx="10972800" cy="3993265"/>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2"/>
          </p:nvPr>
        </p:nvSpPr>
        <p:spPr>
          <a:xfrm>
            <a:off x="609600" y="6248400"/>
            <a:ext cx="2844800" cy="486833"/>
          </a:xfrm>
          <a:prstGeom prst="rect">
            <a:avLst/>
          </a:prstGeom>
        </p:spPr>
        <p:txBody>
          <a:bodyPr vert="horz" lIns="91440" tIns="45720" rIns="91440" bIns="45720" rtlCol="0" anchor="ctr"/>
          <a:lstStyle>
            <a:lvl1pPr algn="l">
              <a:defRPr sz="1600">
                <a:solidFill>
                  <a:schemeClr val="tx1">
                    <a:tint val="75000"/>
                  </a:schemeClr>
                </a:solidFill>
              </a:defRPr>
            </a:lvl1pPr>
          </a:lstStyle>
          <a:p>
            <a:fld id="{416BA5EB-ECB0-409F-8DA9-B63B0BA08A82}" type="datetimeFigureOut">
              <a:rPr kumimoji="1" lang="ja-JP" altLang="en-US" smtClean="0"/>
              <a:t>2026/7/21</a:t>
            </a:fld>
            <a:endParaRPr kumimoji="1" lang="ja-JP" altLang="en-US"/>
          </a:p>
        </p:txBody>
      </p:sp>
      <p:sp>
        <p:nvSpPr>
          <p:cNvPr id="5" name="Footer Placeholder 4"/>
          <p:cNvSpPr>
            <a:spLocks noGrp="1"/>
          </p:cNvSpPr>
          <p:nvPr>
            <p:ph type="ftr" sz="quarter" idx="3"/>
          </p:nvPr>
        </p:nvSpPr>
        <p:spPr>
          <a:xfrm>
            <a:off x="4165600" y="6248400"/>
            <a:ext cx="3860800" cy="486833"/>
          </a:xfrm>
          <a:prstGeom prst="rect">
            <a:avLst/>
          </a:prstGeom>
        </p:spPr>
        <p:txBody>
          <a:bodyPr vert="horz" lIns="91440" tIns="45720" rIns="91440" bIns="45720" rtlCol="0" anchor="ctr"/>
          <a:lstStyle>
            <a:lvl1pPr algn="ctr">
              <a:defRPr sz="16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8737600" y="6248400"/>
            <a:ext cx="2844800" cy="486833"/>
          </a:xfrm>
          <a:prstGeom prst="rect">
            <a:avLst/>
          </a:prstGeom>
        </p:spPr>
        <p:txBody>
          <a:bodyPr vert="horz" lIns="91440" tIns="45720" rIns="91440" bIns="45720" rtlCol="0" anchor="ctr"/>
          <a:lstStyle>
            <a:lvl1pPr algn="r">
              <a:defRPr sz="1600">
                <a:solidFill>
                  <a:schemeClr val="tx1">
                    <a:tint val="75000"/>
                  </a:schemeClr>
                </a:solidFill>
              </a:defRPr>
            </a:lvl1p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26990249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txStyles>
    <p:titleStyle>
      <a:lvl1pPr algn="ctr" defTabSz="609585" rtl="0" eaLnBrk="1" latinLnBrk="0" hangingPunct="1">
        <a:spcBef>
          <a:spcPct val="0"/>
        </a:spcBef>
        <a:buNone/>
        <a:defRPr kumimoji="1" sz="5867" kern="1200">
          <a:solidFill>
            <a:schemeClr val="tx1"/>
          </a:solidFill>
          <a:latin typeface="+mj-lt"/>
          <a:ea typeface="+mj-ea"/>
          <a:cs typeface="+mj-cs"/>
        </a:defRPr>
      </a:lvl1pPr>
    </p:titleStyle>
    <p:bodyStyle>
      <a:lvl1pPr marL="457189" indent="-457189" algn="l" defTabSz="609585" rtl="0" eaLnBrk="1" latinLnBrk="0" hangingPunct="1">
        <a:spcBef>
          <a:spcPct val="20000"/>
        </a:spcBef>
        <a:buFont typeface="Arial"/>
        <a:buChar char="•"/>
        <a:defRPr kumimoji="1" sz="4267" kern="1200">
          <a:solidFill>
            <a:schemeClr val="tx1"/>
          </a:solidFill>
          <a:latin typeface="+mn-lt"/>
          <a:ea typeface="+mn-ea"/>
          <a:cs typeface="+mn-cs"/>
        </a:defRPr>
      </a:lvl1pPr>
      <a:lvl2pPr marL="990575" indent="-380990" algn="l" defTabSz="609585" rtl="0" eaLnBrk="1" latinLnBrk="0" hangingPunct="1">
        <a:spcBef>
          <a:spcPct val="20000"/>
        </a:spcBef>
        <a:buFont typeface="Arial"/>
        <a:buChar char="–"/>
        <a:defRPr kumimoji="1" sz="3733" kern="1200">
          <a:solidFill>
            <a:schemeClr val="tx1"/>
          </a:solidFill>
          <a:latin typeface="+mn-lt"/>
          <a:ea typeface="+mn-ea"/>
          <a:cs typeface="+mn-cs"/>
        </a:defRPr>
      </a:lvl2pPr>
      <a:lvl3pPr marL="1523962" indent="-304792" algn="l" defTabSz="609585" rtl="0" eaLnBrk="1" latinLnBrk="0" hangingPunct="1">
        <a:spcBef>
          <a:spcPct val="20000"/>
        </a:spcBef>
        <a:buFont typeface="Arial"/>
        <a:buChar char="•"/>
        <a:defRPr kumimoji="1" sz="3200" kern="1200">
          <a:solidFill>
            <a:schemeClr val="tx1"/>
          </a:solidFill>
          <a:latin typeface="+mn-lt"/>
          <a:ea typeface="+mn-ea"/>
          <a:cs typeface="+mn-cs"/>
        </a:defRPr>
      </a:lvl3pPr>
      <a:lvl4pPr marL="2133547"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4pPr>
      <a:lvl5pPr marL="2743131"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9pPr>
    </p:bodyStyle>
    <p:otherStyle>
      <a:defPPr>
        <a:defRPr lang="en-US"/>
      </a:defPPr>
      <a:lvl1pPr marL="0" algn="l" defTabSz="609585" rtl="0" eaLnBrk="1" latinLnBrk="0" hangingPunct="1">
        <a:defRPr kumimoji="1" sz="2400" kern="1200">
          <a:solidFill>
            <a:schemeClr val="tx1"/>
          </a:solidFill>
          <a:latin typeface="+mn-lt"/>
          <a:ea typeface="+mn-ea"/>
          <a:cs typeface="+mn-cs"/>
        </a:defRPr>
      </a:lvl1pPr>
      <a:lvl2pPr marL="609585" algn="l" defTabSz="609585" rtl="0" eaLnBrk="1" latinLnBrk="0" hangingPunct="1">
        <a:defRPr kumimoji="1" sz="2400" kern="1200">
          <a:solidFill>
            <a:schemeClr val="tx1"/>
          </a:solidFill>
          <a:latin typeface="+mn-lt"/>
          <a:ea typeface="+mn-ea"/>
          <a:cs typeface="+mn-cs"/>
        </a:defRPr>
      </a:lvl2pPr>
      <a:lvl3pPr marL="1219170" algn="l" defTabSz="609585" rtl="0" eaLnBrk="1" latinLnBrk="0" hangingPunct="1">
        <a:defRPr kumimoji="1" sz="2400" kern="1200">
          <a:solidFill>
            <a:schemeClr val="tx1"/>
          </a:solidFill>
          <a:latin typeface="+mn-lt"/>
          <a:ea typeface="+mn-ea"/>
          <a:cs typeface="+mn-cs"/>
        </a:defRPr>
      </a:lvl3pPr>
      <a:lvl4pPr marL="1828754" algn="l" defTabSz="609585" rtl="0" eaLnBrk="1" latinLnBrk="0" hangingPunct="1">
        <a:defRPr kumimoji="1" sz="2400" kern="1200">
          <a:solidFill>
            <a:schemeClr val="tx1"/>
          </a:solidFill>
          <a:latin typeface="+mn-lt"/>
          <a:ea typeface="+mn-ea"/>
          <a:cs typeface="+mn-cs"/>
        </a:defRPr>
      </a:lvl4pPr>
      <a:lvl5pPr marL="2438339" algn="l" defTabSz="609585" rtl="0" eaLnBrk="1" latinLnBrk="0" hangingPunct="1">
        <a:defRPr kumimoji="1" sz="2400" kern="1200">
          <a:solidFill>
            <a:schemeClr val="tx1"/>
          </a:solidFill>
          <a:latin typeface="+mn-lt"/>
          <a:ea typeface="+mn-ea"/>
          <a:cs typeface="+mn-cs"/>
        </a:defRPr>
      </a:lvl5pPr>
      <a:lvl6pPr marL="3047924" algn="l" defTabSz="609585" rtl="0" eaLnBrk="1" latinLnBrk="0" hangingPunct="1">
        <a:defRPr kumimoji="1" sz="2400" kern="1200">
          <a:solidFill>
            <a:schemeClr val="tx1"/>
          </a:solidFill>
          <a:latin typeface="+mn-lt"/>
          <a:ea typeface="+mn-ea"/>
          <a:cs typeface="+mn-cs"/>
        </a:defRPr>
      </a:lvl6pPr>
      <a:lvl7pPr marL="3657509" algn="l" defTabSz="609585" rtl="0" eaLnBrk="1" latinLnBrk="0" hangingPunct="1">
        <a:defRPr kumimoji="1" sz="2400" kern="1200">
          <a:solidFill>
            <a:schemeClr val="tx1"/>
          </a:solidFill>
          <a:latin typeface="+mn-lt"/>
          <a:ea typeface="+mn-ea"/>
          <a:cs typeface="+mn-cs"/>
        </a:defRPr>
      </a:lvl7pPr>
      <a:lvl8pPr marL="4267093" algn="l" defTabSz="609585" rtl="0" eaLnBrk="1" latinLnBrk="0" hangingPunct="1">
        <a:defRPr kumimoji="1" sz="2400" kern="1200">
          <a:solidFill>
            <a:schemeClr val="tx1"/>
          </a:solidFill>
          <a:latin typeface="+mn-lt"/>
          <a:ea typeface="+mn-ea"/>
          <a:cs typeface="+mn-cs"/>
        </a:defRPr>
      </a:lvl8pPr>
      <a:lvl9pPr marL="4876678" algn="l" defTabSz="609585" rtl="0" eaLnBrk="1" latinLnBrk="0" hangingPunct="1">
        <a:defRPr kumimoji="1"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57FCF2F-3E7F-5EFA-0E6F-87A8E2AC0DDC}"/>
              </a:ext>
            </a:extLst>
          </p:cNvPr>
          <p:cNvSpPr txBox="1"/>
          <p:nvPr/>
        </p:nvSpPr>
        <p:spPr>
          <a:xfrm>
            <a:off x="893553" y="705177"/>
            <a:ext cx="10404894" cy="5447645"/>
          </a:xfrm>
          <a:prstGeom prst="rect">
            <a:avLst/>
          </a:prstGeom>
          <a:noFill/>
        </p:spPr>
        <p:txBody>
          <a:bodyPr wrap="square" rtlCol="0">
            <a:spAutoFit/>
          </a:bodyPr>
          <a:lstStyle/>
          <a:p>
            <a:r>
              <a:rPr lang="ja-JP" altLang="en-US" sz="2550" b="1" dirty="0">
                <a:solidFill>
                  <a:schemeClr val="bg1"/>
                </a:solidFill>
                <a:latin typeface="+mj-ea"/>
                <a:ea typeface="+mj-ea"/>
              </a:rPr>
              <a:t>本実験について</a:t>
            </a:r>
            <a:endParaRPr lang="en-US" altLang="ja-JP" sz="2550" b="1" dirty="0">
              <a:solidFill>
                <a:schemeClr val="bg1"/>
              </a:solidFill>
              <a:latin typeface="+mj-ea"/>
              <a:ea typeface="+mj-ea"/>
            </a:endParaRPr>
          </a:p>
          <a:p>
            <a:r>
              <a:rPr lang="ja-JP" altLang="en-US" sz="2000" dirty="0">
                <a:solidFill>
                  <a:schemeClr val="bg1"/>
                </a:solidFill>
              </a:rPr>
              <a:t>本実験は光学シースルー</a:t>
            </a:r>
            <a:r>
              <a:rPr lang="en-US" altLang="ja-JP" sz="2000" dirty="0">
                <a:solidFill>
                  <a:schemeClr val="bg1"/>
                </a:solidFill>
              </a:rPr>
              <a:t>AR</a:t>
            </a:r>
            <a:r>
              <a:rPr lang="ja-JP" altLang="en-US" sz="2000" dirty="0">
                <a:solidFill>
                  <a:schemeClr val="bg1"/>
                </a:solidFill>
              </a:rPr>
              <a:t>の知覚的視認性予測の研究のためのものになります。</a:t>
            </a:r>
            <a:br>
              <a:rPr lang="en-US" altLang="ja-JP" sz="2000" dirty="0">
                <a:solidFill>
                  <a:schemeClr val="bg1"/>
                </a:solidFill>
              </a:rPr>
            </a:br>
            <a:r>
              <a:rPr lang="ja-JP" altLang="en-US" sz="2000" dirty="0">
                <a:solidFill>
                  <a:schemeClr val="bg1"/>
                </a:solidFill>
              </a:rPr>
              <a:t>参加者様には、</a:t>
            </a:r>
            <a:r>
              <a:rPr lang="en-US" altLang="ja-JP" sz="2000" dirty="0">
                <a:solidFill>
                  <a:schemeClr val="bg1"/>
                </a:solidFill>
              </a:rPr>
              <a:t>Reference</a:t>
            </a:r>
            <a:r>
              <a:rPr lang="ja-JP" altLang="en-US" sz="2000" dirty="0">
                <a:solidFill>
                  <a:schemeClr val="bg1"/>
                </a:solidFill>
              </a:rPr>
              <a:t>画像と</a:t>
            </a:r>
            <a:r>
              <a:rPr lang="en-US" altLang="ja-JP" sz="2000" dirty="0">
                <a:solidFill>
                  <a:schemeClr val="bg1"/>
                </a:solidFill>
              </a:rPr>
              <a:t>Test</a:t>
            </a:r>
            <a:r>
              <a:rPr lang="ja-JP" altLang="en-US" sz="2000" dirty="0">
                <a:solidFill>
                  <a:schemeClr val="bg1"/>
                </a:solidFill>
              </a:rPr>
              <a:t>画像の二枚の刺激画像を見ていただき、操作や判断を行っていただきます。実験は、キャリブレーションセクションと、実験セクションに分かれており、操作や判断の詳細は各セクションの前に説明します。所要時間は各セクション</a:t>
            </a:r>
            <a:r>
              <a:rPr lang="en-US" altLang="ja-JP" sz="2000" dirty="0">
                <a:solidFill>
                  <a:schemeClr val="bg1"/>
                </a:solidFill>
              </a:rPr>
              <a:t>20</a:t>
            </a:r>
            <a:r>
              <a:rPr lang="ja-JP" altLang="en-US" sz="2000" dirty="0">
                <a:solidFill>
                  <a:schemeClr val="bg1"/>
                </a:solidFill>
              </a:rPr>
              <a:t>分</a:t>
            </a:r>
            <a:r>
              <a:rPr lang="en-US" altLang="ja-JP" sz="2000" dirty="0">
                <a:solidFill>
                  <a:schemeClr val="bg1"/>
                </a:solidFill>
              </a:rPr>
              <a:t>~30</a:t>
            </a:r>
            <a:r>
              <a:rPr lang="ja-JP" altLang="en-US" sz="2000" dirty="0">
                <a:solidFill>
                  <a:schemeClr val="bg1"/>
                </a:solidFill>
              </a:rPr>
              <a:t>分、全体で</a:t>
            </a:r>
            <a:r>
              <a:rPr lang="en-US" altLang="ja-JP" sz="2000" dirty="0">
                <a:solidFill>
                  <a:schemeClr val="bg1"/>
                </a:solidFill>
              </a:rPr>
              <a:t>60</a:t>
            </a:r>
            <a:r>
              <a:rPr lang="ja-JP" altLang="en-US" sz="2000" dirty="0">
                <a:solidFill>
                  <a:schemeClr val="bg1"/>
                </a:solidFill>
              </a:rPr>
              <a:t>分程度を想定しています。</a:t>
            </a:r>
            <a:endParaRPr lang="en-US" altLang="ja-JP" sz="2000" dirty="0">
              <a:solidFill>
                <a:schemeClr val="bg1"/>
              </a:solidFill>
            </a:endParaRPr>
          </a:p>
          <a:p>
            <a:endParaRPr lang="en-US" altLang="ja-JP" sz="2000" dirty="0">
              <a:solidFill>
                <a:schemeClr val="bg1"/>
              </a:solidFill>
            </a:endParaRPr>
          </a:p>
          <a:p>
            <a:r>
              <a:rPr lang="ja-JP" altLang="en-US" sz="2000" dirty="0">
                <a:solidFill>
                  <a:schemeClr val="bg1"/>
                </a:solidFill>
              </a:rPr>
              <a:t>実験を受けることで目が疲れることがあります。気分がすぐれなくなったなど、何かございましたらいつでも実験を中断、中止しますので実験担当者にお知らせください。</a:t>
            </a:r>
            <a:endParaRPr lang="en-US" altLang="ja-JP" sz="2000" dirty="0">
              <a:solidFill>
                <a:schemeClr val="bg1"/>
              </a:solidFill>
            </a:endParaRPr>
          </a:p>
          <a:p>
            <a:endParaRPr lang="en-US" altLang="ja-JP" sz="2000" dirty="0">
              <a:solidFill>
                <a:schemeClr val="bg1"/>
              </a:solidFill>
            </a:endParaRPr>
          </a:p>
          <a:p>
            <a:r>
              <a:rPr kumimoji="1" lang="ja-JP" altLang="en-US" sz="2000" dirty="0">
                <a:solidFill>
                  <a:schemeClr val="bg1"/>
                </a:solidFill>
              </a:rPr>
              <a:t>本実験で測定されるデータは</a:t>
            </a:r>
            <a:r>
              <a:rPr lang="ja-JP" altLang="en-US" sz="2000" dirty="0">
                <a:solidFill>
                  <a:schemeClr val="bg1"/>
                </a:solidFill>
              </a:rPr>
              <a:t>光学シースルー</a:t>
            </a:r>
            <a:r>
              <a:rPr lang="en-US" altLang="ja-JP" sz="2000" dirty="0">
                <a:solidFill>
                  <a:schemeClr val="bg1"/>
                </a:solidFill>
              </a:rPr>
              <a:t>AR</a:t>
            </a:r>
            <a:r>
              <a:rPr lang="ja-JP" altLang="en-US" sz="2000" dirty="0">
                <a:solidFill>
                  <a:schemeClr val="bg1"/>
                </a:solidFill>
              </a:rPr>
              <a:t>の知覚的視認性予測の研究のために用いられます。研究成果は学術的公刊（論文発表・学術研究会等での発表）のほか、大石研究室の研究活動の広報目的で公表される場合があります。実験データを分析、公表する際はデータはすべて匿名化され、プライバシーに関する情報を開示することはございません。</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605820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37EF9C8E-E572-C09D-EB50-00606B38DB52}"/>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94092F1-AB28-E9F0-CB68-1CCA0BEA725E}"/>
              </a:ext>
            </a:extLst>
          </p:cNvPr>
          <p:cNvSpPr txBox="1"/>
          <p:nvPr/>
        </p:nvSpPr>
        <p:spPr>
          <a:xfrm>
            <a:off x="893553" y="705177"/>
            <a:ext cx="10404894" cy="3870290"/>
          </a:xfrm>
          <a:prstGeom prst="rect">
            <a:avLst/>
          </a:prstGeom>
          <a:noFill/>
        </p:spPr>
        <p:txBody>
          <a:bodyPr wrap="square" rtlCol="0">
            <a:spAutoFit/>
          </a:bodyPr>
          <a:lstStyle/>
          <a:p>
            <a:r>
              <a:rPr lang="ja-JP" altLang="en-US" sz="2550" b="1" dirty="0">
                <a:solidFill>
                  <a:schemeClr val="bg1"/>
                </a:solidFill>
                <a:latin typeface="+mj-ea"/>
                <a:ea typeface="+mj-ea"/>
              </a:rPr>
              <a:t>操作上の注意</a:t>
            </a:r>
            <a:endParaRPr lang="en-US" altLang="ja-JP" sz="2550" b="1" dirty="0">
              <a:solidFill>
                <a:schemeClr val="bg1"/>
              </a:solidFill>
              <a:latin typeface="+mj-ea"/>
              <a:ea typeface="+mj-ea"/>
            </a:endParaRPr>
          </a:p>
          <a:p>
            <a:r>
              <a:rPr lang="ja-JP" altLang="en-US" sz="2000" dirty="0">
                <a:solidFill>
                  <a:schemeClr val="bg1"/>
                </a:solidFill>
              </a:rPr>
              <a:t>本実験における各セクションでは、操作用</a:t>
            </a:r>
            <a:r>
              <a:rPr lang="en-US" altLang="ja-JP" sz="2000" dirty="0">
                <a:solidFill>
                  <a:schemeClr val="bg1"/>
                </a:solidFill>
              </a:rPr>
              <a:t>PC</a:t>
            </a:r>
            <a:r>
              <a:rPr lang="ja-JP" altLang="en-US" sz="2000" dirty="0">
                <a:solidFill>
                  <a:schemeClr val="bg1"/>
                </a:solidFill>
              </a:rPr>
              <a:t>の矢印キーを用いて刺激の操作を行い、判断を下します。</a:t>
            </a:r>
            <a:endParaRPr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操作のうち、</a:t>
            </a:r>
            <a:r>
              <a:rPr kumimoji="1" lang="en-US" altLang="ja-JP" sz="2000" dirty="0">
                <a:solidFill>
                  <a:schemeClr val="bg1"/>
                </a:solidFill>
              </a:rPr>
              <a:t>Reference</a:t>
            </a:r>
            <a:r>
              <a:rPr kumimoji="1" lang="ja-JP" altLang="en-US" sz="2000" dirty="0">
                <a:solidFill>
                  <a:schemeClr val="bg1"/>
                </a:solidFill>
              </a:rPr>
              <a:t>刺激と</a:t>
            </a:r>
            <a:r>
              <a:rPr kumimoji="1" lang="en-US" altLang="ja-JP" sz="2000" dirty="0">
                <a:solidFill>
                  <a:schemeClr val="bg1"/>
                </a:solidFill>
              </a:rPr>
              <a:t>Test</a:t>
            </a:r>
            <a:r>
              <a:rPr kumimoji="1" lang="ja-JP" altLang="en-US" sz="2000" dirty="0">
                <a:solidFill>
                  <a:schemeClr val="bg1"/>
                </a:solidFill>
              </a:rPr>
              <a:t>刺激の見え方を一致させるタスクの際は、一致点の前後を行き来するように、慎重に行ってください。</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なお、キャリブレーションや調整実験では、性質上、前景ディスプレイの</a:t>
            </a:r>
            <a:r>
              <a:rPr kumimoji="1" lang="en-US" altLang="ja-JP" sz="2000" dirty="0">
                <a:solidFill>
                  <a:schemeClr val="bg1"/>
                </a:solidFill>
              </a:rPr>
              <a:t>Test</a:t>
            </a:r>
            <a:r>
              <a:rPr kumimoji="1" lang="ja-JP" altLang="en-US" sz="2000" dirty="0">
                <a:solidFill>
                  <a:schemeClr val="bg1"/>
                </a:solidFill>
              </a:rPr>
              <a:t>刺激に焦点を合わせづらい場合があります。この場合は、</a:t>
            </a:r>
            <a:r>
              <a:rPr kumimoji="1" lang="en-US" altLang="ja-JP" sz="2000" dirty="0">
                <a:solidFill>
                  <a:schemeClr val="bg1"/>
                </a:solidFill>
              </a:rPr>
              <a:t>Test</a:t>
            </a:r>
            <a:r>
              <a:rPr kumimoji="1" lang="ja-JP" altLang="en-US" sz="2000" dirty="0">
                <a:solidFill>
                  <a:schemeClr val="bg1"/>
                </a:solidFill>
              </a:rPr>
              <a:t>刺激は凝視せず、</a:t>
            </a:r>
            <a:r>
              <a:rPr kumimoji="1" lang="en-US" altLang="ja-JP" sz="2000" dirty="0">
                <a:solidFill>
                  <a:schemeClr val="bg1"/>
                </a:solidFill>
              </a:rPr>
              <a:t>Reference</a:t>
            </a:r>
            <a:r>
              <a:rPr kumimoji="1" lang="ja-JP" altLang="en-US" sz="2000" dirty="0">
                <a:solidFill>
                  <a:schemeClr val="bg1"/>
                </a:solidFill>
              </a:rPr>
              <a:t>刺激との間で素早く視線を移動させることで、焦点の変化を防ぐようお願いします。</a:t>
            </a:r>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2584556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40FD4A37-65BC-6DC4-0137-9106D334D65B}"/>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1244CB2-9ECE-50BE-1E58-EA310DEEC139}"/>
              </a:ext>
            </a:extLst>
          </p:cNvPr>
          <p:cNvSpPr txBox="1"/>
          <p:nvPr/>
        </p:nvSpPr>
        <p:spPr>
          <a:xfrm>
            <a:off x="893553" y="705177"/>
            <a:ext cx="10404894" cy="5409173"/>
          </a:xfrm>
          <a:prstGeom prst="rect">
            <a:avLst/>
          </a:prstGeom>
          <a:noFill/>
        </p:spPr>
        <p:txBody>
          <a:bodyPr wrap="square" rtlCol="0">
            <a:spAutoFit/>
          </a:bodyPr>
          <a:lstStyle/>
          <a:p>
            <a:r>
              <a:rPr lang="ja-JP" altLang="en-US" sz="2550" b="1" dirty="0">
                <a:solidFill>
                  <a:schemeClr val="bg1"/>
                </a:solidFill>
                <a:latin typeface="+mj-ea"/>
                <a:ea typeface="+mj-ea"/>
              </a:rPr>
              <a:t>参加者情報の記録</a:t>
            </a:r>
            <a:endParaRPr lang="en-US" altLang="ja-JP" sz="2550" b="1" dirty="0">
              <a:solidFill>
                <a:schemeClr val="bg1"/>
              </a:solidFill>
              <a:latin typeface="+mj-ea"/>
              <a:ea typeface="+mj-ea"/>
            </a:endParaRPr>
          </a:p>
          <a:p>
            <a:r>
              <a:rPr kumimoji="1" lang="ja-JP" altLang="en-US" sz="2000" dirty="0">
                <a:solidFill>
                  <a:schemeClr val="bg1"/>
                </a:solidFill>
              </a:rPr>
              <a:t>実際の操作に移る前に、参加者様の性別、年齢、利き目、瞳孔間距離を測定します。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性別、年齢については、実験担当者から質問があるのでお答えください。</a:t>
            </a:r>
            <a:endParaRPr kumimoji="1" lang="en-US" altLang="ja-JP" sz="2000" dirty="0">
              <a:solidFill>
                <a:schemeClr val="bg1"/>
              </a:solidFill>
            </a:endParaRPr>
          </a:p>
          <a:p>
            <a:r>
              <a:rPr kumimoji="1" lang="ja-JP" altLang="en-US" sz="2000" dirty="0">
                <a:solidFill>
                  <a:schemeClr val="bg1"/>
                </a:solidFill>
              </a:rPr>
              <a:t>利き目については、実験担当者からの指示に従い、</a:t>
            </a:r>
            <a:r>
              <a:rPr lang="ja-JP" altLang="ja-JP" sz="2000" dirty="0">
                <a:solidFill>
                  <a:schemeClr val="bg1"/>
                </a:solidFill>
              </a:rPr>
              <a:t>以下の手順で</a:t>
            </a:r>
            <a:r>
              <a:rPr lang="ja-JP" altLang="en-US" sz="2000" dirty="0">
                <a:solidFill>
                  <a:schemeClr val="bg1"/>
                </a:solidFill>
              </a:rPr>
              <a:t>測定して</a:t>
            </a:r>
            <a:r>
              <a:rPr lang="ja-JP" altLang="ja-JP" sz="2000" dirty="0">
                <a:solidFill>
                  <a:schemeClr val="bg1"/>
                </a:solidFill>
              </a:rPr>
              <a:t>ください。</a:t>
            </a:r>
          </a:p>
          <a:p>
            <a:pPr marL="457200" indent="-457200">
              <a:buFont typeface="+mj-lt"/>
              <a:buAutoNum type="arabicPeriod"/>
            </a:pPr>
            <a:r>
              <a:rPr lang="ja-JP" altLang="ja-JP" sz="2000" dirty="0">
                <a:solidFill>
                  <a:schemeClr val="bg1"/>
                </a:solidFill>
              </a:rPr>
              <a:t>両手を前方に伸ばし、親指と人差し指で三角形の小さな隙間を作ります。</a:t>
            </a:r>
            <a:endParaRPr lang="en-US" altLang="ja-JP" sz="2000" dirty="0">
              <a:solidFill>
                <a:schemeClr val="bg1"/>
              </a:solidFill>
            </a:endParaRPr>
          </a:p>
          <a:p>
            <a:pPr marL="457200" indent="-457200">
              <a:buFont typeface="+mj-lt"/>
              <a:buAutoNum type="arabicPeriod"/>
            </a:pPr>
            <a:r>
              <a:rPr lang="ja-JP" altLang="ja-JP" sz="2000" dirty="0">
                <a:solidFill>
                  <a:schemeClr val="bg1"/>
                </a:solidFill>
              </a:rPr>
              <a:t>両目を開けたまま、その隙間の中央に、実験担当者が指定した目標物が見えるように手の位置を調整します。</a:t>
            </a:r>
            <a:endParaRPr lang="en-US" altLang="ja-JP" sz="2000" dirty="0">
              <a:solidFill>
                <a:schemeClr val="bg1"/>
              </a:solidFill>
            </a:endParaRPr>
          </a:p>
          <a:p>
            <a:pPr marL="457200" indent="-457200">
              <a:buFont typeface="+mj-lt"/>
              <a:buAutoNum type="arabicPeriod"/>
            </a:pPr>
            <a:r>
              <a:rPr lang="ja-JP" altLang="ja-JP" sz="2000" dirty="0">
                <a:solidFill>
                  <a:schemeClr val="bg1"/>
                </a:solidFill>
              </a:rPr>
              <a:t>手と顔を動かさず、左右の目を交互に閉じます。</a:t>
            </a:r>
            <a:endParaRPr lang="en-US" altLang="ja-JP" sz="2000" dirty="0">
              <a:solidFill>
                <a:schemeClr val="bg1"/>
              </a:solidFill>
            </a:endParaRPr>
          </a:p>
          <a:p>
            <a:pPr marL="457200" indent="-457200">
              <a:buFont typeface="+mj-lt"/>
              <a:buAutoNum type="arabicPeriod"/>
            </a:pPr>
            <a:r>
              <a:rPr lang="ja-JP" altLang="ja-JP" sz="2000" dirty="0">
                <a:solidFill>
                  <a:schemeClr val="bg1"/>
                </a:solidFill>
              </a:rPr>
              <a:t>目標物が隙間の中央に見え続ける側の目を、利き目として記録します。</a:t>
            </a:r>
            <a:endParaRPr kumimoji="1" lang="en-US" altLang="ja-JP" sz="2000" dirty="0">
              <a:solidFill>
                <a:schemeClr val="bg1"/>
              </a:solidFill>
            </a:endParaRPr>
          </a:p>
          <a:p>
            <a:r>
              <a:rPr kumimoji="1" lang="ja-JP" altLang="en-US" sz="2000" dirty="0">
                <a:solidFill>
                  <a:schemeClr val="bg1"/>
                </a:solidFill>
              </a:rPr>
              <a:t>瞳孔間距離については、眉のあたりに定規を当てていただき、その写真を撮影することで測定します。記録後、参加者様の目の前で、写真を削除します。</a:t>
            </a:r>
            <a:br>
              <a:rPr kumimoji="1" lang="en-US" altLang="ja-JP" sz="2000" dirty="0">
                <a:solidFill>
                  <a:schemeClr val="bg1"/>
                </a:solidFill>
              </a:rPr>
            </a:br>
            <a:br>
              <a:rPr kumimoji="1" lang="en-US" altLang="ja-JP" sz="2000" dirty="0">
                <a:solidFill>
                  <a:schemeClr val="bg1"/>
                </a:solidFill>
              </a:rPr>
            </a:br>
            <a:r>
              <a:rPr kumimoji="1" lang="ja-JP" altLang="en-US" sz="2000" dirty="0">
                <a:solidFill>
                  <a:schemeClr val="bg1"/>
                </a:solidFill>
              </a:rPr>
              <a:t>繰り返しになりますが、</a:t>
            </a:r>
            <a:r>
              <a:rPr lang="ja-JP" altLang="en-US" sz="2000" dirty="0">
                <a:solidFill>
                  <a:schemeClr val="bg1"/>
                </a:solidFill>
              </a:rPr>
              <a:t>実験データを分析、公表する際はデータはすべて匿名化され、プライバシーに関する情報を開示することはございません。</a:t>
            </a:r>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3163702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C5C5AF3-9201-45E8-C4AF-918B1AE3E3ED}"/>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4492BFC-0C69-E102-7E94-85E3698C354A}"/>
              </a:ext>
            </a:extLst>
          </p:cNvPr>
          <p:cNvSpPr txBox="1"/>
          <p:nvPr/>
        </p:nvSpPr>
        <p:spPr>
          <a:xfrm>
            <a:off x="893553" y="705177"/>
            <a:ext cx="10404894" cy="2331407"/>
          </a:xfrm>
          <a:prstGeom prst="rect">
            <a:avLst/>
          </a:prstGeom>
          <a:noFill/>
        </p:spPr>
        <p:txBody>
          <a:bodyPr wrap="square" rtlCol="0">
            <a:spAutoFit/>
          </a:bodyPr>
          <a:lstStyle/>
          <a:p>
            <a:r>
              <a:rPr lang="ja-JP" altLang="en-US" sz="2550" b="1" dirty="0">
                <a:solidFill>
                  <a:schemeClr val="bg1"/>
                </a:solidFill>
                <a:latin typeface="+mj-ea"/>
                <a:ea typeface="+mj-ea"/>
              </a:rPr>
              <a:t>トレーニングセッション</a:t>
            </a:r>
            <a:endParaRPr lang="en-US" altLang="ja-JP" sz="2550" b="1" dirty="0">
              <a:solidFill>
                <a:schemeClr val="bg1"/>
              </a:solidFill>
              <a:latin typeface="+mj-ea"/>
              <a:ea typeface="+mj-ea"/>
            </a:endParaRPr>
          </a:p>
          <a:p>
            <a:r>
              <a:rPr kumimoji="1" lang="ja-JP" altLang="en-US" sz="2000" dirty="0">
                <a:solidFill>
                  <a:schemeClr val="bg1"/>
                </a:solidFill>
              </a:rPr>
              <a:t>実験本番に移る前に、各セクションで行うタスクに慣れるためのトレーニングを行います。</a:t>
            </a:r>
            <a:endParaRPr kumimoji="1" lang="en-US" altLang="ja-JP" sz="2000" dirty="0">
              <a:solidFill>
                <a:schemeClr val="bg1"/>
              </a:solidFill>
            </a:endParaRPr>
          </a:p>
          <a:p>
            <a:r>
              <a:rPr kumimoji="1" lang="ja-JP" altLang="en-US" sz="2000" dirty="0">
                <a:solidFill>
                  <a:schemeClr val="bg1"/>
                </a:solidFill>
              </a:rPr>
              <a:t>セクションの順番は本番と同じです。</a:t>
            </a:r>
            <a:endParaRPr kumimoji="1" lang="en-US" altLang="ja-JP" sz="2000" dirty="0">
              <a:solidFill>
                <a:schemeClr val="bg1"/>
              </a:solidFill>
            </a:endParaRPr>
          </a:p>
          <a:p>
            <a:r>
              <a:rPr kumimoji="1" lang="ja-JP" altLang="en-US" sz="2000" dirty="0">
                <a:solidFill>
                  <a:schemeClr val="bg1"/>
                </a:solidFill>
              </a:rPr>
              <a:t>このトレーニングはタスクに慣れるまで、最大</a:t>
            </a:r>
            <a:r>
              <a:rPr kumimoji="1" lang="en-US" altLang="ja-JP" sz="2000" dirty="0">
                <a:solidFill>
                  <a:schemeClr val="bg1"/>
                </a:solidFill>
              </a:rPr>
              <a:t>3</a:t>
            </a:r>
            <a:r>
              <a:rPr kumimoji="1" lang="ja-JP" altLang="en-US" sz="2000" dirty="0">
                <a:solidFill>
                  <a:schemeClr val="bg1"/>
                </a:solidFill>
              </a:rPr>
              <a:t>回まで行うことができます。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16823530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540CEEFB-F9BA-027C-017D-7BBC65D4EE5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70985E8-0944-7C8C-DF09-E57DEC800DD5}"/>
              </a:ext>
            </a:extLst>
          </p:cNvPr>
          <p:cNvSpPr txBox="1"/>
          <p:nvPr/>
        </p:nvSpPr>
        <p:spPr>
          <a:xfrm>
            <a:off x="4655125" y="705177"/>
            <a:ext cx="6643321" cy="3870290"/>
          </a:xfrm>
          <a:prstGeom prst="rect">
            <a:avLst/>
          </a:prstGeom>
          <a:noFill/>
        </p:spPr>
        <p:txBody>
          <a:bodyPr wrap="square" rtlCol="0">
            <a:spAutoFit/>
          </a:bodyPr>
          <a:lstStyle/>
          <a:p>
            <a:r>
              <a:rPr lang="ja-JP" altLang="en-US" sz="2550" b="1" dirty="0">
                <a:solidFill>
                  <a:schemeClr val="bg1"/>
                </a:solidFill>
                <a:latin typeface="+mj-ea"/>
                <a:ea typeface="+mj-ea"/>
              </a:rPr>
              <a:t>位置キャリブレーション</a:t>
            </a:r>
            <a:endParaRPr lang="en-US" altLang="ja-JP" sz="2550" b="1" dirty="0">
              <a:solidFill>
                <a:schemeClr val="bg1"/>
              </a:solidFill>
              <a:latin typeface="+mj-ea"/>
              <a:ea typeface="+mj-ea"/>
            </a:endParaRPr>
          </a:p>
          <a:p>
            <a:endParaRPr lang="en-US" altLang="ja-JP" sz="2000" dirty="0">
              <a:solidFill>
                <a:schemeClr val="bg1"/>
              </a:solidFill>
            </a:endParaRPr>
          </a:p>
          <a:p>
            <a:r>
              <a:rPr lang="ja-JP" altLang="en-US" sz="2000" dirty="0">
                <a:solidFill>
                  <a:schemeClr val="bg1"/>
                </a:solidFill>
              </a:rPr>
              <a:t>操作用</a:t>
            </a:r>
            <a:r>
              <a:rPr lang="en-US" altLang="ja-JP" sz="2000" dirty="0">
                <a:solidFill>
                  <a:schemeClr val="bg1"/>
                </a:solidFill>
              </a:rPr>
              <a:t>PC</a:t>
            </a:r>
            <a:r>
              <a:rPr lang="ja-JP" altLang="en-US" sz="2000" dirty="0">
                <a:solidFill>
                  <a:schemeClr val="bg1"/>
                </a:solidFill>
              </a:rPr>
              <a:t>の矢印キーを用いて、奥のディスプレイに表示されている正方形の枠（赤）の位置を動かし、手前のディスプレイに表示されている正方形の枠（白）に合わせます。</a:t>
            </a:r>
            <a:endParaRPr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この操作は、右目と左目片方ずつ行うので、使用していない方の目は、手元の目隠しで覆ってください。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キーで確定し、次に進みます。</a:t>
            </a:r>
            <a:endParaRPr kumimoji="1" lang="en-US" altLang="ja-JP" sz="2000" dirty="0">
              <a:solidFill>
                <a:schemeClr val="bg1"/>
              </a:solidFill>
            </a:endParaRPr>
          </a:p>
        </p:txBody>
      </p:sp>
      <p:pic>
        <p:nvPicPr>
          <p:cNvPr id="7" name="図 6">
            <a:extLst>
              <a:ext uri="{FF2B5EF4-FFF2-40B4-BE49-F238E27FC236}">
                <a16:creationId xmlns:a16="http://schemas.microsoft.com/office/drawing/2014/main" id="{BD8D3F9E-F85A-1AF2-214A-20415D694B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5105" y="1096241"/>
            <a:ext cx="3744484" cy="4665518"/>
          </a:xfrm>
          <a:prstGeom prst="rect">
            <a:avLst/>
          </a:prstGeom>
        </p:spPr>
      </p:pic>
    </p:spTree>
    <p:extLst>
      <p:ext uri="{BB962C8B-B14F-4D97-AF65-F5344CB8AC3E}">
        <p14:creationId xmlns:p14="http://schemas.microsoft.com/office/powerpoint/2010/main" val="11266896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62F3EDE7-66D5-D555-8065-9E03FDA13F78}"/>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B1832779-5A37-5158-ED19-64FC0C29616F}"/>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ぼけキャリブレーション</a:t>
            </a:r>
            <a:endParaRPr lang="en-US" altLang="ja-JP" sz="2000" dirty="0">
              <a:solidFill>
                <a:schemeClr val="bg1"/>
              </a:solidFill>
            </a:endParaRPr>
          </a:p>
          <a:p>
            <a:r>
              <a:rPr kumimoji="1" lang="ja-JP" altLang="en-US" sz="2000" dirty="0">
                <a:solidFill>
                  <a:schemeClr val="bg1"/>
                </a:solidFill>
              </a:rPr>
              <a:t>中央の表示領域には、上下に同じ刺激画像とマーカーが表示されています。このうち、上半分の刺激画像のみ、奥のディスプレイに表示されています。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まず、上半分の領域において、手前のマーカーに焦点を合わせつつ、奥の刺激画像のぼけを確認してください。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の左右矢印キーを用いて、下半分の刺激画像のぼけ方を、上半分におけるぼけ方と一致させてください。右に行くほどぼけが強くなります。</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ja-JP" altLang="en-US" sz="2000" dirty="0">
                <a:solidFill>
                  <a:schemeClr val="bg1"/>
                </a:solidFill>
              </a:rPr>
              <a:t>下矢印キーで確定し、次の刺激へ進みます</a:t>
            </a:r>
            <a:endParaRPr kumimoji="1" lang="en-US" altLang="ja-JP" sz="2000" dirty="0">
              <a:solidFill>
                <a:schemeClr val="bg1"/>
              </a:solidFill>
            </a:endParaRPr>
          </a:p>
        </p:txBody>
      </p:sp>
      <p:pic>
        <p:nvPicPr>
          <p:cNvPr id="4" name="図 3">
            <a:extLst>
              <a:ext uri="{FF2B5EF4-FFF2-40B4-BE49-F238E27FC236}">
                <a16:creationId xmlns:a16="http://schemas.microsoft.com/office/drawing/2014/main" id="{B00F01A0-F192-76AD-5C55-8F4368967E0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5486" y="1089174"/>
            <a:ext cx="3744000" cy="4679652"/>
          </a:xfrm>
          <a:prstGeom prst="rect">
            <a:avLst/>
          </a:prstGeom>
        </p:spPr>
      </p:pic>
    </p:spTree>
    <p:extLst>
      <p:ext uri="{BB962C8B-B14F-4D97-AF65-F5344CB8AC3E}">
        <p14:creationId xmlns:p14="http://schemas.microsoft.com/office/powerpoint/2010/main" val="2916217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D5CE7CC7-4D9A-7E3A-BD3D-6CE1E7E6E4EC}"/>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410A254-64E2-C1E6-29F8-519578B79BB4}"/>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調整実験</a:t>
            </a:r>
            <a:endParaRPr lang="en-US" altLang="ja-JP" sz="2000" dirty="0">
              <a:solidFill>
                <a:schemeClr val="bg1"/>
              </a:solidFill>
            </a:endParaRPr>
          </a:p>
          <a:p>
            <a:r>
              <a:rPr kumimoji="1" lang="ja-JP" altLang="en-US" sz="2000" dirty="0">
                <a:solidFill>
                  <a:schemeClr val="bg1"/>
                </a:solidFill>
              </a:rPr>
              <a:t>中央の表示領域には、上下に刺激画像が表示されています。下半分の画像は、上半分の画像の背景に、ノイズを加えたものです。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まず、上半分の領域において、刺激画像の見やすさを確認してください。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の左右矢印キーを用いて、下半分の刺激画像の見え方を、上半分の見やすさと一致させてください。右に行くほど見え方が濃くなります。</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pic>
        <p:nvPicPr>
          <p:cNvPr id="4" name="図 3">
            <a:extLst>
              <a:ext uri="{FF2B5EF4-FFF2-40B4-BE49-F238E27FC236}">
                <a16:creationId xmlns:a16="http://schemas.microsoft.com/office/drawing/2014/main" id="{9B7854CB-ADCD-EA94-0FB2-D78104FAFCB4}"/>
              </a:ext>
            </a:extLst>
          </p:cNvPr>
          <p:cNvPicPr>
            <a:picLocks noChangeAspect="1"/>
          </p:cNvPicPr>
          <p:nvPr/>
        </p:nvPicPr>
        <p:blipFill rotWithShape="1">
          <a:blip r:embed="rId2">
            <a:extLst>
              <a:ext uri="{28A0092B-C50C-407E-A947-70E740481C1C}">
                <a14:useLocalDpi xmlns:a14="http://schemas.microsoft.com/office/drawing/2010/main" val="0"/>
              </a:ext>
            </a:extLst>
          </a:blip>
          <a:srcRect l="24295" r="24295"/>
          <a:stretch>
            <a:fillRect/>
          </a:stretch>
        </p:blipFill>
        <p:spPr>
          <a:xfrm flipH="1">
            <a:off x="451730" y="1205192"/>
            <a:ext cx="3744000" cy="3793590"/>
          </a:xfrm>
          <a:prstGeom prst="rect">
            <a:avLst/>
          </a:prstGeom>
        </p:spPr>
      </p:pic>
    </p:spTree>
    <p:extLst>
      <p:ext uri="{BB962C8B-B14F-4D97-AF65-F5344CB8AC3E}">
        <p14:creationId xmlns:p14="http://schemas.microsoft.com/office/powerpoint/2010/main" val="29159576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chemeClr val="tx2"/>
        </a:solidFill>
        <a:effectLst/>
      </p:bgPr>
    </p:bg>
    <p:spTree>
      <p:nvGrpSpPr>
        <p:cNvPr id="1" name="">
          <a:extLst>
            <a:ext uri="{FF2B5EF4-FFF2-40B4-BE49-F238E27FC236}">
              <a16:creationId xmlns:a16="http://schemas.microsoft.com/office/drawing/2014/main" id="{A9085B07-D803-D718-2A2E-F75F8B0F4B3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80943DE5-F0FE-B438-82CF-62109A48D919}"/>
              </a:ext>
            </a:extLst>
          </p:cNvPr>
          <p:cNvSpPr txBox="1"/>
          <p:nvPr/>
        </p:nvSpPr>
        <p:spPr>
          <a:xfrm>
            <a:off x="4655127" y="705177"/>
            <a:ext cx="6643320" cy="4485843"/>
          </a:xfrm>
          <a:prstGeom prst="rect">
            <a:avLst/>
          </a:prstGeom>
          <a:noFill/>
        </p:spPr>
        <p:txBody>
          <a:bodyPr wrap="square" rtlCol="0">
            <a:spAutoFit/>
          </a:bodyPr>
          <a:lstStyle/>
          <a:p>
            <a:r>
              <a:rPr lang="ja-JP" altLang="en-US" sz="2550" b="1" dirty="0">
                <a:solidFill>
                  <a:schemeClr val="bg1"/>
                </a:solidFill>
                <a:latin typeface="+mj-ea"/>
                <a:ea typeface="+mj-ea"/>
              </a:rPr>
              <a:t>推定実験</a:t>
            </a:r>
            <a:endParaRPr lang="en-US" altLang="ja-JP" sz="2000" dirty="0">
              <a:solidFill>
                <a:schemeClr val="bg1"/>
              </a:solidFill>
            </a:endParaRPr>
          </a:p>
          <a:p>
            <a:r>
              <a:rPr kumimoji="1" lang="ja-JP" altLang="en-US" sz="2000" dirty="0">
                <a:solidFill>
                  <a:schemeClr val="bg1"/>
                </a:solidFill>
              </a:rPr>
              <a:t>中央の表示領域に、刺激画像が順番に表示されます。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まず、手前のディスプレイに画像が表示されます。</a:t>
            </a:r>
            <a:endParaRPr kumimoji="1" lang="en-US" altLang="ja-JP" sz="2000" dirty="0">
              <a:solidFill>
                <a:schemeClr val="bg1"/>
              </a:solidFill>
            </a:endParaRPr>
          </a:p>
          <a:p>
            <a:r>
              <a:rPr kumimoji="1" lang="ja-JP" altLang="en-US" sz="2000" dirty="0">
                <a:solidFill>
                  <a:schemeClr val="bg1"/>
                </a:solidFill>
              </a:rPr>
              <a:t>暗転を挟んだ後、手前のディスプレイに同じ画像が、奥のディスプレイに背景となる画像が重ねて表示されます。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刺激表示終了後に、背景の追加によって生じた、手前の画像の見やすさの程度を、</a:t>
            </a:r>
            <a:r>
              <a:rPr kumimoji="1" lang="en-US" altLang="ja-JP" sz="2000" dirty="0">
                <a:solidFill>
                  <a:schemeClr val="bg1"/>
                </a:solidFill>
              </a:rPr>
              <a:t>5</a:t>
            </a:r>
            <a:r>
              <a:rPr kumimoji="1" lang="ja-JP" altLang="en-US" sz="2000" dirty="0">
                <a:solidFill>
                  <a:schemeClr val="bg1"/>
                </a:solidFill>
              </a:rPr>
              <a:t>段階で評価してください。</a:t>
            </a:r>
            <a:endParaRPr kumimoji="1" lang="en-US" altLang="ja-JP" sz="2000" dirty="0">
              <a:solidFill>
                <a:schemeClr val="bg1"/>
              </a:solidFill>
            </a:endParaRPr>
          </a:p>
          <a:p>
            <a:r>
              <a:rPr kumimoji="1" lang="ja-JP" altLang="en-US" sz="2000" dirty="0">
                <a:solidFill>
                  <a:schemeClr val="bg1"/>
                </a:solidFill>
              </a:rPr>
              <a:t>評価基準は、「輪郭や構造、色など、その画像に含まれる特徴をどの程度よく認識できるか」です。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pic>
        <p:nvPicPr>
          <p:cNvPr id="7" name="図 6">
            <a:extLst>
              <a:ext uri="{FF2B5EF4-FFF2-40B4-BE49-F238E27FC236}">
                <a16:creationId xmlns:a16="http://schemas.microsoft.com/office/drawing/2014/main" id="{61A37143-021E-3E02-3951-7919E7E5B03A}"/>
              </a:ext>
            </a:extLst>
          </p:cNvPr>
          <p:cNvPicPr>
            <a:picLocks noChangeAspect="1"/>
          </p:cNvPicPr>
          <p:nvPr/>
        </p:nvPicPr>
        <p:blipFill rotWithShape="1">
          <a:blip r:embed="rId2">
            <a:extLst>
              <a:ext uri="{28A0092B-C50C-407E-A947-70E740481C1C}">
                <a14:useLocalDpi xmlns:a14="http://schemas.microsoft.com/office/drawing/2010/main" val="0"/>
              </a:ext>
            </a:extLst>
          </a:blip>
          <a:srcRect t="10625" b="10625"/>
          <a:stretch>
            <a:fillRect/>
          </a:stretch>
        </p:blipFill>
        <p:spPr>
          <a:xfrm>
            <a:off x="686189" y="2497500"/>
            <a:ext cx="3312000" cy="1863000"/>
          </a:xfrm>
          <a:prstGeom prst="rect">
            <a:avLst/>
          </a:prstGeom>
        </p:spPr>
      </p:pic>
      <p:pic>
        <p:nvPicPr>
          <p:cNvPr id="8" name="図 7">
            <a:extLst>
              <a:ext uri="{FF2B5EF4-FFF2-40B4-BE49-F238E27FC236}">
                <a16:creationId xmlns:a16="http://schemas.microsoft.com/office/drawing/2014/main" id="{4EE72AF4-E718-6F5B-10C5-C99B75979F76}"/>
              </a:ext>
            </a:extLst>
          </p:cNvPr>
          <p:cNvPicPr>
            <a:picLocks noChangeAspect="1"/>
          </p:cNvPicPr>
          <p:nvPr/>
        </p:nvPicPr>
        <p:blipFill rotWithShape="1">
          <a:blip r:embed="rId3">
            <a:extLst>
              <a:ext uri="{28A0092B-C50C-407E-A947-70E740481C1C}">
                <a14:useLocalDpi xmlns:a14="http://schemas.microsoft.com/office/drawing/2010/main" val="0"/>
              </a:ext>
            </a:extLst>
          </a:blip>
          <a:srcRect t="10628" b="10628"/>
          <a:stretch>
            <a:fillRect/>
          </a:stretch>
        </p:blipFill>
        <p:spPr>
          <a:xfrm>
            <a:off x="686189" y="345660"/>
            <a:ext cx="3312000" cy="1863000"/>
          </a:xfrm>
          <a:prstGeom prst="rect">
            <a:avLst/>
          </a:prstGeom>
        </p:spPr>
      </p:pic>
      <p:pic>
        <p:nvPicPr>
          <p:cNvPr id="4" name="図 3">
            <a:extLst>
              <a:ext uri="{FF2B5EF4-FFF2-40B4-BE49-F238E27FC236}">
                <a16:creationId xmlns:a16="http://schemas.microsoft.com/office/drawing/2014/main" id="{BD1AB912-FE21-BAE8-13DC-BEEA63B52477}"/>
              </a:ext>
            </a:extLst>
          </p:cNvPr>
          <p:cNvPicPr>
            <a:picLocks noChangeAspect="1"/>
          </p:cNvPicPr>
          <p:nvPr/>
        </p:nvPicPr>
        <p:blipFill>
          <a:blip r:embed="rId4"/>
          <a:stretch>
            <a:fillRect/>
          </a:stretch>
        </p:blipFill>
        <p:spPr>
          <a:xfrm>
            <a:off x="686189" y="4649340"/>
            <a:ext cx="3312000" cy="1937092"/>
          </a:xfrm>
          <a:prstGeom prst="rect">
            <a:avLst/>
          </a:prstGeom>
        </p:spPr>
      </p:pic>
      <p:sp>
        <p:nvSpPr>
          <p:cNvPr id="5" name="矢印: 下 4">
            <a:extLst>
              <a:ext uri="{FF2B5EF4-FFF2-40B4-BE49-F238E27FC236}">
                <a16:creationId xmlns:a16="http://schemas.microsoft.com/office/drawing/2014/main" id="{971B9A4C-A212-3AD8-2489-B9E9BD44FB6A}"/>
              </a:ext>
            </a:extLst>
          </p:cNvPr>
          <p:cNvSpPr/>
          <p:nvPr/>
        </p:nvSpPr>
        <p:spPr>
          <a:xfrm>
            <a:off x="1879793" y="220866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9" name="矢印: 下 8">
            <a:extLst>
              <a:ext uri="{FF2B5EF4-FFF2-40B4-BE49-F238E27FC236}">
                <a16:creationId xmlns:a16="http://schemas.microsoft.com/office/drawing/2014/main" id="{85A5CB5A-43B1-301D-B890-FC0D3398665F}"/>
              </a:ext>
            </a:extLst>
          </p:cNvPr>
          <p:cNvSpPr/>
          <p:nvPr/>
        </p:nvSpPr>
        <p:spPr>
          <a:xfrm>
            <a:off x="1879793" y="436050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288060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0F24FED2-85A1-8005-E543-1C5ECC2472E2}"/>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0375E41-7500-D920-505B-BF618CE4175C}"/>
              </a:ext>
            </a:extLst>
          </p:cNvPr>
          <p:cNvSpPr txBox="1"/>
          <p:nvPr/>
        </p:nvSpPr>
        <p:spPr>
          <a:xfrm>
            <a:off x="893553" y="705177"/>
            <a:ext cx="10404894" cy="2023631"/>
          </a:xfrm>
          <a:prstGeom prst="rect">
            <a:avLst/>
          </a:prstGeom>
          <a:noFill/>
        </p:spPr>
        <p:txBody>
          <a:bodyPr wrap="square" rtlCol="0">
            <a:spAutoFit/>
          </a:bodyPr>
          <a:lstStyle/>
          <a:p>
            <a:r>
              <a:rPr lang="ja-JP" altLang="en-US" sz="2550" b="1" dirty="0">
                <a:solidFill>
                  <a:schemeClr val="bg1"/>
                </a:solidFill>
                <a:latin typeface="+mj-ea"/>
                <a:ea typeface="+mj-ea"/>
              </a:rPr>
              <a:t>本番セッション</a:t>
            </a:r>
            <a:endParaRPr lang="en-US" altLang="ja-JP" sz="2550" b="1" dirty="0">
              <a:solidFill>
                <a:schemeClr val="bg1"/>
              </a:solidFill>
              <a:latin typeface="+mj-ea"/>
              <a:ea typeface="+mj-ea"/>
            </a:endParaRPr>
          </a:p>
          <a:p>
            <a:r>
              <a:rPr kumimoji="1" lang="ja-JP" altLang="en-US" sz="2000" dirty="0">
                <a:solidFill>
                  <a:schemeClr val="bg1"/>
                </a:solidFill>
              </a:rPr>
              <a:t>実験本番です。トレーニングセッションと同じタスクを、同じ順番で行います。</a:t>
            </a:r>
            <a:endParaRPr kumimoji="1" lang="en-US" altLang="ja-JP" sz="2000" dirty="0">
              <a:solidFill>
                <a:schemeClr val="bg1"/>
              </a:solidFill>
            </a:endParaRPr>
          </a:p>
          <a:p>
            <a:r>
              <a:rPr kumimoji="1" lang="ja-JP" altLang="en-US" sz="2000" dirty="0">
                <a:solidFill>
                  <a:schemeClr val="bg1"/>
                </a:solidFill>
              </a:rPr>
              <a:t>このセッションは</a:t>
            </a:r>
            <a:r>
              <a:rPr kumimoji="1" lang="en-US" altLang="ja-JP" sz="2000" dirty="0">
                <a:solidFill>
                  <a:schemeClr val="bg1"/>
                </a:solidFill>
              </a:rPr>
              <a:t>1</a:t>
            </a:r>
            <a:r>
              <a:rPr kumimoji="1" lang="ja-JP" altLang="en-US" sz="2000" dirty="0">
                <a:solidFill>
                  <a:schemeClr val="bg1"/>
                </a:solidFill>
              </a:rPr>
              <a:t>回のみ行います。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31990747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3D0AA7F7-94A8-27FC-F16E-E99757B66783}"/>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BA8E8BD9-3F83-842A-0E88-2F2D568B59FE}"/>
              </a:ext>
            </a:extLst>
          </p:cNvPr>
          <p:cNvSpPr txBox="1"/>
          <p:nvPr/>
        </p:nvSpPr>
        <p:spPr>
          <a:xfrm>
            <a:off x="4655125" y="705177"/>
            <a:ext cx="6643321" cy="3870290"/>
          </a:xfrm>
          <a:prstGeom prst="rect">
            <a:avLst/>
          </a:prstGeom>
          <a:noFill/>
        </p:spPr>
        <p:txBody>
          <a:bodyPr wrap="square" rtlCol="0">
            <a:spAutoFit/>
          </a:bodyPr>
          <a:lstStyle/>
          <a:p>
            <a:r>
              <a:rPr lang="ja-JP" altLang="en-US" sz="2550" b="1" dirty="0">
                <a:solidFill>
                  <a:schemeClr val="bg1"/>
                </a:solidFill>
                <a:latin typeface="+mj-ea"/>
                <a:ea typeface="+mj-ea"/>
              </a:rPr>
              <a:t>位置キャリブレーション</a:t>
            </a:r>
            <a:endParaRPr lang="en-US" altLang="ja-JP" sz="2550" b="1" dirty="0">
              <a:solidFill>
                <a:schemeClr val="bg1"/>
              </a:solidFill>
              <a:latin typeface="+mj-ea"/>
              <a:ea typeface="+mj-ea"/>
            </a:endParaRPr>
          </a:p>
          <a:p>
            <a:endParaRPr lang="en-US" altLang="ja-JP" sz="2000" dirty="0">
              <a:solidFill>
                <a:schemeClr val="bg1"/>
              </a:solidFill>
            </a:endParaRPr>
          </a:p>
          <a:p>
            <a:r>
              <a:rPr lang="ja-JP" altLang="en-US" sz="2000" dirty="0">
                <a:solidFill>
                  <a:schemeClr val="bg1"/>
                </a:solidFill>
              </a:rPr>
              <a:t>操作用</a:t>
            </a:r>
            <a:r>
              <a:rPr lang="en-US" altLang="ja-JP" sz="2000" dirty="0">
                <a:solidFill>
                  <a:schemeClr val="bg1"/>
                </a:solidFill>
              </a:rPr>
              <a:t>PC</a:t>
            </a:r>
            <a:r>
              <a:rPr lang="ja-JP" altLang="en-US" sz="2000" dirty="0">
                <a:solidFill>
                  <a:schemeClr val="bg1"/>
                </a:solidFill>
              </a:rPr>
              <a:t>の矢印キーを用いて、奥のディスプレイに表示されている正方形の枠（赤）の位置を動かし、手前のディスプレイに表示されている正方形の枠（白）に合わせます。</a:t>
            </a:r>
            <a:endParaRPr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この操作は、右目と左目片方ずつ行うので、使用していない方の目は、手元の目隠しで覆ってください。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キーで確定し、次に進みます。</a:t>
            </a:r>
            <a:endParaRPr kumimoji="1" lang="en-US" altLang="ja-JP" sz="2000" dirty="0">
              <a:solidFill>
                <a:schemeClr val="bg1"/>
              </a:solidFill>
            </a:endParaRPr>
          </a:p>
        </p:txBody>
      </p:sp>
      <p:pic>
        <p:nvPicPr>
          <p:cNvPr id="7" name="図 6">
            <a:extLst>
              <a:ext uri="{FF2B5EF4-FFF2-40B4-BE49-F238E27FC236}">
                <a16:creationId xmlns:a16="http://schemas.microsoft.com/office/drawing/2014/main" id="{01AE8888-E6C6-638D-BF5D-D42E3DECA8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5105" y="1096241"/>
            <a:ext cx="3744484" cy="4665518"/>
          </a:xfrm>
          <a:prstGeom prst="rect">
            <a:avLst/>
          </a:prstGeom>
        </p:spPr>
      </p:pic>
    </p:spTree>
    <p:extLst>
      <p:ext uri="{BB962C8B-B14F-4D97-AF65-F5344CB8AC3E}">
        <p14:creationId xmlns:p14="http://schemas.microsoft.com/office/powerpoint/2010/main" val="7998017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82702AF8-6931-1E9A-708B-718C3D64713C}"/>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68A58177-C553-0287-15D7-7841138801C4}"/>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ぼけキャリブレーション</a:t>
            </a:r>
            <a:endParaRPr lang="en-US" altLang="ja-JP" sz="2000" dirty="0">
              <a:solidFill>
                <a:schemeClr val="bg1"/>
              </a:solidFill>
            </a:endParaRPr>
          </a:p>
          <a:p>
            <a:r>
              <a:rPr kumimoji="1" lang="ja-JP" altLang="en-US" sz="2000" dirty="0">
                <a:solidFill>
                  <a:schemeClr val="bg1"/>
                </a:solidFill>
              </a:rPr>
              <a:t>中央の表示領域には、上下に同じ刺激画像とマーカーが表示されています。このうち、上半分の刺激画像のみ、奥のディスプレイに表示されています。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まず、上半分の領域において、手前のマーカーに焦点を合わせつつ、奥の刺激画像のぼけを確認してください。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の左右矢印キーを用いて、下半分の刺激画像のぼけ方を、上半分におけるぼけ方と一致させてください。右に行くほどぼけが強くなります。</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ja-JP" altLang="en-US" sz="2000" dirty="0">
                <a:solidFill>
                  <a:schemeClr val="bg1"/>
                </a:solidFill>
              </a:rPr>
              <a:t>下矢印キーで確定し、次の刺激へ進みます</a:t>
            </a:r>
            <a:endParaRPr kumimoji="1" lang="en-US" altLang="ja-JP" sz="2000" dirty="0">
              <a:solidFill>
                <a:schemeClr val="bg1"/>
              </a:solidFill>
            </a:endParaRPr>
          </a:p>
        </p:txBody>
      </p:sp>
      <p:pic>
        <p:nvPicPr>
          <p:cNvPr id="4" name="図 3">
            <a:extLst>
              <a:ext uri="{FF2B5EF4-FFF2-40B4-BE49-F238E27FC236}">
                <a16:creationId xmlns:a16="http://schemas.microsoft.com/office/drawing/2014/main" id="{5A466B92-6E6A-F05E-74B5-903A05E2FD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5486" y="1089174"/>
            <a:ext cx="3744000" cy="4679652"/>
          </a:xfrm>
          <a:prstGeom prst="rect">
            <a:avLst/>
          </a:prstGeom>
        </p:spPr>
      </p:pic>
    </p:spTree>
    <p:extLst>
      <p:ext uri="{BB962C8B-B14F-4D97-AF65-F5344CB8AC3E}">
        <p14:creationId xmlns:p14="http://schemas.microsoft.com/office/powerpoint/2010/main" val="18003444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EF3C46E1-4D72-07E6-3E88-5BF28B26A08A}"/>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2BB2A4B-519D-9B16-DF99-80D77C1307EF}"/>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調整実験</a:t>
            </a:r>
            <a:endParaRPr lang="en-US" altLang="ja-JP" sz="2000" dirty="0">
              <a:solidFill>
                <a:schemeClr val="bg1"/>
              </a:solidFill>
            </a:endParaRPr>
          </a:p>
          <a:p>
            <a:r>
              <a:rPr kumimoji="1" lang="ja-JP" altLang="en-US" sz="2000" dirty="0">
                <a:solidFill>
                  <a:schemeClr val="bg1"/>
                </a:solidFill>
              </a:rPr>
              <a:t>中央の表示領域には、上下に刺激画像が表示されています。下半分の画像は、上半分の画像の背景に、ノイズを加えたものです。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まず、上半分の領域において、刺激画像の見やすさを確認してください。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の左右矢印キーを用いて、下半分の刺激画像の見え方を、上半分の見やすさと一致させてください。右に行くほど見え方が濃くなります。</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pic>
        <p:nvPicPr>
          <p:cNvPr id="4" name="図 3">
            <a:extLst>
              <a:ext uri="{FF2B5EF4-FFF2-40B4-BE49-F238E27FC236}">
                <a16:creationId xmlns:a16="http://schemas.microsoft.com/office/drawing/2014/main" id="{88C9368C-38C0-F3D2-9E70-248A669C2F46}"/>
              </a:ext>
            </a:extLst>
          </p:cNvPr>
          <p:cNvPicPr>
            <a:picLocks noChangeAspect="1"/>
          </p:cNvPicPr>
          <p:nvPr/>
        </p:nvPicPr>
        <p:blipFill rotWithShape="1">
          <a:blip r:embed="rId2">
            <a:extLst>
              <a:ext uri="{28A0092B-C50C-407E-A947-70E740481C1C}">
                <a14:useLocalDpi xmlns:a14="http://schemas.microsoft.com/office/drawing/2010/main" val="0"/>
              </a:ext>
            </a:extLst>
          </a:blip>
          <a:srcRect l="24295" r="24295"/>
          <a:stretch>
            <a:fillRect/>
          </a:stretch>
        </p:blipFill>
        <p:spPr>
          <a:xfrm flipH="1">
            <a:off x="451730" y="1205192"/>
            <a:ext cx="3744000" cy="3793590"/>
          </a:xfrm>
          <a:prstGeom prst="rect">
            <a:avLst/>
          </a:prstGeom>
        </p:spPr>
      </p:pic>
    </p:spTree>
    <p:extLst>
      <p:ext uri="{BB962C8B-B14F-4D97-AF65-F5344CB8AC3E}">
        <p14:creationId xmlns:p14="http://schemas.microsoft.com/office/powerpoint/2010/main" val="22955797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chemeClr val="tx2"/>
        </a:solidFill>
        <a:effectLst/>
      </p:bgPr>
    </p:bg>
    <p:spTree>
      <p:nvGrpSpPr>
        <p:cNvPr id="1" name="">
          <a:extLst>
            <a:ext uri="{FF2B5EF4-FFF2-40B4-BE49-F238E27FC236}">
              <a16:creationId xmlns:a16="http://schemas.microsoft.com/office/drawing/2014/main" id="{0428B59E-7A58-969B-0FD0-22B5AD6A1D74}"/>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D4885A7-248A-2407-1F7C-AEAEF1F3CB77}"/>
              </a:ext>
            </a:extLst>
          </p:cNvPr>
          <p:cNvSpPr txBox="1"/>
          <p:nvPr/>
        </p:nvSpPr>
        <p:spPr>
          <a:xfrm>
            <a:off x="4655127" y="705177"/>
            <a:ext cx="6643320" cy="4485843"/>
          </a:xfrm>
          <a:prstGeom prst="rect">
            <a:avLst/>
          </a:prstGeom>
          <a:noFill/>
        </p:spPr>
        <p:txBody>
          <a:bodyPr wrap="square" rtlCol="0">
            <a:spAutoFit/>
          </a:bodyPr>
          <a:lstStyle/>
          <a:p>
            <a:r>
              <a:rPr lang="ja-JP" altLang="en-US" sz="2550" b="1" dirty="0">
                <a:solidFill>
                  <a:schemeClr val="bg1"/>
                </a:solidFill>
                <a:latin typeface="+mj-ea"/>
                <a:ea typeface="+mj-ea"/>
              </a:rPr>
              <a:t>推定実験</a:t>
            </a:r>
            <a:endParaRPr lang="en-US" altLang="ja-JP" sz="2000" dirty="0">
              <a:solidFill>
                <a:schemeClr val="bg1"/>
              </a:solidFill>
            </a:endParaRPr>
          </a:p>
          <a:p>
            <a:r>
              <a:rPr kumimoji="1" lang="ja-JP" altLang="en-US" sz="2000" dirty="0">
                <a:solidFill>
                  <a:schemeClr val="bg1"/>
                </a:solidFill>
              </a:rPr>
              <a:t>中央の表示領域に、刺激画像が順番に表示されます。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まず、手前のディスプレイに画像が表示されます。</a:t>
            </a:r>
            <a:endParaRPr kumimoji="1" lang="en-US" altLang="ja-JP" sz="2000" dirty="0">
              <a:solidFill>
                <a:schemeClr val="bg1"/>
              </a:solidFill>
            </a:endParaRPr>
          </a:p>
          <a:p>
            <a:r>
              <a:rPr kumimoji="1" lang="ja-JP" altLang="en-US" sz="2000" dirty="0">
                <a:solidFill>
                  <a:schemeClr val="bg1"/>
                </a:solidFill>
              </a:rPr>
              <a:t>暗転を挟んだ後、手前のディスプレイに同じ画像が、奥のディスプレイに背景となる画像が重ねて表示されます。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刺激表示終了後に、背景の追加によって生じた、手前の画像の見やすさの程度を、</a:t>
            </a:r>
            <a:r>
              <a:rPr kumimoji="1" lang="en-US" altLang="ja-JP" sz="2000" dirty="0">
                <a:solidFill>
                  <a:schemeClr val="bg1"/>
                </a:solidFill>
              </a:rPr>
              <a:t>5</a:t>
            </a:r>
            <a:r>
              <a:rPr kumimoji="1" lang="ja-JP" altLang="en-US" sz="2000" dirty="0">
                <a:solidFill>
                  <a:schemeClr val="bg1"/>
                </a:solidFill>
              </a:rPr>
              <a:t>段階で評価してください。</a:t>
            </a:r>
            <a:endParaRPr kumimoji="1" lang="en-US" altLang="ja-JP" sz="2000" dirty="0">
              <a:solidFill>
                <a:schemeClr val="bg1"/>
              </a:solidFill>
            </a:endParaRPr>
          </a:p>
          <a:p>
            <a:r>
              <a:rPr kumimoji="1" lang="ja-JP" altLang="en-US" sz="2000" dirty="0">
                <a:solidFill>
                  <a:schemeClr val="bg1"/>
                </a:solidFill>
              </a:rPr>
              <a:t>評価基準は、「輪郭や構造、色など、その画像に含まれる特徴をどの程度よく認識できるか」です。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pic>
        <p:nvPicPr>
          <p:cNvPr id="7" name="図 6">
            <a:extLst>
              <a:ext uri="{FF2B5EF4-FFF2-40B4-BE49-F238E27FC236}">
                <a16:creationId xmlns:a16="http://schemas.microsoft.com/office/drawing/2014/main" id="{EDAD783C-AB0C-5545-97CE-C91D09FDF12D}"/>
              </a:ext>
            </a:extLst>
          </p:cNvPr>
          <p:cNvPicPr>
            <a:picLocks noChangeAspect="1"/>
          </p:cNvPicPr>
          <p:nvPr/>
        </p:nvPicPr>
        <p:blipFill rotWithShape="1">
          <a:blip r:embed="rId2">
            <a:extLst>
              <a:ext uri="{28A0092B-C50C-407E-A947-70E740481C1C}">
                <a14:useLocalDpi xmlns:a14="http://schemas.microsoft.com/office/drawing/2010/main" val="0"/>
              </a:ext>
            </a:extLst>
          </a:blip>
          <a:srcRect t="10625" b="10625"/>
          <a:stretch>
            <a:fillRect/>
          </a:stretch>
        </p:blipFill>
        <p:spPr>
          <a:xfrm>
            <a:off x="686189" y="2497500"/>
            <a:ext cx="3312000" cy="1863000"/>
          </a:xfrm>
          <a:prstGeom prst="rect">
            <a:avLst/>
          </a:prstGeom>
        </p:spPr>
      </p:pic>
      <p:pic>
        <p:nvPicPr>
          <p:cNvPr id="8" name="図 7">
            <a:extLst>
              <a:ext uri="{FF2B5EF4-FFF2-40B4-BE49-F238E27FC236}">
                <a16:creationId xmlns:a16="http://schemas.microsoft.com/office/drawing/2014/main" id="{54F406C8-254E-379A-7C9F-0548AC2A4536}"/>
              </a:ext>
            </a:extLst>
          </p:cNvPr>
          <p:cNvPicPr>
            <a:picLocks noChangeAspect="1"/>
          </p:cNvPicPr>
          <p:nvPr/>
        </p:nvPicPr>
        <p:blipFill rotWithShape="1">
          <a:blip r:embed="rId3">
            <a:extLst>
              <a:ext uri="{28A0092B-C50C-407E-A947-70E740481C1C}">
                <a14:useLocalDpi xmlns:a14="http://schemas.microsoft.com/office/drawing/2010/main" val="0"/>
              </a:ext>
            </a:extLst>
          </a:blip>
          <a:srcRect t="10628" b="10628"/>
          <a:stretch>
            <a:fillRect/>
          </a:stretch>
        </p:blipFill>
        <p:spPr>
          <a:xfrm>
            <a:off x="686189" y="345660"/>
            <a:ext cx="3312000" cy="1863000"/>
          </a:xfrm>
          <a:prstGeom prst="rect">
            <a:avLst/>
          </a:prstGeom>
        </p:spPr>
      </p:pic>
      <p:pic>
        <p:nvPicPr>
          <p:cNvPr id="4" name="図 3">
            <a:extLst>
              <a:ext uri="{FF2B5EF4-FFF2-40B4-BE49-F238E27FC236}">
                <a16:creationId xmlns:a16="http://schemas.microsoft.com/office/drawing/2014/main" id="{1C5C45AF-738A-A5FE-F289-1D8983D15F1B}"/>
              </a:ext>
            </a:extLst>
          </p:cNvPr>
          <p:cNvPicPr>
            <a:picLocks noChangeAspect="1"/>
          </p:cNvPicPr>
          <p:nvPr/>
        </p:nvPicPr>
        <p:blipFill>
          <a:blip r:embed="rId4"/>
          <a:stretch>
            <a:fillRect/>
          </a:stretch>
        </p:blipFill>
        <p:spPr>
          <a:xfrm>
            <a:off x="686189" y="4649340"/>
            <a:ext cx="3312000" cy="1937092"/>
          </a:xfrm>
          <a:prstGeom prst="rect">
            <a:avLst/>
          </a:prstGeom>
        </p:spPr>
      </p:pic>
      <p:sp>
        <p:nvSpPr>
          <p:cNvPr id="5" name="矢印: 下 4">
            <a:extLst>
              <a:ext uri="{FF2B5EF4-FFF2-40B4-BE49-F238E27FC236}">
                <a16:creationId xmlns:a16="http://schemas.microsoft.com/office/drawing/2014/main" id="{F25D4691-7674-22E3-8E27-943D0DD30CB8}"/>
              </a:ext>
            </a:extLst>
          </p:cNvPr>
          <p:cNvSpPr/>
          <p:nvPr/>
        </p:nvSpPr>
        <p:spPr>
          <a:xfrm>
            <a:off x="1879793" y="220866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9" name="矢印: 下 8">
            <a:extLst>
              <a:ext uri="{FF2B5EF4-FFF2-40B4-BE49-F238E27FC236}">
                <a16:creationId xmlns:a16="http://schemas.microsoft.com/office/drawing/2014/main" id="{24D4ADAF-64E6-6B7A-6555-0B2F93880A14}"/>
              </a:ext>
            </a:extLst>
          </p:cNvPr>
          <p:cNvSpPr/>
          <p:nvPr/>
        </p:nvSpPr>
        <p:spPr>
          <a:xfrm>
            <a:off x="1879793" y="436050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4835375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727490C9-5882-E858-8D26-0E21730107AE}"/>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F7AE1931-7346-421B-6BD0-DC183A6EB5C8}"/>
              </a:ext>
            </a:extLst>
          </p:cNvPr>
          <p:cNvSpPr txBox="1"/>
          <p:nvPr/>
        </p:nvSpPr>
        <p:spPr>
          <a:xfrm>
            <a:off x="893553" y="705177"/>
            <a:ext cx="10404894" cy="2023631"/>
          </a:xfrm>
          <a:prstGeom prst="rect">
            <a:avLst/>
          </a:prstGeom>
          <a:noFill/>
        </p:spPr>
        <p:txBody>
          <a:bodyPr wrap="square" rtlCol="0">
            <a:spAutoFit/>
          </a:bodyPr>
          <a:lstStyle/>
          <a:p>
            <a:r>
              <a:rPr lang="ja-JP" altLang="en-US" sz="2550" b="1" dirty="0">
                <a:solidFill>
                  <a:schemeClr val="bg1"/>
                </a:solidFill>
                <a:latin typeface="+mj-ea"/>
                <a:ea typeface="+mj-ea"/>
              </a:rPr>
              <a:t>本番セッション</a:t>
            </a:r>
            <a:endParaRPr lang="en-US" altLang="ja-JP" sz="2550" b="1" dirty="0">
              <a:solidFill>
                <a:schemeClr val="bg1"/>
              </a:solidFill>
              <a:latin typeface="+mj-ea"/>
              <a:ea typeface="+mj-ea"/>
            </a:endParaRPr>
          </a:p>
          <a:p>
            <a:r>
              <a:rPr kumimoji="1" lang="ja-JP" altLang="en-US" sz="2000" dirty="0">
                <a:solidFill>
                  <a:schemeClr val="bg1"/>
                </a:solidFill>
              </a:rPr>
              <a:t>実験本番です。トレーニングセッションと同じタスクを、同じ順番で行います。</a:t>
            </a:r>
            <a:endParaRPr kumimoji="1" lang="en-US" altLang="ja-JP" sz="2000" dirty="0">
              <a:solidFill>
                <a:schemeClr val="bg1"/>
              </a:solidFill>
            </a:endParaRPr>
          </a:p>
          <a:p>
            <a:r>
              <a:rPr kumimoji="1" lang="ja-JP" altLang="en-US" sz="2000" dirty="0">
                <a:solidFill>
                  <a:schemeClr val="bg1"/>
                </a:solidFill>
              </a:rPr>
              <a:t>このセッションは</a:t>
            </a:r>
            <a:r>
              <a:rPr kumimoji="1" lang="en-US" altLang="ja-JP" sz="2000" dirty="0">
                <a:solidFill>
                  <a:schemeClr val="bg1"/>
                </a:solidFill>
              </a:rPr>
              <a:t>1</a:t>
            </a:r>
            <a:r>
              <a:rPr kumimoji="1" lang="ja-JP" altLang="en-US" sz="2000" dirty="0">
                <a:solidFill>
                  <a:schemeClr val="bg1"/>
                </a:solidFill>
              </a:rPr>
              <a:t>回のみ行います。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15902129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8BE3E49-0AFA-E18C-F7A8-CF22391C9531}"/>
              </a:ext>
            </a:extLst>
          </p:cNvPr>
          <p:cNvSpPr txBox="1"/>
          <p:nvPr/>
        </p:nvSpPr>
        <p:spPr>
          <a:xfrm>
            <a:off x="948906" y="3013501"/>
            <a:ext cx="10404894" cy="830997"/>
          </a:xfrm>
          <a:prstGeom prst="rect">
            <a:avLst/>
          </a:prstGeom>
          <a:solidFill>
            <a:schemeClr val="tx2"/>
          </a:solidFill>
        </p:spPr>
        <p:txBody>
          <a:bodyPr wrap="square" rtlCol="0">
            <a:spAutoFit/>
          </a:bodyPr>
          <a:lstStyle/>
          <a:p>
            <a:r>
              <a:rPr lang="ja-JP" altLang="en-US" sz="2400" dirty="0">
                <a:solidFill>
                  <a:schemeClr val="bg1"/>
                </a:solidFill>
              </a:rPr>
              <a:t>これにて全実験終了となります</a:t>
            </a:r>
            <a:endParaRPr lang="en-US" altLang="ja-JP" sz="2400" dirty="0">
              <a:solidFill>
                <a:schemeClr val="bg1"/>
              </a:solidFill>
            </a:endParaRPr>
          </a:p>
          <a:p>
            <a:r>
              <a:rPr lang="ja-JP" altLang="en-US" sz="2400" dirty="0">
                <a:solidFill>
                  <a:schemeClr val="bg1"/>
                </a:solidFill>
              </a:rPr>
              <a:t>ご協力いただきありがとうございました</a:t>
            </a:r>
            <a:endParaRPr lang="en-US" altLang="ja-JP" sz="3600" dirty="0">
              <a:solidFill>
                <a:schemeClr val="bg1"/>
              </a:solidFill>
            </a:endParaRPr>
          </a:p>
        </p:txBody>
      </p:sp>
    </p:spTree>
    <p:extLst>
      <p:ext uri="{BB962C8B-B14F-4D97-AF65-F5344CB8AC3E}">
        <p14:creationId xmlns:p14="http://schemas.microsoft.com/office/powerpoint/2010/main" val="2060506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02EABA4-8FA1-0C84-A8FF-D9555D21D034}"/>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BC84E06-6A44-BE77-AF9D-87EC16A5D443}"/>
              </a:ext>
            </a:extLst>
          </p:cNvPr>
          <p:cNvSpPr txBox="1"/>
          <p:nvPr/>
        </p:nvSpPr>
        <p:spPr>
          <a:xfrm>
            <a:off x="893553" y="243513"/>
            <a:ext cx="10404894" cy="6370975"/>
          </a:xfrm>
          <a:prstGeom prst="rect">
            <a:avLst/>
          </a:prstGeom>
          <a:noFill/>
        </p:spPr>
        <p:txBody>
          <a:bodyPr wrap="square" rtlCol="0">
            <a:spAutoFit/>
          </a:bodyPr>
          <a:lstStyle/>
          <a:p>
            <a:r>
              <a:rPr lang="ja-JP" altLang="ja-JP" sz="2800" b="1" dirty="0">
                <a:solidFill>
                  <a:schemeClr val="bg2"/>
                </a:solidFill>
              </a:rPr>
              <a:t>About this experiment</a:t>
            </a:r>
            <a:endParaRPr lang="ja-JP" altLang="ja-JP" sz="2800" dirty="0">
              <a:solidFill>
                <a:schemeClr val="bg2"/>
              </a:solidFill>
            </a:endParaRPr>
          </a:p>
          <a:p>
            <a:r>
              <a:rPr lang="ja-JP" altLang="ja-JP" sz="2000" dirty="0">
                <a:solidFill>
                  <a:schemeClr val="bg2"/>
                </a:solidFill>
              </a:rPr>
              <a:t>This experiment is for the study of perceptual visibility prediction in optical see-through AR.</a:t>
            </a:r>
          </a:p>
          <a:p>
            <a:r>
              <a:rPr lang="ja-JP" altLang="ja-JP" sz="2000" dirty="0">
                <a:solidFill>
                  <a:schemeClr val="bg2"/>
                </a:solidFill>
              </a:rPr>
              <a:t>You will be asked to view two stimulus images, a Reference image and a Test image, and perform operations or make judgments based on them. The experiment consists of a calibration section and two experimental sections. The details of the operations and judgments will be explained before each section. The two experimental sections are expected to take about </a:t>
            </a:r>
            <a:r>
              <a:rPr lang="en-US" altLang="ja-JP" sz="2000" dirty="0">
                <a:solidFill>
                  <a:schemeClr val="bg2"/>
                </a:solidFill>
              </a:rPr>
              <a:t>20~30</a:t>
            </a:r>
            <a:r>
              <a:rPr lang="ja-JP" altLang="ja-JP" sz="2000" dirty="0">
                <a:solidFill>
                  <a:schemeClr val="bg2"/>
                </a:solidFill>
              </a:rPr>
              <a:t> minutes each, for approximately </a:t>
            </a:r>
            <a:r>
              <a:rPr lang="en-US" altLang="ja-JP" sz="2000" dirty="0">
                <a:solidFill>
                  <a:schemeClr val="bg2"/>
                </a:solidFill>
              </a:rPr>
              <a:t>6</a:t>
            </a:r>
            <a:r>
              <a:rPr lang="ja-JP" altLang="ja-JP" sz="2000" dirty="0">
                <a:solidFill>
                  <a:schemeClr val="bg2"/>
                </a:solidFill>
              </a:rPr>
              <a:t>0 minutes overall.</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The experiment may cause eye fatigue. If you feel unwell or have any concerns, please inform the person in charge of the experiment at any time. We will suspend or terminate the experiment as needed.</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The data measured in this experiment will be used for research on perceptual visibility prediction in optical see-through AR. The research results may be published in academic publications, such as papers and presentations at academic conferences, as well as for the purpose of publicizing the research activities of the Oishi Laboratory. When analyzing and publishing the experimental data, all data will be anonymized, and no privacy-related information will be disclosed.</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Space key to go to the next page.</a:t>
            </a:r>
            <a:endParaRPr kumimoji="1" lang="en-US" altLang="ja-JP" sz="2000" dirty="0">
              <a:solidFill>
                <a:schemeClr val="bg2"/>
              </a:solidFill>
            </a:endParaRPr>
          </a:p>
        </p:txBody>
      </p:sp>
    </p:spTree>
    <p:extLst>
      <p:ext uri="{BB962C8B-B14F-4D97-AF65-F5344CB8AC3E}">
        <p14:creationId xmlns:p14="http://schemas.microsoft.com/office/powerpoint/2010/main" val="29732362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F7BD16B-74EC-EC4A-5336-FF89C5B9AD97}"/>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8A1AB0D9-E2D5-0648-5AAD-3FB67388D27A}"/>
              </a:ext>
            </a:extLst>
          </p:cNvPr>
          <p:cNvSpPr txBox="1"/>
          <p:nvPr/>
        </p:nvSpPr>
        <p:spPr>
          <a:xfrm>
            <a:off x="893553" y="705177"/>
            <a:ext cx="10404894" cy="4524315"/>
          </a:xfrm>
          <a:prstGeom prst="rect">
            <a:avLst/>
          </a:prstGeom>
          <a:noFill/>
        </p:spPr>
        <p:txBody>
          <a:bodyPr wrap="square" rtlCol="0">
            <a:spAutoFit/>
          </a:bodyPr>
          <a:lstStyle/>
          <a:p>
            <a:r>
              <a:rPr lang="ja-JP" altLang="ja-JP" sz="2800" b="1" dirty="0">
                <a:solidFill>
                  <a:schemeClr val="bg2"/>
                </a:solidFill>
              </a:rPr>
              <a:t>Operational notes</a:t>
            </a:r>
            <a:endParaRPr lang="ja-JP" altLang="ja-JP" sz="2800" dirty="0">
              <a:solidFill>
                <a:schemeClr val="bg2"/>
              </a:solidFill>
            </a:endParaRPr>
          </a:p>
          <a:p>
            <a:r>
              <a:rPr lang="ja-JP" altLang="ja-JP" sz="2000" dirty="0">
                <a:solidFill>
                  <a:schemeClr val="bg2"/>
                </a:solidFill>
              </a:rPr>
              <a:t>In each section of this experiment, you will manipulate the stimuli and make judgments using the arrow keys on the control PC.</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For tasks in which you are asked to match the appearance of the Reference stimulus and the Test stimulus, please proceed carefully by moving back and forth around the point at which the two stimuli appear to match.</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Please note that, in the calibration and adjustment experiments, it may be difficult to focus on the Test stimulus displayed on the foreground display due to the nature of the setup. In such cases, please avoid staring at the Test stimulus. Instead, quickly shift your gaze between the Test stimulus and the Reference stimulus to prevent changes in focus.</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Space key to go to the next page.</a:t>
            </a:r>
          </a:p>
        </p:txBody>
      </p:sp>
    </p:spTree>
    <p:extLst>
      <p:ext uri="{BB962C8B-B14F-4D97-AF65-F5344CB8AC3E}">
        <p14:creationId xmlns:p14="http://schemas.microsoft.com/office/powerpoint/2010/main" val="27308372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6224948F-CC32-BECF-467A-55468A63F8CF}"/>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563C982-25D5-EA0E-1AAB-06506D3989E8}"/>
              </a:ext>
            </a:extLst>
          </p:cNvPr>
          <p:cNvSpPr txBox="1"/>
          <p:nvPr/>
        </p:nvSpPr>
        <p:spPr>
          <a:xfrm>
            <a:off x="893553" y="705177"/>
            <a:ext cx="10404894" cy="5755422"/>
          </a:xfrm>
          <a:prstGeom prst="rect">
            <a:avLst/>
          </a:prstGeom>
          <a:noFill/>
        </p:spPr>
        <p:txBody>
          <a:bodyPr wrap="square" rtlCol="0">
            <a:spAutoFit/>
          </a:bodyPr>
          <a:lstStyle/>
          <a:p>
            <a:r>
              <a:rPr lang="ja-JP" altLang="ja-JP" sz="2800" b="1" dirty="0">
                <a:solidFill>
                  <a:schemeClr val="bg1"/>
                </a:solidFill>
              </a:rPr>
              <a:t>Recording Participant Information</a:t>
            </a:r>
            <a:endParaRPr lang="ja-JP" altLang="ja-JP" sz="2800" dirty="0">
              <a:solidFill>
                <a:schemeClr val="bg1"/>
              </a:solidFill>
            </a:endParaRPr>
          </a:p>
          <a:p>
            <a:r>
              <a:rPr lang="ja-JP" altLang="ja-JP" sz="2000" dirty="0">
                <a:solidFill>
                  <a:schemeClr val="bg1"/>
                </a:solidFill>
              </a:rPr>
              <a:t>Before the main task, we will record your gender, age, dominant eye, and interpupillary distance.</a:t>
            </a:r>
            <a:endParaRPr lang="en-US" altLang="ja-JP" sz="2000" dirty="0">
              <a:solidFill>
                <a:schemeClr val="bg1"/>
              </a:solidFill>
            </a:endParaRPr>
          </a:p>
          <a:p>
            <a:endParaRPr lang="ja-JP" altLang="ja-JP" sz="2000" dirty="0">
              <a:solidFill>
                <a:schemeClr val="bg1"/>
              </a:solidFill>
            </a:endParaRPr>
          </a:p>
          <a:p>
            <a:r>
              <a:rPr lang="ja-JP" altLang="ja-JP" sz="2000" dirty="0">
                <a:solidFill>
                  <a:schemeClr val="bg1"/>
                </a:solidFill>
              </a:rPr>
              <a:t>The experimenter will ask your gender and age. </a:t>
            </a:r>
            <a:endParaRPr lang="en-US" altLang="ja-JP" sz="2000" dirty="0">
              <a:solidFill>
                <a:schemeClr val="bg1"/>
              </a:solidFill>
            </a:endParaRPr>
          </a:p>
          <a:p>
            <a:r>
              <a:rPr lang="ja-JP" altLang="ja-JP" sz="2000" dirty="0">
                <a:solidFill>
                  <a:schemeClr val="bg1"/>
                </a:solidFill>
              </a:rPr>
              <a:t>To determine your dominant eye, follow these steps:</a:t>
            </a:r>
          </a:p>
          <a:p>
            <a:pPr marL="457200" indent="-457200">
              <a:buFont typeface="+mj-lt"/>
              <a:buAutoNum type="arabicPeriod"/>
            </a:pPr>
            <a:r>
              <a:rPr lang="ja-JP" altLang="ja-JP" sz="2000" dirty="0">
                <a:solidFill>
                  <a:schemeClr val="bg1"/>
                </a:solidFill>
              </a:rPr>
              <a:t>Extend your arms and form a small triangle with your thumbs and index fingers.</a:t>
            </a:r>
          </a:p>
          <a:p>
            <a:pPr marL="457200" indent="-457200">
              <a:buFont typeface="+mj-lt"/>
              <a:buAutoNum type="arabicPeriod"/>
            </a:pPr>
            <a:r>
              <a:rPr lang="ja-JP" altLang="ja-JP" sz="2000" dirty="0">
                <a:solidFill>
                  <a:schemeClr val="bg1"/>
                </a:solidFill>
              </a:rPr>
              <a:t>With both eyes open, center the specified target in the triangle.</a:t>
            </a:r>
          </a:p>
          <a:p>
            <a:pPr marL="457200" indent="-457200">
              <a:buFont typeface="+mj-lt"/>
              <a:buAutoNum type="arabicPeriod"/>
            </a:pPr>
            <a:r>
              <a:rPr lang="ja-JP" altLang="ja-JP" sz="2000" dirty="0">
                <a:solidFill>
                  <a:schemeClr val="bg1"/>
                </a:solidFill>
              </a:rPr>
              <a:t>Without moving your hands or head, close each eye in turn.</a:t>
            </a:r>
          </a:p>
          <a:p>
            <a:pPr marL="457200" indent="-457200">
              <a:buFont typeface="+mj-lt"/>
              <a:buAutoNum type="arabicPeriod"/>
            </a:pPr>
            <a:r>
              <a:rPr lang="ja-JP" altLang="ja-JP" sz="2000" dirty="0">
                <a:solidFill>
                  <a:schemeClr val="bg1"/>
                </a:solidFill>
              </a:rPr>
              <a:t>The eye that keeps the target centered is your dominant eye.</a:t>
            </a:r>
          </a:p>
          <a:p>
            <a:r>
              <a:rPr lang="ja-JP" altLang="ja-JP" sz="2000" dirty="0">
                <a:solidFill>
                  <a:schemeClr val="bg1"/>
                </a:solidFill>
              </a:rPr>
              <a:t>To measure your interpupillary distance, we will photograph you holding a ruler near your eyebrows. The photograph will be deleted in your presence immediately after the measurement.</a:t>
            </a:r>
          </a:p>
          <a:p>
            <a:endParaRPr lang="en-US" altLang="ja-JP" sz="2000" dirty="0">
              <a:solidFill>
                <a:schemeClr val="bg1"/>
              </a:solidFill>
            </a:endParaRPr>
          </a:p>
          <a:p>
            <a:r>
              <a:rPr lang="ja-JP" altLang="ja-JP" sz="2000" dirty="0">
                <a:solidFill>
                  <a:schemeClr val="bg1"/>
                </a:solidFill>
              </a:rPr>
              <a:t>All data will be anonymized for analysis and publication. No private or personally identifiable information will be disclosed.</a:t>
            </a:r>
            <a:endParaRPr lang="en-US" altLang="ja-JP" sz="2000" dirty="0">
              <a:solidFill>
                <a:schemeClr val="bg1"/>
              </a:solidFill>
            </a:endParaRPr>
          </a:p>
          <a:p>
            <a:endParaRPr lang="ja-JP" altLang="ja-JP" sz="2000" dirty="0">
              <a:solidFill>
                <a:schemeClr val="bg1"/>
              </a:solidFill>
            </a:endParaRPr>
          </a:p>
          <a:p>
            <a:r>
              <a:rPr lang="ja-JP" altLang="ja-JP" sz="2000" dirty="0">
                <a:solidFill>
                  <a:schemeClr val="bg1"/>
                </a:solidFill>
              </a:rPr>
              <a:t>Press the </a:t>
            </a:r>
            <a:r>
              <a:rPr lang="ja-JP" altLang="ja-JP" sz="2000" b="1" dirty="0">
                <a:solidFill>
                  <a:schemeClr val="bg1"/>
                </a:solidFill>
              </a:rPr>
              <a:t>Spacebar</a:t>
            </a:r>
            <a:r>
              <a:rPr lang="ja-JP" altLang="ja-JP" sz="2000" dirty="0">
                <a:solidFill>
                  <a:schemeClr val="bg1"/>
                </a:solidFill>
              </a:rPr>
              <a:t> to continue.</a:t>
            </a:r>
          </a:p>
        </p:txBody>
      </p:sp>
    </p:spTree>
    <p:extLst>
      <p:ext uri="{BB962C8B-B14F-4D97-AF65-F5344CB8AC3E}">
        <p14:creationId xmlns:p14="http://schemas.microsoft.com/office/powerpoint/2010/main" val="12296154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AF79FDE-75EA-A3B1-AB9D-C909D567B8AC}"/>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C6A8E45-71F4-E02B-E55E-77A1D39E91C4}"/>
              </a:ext>
            </a:extLst>
          </p:cNvPr>
          <p:cNvSpPr txBox="1"/>
          <p:nvPr/>
        </p:nvSpPr>
        <p:spPr>
          <a:xfrm>
            <a:off x="893553" y="705177"/>
            <a:ext cx="10404894" cy="2677656"/>
          </a:xfrm>
          <a:prstGeom prst="rect">
            <a:avLst/>
          </a:prstGeom>
          <a:noFill/>
        </p:spPr>
        <p:txBody>
          <a:bodyPr wrap="square" rtlCol="0">
            <a:spAutoFit/>
          </a:bodyPr>
          <a:lstStyle/>
          <a:p>
            <a:r>
              <a:rPr lang="ja-JP" altLang="ja-JP" sz="2800" b="1" dirty="0">
                <a:solidFill>
                  <a:schemeClr val="bg2"/>
                </a:solidFill>
              </a:rPr>
              <a:t>Training session</a:t>
            </a:r>
            <a:endParaRPr lang="ja-JP" altLang="ja-JP" sz="2800" dirty="0">
              <a:solidFill>
                <a:schemeClr val="bg2"/>
              </a:solidFill>
            </a:endParaRPr>
          </a:p>
          <a:p>
            <a:r>
              <a:rPr lang="ja-JP" altLang="ja-JP" sz="2000" dirty="0">
                <a:solidFill>
                  <a:schemeClr val="bg2"/>
                </a:solidFill>
              </a:rPr>
              <a:t>Before proceeding to the main experiment, you will complete a training session to become familiar with the tasks performed in each section.</a:t>
            </a:r>
          </a:p>
          <a:p>
            <a:r>
              <a:rPr lang="ja-JP" altLang="ja-JP" sz="2000" dirty="0">
                <a:solidFill>
                  <a:schemeClr val="bg2"/>
                </a:solidFill>
              </a:rPr>
              <a:t>The sections will be presented in the same order as in the main experiment.</a:t>
            </a:r>
          </a:p>
          <a:p>
            <a:r>
              <a:rPr lang="ja-JP" altLang="ja-JP" sz="2000" dirty="0">
                <a:solidFill>
                  <a:schemeClr val="bg2"/>
                </a:solidFill>
              </a:rPr>
              <a:t>You may repeat this training up to three times, until you become familiar with the tasks.</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Space key to go to the next page.</a:t>
            </a:r>
          </a:p>
          <a:p>
            <a:endParaRPr kumimoji="1" lang="en-US" altLang="ja-JP" sz="2000" dirty="0">
              <a:solidFill>
                <a:schemeClr val="bg2"/>
              </a:solidFill>
            </a:endParaRPr>
          </a:p>
        </p:txBody>
      </p:sp>
    </p:spTree>
    <p:extLst>
      <p:ext uri="{BB962C8B-B14F-4D97-AF65-F5344CB8AC3E}">
        <p14:creationId xmlns:p14="http://schemas.microsoft.com/office/powerpoint/2010/main" val="18265734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173EF7C9-532C-A758-9B7A-F0580337826E}"/>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20884E8-D2D7-87B0-994F-BF2BCD6220D4}"/>
              </a:ext>
            </a:extLst>
          </p:cNvPr>
          <p:cNvSpPr txBox="1"/>
          <p:nvPr/>
        </p:nvSpPr>
        <p:spPr>
          <a:xfrm>
            <a:off x="4655125" y="705177"/>
            <a:ext cx="6643321" cy="4216539"/>
          </a:xfrm>
          <a:prstGeom prst="rect">
            <a:avLst/>
          </a:prstGeom>
          <a:noFill/>
        </p:spPr>
        <p:txBody>
          <a:bodyPr wrap="square" rtlCol="0">
            <a:spAutoFit/>
          </a:bodyPr>
          <a:lstStyle/>
          <a:p>
            <a:r>
              <a:rPr lang="ja-JP" altLang="ja-JP" sz="2800" b="1" dirty="0">
                <a:solidFill>
                  <a:schemeClr val="bg2"/>
                </a:solidFill>
              </a:rPr>
              <a:t>Position calibration</a:t>
            </a:r>
            <a:endParaRPr lang="ja-JP" altLang="ja-JP" sz="2800" dirty="0">
              <a:solidFill>
                <a:schemeClr val="bg2"/>
              </a:solidFill>
            </a:endParaRPr>
          </a:p>
          <a:p>
            <a:r>
              <a:rPr lang="ja-JP" altLang="ja-JP" sz="2000" dirty="0">
                <a:solidFill>
                  <a:schemeClr val="bg2"/>
                </a:solidFill>
              </a:rPr>
              <a:t>Using the arrow keys on the control PC, move the position of the square frame displayed on the rear display (red) and align it with the square frame displayed on the front display (white).</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This procedure will be performed separately for the right eye and the left eye. Please cover the eye not being used with the eye patch provided.</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step.</a:t>
            </a:r>
          </a:p>
          <a:p>
            <a:endParaRPr kumimoji="1" lang="en-US" altLang="ja-JP" sz="2000" dirty="0">
              <a:solidFill>
                <a:schemeClr val="bg2"/>
              </a:solidFill>
            </a:endParaRPr>
          </a:p>
        </p:txBody>
      </p:sp>
      <p:pic>
        <p:nvPicPr>
          <p:cNvPr id="7" name="図 6">
            <a:extLst>
              <a:ext uri="{FF2B5EF4-FFF2-40B4-BE49-F238E27FC236}">
                <a16:creationId xmlns:a16="http://schemas.microsoft.com/office/drawing/2014/main" id="{DE67171A-F091-F061-0385-17689739AB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5105" y="1096241"/>
            <a:ext cx="3744484" cy="4665518"/>
          </a:xfrm>
          <a:prstGeom prst="rect">
            <a:avLst/>
          </a:prstGeom>
        </p:spPr>
      </p:pic>
    </p:spTree>
    <p:extLst>
      <p:ext uri="{BB962C8B-B14F-4D97-AF65-F5344CB8AC3E}">
        <p14:creationId xmlns:p14="http://schemas.microsoft.com/office/powerpoint/2010/main" val="3727659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3350EA5C-2469-08FF-9889-08F575FA8DD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505801EC-12DF-8207-47A1-0FD0BDCBB230}"/>
              </a:ext>
            </a:extLst>
          </p:cNvPr>
          <p:cNvSpPr txBox="1"/>
          <p:nvPr/>
        </p:nvSpPr>
        <p:spPr>
          <a:xfrm>
            <a:off x="4655127" y="705177"/>
            <a:ext cx="6643320" cy="6063198"/>
          </a:xfrm>
          <a:prstGeom prst="rect">
            <a:avLst/>
          </a:prstGeom>
          <a:noFill/>
        </p:spPr>
        <p:txBody>
          <a:bodyPr wrap="square" rtlCol="0">
            <a:spAutoFit/>
          </a:bodyPr>
          <a:lstStyle/>
          <a:p>
            <a:r>
              <a:rPr lang="ja-JP" altLang="ja-JP" sz="2800" b="1" dirty="0">
                <a:solidFill>
                  <a:schemeClr val="bg2"/>
                </a:solidFill>
              </a:rPr>
              <a:t>Blur calibration</a:t>
            </a:r>
            <a:endParaRPr lang="ja-JP" altLang="ja-JP" sz="2800" dirty="0">
              <a:solidFill>
                <a:schemeClr val="bg2"/>
              </a:solidFill>
            </a:endParaRPr>
          </a:p>
          <a:p>
            <a:r>
              <a:rPr lang="ja-JP" altLang="ja-JP" sz="2000" dirty="0">
                <a:solidFill>
                  <a:schemeClr val="bg2"/>
                </a:solidFill>
              </a:rPr>
              <a:t>In the central display area, the same stimulus image and marker are shown in the upper and lower halves. Among these, only the stimulus image in the upper half is displayed on the rear display.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in the upper half of the display area, focus on the marker on the front display while observing the blur of the stimulus image on the rear display.</a:t>
            </a:r>
          </a:p>
          <a:p>
            <a:r>
              <a:rPr lang="ja-JP" altLang="ja-JP" sz="2000" dirty="0">
                <a:solidFill>
                  <a:schemeClr val="bg2"/>
                </a:solidFill>
              </a:rPr>
              <a:t>Then, using the left and right arrow keys on the control PC, adjust the blur of the stimulus image in the lower half so that it matches the blur observed in the upper half. The blur becomes stronger as you move to the right.</a:t>
            </a:r>
          </a:p>
          <a:p>
            <a:r>
              <a:rPr lang="ja-JP" altLang="ja-JP" sz="2000" dirty="0">
                <a:solidFill>
                  <a:schemeClr val="bg2"/>
                </a:solidFill>
              </a:rPr>
              <a:t>Repeat this process until you feel that the two levels of blur match completely.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down arrow key to confirm and proceed to the next stimulus.</a:t>
            </a:r>
          </a:p>
          <a:p>
            <a:endParaRPr kumimoji="1" lang="en-US" altLang="ja-JP" sz="2000" dirty="0">
              <a:solidFill>
                <a:schemeClr val="bg2"/>
              </a:solidFill>
            </a:endParaRPr>
          </a:p>
        </p:txBody>
      </p:sp>
      <p:pic>
        <p:nvPicPr>
          <p:cNvPr id="4" name="図 3">
            <a:extLst>
              <a:ext uri="{FF2B5EF4-FFF2-40B4-BE49-F238E27FC236}">
                <a16:creationId xmlns:a16="http://schemas.microsoft.com/office/drawing/2014/main" id="{6C402133-1581-93CB-1ED7-36557977FA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5486" y="1089174"/>
            <a:ext cx="3744000" cy="4679652"/>
          </a:xfrm>
          <a:prstGeom prst="rect">
            <a:avLst/>
          </a:prstGeom>
        </p:spPr>
      </p:pic>
    </p:spTree>
    <p:extLst>
      <p:ext uri="{BB962C8B-B14F-4D97-AF65-F5344CB8AC3E}">
        <p14:creationId xmlns:p14="http://schemas.microsoft.com/office/powerpoint/2010/main" val="2347789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8DA0B158-5F6E-15F9-88DD-65CC594181FC}"/>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0BD14D7-B441-9064-52CD-6F32FEB7997B}"/>
              </a:ext>
            </a:extLst>
          </p:cNvPr>
          <p:cNvSpPr txBox="1"/>
          <p:nvPr/>
        </p:nvSpPr>
        <p:spPr>
          <a:xfrm>
            <a:off x="4655127" y="705177"/>
            <a:ext cx="6643320" cy="6063198"/>
          </a:xfrm>
          <a:prstGeom prst="rect">
            <a:avLst/>
          </a:prstGeom>
          <a:noFill/>
        </p:spPr>
        <p:txBody>
          <a:bodyPr wrap="square" rtlCol="0">
            <a:spAutoFit/>
          </a:bodyPr>
          <a:lstStyle/>
          <a:p>
            <a:r>
              <a:rPr lang="ja-JP" altLang="ja-JP" sz="2800" b="1" dirty="0">
                <a:solidFill>
                  <a:schemeClr val="bg2"/>
                </a:solidFill>
              </a:rPr>
              <a:t>Adjustment experiment</a:t>
            </a:r>
            <a:endParaRPr lang="ja-JP" altLang="ja-JP" sz="2800" dirty="0">
              <a:solidFill>
                <a:schemeClr val="bg2"/>
              </a:solidFill>
            </a:endParaRPr>
          </a:p>
          <a:p>
            <a:r>
              <a:rPr lang="ja-JP" altLang="ja-JP" sz="2000" dirty="0">
                <a:solidFill>
                  <a:schemeClr val="bg2"/>
                </a:solidFill>
              </a:rPr>
              <a:t>In the central display area, stimulus images are shown in the upper and lower halves. The image in the lower half is created by adding noise to the background of the image in the upper half.</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observe the appearance of the stimulus image in the upper half of the display area.</a:t>
            </a:r>
          </a:p>
          <a:p>
            <a:r>
              <a:rPr lang="ja-JP" altLang="ja-JP" sz="2000" dirty="0">
                <a:solidFill>
                  <a:schemeClr val="bg2"/>
                </a:solidFill>
              </a:rPr>
              <a:t>Then, using the left and right arrow keys on the control PC, adjust the appearance of the stimulus image in the lower half so that it matches the appearance of the upper half. The appearance becomes stronger as you move to the right.</a:t>
            </a:r>
          </a:p>
          <a:p>
            <a:r>
              <a:rPr lang="ja-JP" altLang="ja-JP" sz="2000" dirty="0">
                <a:solidFill>
                  <a:schemeClr val="bg2"/>
                </a:solidFill>
              </a:rPr>
              <a:t>Repeat this process until you feel that the two appearances match completely.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stimulus.</a:t>
            </a:r>
          </a:p>
          <a:p>
            <a:endParaRPr kumimoji="1" lang="en-US" altLang="ja-JP" sz="2000" dirty="0">
              <a:solidFill>
                <a:schemeClr val="bg2"/>
              </a:solidFill>
            </a:endParaRPr>
          </a:p>
        </p:txBody>
      </p:sp>
      <p:pic>
        <p:nvPicPr>
          <p:cNvPr id="4" name="図 3">
            <a:extLst>
              <a:ext uri="{FF2B5EF4-FFF2-40B4-BE49-F238E27FC236}">
                <a16:creationId xmlns:a16="http://schemas.microsoft.com/office/drawing/2014/main" id="{EFBC59DC-13C1-5848-F6E6-E5A83F493FFC}"/>
              </a:ext>
            </a:extLst>
          </p:cNvPr>
          <p:cNvPicPr>
            <a:picLocks noChangeAspect="1"/>
          </p:cNvPicPr>
          <p:nvPr/>
        </p:nvPicPr>
        <p:blipFill rotWithShape="1">
          <a:blip r:embed="rId2">
            <a:extLst>
              <a:ext uri="{28A0092B-C50C-407E-A947-70E740481C1C}">
                <a14:useLocalDpi xmlns:a14="http://schemas.microsoft.com/office/drawing/2010/main" val="0"/>
              </a:ext>
            </a:extLst>
          </a:blip>
          <a:srcRect l="24295" r="24295"/>
          <a:stretch>
            <a:fillRect/>
          </a:stretch>
        </p:blipFill>
        <p:spPr>
          <a:xfrm flipH="1">
            <a:off x="451730" y="1205192"/>
            <a:ext cx="3744000" cy="3793590"/>
          </a:xfrm>
          <a:prstGeom prst="rect">
            <a:avLst/>
          </a:prstGeom>
        </p:spPr>
      </p:pic>
    </p:spTree>
    <p:extLst>
      <p:ext uri="{BB962C8B-B14F-4D97-AF65-F5344CB8AC3E}">
        <p14:creationId xmlns:p14="http://schemas.microsoft.com/office/powerpoint/2010/main" val="16774057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1E685B2F-408C-0D54-3810-FF20B870997E}"/>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86A7029-2B16-BFAC-94BF-46D750A2C4B2}"/>
              </a:ext>
            </a:extLst>
          </p:cNvPr>
          <p:cNvSpPr txBox="1"/>
          <p:nvPr/>
        </p:nvSpPr>
        <p:spPr>
          <a:xfrm>
            <a:off x="4655127" y="705177"/>
            <a:ext cx="6643320" cy="5755422"/>
          </a:xfrm>
          <a:prstGeom prst="rect">
            <a:avLst/>
          </a:prstGeom>
          <a:noFill/>
        </p:spPr>
        <p:txBody>
          <a:bodyPr wrap="square" rtlCol="0">
            <a:spAutoFit/>
          </a:bodyPr>
          <a:lstStyle/>
          <a:p>
            <a:r>
              <a:rPr lang="ja-JP" altLang="ja-JP" sz="2800" b="1" dirty="0">
                <a:solidFill>
                  <a:schemeClr val="bg2"/>
                </a:solidFill>
              </a:rPr>
              <a:t>Estimation experiment</a:t>
            </a:r>
            <a:endParaRPr lang="ja-JP" altLang="ja-JP" sz="2800" dirty="0">
              <a:solidFill>
                <a:schemeClr val="bg2"/>
              </a:solidFill>
            </a:endParaRPr>
          </a:p>
          <a:p>
            <a:r>
              <a:rPr lang="ja-JP" altLang="ja-JP" sz="2000" dirty="0">
                <a:solidFill>
                  <a:schemeClr val="bg2"/>
                </a:solidFill>
              </a:rPr>
              <a:t>Stimulus images will be presented sequentially in the central display area.</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an image will be displayed on the front display.</a:t>
            </a:r>
          </a:p>
          <a:p>
            <a:r>
              <a:rPr lang="ja-JP" altLang="ja-JP" sz="2000" dirty="0">
                <a:solidFill>
                  <a:schemeClr val="bg2"/>
                </a:solidFill>
              </a:rPr>
              <a:t>After a blank interval, the same image will be displayed on the front display, while a background image will be superimposed on the rear display.</a:t>
            </a:r>
          </a:p>
          <a:p>
            <a:r>
              <a:rPr lang="ja-JP" altLang="ja-JP" sz="2000" dirty="0">
                <a:solidFill>
                  <a:schemeClr val="bg2"/>
                </a:solidFill>
              </a:rPr>
              <a:t>After the stimulus presentation ends, please rate the degree of visibility reduction in the front image caused by the addition of the background on a 5-point scale.</a:t>
            </a:r>
          </a:p>
          <a:p>
            <a:r>
              <a:rPr lang="ja-JP" altLang="ja-JP" sz="2000" dirty="0">
                <a:solidFill>
                  <a:schemeClr val="bg2"/>
                </a:solidFill>
              </a:rPr>
              <a:t>The rating criterion is how well you can recognize the features contained in the image, such as contours, structures, and colors.</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stimulus.</a:t>
            </a:r>
          </a:p>
          <a:p>
            <a:endParaRPr kumimoji="1" lang="en-US" altLang="ja-JP" sz="2000" dirty="0">
              <a:solidFill>
                <a:schemeClr val="bg2"/>
              </a:solidFill>
            </a:endParaRPr>
          </a:p>
        </p:txBody>
      </p:sp>
      <p:pic>
        <p:nvPicPr>
          <p:cNvPr id="7" name="図 6">
            <a:extLst>
              <a:ext uri="{FF2B5EF4-FFF2-40B4-BE49-F238E27FC236}">
                <a16:creationId xmlns:a16="http://schemas.microsoft.com/office/drawing/2014/main" id="{68097415-4921-ECC7-B547-B5F0A684AE59}"/>
              </a:ext>
            </a:extLst>
          </p:cNvPr>
          <p:cNvPicPr>
            <a:picLocks noChangeAspect="1"/>
          </p:cNvPicPr>
          <p:nvPr/>
        </p:nvPicPr>
        <p:blipFill rotWithShape="1">
          <a:blip r:embed="rId2">
            <a:extLst>
              <a:ext uri="{28A0092B-C50C-407E-A947-70E740481C1C}">
                <a14:useLocalDpi xmlns:a14="http://schemas.microsoft.com/office/drawing/2010/main" val="0"/>
              </a:ext>
            </a:extLst>
          </a:blip>
          <a:srcRect t="10625" b="10625"/>
          <a:stretch>
            <a:fillRect/>
          </a:stretch>
        </p:blipFill>
        <p:spPr>
          <a:xfrm>
            <a:off x="686189" y="2497500"/>
            <a:ext cx="3312000" cy="1863000"/>
          </a:xfrm>
          <a:prstGeom prst="rect">
            <a:avLst/>
          </a:prstGeom>
        </p:spPr>
      </p:pic>
      <p:pic>
        <p:nvPicPr>
          <p:cNvPr id="8" name="図 7">
            <a:extLst>
              <a:ext uri="{FF2B5EF4-FFF2-40B4-BE49-F238E27FC236}">
                <a16:creationId xmlns:a16="http://schemas.microsoft.com/office/drawing/2014/main" id="{D3234BD3-2863-80EB-96E3-81BBAD593B0F}"/>
              </a:ext>
            </a:extLst>
          </p:cNvPr>
          <p:cNvPicPr>
            <a:picLocks noChangeAspect="1"/>
          </p:cNvPicPr>
          <p:nvPr/>
        </p:nvPicPr>
        <p:blipFill rotWithShape="1">
          <a:blip r:embed="rId3">
            <a:extLst>
              <a:ext uri="{28A0092B-C50C-407E-A947-70E740481C1C}">
                <a14:useLocalDpi xmlns:a14="http://schemas.microsoft.com/office/drawing/2010/main" val="0"/>
              </a:ext>
            </a:extLst>
          </a:blip>
          <a:srcRect t="10628" b="10628"/>
          <a:stretch>
            <a:fillRect/>
          </a:stretch>
        </p:blipFill>
        <p:spPr>
          <a:xfrm>
            <a:off x="686189" y="345660"/>
            <a:ext cx="3312000" cy="1863000"/>
          </a:xfrm>
          <a:prstGeom prst="rect">
            <a:avLst/>
          </a:prstGeom>
        </p:spPr>
      </p:pic>
      <p:pic>
        <p:nvPicPr>
          <p:cNvPr id="4" name="図 3">
            <a:extLst>
              <a:ext uri="{FF2B5EF4-FFF2-40B4-BE49-F238E27FC236}">
                <a16:creationId xmlns:a16="http://schemas.microsoft.com/office/drawing/2014/main" id="{749C6080-B468-0EA3-CB02-7E1B59DFB100}"/>
              </a:ext>
            </a:extLst>
          </p:cNvPr>
          <p:cNvPicPr>
            <a:picLocks noChangeAspect="1"/>
          </p:cNvPicPr>
          <p:nvPr/>
        </p:nvPicPr>
        <p:blipFill>
          <a:blip r:embed="rId4"/>
          <a:stretch>
            <a:fillRect/>
          </a:stretch>
        </p:blipFill>
        <p:spPr>
          <a:xfrm>
            <a:off x="686189" y="4649340"/>
            <a:ext cx="3312000" cy="1937092"/>
          </a:xfrm>
          <a:prstGeom prst="rect">
            <a:avLst/>
          </a:prstGeom>
        </p:spPr>
      </p:pic>
      <p:sp>
        <p:nvSpPr>
          <p:cNvPr id="5" name="矢印: 下 4">
            <a:extLst>
              <a:ext uri="{FF2B5EF4-FFF2-40B4-BE49-F238E27FC236}">
                <a16:creationId xmlns:a16="http://schemas.microsoft.com/office/drawing/2014/main" id="{06BEBCBC-318A-E0FD-3DE1-CEE35120BD5D}"/>
              </a:ext>
            </a:extLst>
          </p:cNvPr>
          <p:cNvSpPr/>
          <p:nvPr/>
        </p:nvSpPr>
        <p:spPr>
          <a:xfrm>
            <a:off x="1879793" y="220866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9" name="矢印: 下 8">
            <a:extLst>
              <a:ext uri="{FF2B5EF4-FFF2-40B4-BE49-F238E27FC236}">
                <a16:creationId xmlns:a16="http://schemas.microsoft.com/office/drawing/2014/main" id="{EE9610AC-AB78-C672-BDD1-BDF59933811E}"/>
              </a:ext>
            </a:extLst>
          </p:cNvPr>
          <p:cNvSpPr/>
          <p:nvPr/>
        </p:nvSpPr>
        <p:spPr>
          <a:xfrm>
            <a:off x="1879793" y="436050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158452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4B8BFD6C-A9BC-33A6-6303-654FF4429EF5}"/>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A1FC238-BCC4-CA88-D5DA-7FE660DD98C3}"/>
              </a:ext>
            </a:extLst>
          </p:cNvPr>
          <p:cNvSpPr txBox="1"/>
          <p:nvPr/>
        </p:nvSpPr>
        <p:spPr>
          <a:xfrm>
            <a:off x="893553" y="705177"/>
            <a:ext cx="10404894" cy="2369880"/>
          </a:xfrm>
          <a:prstGeom prst="rect">
            <a:avLst/>
          </a:prstGeom>
          <a:noFill/>
        </p:spPr>
        <p:txBody>
          <a:bodyPr wrap="square" rtlCol="0">
            <a:spAutoFit/>
          </a:bodyPr>
          <a:lstStyle/>
          <a:p>
            <a:r>
              <a:rPr lang="ja-JP" altLang="ja-JP" sz="2800" b="1" dirty="0">
                <a:solidFill>
                  <a:schemeClr val="bg2"/>
                </a:solidFill>
              </a:rPr>
              <a:t>Main session</a:t>
            </a:r>
            <a:endParaRPr lang="ja-JP" altLang="ja-JP" sz="2800" dirty="0">
              <a:solidFill>
                <a:schemeClr val="bg2"/>
              </a:solidFill>
            </a:endParaRPr>
          </a:p>
          <a:p>
            <a:r>
              <a:rPr lang="ja-JP" altLang="ja-JP" sz="2000" dirty="0">
                <a:solidFill>
                  <a:schemeClr val="bg2"/>
                </a:solidFill>
              </a:rPr>
              <a:t>This is the main experiment. You will perform the same tasks as in the training session, in the same order.</a:t>
            </a:r>
          </a:p>
          <a:p>
            <a:r>
              <a:rPr lang="ja-JP" altLang="ja-JP" sz="2000" dirty="0">
                <a:solidFill>
                  <a:schemeClr val="bg2"/>
                </a:solidFill>
              </a:rPr>
              <a:t>This session will be performed only once.</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Space key to go to the next page.</a:t>
            </a:r>
          </a:p>
          <a:p>
            <a:endParaRPr kumimoji="1" lang="en-US" altLang="ja-JP" sz="2000" dirty="0">
              <a:solidFill>
                <a:schemeClr val="bg2"/>
              </a:solidFill>
            </a:endParaRPr>
          </a:p>
        </p:txBody>
      </p:sp>
    </p:spTree>
    <p:extLst>
      <p:ext uri="{BB962C8B-B14F-4D97-AF65-F5344CB8AC3E}">
        <p14:creationId xmlns:p14="http://schemas.microsoft.com/office/powerpoint/2010/main" val="9761281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743D2A4F-198E-D30E-820A-FA89FFD8CD8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F09BEAB5-BF8D-AA2C-0E27-DBB107637E76}"/>
              </a:ext>
            </a:extLst>
          </p:cNvPr>
          <p:cNvSpPr txBox="1"/>
          <p:nvPr/>
        </p:nvSpPr>
        <p:spPr>
          <a:xfrm>
            <a:off x="4655125" y="705177"/>
            <a:ext cx="6643321" cy="4216539"/>
          </a:xfrm>
          <a:prstGeom prst="rect">
            <a:avLst/>
          </a:prstGeom>
          <a:noFill/>
        </p:spPr>
        <p:txBody>
          <a:bodyPr wrap="square" rtlCol="0">
            <a:spAutoFit/>
          </a:bodyPr>
          <a:lstStyle/>
          <a:p>
            <a:r>
              <a:rPr lang="ja-JP" altLang="ja-JP" sz="2800" b="1" dirty="0">
                <a:solidFill>
                  <a:schemeClr val="bg2"/>
                </a:solidFill>
              </a:rPr>
              <a:t>Position calibration</a:t>
            </a:r>
            <a:endParaRPr lang="ja-JP" altLang="ja-JP" sz="2800" dirty="0">
              <a:solidFill>
                <a:schemeClr val="bg2"/>
              </a:solidFill>
            </a:endParaRPr>
          </a:p>
          <a:p>
            <a:r>
              <a:rPr lang="ja-JP" altLang="ja-JP" sz="2000" dirty="0">
                <a:solidFill>
                  <a:schemeClr val="bg2"/>
                </a:solidFill>
              </a:rPr>
              <a:t>Using the arrow keys on the control PC, move the position of the square frame displayed on the rear display (red) and align it with the square frame displayed on the front display (white).</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This procedure will be performed separately for the right eye and the left eye. Please cover the eye not being used with the eye patch provided.</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step.</a:t>
            </a:r>
          </a:p>
          <a:p>
            <a:endParaRPr kumimoji="1" lang="en-US" altLang="ja-JP" sz="2000" dirty="0">
              <a:solidFill>
                <a:schemeClr val="bg2"/>
              </a:solidFill>
            </a:endParaRPr>
          </a:p>
        </p:txBody>
      </p:sp>
      <p:pic>
        <p:nvPicPr>
          <p:cNvPr id="7" name="図 6">
            <a:extLst>
              <a:ext uri="{FF2B5EF4-FFF2-40B4-BE49-F238E27FC236}">
                <a16:creationId xmlns:a16="http://schemas.microsoft.com/office/drawing/2014/main" id="{642EB9F6-338D-792C-EBDD-7322F47F16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5105" y="1096241"/>
            <a:ext cx="3744484" cy="4665518"/>
          </a:xfrm>
          <a:prstGeom prst="rect">
            <a:avLst/>
          </a:prstGeom>
        </p:spPr>
      </p:pic>
    </p:spTree>
    <p:extLst>
      <p:ext uri="{BB962C8B-B14F-4D97-AF65-F5344CB8AC3E}">
        <p14:creationId xmlns:p14="http://schemas.microsoft.com/office/powerpoint/2010/main" val="14640059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0F3BCA2-6FA0-5F14-A2C1-B9502BBB3210}"/>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BB716376-6CDC-74AD-167C-0D7568707465}"/>
              </a:ext>
            </a:extLst>
          </p:cNvPr>
          <p:cNvSpPr txBox="1"/>
          <p:nvPr/>
        </p:nvSpPr>
        <p:spPr>
          <a:xfrm>
            <a:off x="4655127" y="705177"/>
            <a:ext cx="6643320" cy="6063198"/>
          </a:xfrm>
          <a:prstGeom prst="rect">
            <a:avLst/>
          </a:prstGeom>
          <a:noFill/>
        </p:spPr>
        <p:txBody>
          <a:bodyPr wrap="square" rtlCol="0">
            <a:spAutoFit/>
          </a:bodyPr>
          <a:lstStyle/>
          <a:p>
            <a:r>
              <a:rPr lang="ja-JP" altLang="ja-JP" sz="2800" b="1" dirty="0">
                <a:solidFill>
                  <a:schemeClr val="bg2"/>
                </a:solidFill>
              </a:rPr>
              <a:t>Blur calibration</a:t>
            </a:r>
            <a:endParaRPr lang="ja-JP" altLang="ja-JP" sz="2800" dirty="0">
              <a:solidFill>
                <a:schemeClr val="bg2"/>
              </a:solidFill>
            </a:endParaRPr>
          </a:p>
          <a:p>
            <a:r>
              <a:rPr lang="ja-JP" altLang="ja-JP" sz="2000" dirty="0">
                <a:solidFill>
                  <a:schemeClr val="bg2"/>
                </a:solidFill>
              </a:rPr>
              <a:t>In the central display area, the same stimulus image and marker are shown in the upper and lower halves. Among these, only the stimulus image in the upper half is displayed on the rear display.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in the upper half of the display area, focus on the marker on the front display while observing the blur of the stimulus image on the rear display.</a:t>
            </a:r>
          </a:p>
          <a:p>
            <a:r>
              <a:rPr lang="ja-JP" altLang="ja-JP" sz="2000" dirty="0">
                <a:solidFill>
                  <a:schemeClr val="bg2"/>
                </a:solidFill>
              </a:rPr>
              <a:t>Then, using the left and right arrow keys on the control PC, adjust the blur of the stimulus image in the lower half so that it matches the blur observed in the upper half. The blur becomes stronger as you move to the right.</a:t>
            </a:r>
          </a:p>
          <a:p>
            <a:r>
              <a:rPr lang="ja-JP" altLang="ja-JP" sz="2000" dirty="0">
                <a:solidFill>
                  <a:schemeClr val="bg2"/>
                </a:solidFill>
              </a:rPr>
              <a:t>Repeat this process until you feel that the two levels of blur match completely.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down arrow key to confirm and proceed to the next stimulus.</a:t>
            </a:r>
          </a:p>
          <a:p>
            <a:endParaRPr kumimoji="1" lang="en-US" altLang="ja-JP" sz="2000" dirty="0">
              <a:solidFill>
                <a:schemeClr val="bg2"/>
              </a:solidFill>
            </a:endParaRPr>
          </a:p>
        </p:txBody>
      </p:sp>
      <p:pic>
        <p:nvPicPr>
          <p:cNvPr id="4" name="図 3">
            <a:extLst>
              <a:ext uri="{FF2B5EF4-FFF2-40B4-BE49-F238E27FC236}">
                <a16:creationId xmlns:a16="http://schemas.microsoft.com/office/drawing/2014/main" id="{45CF841D-0B8D-7DA2-7BB6-03EE606A6C1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5486" y="1089174"/>
            <a:ext cx="3744000" cy="4679652"/>
          </a:xfrm>
          <a:prstGeom prst="rect">
            <a:avLst/>
          </a:prstGeom>
        </p:spPr>
      </p:pic>
    </p:spTree>
    <p:extLst>
      <p:ext uri="{BB962C8B-B14F-4D97-AF65-F5344CB8AC3E}">
        <p14:creationId xmlns:p14="http://schemas.microsoft.com/office/powerpoint/2010/main" val="2669431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DF1E6F8F-A27C-DC80-C042-F510AD99CE65}"/>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0769E6FF-A9B6-B77C-5393-B4A7FBD91FF1}"/>
              </a:ext>
            </a:extLst>
          </p:cNvPr>
          <p:cNvSpPr txBox="1"/>
          <p:nvPr/>
        </p:nvSpPr>
        <p:spPr>
          <a:xfrm>
            <a:off x="4655127" y="705177"/>
            <a:ext cx="6643320" cy="6063198"/>
          </a:xfrm>
          <a:prstGeom prst="rect">
            <a:avLst/>
          </a:prstGeom>
          <a:noFill/>
        </p:spPr>
        <p:txBody>
          <a:bodyPr wrap="square" rtlCol="0">
            <a:spAutoFit/>
          </a:bodyPr>
          <a:lstStyle/>
          <a:p>
            <a:r>
              <a:rPr lang="ja-JP" altLang="ja-JP" sz="2800" b="1" dirty="0">
                <a:solidFill>
                  <a:schemeClr val="bg2"/>
                </a:solidFill>
              </a:rPr>
              <a:t>Adjustment experiment</a:t>
            </a:r>
            <a:endParaRPr lang="ja-JP" altLang="ja-JP" sz="2800" dirty="0">
              <a:solidFill>
                <a:schemeClr val="bg2"/>
              </a:solidFill>
            </a:endParaRPr>
          </a:p>
          <a:p>
            <a:r>
              <a:rPr lang="ja-JP" altLang="ja-JP" sz="2000" dirty="0">
                <a:solidFill>
                  <a:schemeClr val="bg2"/>
                </a:solidFill>
              </a:rPr>
              <a:t>In the central display area, stimulus images are shown in the upper and lower halves. The image in the lower half is created by adding noise to the background of the image in the upper half.</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observe the appearance of the stimulus image in the upper half of the display area.</a:t>
            </a:r>
          </a:p>
          <a:p>
            <a:r>
              <a:rPr lang="ja-JP" altLang="ja-JP" sz="2000" dirty="0">
                <a:solidFill>
                  <a:schemeClr val="bg2"/>
                </a:solidFill>
              </a:rPr>
              <a:t>Then, using the left and right arrow keys on the control PC, adjust the appearance of the stimulus image in the lower half so that it matches the appearance of the upper half. The appearance becomes stronger as you move to the right.</a:t>
            </a:r>
          </a:p>
          <a:p>
            <a:r>
              <a:rPr lang="ja-JP" altLang="ja-JP" sz="2000" dirty="0">
                <a:solidFill>
                  <a:schemeClr val="bg2"/>
                </a:solidFill>
              </a:rPr>
              <a:t>Repeat this process until you feel that the two appearances match completely.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stimulus.</a:t>
            </a:r>
          </a:p>
          <a:p>
            <a:endParaRPr kumimoji="1" lang="en-US" altLang="ja-JP" sz="2000" dirty="0">
              <a:solidFill>
                <a:schemeClr val="bg2"/>
              </a:solidFill>
            </a:endParaRPr>
          </a:p>
        </p:txBody>
      </p:sp>
      <p:pic>
        <p:nvPicPr>
          <p:cNvPr id="4" name="図 3">
            <a:extLst>
              <a:ext uri="{FF2B5EF4-FFF2-40B4-BE49-F238E27FC236}">
                <a16:creationId xmlns:a16="http://schemas.microsoft.com/office/drawing/2014/main" id="{AB1E5889-3C1F-D6C5-C3B8-CF7277D63A4D}"/>
              </a:ext>
            </a:extLst>
          </p:cNvPr>
          <p:cNvPicPr>
            <a:picLocks noChangeAspect="1"/>
          </p:cNvPicPr>
          <p:nvPr/>
        </p:nvPicPr>
        <p:blipFill rotWithShape="1">
          <a:blip r:embed="rId2">
            <a:extLst>
              <a:ext uri="{28A0092B-C50C-407E-A947-70E740481C1C}">
                <a14:useLocalDpi xmlns:a14="http://schemas.microsoft.com/office/drawing/2010/main" val="0"/>
              </a:ext>
            </a:extLst>
          </a:blip>
          <a:srcRect l="24295" r="24295"/>
          <a:stretch>
            <a:fillRect/>
          </a:stretch>
        </p:blipFill>
        <p:spPr>
          <a:xfrm flipH="1">
            <a:off x="451730" y="1205192"/>
            <a:ext cx="3744000" cy="3793590"/>
          </a:xfrm>
          <a:prstGeom prst="rect">
            <a:avLst/>
          </a:prstGeom>
        </p:spPr>
      </p:pic>
    </p:spTree>
    <p:extLst>
      <p:ext uri="{BB962C8B-B14F-4D97-AF65-F5344CB8AC3E}">
        <p14:creationId xmlns:p14="http://schemas.microsoft.com/office/powerpoint/2010/main" val="25671104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63A7854C-1B5E-C277-0C22-457F194F2E0A}"/>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12B38A45-DE9F-E055-C196-EED0063BDC0E}"/>
              </a:ext>
            </a:extLst>
          </p:cNvPr>
          <p:cNvSpPr txBox="1"/>
          <p:nvPr/>
        </p:nvSpPr>
        <p:spPr>
          <a:xfrm>
            <a:off x="4655127" y="705177"/>
            <a:ext cx="6643320" cy="5755422"/>
          </a:xfrm>
          <a:prstGeom prst="rect">
            <a:avLst/>
          </a:prstGeom>
          <a:noFill/>
        </p:spPr>
        <p:txBody>
          <a:bodyPr wrap="square" rtlCol="0">
            <a:spAutoFit/>
          </a:bodyPr>
          <a:lstStyle/>
          <a:p>
            <a:r>
              <a:rPr lang="ja-JP" altLang="ja-JP" sz="2800" b="1" dirty="0">
                <a:solidFill>
                  <a:schemeClr val="bg2"/>
                </a:solidFill>
              </a:rPr>
              <a:t>Estimation experiment</a:t>
            </a:r>
            <a:endParaRPr lang="ja-JP" altLang="ja-JP" sz="2800" dirty="0">
              <a:solidFill>
                <a:schemeClr val="bg2"/>
              </a:solidFill>
            </a:endParaRPr>
          </a:p>
          <a:p>
            <a:r>
              <a:rPr lang="ja-JP" altLang="ja-JP" sz="2000" dirty="0">
                <a:solidFill>
                  <a:schemeClr val="bg2"/>
                </a:solidFill>
              </a:rPr>
              <a:t>Stimulus images will be presented sequentially in the central display area.</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an image will be displayed on the front display.</a:t>
            </a:r>
          </a:p>
          <a:p>
            <a:r>
              <a:rPr lang="ja-JP" altLang="ja-JP" sz="2000" dirty="0">
                <a:solidFill>
                  <a:schemeClr val="bg2"/>
                </a:solidFill>
              </a:rPr>
              <a:t>After a blank interval, the same image will be displayed on the front display, while a background image will be superimposed on the rear display.</a:t>
            </a:r>
          </a:p>
          <a:p>
            <a:r>
              <a:rPr lang="ja-JP" altLang="ja-JP" sz="2000" dirty="0">
                <a:solidFill>
                  <a:schemeClr val="bg2"/>
                </a:solidFill>
              </a:rPr>
              <a:t>After the stimulus presentation ends, please rate the degree of visibility reduction in the front image caused by the addition of the background on a 5-point scale.</a:t>
            </a:r>
          </a:p>
          <a:p>
            <a:r>
              <a:rPr lang="ja-JP" altLang="ja-JP" sz="2000" dirty="0">
                <a:solidFill>
                  <a:schemeClr val="bg2"/>
                </a:solidFill>
              </a:rPr>
              <a:t>The rating criterion is how well you can recognize the features contained in the image, such as contours, structures, and colors.</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stimulus.</a:t>
            </a:r>
          </a:p>
          <a:p>
            <a:endParaRPr kumimoji="1" lang="en-US" altLang="ja-JP" sz="2000" dirty="0">
              <a:solidFill>
                <a:schemeClr val="bg2"/>
              </a:solidFill>
            </a:endParaRPr>
          </a:p>
        </p:txBody>
      </p:sp>
      <p:pic>
        <p:nvPicPr>
          <p:cNvPr id="7" name="図 6">
            <a:extLst>
              <a:ext uri="{FF2B5EF4-FFF2-40B4-BE49-F238E27FC236}">
                <a16:creationId xmlns:a16="http://schemas.microsoft.com/office/drawing/2014/main" id="{8650CA67-83ED-DA56-2237-A76DF5869838}"/>
              </a:ext>
            </a:extLst>
          </p:cNvPr>
          <p:cNvPicPr>
            <a:picLocks noChangeAspect="1"/>
          </p:cNvPicPr>
          <p:nvPr/>
        </p:nvPicPr>
        <p:blipFill rotWithShape="1">
          <a:blip r:embed="rId2">
            <a:extLst>
              <a:ext uri="{28A0092B-C50C-407E-A947-70E740481C1C}">
                <a14:useLocalDpi xmlns:a14="http://schemas.microsoft.com/office/drawing/2010/main" val="0"/>
              </a:ext>
            </a:extLst>
          </a:blip>
          <a:srcRect t="10625" b="10625"/>
          <a:stretch>
            <a:fillRect/>
          </a:stretch>
        </p:blipFill>
        <p:spPr>
          <a:xfrm>
            <a:off x="686189" y="2497500"/>
            <a:ext cx="3312000" cy="1863000"/>
          </a:xfrm>
          <a:prstGeom prst="rect">
            <a:avLst/>
          </a:prstGeom>
        </p:spPr>
      </p:pic>
      <p:pic>
        <p:nvPicPr>
          <p:cNvPr id="8" name="図 7">
            <a:extLst>
              <a:ext uri="{FF2B5EF4-FFF2-40B4-BE49-F238E27FC236}">
                <a16:creationId xmlns:a16="http://schemas.microsoft.com/office/drawing/2014/main" id="{9F5CFD7B-5CD0-7D11-A24E-C940FE68BB43}"/>
              </a:ext>
            </a:extLst>
          </p:cNvPr>
          <p:cNvPicPr>
            <a:picLocks noChangeAspect="1"/>
          </p:cNvPicPr>
          <p:nvPr/>
        </p:nvPicPr>
        <p:blipFill rotWithShape="1">
          <a:blip r:embed="rId3">
            <a:extLst>
              <a:ext uri="{28A0092B-C50C-407E-A947-70E740481C1C}">
                <a14:useLocalDpi xmlns:a14="http://schemas.microsoft.com/office/drawing/2010/main" val="0"/>
              </a:ext>
            </a:extLst>
          </a:blip>
          <a:srcRect t="10628" b="10628"/>
          <a:stretch>
            <a:fillRect/>
          </a:stretch>
        </p:blipFill>
        <p:spPr>
          <a:xfrm>
            <a:off x="686189" y="345660"/>
            <a:ext cx="3312000" cy="1863000"/>
          </a:xfrm>
          <a:prstGeom prst="rect">
            <a:avLst/>
          </a:prstGeom>
        </p:spPr>
      </p:pic>
      <p:pic>
        <p:nvPicPr>
          <p:cNvPr id="4" name="図 3">
            <a:extLst>
              <a:ext uri="{FF2B5EF4-FFF2-40B4-BE49-F238E27FC236}">
                <a16:creationId xmlns:a16="http://schemas.microsoft.com/office/drawing/2014/main" id="{9BA50069-E273-C06B-D9F4-876EA7985693}"/>
              </a:ext>
            </a:extLst>
          </p:cNvPr>
          <p:cNvPicPr>
            <a:picLocks noChangeAspect="1"/>
          </p:cNvPicPr>
          <p:nvPr/>
        </p:nvPicPr>
        <p:blipFill>
          <a:blip r:embed="rId4"/>
          <a:stretch>
            <a:fillRect/>
          </a:stretch>
        </p:blipFill>
        <p:spPr>
          <a:xfrm>
            <a:off x="686189" y="4649340"/>
            <a:ext cx="3312000" cy="1937092"/>
          </a:xfrm>
          <a:prstGeom prst="rect">
            <a:avLst/>
          </a:prstGeom>
        </p:spPr>
      </p:pic>
      <p:sp>
        <p:nvSpPr>
          <p:cNvPr id="5" name="矢印: 下 4">
            <a:extLst>
              <a:ext uri="{FF2B5EF4-FFF2-40B4-BE49-F238E27FC236}">
                <a16:creationId xmlns:a16="http://schemas.microsoft.com/office/drawing/2014/main" id="{170FB0FD-DEF3-8039-AFEF-BB42DE1EEEFD}"/>
              </a:ext>
            </a:extLst>
          </p:cNvPr>
          <p:cNvSpPr/>
          <p:nvPr/>
        </p:nvSpPr>
        <p:spPr>
          <a:xfrm>
            <a:off x="1879793" y="220866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9" name="矢印: 下 8">
            <a:extLst>
              <a:ext uri="{FF2B5EF4-FFF2-40B4-BE49-F238E27FC236}">
                <a16:creationId xmlns:a16="http://schemas.microsoft.com/office/drawing/2014/main" id="{2F871BF7-1702-1E7D-F1B0-D199DC1A98DC}"/>
              </a:ext>
            </a:extLst>
          </p:cNvPr>
          <p:cNvSpPr/>
          <p:nvPr/>
        </p:nvSpPr>
        <p:spPr>
          <a:xfrm>
            <a:off x="1879793" y="436050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252377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3504046E-B4D5-DDC9-85BA-3CF44010F60C}"/>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158DDEE6-5E17-8CCD-3480-B96396AC964B}"/>
              </a:ext>
            </a:extLst>
          </p:cNvPr>
          <p:cNvSpPr txBox="1"/>
          <p:nvPr/>
        </p:nvSpPr>
        <p:spPr>
          <a:xfrm>
            <a:off x="948906" y="3013501"/>
            <a:ext cx="10404894" cy="1200329"/>
          </a:xfrm>
          <a:prstGeom prst="rect">
            <a:avLst/>
          </a:prstGeom>
          <a:solidFill>
            <a:schemeClr val="tx2"/>
          </a:solidFill>
        </p:spPr>
        <p:txBody>
          <a:bodyPr wrap="square" rtlCol="0">
            <a:spAutoFit/>
          </a:bodyPr>
          <a:lstStyle/>
          <a:p>
            <a:r>
              <a:rPr lang="ja-JP" altLang="ja-JP" sz="2400" dirty="0">
                <a:solidFill>
                  <a:schemeClr val="bg2"/>
                </a:solidFill>
              </a:rPr>
              <a:t>This concludes the entire experiment.</a:t>
            </a:r>
          </a:p>
          <a:p>
            <a:r>
              <a:rPr lang="ja-JP" altLang="ja-JP" sz="2400" dirty="0">
                <a:solidFill>
                  <a:schemeClr val="bg2"/>
                </a:solidFill>
              </a:rPr>
              <a:t>Thank you very much for your cooperation.</a:t>
            </a:r>
          </a:p>
          <a:p>
            <a:endParaRPr lang="en-US" altLang="ja-JP" sz="2400" dirty="0">
              <a:solidFill>
                <a:schemeClr val="bg2"/>
              </a:solidFill>
            </a:endParaRPr>
          </a:p>
        </p:txBody>
      </p:sp>
    </p:spTree>
    <p:extLst>
      <p:ext uri="{BB962C8B-B14F-4D97-AF65-F5344CB8AC3E}">
        <p14:creationId xmlns:p14="http://schemas.microsoft.com/office/powerpoint/2010/main" val="784816001"/>
      </p:ext>
    </p:extLst>
  </p:cSld>
  <p:clrMapOvr>
    <a:masterClrMapping/>
  </p:clrMapOvr>
</p:sld>
</file>

<file path=ppt/theme/theme1.xml><?xml version="1.0" encoding="utf-8"?>
<a:theme xmlns:a="http://schemas.openxmlformats.org/drawingml/2006/main" name="浪裏">
  <a:themeElements>
    <a:clrScheme name="浪裏">
      <a:dk1>
        <a:srgbClr val="474A4D"/>
      </a:dk1>
      <a:lt1>
        <a:srgbClr val="F7FAFF"/>
      </a:lt1>
      <a:dk2>
        <a:srgbClr val="192F60"/>
      </a:dk2>
      <a:lt2>
        <a:srgbClr val="FCFAF2"/>
      </a:lt2>
      <a:accent1>
        <a:srgbClr val="3E6AAC"/>
      </a:accent1>
      <a:accent2>
        <a:srgbClr val="B2C3DE"/>
      </a:accent2>
      <a:accent3>
        <a:srgbClr val="C1D6E0"/>
      </a:accent3>
      <a:accent4>
        <a:srgbClr val="E6EFF3"/>
      </a:accent4>
      <a:accent5>
        <a:srgbClr val="FFC85C"/>
      </a:accent5>
      <a:accent6>
        <a:srgbClr val="ECC129"/>
      </a:accent6>
      <a:hlink>
        <a:srgbClr val="CCA400"/>
      </a:hlink>
      <a:folHlink>
        <a:srgbClr val="96607D"/>
      </a:folHlink>
    </a:clrScheme>
    <a:fontScheme name="ユーザー定義 1">
      <a:majorFont>
        <a:latin typeface="Segoe UI"/>
        <a:ea typeface="游ゴシック"/>
        <a:cs typeface=""/>
      </a:majorFont>
      <a:minorFont>
        <a:latin typeface="Segoe UI"/>
        <a:ea typeface="游ゴシック Medium"/>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浪裏" id="{C7EAAADF-7637-45BA-BFD6-BAAAFB3B6307}" vid="{38915315-E91E-4C2F-856B-7BB7B52B3D5A}"/>
    </a:ext>
  </a:extLst>
</a:theme>
</file>

<file path=docProps/app.xml><?xml version="1.0" encoding="utf-8"?>
<Properties xmlns="http://schemas.openxmlformats.org/officeDocument/2006/extended-properties" xmlns:vt="http://schemas.openxmlformats.org/officeDocument/2006/docPropsVTypes">
  <Template>浪裏</Template>
  <TotalTime>732</TotalTime>
  <Words>3187</Words>
  <Application>Microsoft Office PowerPoint</Application>
  <PresentationFormat>ワイド画面</PresentationFormat>
  <Paragraphs>230</Paragraphs>
  <Slides>29</Slides>
  <Notes>0</Notes>
  <HiddenSlides>2</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29</vt:i4>
      </vt:variant>
    </vt:vector>
  </HeadingPairs>
  <TitlesOfParts>
    <vt:vector size="32" baseType="lpstr">
      <vt:lpstr>Arial</vt:lpstr>
      <vt:lpstr>Segoe UI</vt:lpstr>
      <vt:lpstr>浪裏</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涼一 ishikawa</dc:creator>
  <cp:lastModifiedBy>濵田　和希</cp:lastModifiedBy>
  <cp:revision>28</cp:revision>
  <dcterms:created xsi:type="dcterms:W3CDTF">2023-02-14T16:11:56Z</dcterms:created>
  <dcterms:modified xsi:type="dcterms:W3CDTF">2026-07-21T02:14:17Z</dcterms:modified>
</cp:coreProperties>
</file>