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75" r:id="rId4"/>
    <p:sldId id="268" r:id="rId5"/>
    <p:sldId id="270" r:id="rId6"/>
    <p:sldId id="269" r:id="rId7"/>
    <p:sldId id="273" r:id="rId8"/>
    <p:sldId id="276" r:id="rId9"/>
    <p:sldId id="274" r:id="rId10"/>
    <p:sldId id="262"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9" autoAdjust="0"/>
    <p:restoredTop sz="94660"/>
  </p:normalViewPr>
  <p:slideViewPr>
    <p:cSldViewPr snapToGrid="0">
      <p:cViewPr varScale="1">
        <p:scale>
          <a:sx n="74" d="100"/>
          <a:sy n="74" d="100"/>
        </p:scale>
        <p:origin x="811"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2026/6/11</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2026/6/11</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2026/6/11</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2026/6/11</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実験者様には、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二つの実験セクションに分かれており、操作や判断の詳細は各セクションの前に説明します。所要時間は各セクション</a:t>
            </a:r>
            <a:r>
              <a:rPr lang="en-US" altLang="ja-JP" sz="2000" dirty="0">
                <a:solidFill>
                  <a:schemeClr val="bg1"/>
                </a:solidFill>
              </a:rPr>
              <a:t>40</a:t>
            </a:r>
            <a:r>
              <a:rPr lang="ja-JP" altLang="en-US" sz="2000" dirty="0">
                <a:solidFill>
                  <a:schemeClr val="bg1"/>
                </a:solidFill>
              </a:rPr>
              <a:t>分、全体で</a:t>
            </a:r>
            <a:r>
              <a:rPr lang="en-US" altLang="ja-JP" sz="2000" dirty="0">
                <a:solidFill>
                  <a:schemeClr val="bg1"/>
                </a:solidFill>
              </a:rPr>
              <a:t>80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3870290"/>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刺激の見え方を一致させるタスクの際は、一致点の前後を行き来するように、慎重に行ってください。</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a:solidFill>
                  <a:schemeClr val="bg1"/>
                </a:solidFill>
              </a:rPr>
              <a:t>なお、キャリブレーションや調整実験では、性質上</a:t>
            </a:r>
            <a:r>
              <a:rPr kumimoji="1" lang="ja-JP" altLang="en-US" sz="2000" dirty="0">
                <a:solidFill>
                  <a:schemeClr val="bg1"/>
                </a:solidFill>
              </a:rPr>
              <a:t>、前景ディスプレイの</a:t>
            </a:r>
            <a:r>
              <a:rPr kumimoji="1" lang="en-US" altLang="ja-JP" sz="2000" dirty="0">
                <a:solidFill>
                  <a:schemeClr val="bg1"/>
                </a:solidFill>
              </a:rPr>
              <a:t>Test</a:t>
            </a:r>
            <a:r>
              <a:rPr kumimoji="1" lang="ja-JP" altLang="en-US" sz="2000" dirty="0">
                <a:solidFill>
                  <a:schemeClr val="bg1"/>
                </a:solidFill>
              </a:rPr>
              <a:t>刺激にに焦点を合わせづらい場合があります。この場合は、</a:t>
            </a:r>
            <a:r>
              <a:rPr kumimoji="1" lang="en-US" altLang="ja-JP" sz="2000" dirty="0">
                <a:solidFill>
                  <a:schemeClr val="bg1"/>
                </a:solidFill>
              </a:rPr>
              <a:t>Test</a:t>
            </a:r>
            <a:r>
              <a:rPr kumimoji="1" lang="ja-JP" altLang="en-US" sz="2000" dirty="0">
                <a:solidFill>
                  <a:schemeClr val="bg1"/>
                </a:solidFill>
              </a:rPr>
              <a:t>刺激は凝視せず、</a:t>
            </a:r>
            <a:r>
              <a:rPr kumimoji="1" lang="en-US" altLang="ja-JP" sz="2000" dirty="0">
                <a:solidFill>
                  <a:schemeClr val="bg1"/>
                </a:solidFill>
              </a:rPr>
              <a:t>Reference</a:t>
            </a:r>
            <a:r>
              <a:rPr kumimoji="1" lang="ja-JP" altLang="en-US" sz="2000" dirty="0">
                <a:solidFill>
                  <a:schemeClr val="bg1"/>
                </a:solidFill>
              </a:rPr>
              <a:t>刺激との間で素早く視線を移動させることで、焦点の変化を防ぐようお願いします。</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C5C5AF3-9201-45E8-C4AF-918B1AE3E3ED}"/>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4492BFC-0C69-E102-7E94-85E3698C354A}"/>
              </a:ext>
            </a:extLst>
          </p:cNvPr>
          <p:cNvSpPr txBox="1"/>
          <p:nvPr/>
        </p:nvSpPr>
        <p:spPr>
          <a:xfrm>
            <a:off x="893553" y="705177"/>
            <a:ext cx="10404894" cy="2331407"/>
          </a:xfrm>
          <a:prstGeom prst="rect">
            <a:avLst/>
          </a:prstGeom>
          <a:noFill/>
        </p:spPr>
        <p:txBody>
          <a:bodyPr wrap="square" rtlCol="0">
            <a:spAutoFit/>
          </a:bodyPr>
          <a:lstStyle/>
          <a:p>
            <a:r>
              <a:rPr lang="ja-JP" altLang="en-US" sz="2550" b="1" dirty="0">
                <a:solidFill>
                  <a:schemeClr val="bg1"/>
                </a:solidFill>
                <a:latin typeface="+mj-ea"/>
                <a:ea typeface="+mj-ea"/>
              </a:rPr>
              <a:t>トレーニングセッション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実験本番に移る前に、各セクションで行うタスクに慣れるためのトレーニングを行います。</a:t>
            </a:r>
            <a:endParaRPr kumimoji="1" lang="en-US" altLang="ja-JP" sz="2000" dirty="0">
              <a:solidFill>
                <a:schemeClr val="bg1"/>
              </a:solidFill>
            </a:endParaRPr>
          </a:p>
          <a:p>
            <a:r>
              <a:rPr kumimoji="1" lang="ja-JP" altLang="en-US" sz="2000" dirty="0">
                <a:solidFill>
                  <a:schemeClr val="bg1"/>
                </a:solidFill>
              </a:rPr>
              <a:t>セクションの順番は本番と同じです。</a:t>
            </a:r>
            <a:endParaRPr kumimoji="1" lang="en-US" altLang="ja-JP" sz="2000" dirty="0">
              <a:solidFill>
                <a:schemeClr val="bg1"/>
              </a:solidFill>
            </a:endParaRPr>
          </a:p>
          <a:p>
            <a:r>
              <a:rPr kumimoji="1" lang="ja-JP" altLang="en-US" sz="2000" dirty="0">
                <a:solidFill>
                  <a:schemeClr val="bg1"/>
                </a:solidFill>
              </a:rPr>
              <a:t>このトレーニングはタスクに慣れるまで、最大</a:t>
            </a:r>
            <a:r>
              <a:rPr kumimoji="1" lang="en-US" altLang="ja-JP" sz="2000" dirty="0">
                <a:solidFill>
                  <a:schemeClr val="bg1"/>
                </a:solidFill>
              </a:rPr>
              <a:t>3</a:t>
            </a:r>
            <a:r>
              <a:rPr kumimoji="1" lang="ja-JP" altLang="en-US" sz="2000" dirty="0">
                <a:solidFill>
                  <a:schemeClr val="bg1"/>
                </a:solidFill>
              </a:rPr>
              <a:t>回まで行うことができます。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682353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grpSp>
        <p:nvGrpSpPr>
          <p:cNvPr id="9" name="グループ化 8">
            <a:extLst>
              <a:ext uri="{FF2B5EF4-FFF2-40B4-BE49-F238E27FC236}">
                <a16:creationId xmlns:a16="http://schemas.microsoft.com/office/drawing/2014/main" id="{3B84175B-CA6D-8A2F-7872-20E7FB818A34}"/>
              </a:ext>
            </a:extLst>
          </p:cNvPr>
          <p:cNvGrpSpPr/>
          <p:nvPr/>
        </p:nvGrpSpPr>
        <p:grpSpPr>
          <a:xfrm>
            <a:off x="601853" y="2029180"/>
            <a:ext cx="3789056" cy="2799639"/>
            <a:chOff x="674590" y="1865879"/>
            <a:chExt cx="3789056" cy="2799639"/>
          </a:xfrm>
        </p:grpSpPr>
        <p:pic>
          <p:nvPicPr>
            <p:cNvPr id="8" name="図 7">
              <a:extLst>
                <a:ext uri="{FF2B5EF4-FFF2-40B4-BE49-F238E27FC236}">
                  <a16:creationId xmlns:a16="http://schemas.microsoft.com/office/drawing/2014/main" id="{8F5E52EA-BC18-4BD3-FD47-2D28A0D72435}"/>
                </a:ext>
              </a:extLst>
            </p:cNvPr>
            <p:cNvPicPr>
              <a:picLocks noChangeAspect="1"/>
            </p:cNvPicPr>
            <p:nvPr/>
          </p:nvPicPr>
          <p:blipFill>
            <a:blip r:embed="rId2"/>
            <a:stretch>
              <a:fillRect/>
            </a:stretch>
          </p:blipFill>
          <p:spPr>
            <a:xfrm>
              <a:off x="674590" y="2456054"/>
              <a:ext cx="3789056" cy="1945892"/>
            </a:xfrm>
            <a:prstGeom prst="rect">
              <a:avLst/>
            </a:prstGeom>
          </p:spPr>
        </p:pic>
        <p:pic>
          <p:nvPicPr>
            <p:cNvPr id="4" name="図 3">
              <a:extLst>
                <a:ext uri="{FF2B5EF4-FFF2-40B4-BE49-F238E27FC236}">
                  <a16:creationId xmlns:a16="http://schemas.microsoft.com/office/drawing/2014/main" id="{6E2910DB-18C9-630A-D99B-0171144EDB6A}"/>
                </a:ext>
              </a:extLst>
            </p:cNvPr>
            <p:cNvPicPr>
              <a:picLocks noChangeAspect="1"/>
            </p:cNvPicPr>
            <p:nvPr/>
          </p:nvPicPr>
          <p:blipFill rotWithShape="1">
            <a:blip r:embed="rId3">
              <a:alphaModFix amt="42000"/>
              <a:extLst>
                <a:ext uri="{28A0092B-C50C-407E-A947-70E740481C1C}">
                  <a14:useLocalDpi xmlns:a14="http://schemas.microsoft.com/office/drawing/2010/main" val="0"/>
                </a:ext>
              </a:extLst>
            </a:blip>
            <a:srcRect l="24283" r="24283"/>
            <a:stretch>
              <a:fillRect/>
            </a:stretch>
          </p:blipFill>
          <p:spPr>
            <a:xfrm>
              <a:off x="1013435" y="1865879"/>
              <a:ext cx="2799639" cy="2799639"/>
            </a:xfrm>
            <a:prstGeom prst="rect">
              <a:avLst/>
            </a:prstGeom>
          </p:spPr>
        </p:pic>
      </p:grpSp>
    </p:spTree>
    <p:extLst>
      <p:ext uri="{BB962C8B-B14F-4D97-AF65-F5344CB8AC3E}">
        <p14:creationId xmlns:p14="http://schemas.microsoft.com/office/powerpoint/2010/main" val="11266896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16217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9B7854CB-ADCD-EA94-0FB2-D78104FAFCB4}"/>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62121" y="1161965"/>
            <a:ext cx="3829324" cy="3880044"/>
          </a:xfrm>
          <a:prstGeom prst="rect">
            <a:avLst/>
          </a:prstGeom>
        </p:spPr>
      </p:pic>
    </p:spTree>
    <p:extLst>
      <p:ext uri="{BB962C8B-B14F-4D97-AF65-F5344CB8AC3E}">
        <p14:creationId xmlns:p14="http://schemas.microsoft.com/office/powerpoint/2010/main" val="291595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28806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F24FED2-85A1-8005-E543-1C5ECC2472E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375E41-7500-D920-505B-BF618CE4175C}"/>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9907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E4051A4-2FD0-A31B-ABFC-37343669B3A2}"/>
              </a:ext>
            </a:extLst>
          </p:cNvPr>
          <p:cNvSpPr>
            <a:spLocks noGrp="1"/>
          </p:cNvSpPr>
          <p:nvPr>
            <p:ph idx="1"/>
          </p:nvPr>
        </p:nvSpPr>
        <p:spPr>
          <a:xfrm>
            <a:off x="838200" y="681487"/>
            <a:ext cx="10515600" cy="5495476"/>
          </a:xfrm>
        </p:spPr>
        <p:txBody>
          <a:bodyPr/>
          <a:lstStyle/>
          <a:p>
            <a:endParaRPr kumimoji="1" lang="ja-JP" altLang="en-US" dirty="0"/>
          </a:p>
        </p:txBody>
      </p:sp>
      <p:sp>
        <p:nvSpPr>
          <p:cNvPr id="4" name="正方形/長方形 3">
            <a:extLst>
              <a:ext uri="{FF2B5EF4-FFF2-40B4-BE49-F238E27FC236}">
                <a16:creationId xmlns:a16="http://schemas.microsoft.com/office/drawing/2014/main" id="{B41A48C1-CF1C-6BCA-3BB9-E06EB3FCB57C}"/>
              </a:ext>
            </a:extLst>
          </p:cNvPr>
          <p:cNvSpPr/>
          <p:nvPr/>
        </p:nvSpPr>
        <p:spPr>
          <a:xfrm>
            <a:off x="0" y="0"/>
            <a:ext cx="12192000" cy="685800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9D26FC-B76F-4628-8639-B4BD4A31EC82}"/>
              </a:ext>
            </a:extLst>
          </p:cNvPr>
          <p:cNvSpPr txBox="1"/>
          <p:nvPr/>
        </p:nvSpPr>
        <p:spPr>
          <a:xfrm>
            <a:off x="948906" y="363915"/>
            <a:ext cx="10404894" cy="5755422"/>
          </a:xfrm>
          <a:prstGeom prst="rect">
            <a:avLst/>
          </a:prstGeom>
          <a:noFill/>
        </p:spPr>
        <p:txBody>
          <a:bodyPr wrap="square" rtlCol="0">
            <a:spAutoFit/>
          </a:bodyPr>
          <a:lstStyle/>
          <a:p>
            <a:r>
              <a:rPr lang="ja-JP" altLang="en-US" sz="2000" dirty="0">
                <a:solidFill>
                  <a:schemeClr val="bg1"/>
                </a:solidFill>
              </a:rPr>
              <a:t>　</a:t>
            </a:r>
            <a:r>
              <a:rPr lang="en-US" altLang="ja-JP" sz="2800" dirty="0">
                <a:solidFill>
                  <a:schemeClr val="bg1"/>
                </a:solidFill>
              </a:rPr>
              <a:t>About this experiment</a:t>
            </a:r>
            <a:endParaRPr lang="en-US" altLang="ja-JP" sz="3200" dirty="0">
              <a:solidFill>
                <a:schemeClr val="bg1"/>
              </a:solidFill>
            </a:endParaRPr>
          </a:p>
          <a:p>
            <a:r>
              <a:rPr lang="en-US" altLang="ja-JP" sz="2000" dirty="0">
                <a:solidFill>
                  <a:schemeClr val="bg1"/>
                </a:solidFill>
              </a:rPr>
              <a:t>This experiment is for the study of diagnostic aids in chest x-ray imaging. The experimenter will be asked to view two chest x-ray images and select one of them. There will be two sections, and we will explain the details of the selection criteria before each section. The time required is 15 minutes for each section and approximately 30 minutes overall.</a:t>
            </a:r>
          </a:p>
          <a:p>
            <a:endParaRPr lang="en-US" altLang="ja-JP" sz="2000" dirty="0">
              <a:solidFill>
                <a:schemeClr val="bg1"/>
              </a:solidFill>
            </a:endParaRPr>
          </a:p>
          <a:p>
            <a:r>
              <a:rPr lang="en-US" altLang="ja-JP" sz="2000" dirty="0">
                <a:solidFill>
                  <a:schemeClr val="bg1"/>
                </a:solidFill>
              </a:rPr>
              <a:t>The experiment may cause eye fatigue. If you feel unwell, please inform the person in charge of the experiment at any time. And we will suspend or terminate the experiment.</a:t>
            </a:r>
          </a:p>
          <a:p>
            <a:endParaRPr lang="en-US" altLang="ja-JP" sz="2000" dirty="0">
              <a:solidFill>
                <a:schemeClr val="bg1"/>
              </a:solidFill>
            </a:endParaRPr>
          </a:p>
          <a:p>
            <a:r>
              <a:rPr lang="en-US" altLang="ja-JP" sz="2000" dirty="0">
                <a:solidFill>
                  <a:schemeClr val="bg1"/>
                </a:solidFill>
              </a:rPr>
              <a:t>The data measured in this experiment will be used for research on diagnostic aids in X-ray imaging. The research results may be published in academic publications (papers, presentations at academic conferences, etc.) as well as for the purpose of publicizing the research activities of the </a:t>
            </a:r>
            <a:r>
              <a:rPr lang="en-US" altLang="ja-JP" sz="2000" dirty="0" err="1">
                <a:solidFill>
                  <a:schemeClr val="bg1"/>
                </a:solidFill>
              </a:rPr>
              <a:t>Oishi</a:t>
            </a:r>
            <a:r>
              <a:rPr lang="en-US" altLang="ja-JP" sz="2000" dirty="0">
                <a:solidFill>
                  <a:schemeClr val="bg1"/>
                </a:solidFill>
              </a:rPr>
              <a:t> Laboratory. When analyzing and publishing experimental data, all data will be anonymized, and privacy information will not be disclosed.</a:t>
            </a:r>
            <a:endParaRPr kumimoji="1" lang="en-US" altLang="ja-JP" sz="2000" dirty="0">
              <a:solidFill>
                <a:schemeClr val="bg1"/>
              </a:solidFill>
            </a:endParaRPr>
          </a:p>
          <a:p>
            <a:endParaRPr lang="en-US" altLang="ja-JP" sz="2000" dirty="0">
              <a:solidFill>
                <a:schemeClr val="bg1"/>
              </a:solidFill>
            </a:endParaRPr>
          </a:p>
          <a:p>
            <a:r>
              <a:rPr lang="en-US" altLang="ja-JP" sz="2000" dirty="0">
                <a:solidFill>
                  <a:schemeClr val="bg1"/>
                </a:solidFill>
              </a:rPr>
              <a:t>Press Space key to go next.</a:t>
            </a:r>
            <a:endParaRPr kumimoji="1" lang="en-US" altLang="ja-JP" sz="2000" dirty="0">
              <a:solidFill>
                <a:schemeClr val="bg1"/>
              </a:solidFill>
            </a:endParaRPr>
          </a:p>
        </p:txBody>
      </p:sp>
    </p:spTree>
    <p:extLst>
      <p:ext uri="{BB962C8B-B14F-4D97-AF65-F5344CB8AC3E}">
        <p14:creationId xmlns:p14="http://schemas.microsoft.com/office/powerpoint/2010/main" val="1285185960"/>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589</TotalTime>
  <Words>1058</Words>
  <Application>Microsoft Office PowerPoint</Application>
  <PresentationFormat>ワイド画面</PresentationFormat>
  <Paragraphs>77</Paragraphs>
  <Slides>10</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10</vt:i4>
      </vt:variant>
    </vt:vector>
  </HeadingPairs>
  <TitlesOfParts>
    <vt:vector size="13"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22</cp:revision>
  <dcterms:created xsi:type="dcterms:W3CDTF">2023-02-14T16:11:56Z</dcterms:created>
  <dcterms:modified xsi:type="dcterms:W3CDTF">2026-06-11T07:13:02Z</dcterms:modified>
</cp:coreProperties>
</file>