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95" r:id="rId4"/>
    <p:sldId id="275" r:id="rId5"/>
    <p:sldId id="268" r:id="rId6"/>
    <p:sldId id="270" r:id="rId7"/>
    <p:sldId id="269" r:id="rId8"/>
    <p:sldId id="273" r:id="rId9"/>
    <p:sldId id="276" r:id="rId10"/>
    <p:sldId id="286" r:id="rId11"/>
    <p:sldId id="287" r:id="rId12"/>
    <p:sldId id="288" r:id="rId13"/>
    <p:sldId id="289" r:id="rId14"/>
    <p:sldId id="290" r:id="rId15"/>
    <p:sldId id="274" r:id="rId16"/>
    <p:sldId id="277" r:id="rId17"/>
    <p:sldId id="278" r:id="rId18"/>
    <p:sldId id="296" r:id="rId19"/>
    <p:sldId id="279" r:id="rId20"/>
    <p:sldId id="280" r:id="rId21"/>
    <p:sldId id="281" r:id="rId22"/>
    <p:sldId id="282" r:id="rId23"/>
    <p:sldId id="283" r:id="rId24"/>
    <p:sldId id="284" r:id="rId25"/>
    <p:sldId id="291" r:id="rId26"/>
    <p:sldId id="292" r:id="rId27"/>
    <p:sldId id="293" r:id="rId28"/>
    <p:sldId id="294" r:id="rId29"/>
    <p:sldId id="285"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660"/>
  </p:normalViewPr>
  <p:slideViewPr>
    <p:cSldViewPr snapToGrid="0">
      <p:cViewPr>
        <p:scale>
          <a:sx n="73" d="100"/>
          <a:sy n="73" d="100"/>
        </p:scale>
        <p:origin x="15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2026/7/19</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2026/7/19</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2026/7/19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2026/7/19</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実験者様には、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二つの実験セクションに分かれており、操作や判断の詳細は各セクションの前に説明します。所要時間は各セクション</a:t>
            </a:r>
            <a:r>
              <a:rPr lang="en-US" altLang="ja-JP" sz="2000" dirty="0">
                <a:solidFill>
                  <a:schemeClr val="bg1"/>
                </a:solidFill>
              </a:rPr>
              <a:t>40</a:t>
            </a:r>
            <a:r>
              <a:rPr lang="ja-JP" altLang="en-US" sz="2000" dirty="0">
                <a:solidFill>
                  <a:schemeClr val="bg1"/>
                </a:solidFill>
              </a:rPr>
              <a:t>分、全体で</a:t>
            </a:r>
            <a:r>
              <a:rPr lang="en-US" altLang="ja-JP" sz="2000" dirty="0">
                <a:solidFill>
                  <a:schemeClr val="bg1"/>
                </a:solidFill>
              </a:rPr>
              <a:t>80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3870290"/>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なお、キャリブレーションや調整実験では、性質上、前景ディスプレイの</a:t>
            </a:r>
            <a:r>
              <a:rPr kumimoji="1" lang="en-US" altLang="ja-JP" sz="2000" dirty="0">
                <a:solidFill>
                  <a:schemeClr val="bg1"/>
                </a:solidFill>
              </a:rPr>
              <a:t>Test</a:t>
            </a:r>
            <a:r>
              <a:rPr kumimoji="1" lang="ja-JP" altLang="en-US" sz="2000" dirty="0">
                <a:solidFill>
                  <a:schemeClr val="bg1"/>
                </a:solidFill>
              </a:rPr>
              <a:t>刺激に焦点を合わせづらい場合があります。この場合は、</a:t>
            </a:r>
            <a:r>
              <a:rPr kumimoji="1" lang="en-US" altLang="ja-JP" sz="2000" dirty="0">
                <a:solidFill>
                  <a:schemeClr val="bg1"/>
                </a:solidFill>
              </a:rPr>
              <a:t>Test</a:t>
            </a:r>
            <a:r>
              <a:rPr kumimoji="1" lang="ja-JP" altLang="en-US" sz="2000" dirty="0">
                <a:solidFill>
                  <a:schemeClr val="bg1"/>
                </a:solidFill>
              </a:rPr>
              <a:t>刺激は凝視せず、</a:t>
            </a:r>
            <a:r>
              <a:rPr kumimoji="1" lang="en-US" altLang="ja-JP" sz="2000" dirty="0">
                <a:solidFill>
                  <a:schemeClr val="bg1"/>
                </a:solidFill>
              </a:rPr>
              <a:t>Reference</a:t>
            </a:r>
            <a:r>
              <a:rPr kumimoji="1" lang="ja-JP" altLang="en-US" sz="2000" dirty="0">
                <a:solidFill>
                  <a:schemeClr val="bg1"/>
                </a:solidFill>
              </a:rPr>
              <a:t>刺激との間で素早く視線を移動させることで、焦点の変化を防ぐようお願いします。</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0FD4A37-65BC-6DC4-0137-9106D334D65B}"/>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1244CB2-9ECE-50BE-1E58-EA310DEEC139}"/>
              </a:ext>
            </a:extLst>
          </p:cNvPr>
          <p:cNvSpPr txBox="1"/>
          <p:nvPr/>
        </p:nvSpPr>
        <p:spPr>
          <a:xfrm>
            <a:off x="893553" y="705177"/>
            <a:ext cx="10404894" cy="5409173"/>
          </a:xfrm>
          <a:prstGeom prst="rect">
            <a:avLst/>
          </a:prstGeom>
          <a:noFill/>
        </p:spPr>
        <p:txBody>
          <a:bodyPr wrap="square" rtlCol="0">
            <a:spAutoFit/>
          </a:bodyPr>
          <a:lstStyle/>
          <a:p>
            <a:r>
              <a:rPr lang="ja-JP" altLang="en-US" sz="2550" b="1" dirty="0">
                <a:solidFill>
                  <a:schemeClr val="bg1"/>
                </a:solidFill>
                <a:latin typeface="+mj-ea"/>
                <a:ea typeface="+mj-ea"/>
              </a:rPr>
              <a:t>被験者情報の記録</a:t>
            </a:r>
            <a:endParaRPr lang="en-US" altLang="ja-JP" sz="2550" b="1" dirty="0">
              <a:solidFill>
                <a:schemeClr val="bg1"/>
              </a:solidFill>
              <a:latin typeface="+mj-ea"/>
              <a:ea typeface="+mj-ea"/>
            </a:endParaRPr>
          </a:p>
          <a:p>
            <a:r>
              <a:rPr kumimoji="1" lang="ja-JP" altLang="en-US" sz="2000" dirty="0">
                <a:solidFill>
                  <a:schemeClr val="bg1"/>
                </a:solidFill>
              </a:rPr>
              <a:t>実際の操作に移る前に、被験者様の性別、年齢、利き目、瞳孔間距離を測定します。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性別、年齢については、実験担当者から質問があるのでお答えください。</a:t>
            </a:r>
            <a:endParaRPr kumimoji="1" lang="en-US" altLang="ja-JP" sz="2000" dirty="0">
              <a:solidFill>
                <a:schemeClr val="bg1"/>
              </a:solidFill>
            </a:endParaRPr>
          </a:p>
          <a:p>
            <a:r>
              <a:rPr kumimoji="1" lang="ja-JP" altLang="en-US" sz="2000" dirty="0">
                <a:solidFill>
                  <a:schemeClr val="bg1"/>
                </a:solidFill>
              </a:rPr>
              <a:t>利き目については、実験担当者からの指示に従い、</a:t>
            </a:r>
            <a:r>
              <a:rPr lang="ja-JP" altLang="ja-JP" sz="2000" dirty="0">
                <a:solidFill>
                  <a:schemeClr val="bg1"/>
                </a:solidFill>
              </a:rPr>
              <a:t>以下の手順で</a:t>
            </a:r>
            <a:r>
              <a:rPr lang="ja-JP" altLang="en-US" sz="2000" dirty="0">
                <a:solidFill>
                  <a:schemeClr val="bg1"/>
                </a:solidFill>
              </a:rPr>
              <a:t>測定して</a:t>
            </a:r>
            <a:r>
              <a:rPr lang="ja-JP" altLang="ja-JP" sz="2000" dirty="0">
                <a:solidFill>
                  <a:schemeClr val="bg1"/>
                </a:solidFill>
              </a:rPr>
              <a:t>ください。</a:t>
            </a:r>
          </a:p>
          <a:p>
            <a:pPr marL="457200" indent="-457200">
              <a:buFont typeface="+mj-lt"/>
              <a:buAutoNum type="arabicPeriod"/>
            </a:pPr>
            <a:r>
              <a:rPr lang="ja-JP" altLang="ja-JP" sz="2000" dirty="0">
                <a:solidFill>
                  <a:schemeClr val="bg1"/>
                </a:solidFill>
              </a:rPr>
              <a:t>両手を前方に伸ばし、親指と人差し指で三角形の小さな隙間を作ります。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両目を開けたまま、その隙間の中央に、実験担当者が指定した目標物が見えるように手の位置を調整します。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手と顔を動かさず、左右の目を交互に閉じます。</a:t>
            </a:r>
            <a:endParaRPr lang="en-US" altLang="ja-JP" sz="2000" dirty="0">
              <a:solidFill>
                <a:schemeClr val="bg1"/>
              </a:solidFill>
            </a:endParaRPr>
          </a:p>
          <a:p>
            <a:pPr marL="457200" indent="-457200">
              <a:buFont typeface="+mj-lt"/>
              <a:buAutoNum type="arabicPeriod"/>
            </a:pPr>
            <a:r>
              <a:rPr lang="ja-JP" altLang="ja-JP" sz="2000" dirty="0">
                <a:solidFill>
                  <a:schemeClr val="bg1"/>
                </a:solidFill>
              </a:rPr>
              <a:t>目標物が隙間の中央に見え続ける側の目を、利き目として記録します。</a:t>
            </a:r>
            <a:endParaRPr kumimoji="1" lang="en-US" altLang="ja-JP" sz="2000" dirty="0">
              <a:solidFill>
                <a:schemeClr val="bg1"/>
              </a:solidFill>
            </a:endParaRPr>
          </a:p>
          <a:p>
            <a:r>
              <a:rPr kumimoji="1" lang="ja-JP" altLang="en-US" sz="2000" dirty="0">
                <a:solidFill>
                  <a:schemeClr val="bg1"/>
                </a:solidFill>
              </a:rPr>
              <a:t>瞳孔間距離については、眉のあたりに定規を当てていただき、その写真を撮影することで測定します。記録後、被験者様の目の前で、写真を削除します。</a:t>
            </a:r>
            <a:br>
              <a:rPr kumimoji="1" lang="en-US" altLang="ja-JP" sz="2000" dirty="0">
                <a:solidFill>
                  <a:schemeClr val="bg1"/>
                </a:solidFill>
              </a:rPr>
            </a:br>
            <a:br>
              <a:rPr kumimoji="1" lang="en-US" altLang="ja-JP" sz="2000" dirty="0">
                <a:solidFill>
                  <a:schemeClr val="bg1"/>
                </a:solidFill>
              </a:rPr>
            </a:br>
            <a:r>
              <a:rPr kumimoji="1" lang="ja-JP" altLang="en-US" sz="2000" dirty="0">
                <a:solidFill>
                  <a:schemeClr val="bg1"/>
                </a:solidFill>
              </a:rPr>
              <a:t>繰り返しになりますが、</a:t>
            </a:r>
            <a:r>
              <a:rPr lang="ja-JP" altLang="en-US" sz="2000" dirty="0">
                <a:solidFill>
                  <a:schemeClr val="bg1"/>
                </a:solidFill>
              </a:rPr>
              <a:t>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6370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BD8D3F9E-F85A-1AF2-214A-20415D694B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126689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B00F01A0-F192-76AD-5C55-8F4368967E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916217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9B7854CB-ADCD-EA94-0FB2-D78104FAFCB4}"/>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915957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61A37143-021E-3E02-3951-7919E7E5B03A}"/>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4EE72AF4-E718-6F5B-10C5-C99B75979F7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BD1AB912-FE21-BAE8-13DC-BEEA63B52477}"/>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971B9A4C-A212-3AD8-2489-B9E9BD44FB6A}"/>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85A5CB5A-43B1-301D-B890-FC0D3398665F}"/>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28806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D0AA7F7-94A8-27FC-F16E-E99757B66783}"/>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A8E8BD9-3F83-842A-0E88-2F2D568B59FE}"/>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01AE8888-E6C6-638D-BF5D-D42E3DECA8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7998017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2702AF8-6931-1E9A-708B-718C3D64713C}"/>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A58177-C553-0287-15D7-7841138801C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5A466B92-6E6A-F05E-74B5-903A05E2FD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18003444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EF3C46E1-4D72-07E6-3E88-5BF28B26A08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2BB2A4B-519D-9B16-DF99-80D77C1307E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88C9368C-38C0-F3D2-9E70-248A669C2F46}"/>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295579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428B59E-7A58-969B-0FD0-22B5AD6A1D7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D4885A7-248A-2407-1F7C-AEAEF1F3CB77}"/>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EDAD783C-AB0C-5545-97CE-C91D09FDF12D}"/>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54F406C8-254E-379A-7C9F-0548AC2A453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1C5C45AF-738A-A5FE-F289-1D8983D15F1B}"/>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F25D4691-7674-22E3-8E27-943D0DD30CB8}"/>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4D4ADAF-64E6-6B7A-6555-0B2F93880A14}"/>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83537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27490C9-5882-E858-8D26-0E21730107A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7AE1931-7346-421B-6BD0-DC183A6EB5C8}"/>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590212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2EABA4-8FA1-0C84-A8FF-D9555D21D03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BC84E06-6A44-BE77-AF9D-87EC16A5D443}"/>
              </a:ext>
            </a:extLst>
          </p:cNvPr>
          <p:cNvSpPr txBox="1"/>
          <p:nvPr/>
        </p:nvSpPr>
        <p:spPr>
          <a:xfrm>
            <a:off x="893553" y="243513"/>
            <a:ext cx="10404894" cy="6370975"/>
          </a:xfrm>
          <a:prstGeom prst="rect">
            <a:avLst/>
          </a:prstGeom>
          <a:noFill/>
        </p:spPr>
        <p:txBody>
          <a:bodyPr wrap="square" rtlCol="0">
            <a:spAutoFit/>
          </a:bodyPr>
          <a:lstStyle/>
          <a:p>
            <a:r>
              <a:rPr lang="ja-JP" altLang="ja-JP" sz="2800" b="1" dirty="0">
                <a:solidFill>
                  <a:schemeClr val="bg2"/>
                </a:solidFill>
              </a:rPr>
              <a:t>About this experiment</a:t>
            </a:r>
            <a:endParaRPr lang="ja-JP" altLang="ja-JP" sz="2800" dirty="0">
              <a:solidFill>
                <a:schemeClr val="bg2"/>
              </a:solidFill>
            </a:endParaRPr>
          </a:p>
          <a:p>
            <a:r>
              <a:rPr lang="ja-JP" altLang="ja-JP" sz="2000" dirty="0">
                <a:solidFill>
                  <a:schemeClr val="bg2"/>
                </a:solidFill>
              </a:rPr>
              <a:t>This experiment is for the study of perceptual visibility prediction in optical see-through AR.</a:t>
            </a:r>
          </a:p>
          <a:p>
            <a:r>
              <a:rPr lang="ja-JP" altLang="ja-JP" sz="2000" dirty="0">
                <a:solidFill>
                  <a:schemeClr val="bg2"/>
                </a:solidFill>
              </a:rPr>
              <a:t>You will be asked to view two stimulus images, a Reference image and a Test image, and perform operations or make judgments based on them. The experiment consists of a calibration section and two experimental sections. The details of the operations and judgments will be explained before each section. The two experimental sections are expected to take about 40 minutes each, for approximately 80 minutes overall.</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experiment may cause eye fatigue. If you feel unwell or have any concerns, please inform the person in charge of the experiment at any time. We will suspend or terminate the experiment as needed.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data measured in this experiment will be used for research on perceptual visibility prediction in optical see-through AR. The research results may be published in academic publications, such as papers and presentations at academic conferences, as well as for the purpose of publicizing the research activities of the Oishi Laboratory. When analyzing and publishing the experimental data, all data will be anonymized, and no privacy-related information will be disclosed.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endParaRPr kumimoji="1" lang="en-US" altLang="ja-JP" sz="2000" dirty="0">
              <a:solidFill>
                <a:schemeClr val="bg2"/>
              </a:solidFill>
            </a:endParaRPr>
          </a:p>
        </p:txBody>
      </p:sp>
    </p:spTree>
    <p:extLst>
      <p:ext uri="{BB962C8B-B14F-4D97-AF65-F5344CB8AC3E}">
        <p14:creationId xmlns:p14="http://schemas.microsoft.com/office/powerpoint/2010/main" val="2973236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F7BD16B-74EC-EC4A-5336-FF89C5B9AD9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A1AB0D9-E2D5-0648-5AAD-3FB67388D27A}"/>
              </a:ext>
            </a:extLst>
          </p:cNvPr>
          <p:cNvSpPr txBox="1"/>
          <p:nvPr/>
        </p:nvSpPr>
        <p:spPr>
          <a:xfrm>
            <a:off x="893553" y="705177"/>
            <a:ext cx="10404894" cy="4524315"/>
          </a:xfrm>
          <a:prstGeom prst="rect">
            <a:avLst/>
          </a:prstGeom>
          <a:noFill/>
        </p:spPr>
        <p:txBody>
          <a:bodyPr wrap="square" rtlCol="0">
            <a:spAutoFit/>
          </a:bodyPr>
          <a:lstStyle/>
          <a:p>
            <a:r>
              <a:rPr lang="ja-JP" altLang="ja-JP" sz="2800" b="1" dirty="0">
                <a:solidFill>
                  <a:schemeClr val="bg2"/>
                </a:solidFill>
              </a:rPr>
              <a:t>Operational notes</a:t>
            </a:r>
            <a:endParaRPr lang="ja-JP" altLang="ja-JP" sz="2800" dirty="0">
              <a:solidFill>
                <a:schemeClr val="bg2"/>
              </a:solidFill>
            </a:endParaRPr>
          </a:p>
          <a:p>
            <a:r>
              <a:rPr lang="ja-JP" altLang="ja-JP" sz="2000" dirty="0">
                <a:solidFill>
                  <a:schemeClr val="bg2"/>
                </a:solidFill>
              </a:rPr>
              <a:t>In each section of this experiment, you will manipulate the stimuli and make judgments using the arrow keys on the control PC.</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For tasks in which you are asked to match the appearance of the Reference stimulus and the Test stimulus, please proceed carefully by moving back and forth around the point at which the two stimuli appear to match.</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Please note that, in the calibration and adjustment experiments, it may be difficult to focus on the Test stimulus displayed on the foreground display due to the nature of the setup. In such cases, please avoid staring at the Test stimulus. Instead, quickly shift your gaze between the Test stimulus and the Reference stimulus to prevent changes in focus.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p:txBody>
      </p:sp>
    </p:spTree>
    <p:extLst>
      <p:ext uri="{BB962C8B-B14F-4D97-AF65-F5344CB8AC3E}">
        <p14:creationId xmlns:p14="http://schemas.microsoft.com/office/powerpoint/2010/main" val="2730837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24948F-CC32-BECF-467A-55468A63F8C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563C982-25D5-EA0E-1AAB-06506D3989E8}"/>
              </a:ext>
            </a:extLst>
          </p:cNvPr>
          <p:cNvSpPr txBox="1"/>
          <p:nvPr/>
        </p:nvSpPr>
        <p:spPr>
          <a:xfrm>
            <a:off x="893553" y="705177"/>
            <a:ext cx="10404894" cy="5755422"/>
          </a:xfrm>
          <a:prstGeom prst="rect">
            <a:avLst/>
          </a:prstGeom>
          <a:noFill/>
        </p:spPr>
        <p:txBody>
          <a:bodyPr wrap="square" rtlCol="0">
            <a:spAutoFit/>
          </a:bodyPr>
          <a:lstStyle/>
          <a:p>
            <a:r>
              <a:rPr lang="ja-JP" altLang="ja-JP" sz="2800" b="1" dirty="0">
                <a:solidFill>
                  <a:schemeClr val="bg1"/>
                </a:solidFill>
              </a:rPr>
              <a:t>Recording Participant Information</a:t>
            </a:r>
            <a:endParaRPr lang="ja-JP" altLang="ja-JP" sz="2800" dirty="0">
              <a:solidFill>
                <a:schemeClr val="bg1"/>
              </a:solidFill>
            </a:endParaRPr>
          </a:p>
          <a:p>
            <a:r>
              <a:rPr lang="ja-JP" altLang="ja-JP" sz="2000" dirty="0">
                <a:solidFill>
                  <a:schemeClr val="bg1"/>
                </a:solidFill>
              </a:rPr>
              <a:t>Before the main task, we will record your gender, age, dominant eye, and interpupillary distance.</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The experimenter will ask your gender and age. </a:t>
            </a:r>
            <a:endParaRPr lang="en-US" altLang="ja-JP" sz="2000" dirty="0">
              <a:solidFill>
                <a:schemeClr val="bg1"/>
              </a:solidFill>
            </a:endParaRPr>
          </a:p>
          <a:p>
            <a:r>
              <a:rPr lang="ja-JP" altLang="ja-JP" sz="2000" dirty="0">
                <a:solidFill>
                  <a:schemeClr val="bg1"/>
                </a:solidFill>
              </a:rPr>
              <a:t>To determine your dominant eye, follow these steps:</a:t>
            </a:r>
          </a:p>
          <a:p>
            <a:pPr marL="457200" indent="-457200">
              <a:buFont typeface="+mj-lt"/>
              <a:buAutoNum type="arabicPeriod"/>
            </a:pPr>
            <a:r>
              <a:rPr lang="ja-JP" altLang="ja-JP" sz="2000" dirty="0">
                <a:solidFill>
                  <a:schemeClr val="bg1"/>
                </a:solidFill>
              </a:rPr>
              <a:t>Extend your arms and form a small triangle with your thumbs and index fingers.</a:t>
            </a:r>
          </a:p>
          <a:p>
            <a:pPr marL="457200" indent="-457200">
              <a:buFont typeface="+mj-lt"/>
              <a:buAutoNum type="arabicPeriod"/>
            </a:pPr>
            <a:r>
              <a:rPr lang="ja-JP" altLang="ja-JP" sz="2000" dirty="0">
                <a:solidFill>
                  <a:schemeClr val="bg1"/>
                </a:solidFill>
              </a:rPr>
              <a:t>With both eyes open, center the specified target in the triangle.</a:t>
            </a:r>
          </a:p>
          <a:p>
            <a:pPr marL="457200" indent="-457200">
              <a:buFont typeface="+mj-lt"/>
              <a:buAutoNum type="arabicPeriod"/>
            </a:pPr>
            <a:r>
              <a:rPr lang="ja-JP" altLang="ja-JP" sz="2000" dirty="0">
                <a:solidFill>
                  <a:schemeClr val="bg1"/>
                </a:solidFill>
              </a:rPr>
              <a:t>Without moving your hands or head, close each eye in turn.</a:t>
            </a:r>
          </a:p>
          <a:p>
            <a:pPr marL="457200" indent="-457200">
              <a:buFont typeface="+mj-lt"/>
              <a:buAutoNum type="arabicPeriod"/>
            </a:pPr>
            <a:r>
              <a:rPr lang="ja-JP" altLang="ja-JP" sz="2000" dirty="0">
                <a:solidFill>
                  <a:schemeClr val="bg1"/>
                </a:solidFill>
              </a:rPr>
              <a:t>The eye that keeps the target centered is your dominant eye.</a:t>
            </a:r>
          </a:p>
          <a:p>
            <a:r>
              <a:rPr lang="ja-JP" altLang="ja-JP" sz="2000" dirty="0">
                <a:solidFill>
                  <a:schemeClr val="bg1"/>
                </a:solidFill>
              </a:rPr>
              <a:t>To measure your interpupillary distance, we will photograph you holding a ruler near your eyebrows. The photograph will be deleted in your presence immediately after the measurement.</a:t>
            </a:r>
          </a:p>
          <a:p>
            <a:endParaRPr lang="en-US" altLang="ja-JP" sz="2000" dirty="0">
              <a:solidFill>
                <a:schemeClr val="bg1"/>
              </a:solidFill>
            </a:endParaRPr>
          </a:p>
          <a:p>
            <a:r>
              <a:rPr lang="ja-JP" altLang="ja-JP" sz="2000" dirty="0">
                <a:solidFill>
                  <a:schemeClr val="bg1"/>
                </a:solidFill>
              </a:rPr>
              <a:t>All data will be anonymized for analysis and publication. No private or personally identifiable information will be disclosed.</a:t>
            </a:r>
            <a:endParaRPr lang="en-US" altLang="ja-JP" sz="2000" dirty="0">
              <a:solidFill>
                <a:schemeClr val="bg1"/>
              </a:solidFill>
            </a:endParaRPr>
          </a:p>
          <a:p>
            <a:endParaRPr lang="ja-JP" altLang="ja-JP" sz="2000" dirty="0">
              <a:solidFill>
                <a:schemeClr val="bg1"/>
              </a:solidFill>
            </a:endParaRPr>
          </a:p>
          <a:p>
            <a:r>
              <a:rPr lang="ja-JP" altLang="ja-JP" sz="2000" dirty="0">
                <a:solidFill>
                  <a:schemeClr val="bg1"/>
                </a:solidFill>
              </a:rPr>
              <a:t>Press the </a:t>
            </a:r>
            <a:r>
              <a:rPr lang="ja-JP" altLang="ja-JP" sz="2000" b="1" dirty="0">
                <a:solidFill>
                  <a:schemeClr val="bg1"/>
                </a:solidFill>
              </a:rPr>
              <a:t>Spacebar</a:t>
            </a:r>
            <a:r>
              <a:rPr lang="ja-JP" altLang="ja-JP" sz="2000" dirty="0">
                <a:solidFill>
                  <a:schemeClr val="bg1"/>
                </a:solidFill>
              </a:rPr>
              <a:t> to continue.</a:t>
            </a:r>
          </a:p>
        </p:txBody>
      </p:sp>
    </p:spTree>
    <p:extLst>
      <p:ext uri="{BB962C8B-B14F-4D97-AF65-F5344CB8AC3E}">
        <p14:creationId xmlns:p14="http://schemas.microsoft.com/office/powerpoint/2010/main" val="12296154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AF79FDE-75EA-A3B1-AB9D-C909D567B8A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C6A8E45-71F4-E02B-E55E-77A1D39E91C4}"/>
              </a:ext>
            </a:extLst>
          </p:cNvPr>
          <p:cNvSpPr txBox="1"/>
          <p:nvPr/>
        </p:nvSpPr>
        <p:spPr>
          <a:xfrm>
            <a:off x="893553" y="705177"/>
            <a:ext cx="10404894" cy="2677656"/>
          </a:xfrm>
          <a:prstGeom prst="rect">
            <a:avLst/>
          </a:prstGeom>
          <a:noFill/>
        </p:spPr>
        <p:txBody>
          <a:bodyPr wrap="square" rtlCol="0">
            <a:spAutoFit/>
          </a:bodyPr>
          <a:lstStyle/>
          <a:p>
            <a:r>
              <a:rPr lang="ja-JP" altLang="ja-JP" sz="2800" b="1" dirty="0">
                <a:solidFill>
                  <a:schemeClr val="bg2"/>
                </a:solidFill>
              </a:rPr>
              <a:t>Training session</a:t>
            </a:r>
            <a:endParaRPr lang="ja-JP" altLang="ja-JP" sz="2800" dirty="0">
              <a:solidFill>
                <a:schemeClr val="bg2"/>
              </a:solidFill>
            </a:endParaRPr>
          </a:p>
          <a:p>
            <a:r>
              <a:rPr lang="ja-JP" altLang="ja-JP" sz="2000" dirty="0">
                <a:solidFill>
                  <a:schemeClr val="bg2"/>
                </a:solidFill>
              </a:rPr>
              <a:t>Before proceeding to the main experiment, you will complete a training session to become familiar with the tasks performed in each section.</a:t>
            </a:r>
          </a:p>
          <a:p>
            <a:r>
              <a:rPr lang="ja-JP" altLang="ja-JP" sz="2000" dirty="0">
                <a:solidFill>
                  <a:schemeClr val="bg2"/>
                </a:solidFill>
              </a:rPr>
              <a:t>The sections will be presented in the same order as in the main experiment.</a:t>
            </a:r>
          </a:p>
          <a:p>
            <a:r>
              <a:rPr lang="ja-JP" altLang="ja-JP" sz="2000" dirty="0">
                <a:solidFill>
                  <a:schemeClr val="bg2"/>
                </a:solidFill>
              </a:rPr>
              <a:t>You may repeat this training up to three times, until you become familiar with the tasks.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1826573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73EF7C9-532C-A758-9B7A-F0580337826E}"/>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0884E8-D2D7-87B0-994F-BF2BCD6220D4}"/>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DE67171A-F091-F061-0385-17689739A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372765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350EA5C-2469-08FF-9889-08F575FA8DD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05801EC-12DF-8207-47A1-0FD0BDCBB230}"/>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6C402133-1581-93CB-1ED7-36557977F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34778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DA0B158-5F6E-15F9-88DD-65CC594181F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BD14D7-B441-9064-52CD-6F32FEB7997B}"/>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EFBC59DC-13C1-5848-F6E6-E5A83F493FFC}"/>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1677405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E685B2F-408C-0D54-3810-FF20B870997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86A7029-2B16-BFAC-94BF-46D750A2C4B2}"/>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8097415-4921-ECC7-B547-B5F0A684AE59}"/>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D3234BD3-2863-80EB-96E3-81BBAD593B0F}"/>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749C6080-B468-0EA3-CB02-7E1B59DFB100}"/>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06BEBCBC-318A-E0FD-3DE1-CEE35120BD5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EE9610AC-AB78-C672-BDD1-BDF59933811E}"/>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158452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B8BFD6C-A9BC-33A6-6303-654FF4429EF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1FC238-BCC4-CA88-D5DA-7FE660DD98C3}"/>
              </a:ext>
            </a:extLst>
          </p:cNvPr>
          <p:cNvSpPr txBox="1"/>
          <p:nvPr/>
        </p:nvSpPr>
        <p:spPr>
          <a:xfrm>
            <a:off x="893553" y="705177"/>
            <a:ext cx="10404894" cy="2369880"/>
          </a:xfrm>
          <a:prstGeom prst="rect">
            <a:avLst/>
          </a:prstGeom>
          <a:noFill/>
        </p:spPr>
        <p:txBody>
          <a:bodyPr wrap="square" rtlCol="0">
            <a:spAutoFit/>
          </a:bodyPr>
          <a:lstStyle/>
          <a:p>
            <a:r>
              <a:rPr lang="ja-JP" altLang="ja-JP" sz="2800" b="1" dirty="0">
                <a:solidFill>
                  <a:schemeClr val="bg2"/>
                </a:solidFill>
              </a:rPr>
              <a:t>Main session</a:t>
            </a:r>
            <a:endParaRPr lang="ja-JP" altLang="ja-JP" sz="2800" dirty="0">
              <a:solidFill>
                <a:schemeClr val="bg2"/>
              </a:solidFill>
            </a:endParaRPr>
          </a:p>
          <a:p>
            <a:r>
              <a:rPr lang="ja-JP" altLang="ja-JP" sz="2000" dirty="0">
                <a:solidFill>
                  <a:schemeClr val="bg2"/>
                </a:solidFill>
              </a:rPr>
              <a:t>This is the main experiment. You will perform the same tasks as in the training session, in the same order.</a:t>
            </a:r>
          </a:p>
          <a:p>
            <a:r>
              <a:rPr lang="ja-JP" altLang="ja-JP" sz="2000" dirty="0">
                <a:solidFill>
                  <a:schemeClr val="bg2"/>
                </a:solidFill>
              </a:rPr>
              <a:t>This session will be performed only once.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9761281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43D2A4F-198E-D30E-820A-FA89FFD8CD8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09BEAB5-BF8D-AA2C-0E27-DBB107637E76}"/>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42EB9F6-338D-792C-EBDD-7322F47F16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464005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F3BCA2-6FA0-5F14-A2C1-B9502BBB3210}"/>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B716376-6CDC-74AD-167C-0D7568707465}"/>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45CF841D-0B8D-7DA2-7BB6-03EE606A6C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66943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F1E6F8F-A27C-DC80-C042-F510AD99CE6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769E6FF-A9B6-B77C-5393-B4A7FBD91FF1}"/>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AB1E5889-3C1F-D6C5-C3B8-CF7277D63A4D}"/>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567110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3A7854C-1B5E-C277-0C22-457F194F2E0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2B38A45-DE9F-E055-C196-EED0063BDC0E}"/>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8650CA67-83ED-DA56-2237-A76DF5869838}"/>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9F5CFD7B-5CD0-7D11-A24E-C940FE68BB43}"/>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9BA50069-E273-C06B-D9F4-876EA7985693}"/>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170FB0FD-DEF3-8039-AFEF-BB42DE1EEEF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F871BF7-1702-1E7D-F1B0-D199DC1A98DC}"/>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252377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504046E-B4D5-DDC9-85BA-3CF44010F60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58DDEE6-5E17-8CCD-3480-B96396AC964B}"/>
              </a:ext>
            </a:extLst>
          </p:cNvPr>
          <p:cNvSpPr txBox="1"/>
          <p:nvPr/>
        </p:nvSpPr>
        <p:spPr>
          <a:xfrm>
            <a:off x="948906" y="3013501"/>
            <a:ext cx="10404894" cy="1200329"/>
          </a:xfrm>
          <a:prstGeom prst="rect">
            <a:avLst/>
          </a:prstGeom>
          <a:solidFill>
            <a:schemeClr val="tx2"/>
          </a:solidFill>
        </p:spPr>
        <p:txBody>
          <a:bodyPr wrap="square" rtlCol="0">
            <a:spAutoFit/>
          </a:bodyPr>
          <a:lstStyle/>
          <a:p>
            <a:r>
              <a:rPr lang="ja-JP" altLang="ja-JP" sz="2400" dirty="0">
                <a:solidFill>
                  <a:schemeClr val="bg2"/>
                </a:solidFill>
              </a:rPr>
              <a:t>This concludes the entire experiment.</a:t>
            </a:r>
          </a:p>
          <a:p>
            <a:r>
              <a:rPr lang="ja-JP" altLang="ja-JP" sz="2400" dirty="0">
                <a:solidFill>
                  <a:schemeClr val="bg2"/>
                </a:solidFill>
              </a:rPr>
              <a:t>Thank you very much for your cooperation.</a:t>
            </a:r>
          </a:p>
          <a:p>
            <a:endParaRPr lang="en-US" altLang="ja-JP" sz="2400" dirty="0">
              <a:solidFill>
                <a:schemeClr val="bg2"/>
              </a:solidFill>
            </a:endParaRPr>
          </a:p>
        </p:txBody>
      </p:sp>
    </p:spTree>
    <p:extLst>
      <p:ext uri="{BB962C8B-B14F-4D97-AF65-F5344CB8AC3E}">
        <p14:creationId xmlns:p14="http://schemas.microsoft.com/office/powerpoint/2010/main" val="784816001"/>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655</TotalTime>
  <Words>3189</Words>
  <Application>Microsoft Office PowerPoint</Application>
  <PresentationFormat>ワイド画面</PresentationFormat>
  <Paragraphs>230</Paragraphs>
  <Slides>29</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29</vt:i4>
      </vt:variant>
    </vt:vector>
  </HeadingPairs>
  <TitlesOfParts>
    <vt:vector size="32"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26</cp:revision>
  <dcterms:created xsi:type="dcterms:W3CDTF">2023-02-14T16:11:56Z</dcterms:created>
  <dcterms:modified xsi:type="dcterms:W3CDTF">2026-07-19T09:01:46Z</dcterms:modified>
</cp:coreProperties>
</file>